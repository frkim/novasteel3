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In the next hour I will defend NovaSteel: 30 minutes of architecture and value, a 15-minute live demonstration on fully synthetic data, and 15 minutes for hard questions.,The ground rule is visible from the first slide: I will distinguish a business target from evidence we can reproduce. The demo proves mechanics on synthetic data; it does not claim banked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NovaSteel operates blast-furnace and rolling processes across four EU countries. The pain is not a generic digital problem: energy is material, carbon carries financial exposure, a lining failure can be an eight-million-euro event, automotive yield must be traceable, and retiring operators take hard-won know-how with them.,This is heavy industry, safety-sensitive, and EU-regulated; every later design choice answers one of these pressures.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Doing nothing is the expensive decision. It keeps buying energy at peaks, paying carbon exposure, accepting reactive lining risk, finding quality drift too late, and losing experts permanently.,I am deliberately not presenting an invented total-savings number. The point is materiality and direction; the pilot creates a defensible measured value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figures are transformation targets, not victory laps. Each is tied to a stated baseline, which makes it falsifiable. We will prove or disprove them through a one-site pilot and an auditable savings ledger.,The demo later shows deterministic synthetic evidence: model bands, feasible schedules, what-ifs, lineage, and approvals. It does not convert the targets into realized production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answer in one picture. Signals flow through a Fabric data core, four capabilities make them useful, persona views make them actionable, and humans take accountable decisions.,Fabric is deliberately the center of gravity. It prevents a collection of disconnected dashboards, models, and data copies. The platform never actuates 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guardrails constrain the solution. First and most important, this is decision support; nothing writes to a control system. Phase 0 is synthetic and isolated. Processing is EU-only. Every consequential output is auditable. And there are no standing application secrets.,These are not ambitions. They are acceptance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serves eight roles, not one generic dashboard. Plant leaders see a defendable operating picture; reliability sees an evidence-backed lining risk; energy sees feasible dispatch; quality sees genealogy; knowledge owners see reviewed drafts.,The demo follows these experiences in the order an operating day touches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architecture left to right. A per-site gateway in an industrial DMZ emits outbound, validated telemetry. Event Hubs buffers it; a managed-identity relay publishes to Fabric Eventstream without a shared key.,Fabric is the core: KQL for hot operations, OneLake Delta for governed history, and Direct Lake for one semantic truth. Python performs authoritative calculations; Foundry and Speech handle constrained language workflows; the browser is a Blazor shell hosting React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Heavy-industry analytics has two clocks: a hot operational clock and a governed history clock. Fabric gives both a single governed estate. Eventstream and Eventhouse KQL support fresh operations; OneLake Delta preserves history and model inputs; Direct Lake keeps one KPI definition.,ADR-001 rejects a parallel lake and BI stack. ADR-002 separates hot KQL from Delta, so the same store is not forced to answer incompatible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begins at ingestion. An immutable bronze envelope carries an event id, event time, sequence, source, schema version, and classification. Silver is the only deduplication and normalization contract, so batch and streaming converge.,Bad data remains visible in quarantine. The Event Hubs basic connector needs a shared key, so the architecture uses a managed-identity relay to a Custom Endpoint, isolated in a dedicated ingress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capabilities, governed by one rule: deterministic, testable Python services compute the authoritative result. Foundry is constrained to dialogue, retrieval, explanation, and named tools.,An LLM cannot invent a schedule, relax a hard constraint, or make a physical or financial commitment. That is ADR-006.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model turns a surprise into a planned intervention. It is physics-informed, so it uses heat-flux and cooling relationships rather than fitting a black box. In the synthetic scenario, P50 is 21 days, with P10 16.8 and P90 27.5; I deliberately show the band.,The output is advisory only. A reliability engineer acknowledges it and links a synthetic work order; the platform does not actuate the furnace. Pilot scoring is daily, not a promised real-time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Energy is the fastest payback because it acts every day against price volatility. The optimizer shifts only eligible flexible loads; urgent coils and every hard production constraint stay fixed.,The synthetic evening-scarcity scenario yields an 8–13 percent modeled cost reduction, 3–7 percent lower peak, equal tonnage, and zero hard-constraint violations. That is synthetic evidence, not a realized saving. A human accepts, modifies, or rejects the proposal with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is about catching drift before the first lab failure and proving traceability heat-by-heat. The model detects coiling-temperature and force-balance drift, then traces the affected heat, slab, coil, sample, and shipment.,The synthetic bounded what-if takes predicted first-pass yield from about 88 to 95 percent. It is a recommendation only; nothing writes an automatic recipe or setpoint.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to preserve judgement before it retires. A consented interview is transcribed with speaker labels and confidence. The Foundry agent produces a structured, cited draft: trigger, observation, recommended check, rationale, and safety boundary.,The crucial guardrail is visible: the draft cannot publish. A Knowledge Engineer approves, edits, or rejects it. In the demo the operator is fictional and all voice/transcript content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take a conservative high-risk-adjacent posture while Legal and Compliance determine the formal EU AI Act classification. A cross-functional Responsible AI review board signs off before non-synthetic production.,On GenAI, every retrieved document and market payload is untrusted. Prompt Shields, instruction/data separation, allow-listed tools, audit, and independent human approval keep a model response from becoming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uses Zero Trust and separate workload identities. Azure RBAC, Fabric and OneLake roles, Foundry RBAC, and app roles are distinct authorization planes. The browser never receives a workload credential.,The primary placement is Sweden Central. Foundry Data Zone EU keeps processing within the EU zone but is not a Sweden-only guarantee; if policy requires that, the deployment type must change and be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is credible only with disciplined design. One root seed produces stable child seeds. A process simulator creates hidden state, then modeled sensors observe it; mass and energy balance, lining wear, and RUL constraints remain physically plausible.,A truth ledger records anomalies and expected outcomes. Contract, physics, and scenario validation must pass before the run is presentable. All records are visibly synthetic and cannot mix with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a cost-conscious F2 demo capacity and move to F4 only after measurable contention. There is no invented euro-per-hour price; the cost figure needs regional pricing and pilot measurement.,A 01:00 Europe/Luxembourg lifecycle check pauses only non-production capacity when safe; production is hard-denied. Sweden Central is primary. West Europe is a recovery target to validate, not automatic Fabric failover.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show the platform live. The scenario is deterministic: seed 240725, a 60-times accelerated clock, and synthetic labels on every screen. We move through fleet, Fabric core, energy, lining, quality, knowledge, and audit.,If a live element hesitates, I will use a cached deterministic result rather than debug in front of you. Start the 15-minute timer and switch to the Plant Manager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The 14, 22, 21, and 8 figures are targets, each with a baseline. The demo demonstrates reproducible synthetic mechanics, not realized business savings.,A one-site pilot uses an auditable savings ledger to connect recommendation, counterfactual, human decision, and realized outcome. If a number has not been measured, call it a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 is central because we need two clocks in one governed estate: fresh operational telemetry and durable, governed history. Eventhouse KQL is purpose-built for the former; OneLake Delta for the latter; Direct Lake keeps one semantic KPI definition.,Databricks, Snowflake, or a custom lake can store data, but would require stitching together multiple services and copies. ADR-001 rejects that parallel estate; ADR-002 keeps KQL distinct from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architecture is EU-only with Sweden Central primary. Foundry's Data Zone EU maintains EU-zone processing but does not guarantee every inference stays in Sweden Central. A single-region policy requires a regional deployment and validation of model and quota.,West Europe is an EU recovery target that requires approval and a tested restore. We do not promise automatic cross-region Fabric failover.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comes from architecture rather than model confidence. The OT boundary is outbound-only; Python is authoritative for math; retrieved content is untrusted; and identities are deliberately separated across authorization planes.,The GenAI agent has only read, forecast, simulate, and propose tools. A response is never authorization, and human approval stays independently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starts economically with F2, moves to F4 only after measurement, and quotes no price before a Sweden Central sizing exercise. The 01:00 lifecycle check is non-production only and never shuts down an active rehearsal.,Scaling is contract-first: each plant gets a gateway, authorization, and relay, while the core event and API contracts remain stable. The rehearsed fallback ladder keeps the demo and operations explainable under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limitations are visible: all data is synthetic, pilot RUL scoring is daily, the Custom Endpoint Contributor scope is mitigated by isolation rather than solved, and Sweden Central has no automatic BCDR promise.,Production needs tenant feature proof, Custom Endpoint and query-adapter identity validation, DPO and legal decisions, OT approval, market-data licensing, capacity and DR testing, and all security acceptance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I want. Not writing to the furnace is a decision, not a gap. Setpoints, interlocks, and control logic live at Purdue levels zero to two, under IEC 61511 safety-instrumented functions and vendor certification, and our conduit across that boundary is outbound-only by design.,But the platform is not a read-only dashboard. It writes decisions: an approved energy dispatch, a maintenance work order, a published procedure, and an append-only record of who decided what against which model version. That is a decision system of record.,Actuation is a Phase 2 conversation and it starts with guarded write-back to CMMS and MES under human approval and thresholds, never a direct control action. Advice that is wrong costs a rejection; a setpoint that is wrong can cost an eight-million-euro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panel knows industrial Azure, this is the first question they ask: these are furnaces, so why is there no IoT Hub?,Because what IoT Hub adds over Event Hubs is a cloud-to-device control plane — device provisioning, twins, direct methods, jobs. Every one of those is an inbound path into the plant. Our advisory boundary is an acceptance criterion, not a gap, so we would be buying a capability we must never use, disabling it, and then carrying the burden of proving it stays disabled in every threat model review. Event Hubs simply cannot do it.,It would also cost us the no-standing-secret property. Our namespace runs with local authentication disabled, behind a private endpoint, and each plant gateway identity can write to exactly one hub. IoT Hub authenticates devices with per-device keys or certificates, and Fabric's IoT Hub source connector is a shared-access-policy connection — the exact pattern ADR-005 exists to eliminate.,And the shape is wrong: we have four plant gateways, not a fleet of thousands. Device identity already lives in the event envelope and in Device Operations.,The honest forward-looking answer is that if the OT edge itself ever comes into scope, the strategic path in 2026 is Azure IoT Operations — Arc-enabled, MQTT broker, OPC UA connector, native to Fabric. Not IoT Hub. Moving to IoT Hub today would be adopting the older device-centric service to solve a problem we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9"/>
        </a:solidFill>
      </p:bgPr>
    </p:bg>
    <p:spTree>
      <p:nvGrpSpPr>
        <p:cNvPr id="1" name=""/>
        <p:cNvGrpSpPr/>
        <p:nvPr/>
      </p:nvGrpSpPr>
      <p:grpSpPr>
        <a:xfrm>
          <a:off x="0" y="0"/>
          <a:ext cx="0" cy="0"/>
          <a:chOff x="0" y="0"/>
          <a:chExt cx="0" cy="0"/>
        </a:xfrm>
      </p:grpSpPr>
      <p:pic>
        <p:nvPicPr>
          <p:cNvPr id="2" name="Image 0" descr="D:\work\20260724 - Novasteel 3\tools\presentation\assets\steel-texture.png">    </p:cNvPr>
          <p:cNvPicPr>
            <a:picLocks noChangeAspect="1"/>
          </p:cNvPicPr>
          <p:nvPr/>
        </p:nvPicPr>
        <p:blipFill>
          <a:blip r:embed="rId1">
            <a:alphaModFix amt="34000"/>
          </a:blip>
          <a:stretch>
            <a:fillRect/>
          </a:stretch>
        </p:blipFill>
        <p:spPr>
          <a:xfrm>
            <a:off x="0" y="0"/>
            <a:ext cx="12191695" cy="6858000"/>
          </a:xfrm>
          <a:prstGeom prst="rect">
            <a:avLst/>
          </a:prstGeom>
        </p:spPr>
      </p:pic>
      <p:sp>
        <p:nvSpPr>
          <p:cNvPr id="3" name="Shape 0"/>
          <p:cNvSpPr/>
          <p:nvPr/>
        </p:nvSpPr>
        <p:spPr>
          <a:xfrm>
            <a:off x="457200" y="274320"/>
            <a:ext cx="822960" cy="246888"/>
          </a:xfrm>
          <a:prstGeom prst="roundRect">
            <a:avLst/>
          </a:prstGeom>
          <a:solidFill>
            <a:srgbClr val="465057"/>
          </a:solidFill>
          <a:ln w="5080">
            <a:solidFill>
              <a:srgbClr val="465057"/>
            </a:solidFill>
            <a:prstDash val="solid"/>
          </a:ln>
        </p:spPr>
      </p:sp>
      <p:sp>
        <p:nvSpPr>
          <p:cNvPr id="4" name="Text 1"/>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01</a:t>
            </a:r>
            <a:endParaRPr lang="en-US" sz="720" dirty="0"/>
          </a:p>
        </p:txBody>
      </p:sp>
      <p:sp>
        <p:nvSpPr>
          <p:cNvPr id="5" name="Text 2"/>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AEB9BA"/>
                </a:solidFill>
                <a:latin typeface="Aptos" pitchFamily="34" charset="0"/>
                <a:ea typeface="Aptos" pitchFamily="34" charset="-122"/>
                <a:cs typeface="Aptos" pitchFamily="34" charset="-120"/>
              </a:rPr>
              <a:t>OPENING POSITION</a:t>
            </a:r>
            <a:endParaRPr lang="en-US" sz="810" dirty="0"/>
          </a:p>
        </p:txBody>
      </p:sp>
      <p:sp>
        <p:nvSpPr>
          <p:cNvPr id="6" name="Shape 3"/>
          <p:cNvSpPr/>
          <p:nvPr/>
        </p:nvSpPr>
        <p:spPr>
          <a:xfrm>
            <a:off x="10040112" y="274320"/>
            <a:ext cx="1673352" cy="256032"/>
          </a:xfrm>
          <a:prstGeom prst="roundRect">
            <a:avLst/>
          </a:prstGeom>
          <a:solidFill>
            <a:srgbClr val="1F2426"/>
          </a:solidFill>
          <a:ln w="6350">
            <a:solidFill>
              <a:srgbClr val="465057"/>
            </a:solidFill>
            <a:prstDash val="solid"/>
          </a:ln>
        </p:spPr>
      </p:sp>
      <p:sp>
        <p:nvSpPr>
          <p:cNvPr id="7" name="Text 4"/>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AEB9BA"/>
                </a:solidFill>
                <a:latin typeface="Aptos" pitchFamily="34" charset="0"/>
                <a:ea typeface="Aptos" pitchFamily="34" charset="-122"/>
                <a:cs typeface="Aptos" pitchFamily="34" charset="-120"/>
              </a:rPr>
              <a:t>00:00–00:45</a:t>
            </a:r>
            <a:endParaRPr lang="en-US" sz="720" dirty="0"/>
          </a:p>
        </p:txBody>
      </p:sp>
      <p:sp>
        <p:nvSpPr>
          <p:cNvPr id="8" name="Text 5"/>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FFFFFF"/>
                </a:solidFill>
                <a:latin typeface="Bahnschrift SemiBold" pitchFamily="34" charset="0"/>
                <a:ea typeface="Bahnschrift SemiBold" pitchFamily="34" charset="-122"/>
                <a:cs typeface="Bahnschrift SemiBold" pitchFamily="34" charset="-120"/>
              </a:rPr>
              <a:t>NovaSteel | AI-powered steel production optimization</a:t>
            </a:r>
            <a:endParaRPr lang="en-US" sz="2550" dirty="0"/>
          </a:p>
        </p:txBody>
      </p:sp>
      <p:pic>
        <p:nvPicPr>
          <p:cNvPr id="9" name="Image 1" descr="D:\work\20260724 - Novasteel 3\tools\presentation\assets\steelworks-hero.png">    </p:cNvPr>
          <p:cNvPicPr>
            <a:picLocks noChangeAspect="1"/>
          </p:cNvPicPr>
          <p:nvPr/>
        </p:nvPicPr>
        <p:blipFill>
          <a:blip r:embed="rId2"/>
          <a:stretch>
            <a:fillRect/>
          </a:stretch>
        </p:blipFill>
        <p:spPr>
          <a:xfrm>
            <a:off x="0" y="0"/>
            <a:ext cx="12191695" cy="6858000"/>
          </a:xfrm>
          <a:prstGeom prst="rect">
            <a:avLst/>
          </a:prstGeom>
        </p:spPr>
      </p:pic>
      <p:sp>
        <p:nvSpPr>
          <p:cNvPr id="10" name="Shape 6"/>
          <p:cNvSpPr/>
          <p:nvPr/>
        </p:nvSpPr>
        <p:spPr>
          <a:xfrm>
            <a:off x="0" y="0"/>
            <a:ext cx="12191695" cy="6858000"/>
          </a:xfrm>
          <a:prstGeom prst="rect">
            <a:avLst/>
          </a:prstGeom>
          <a:solidFill>
            <a:srgbClr val="121719">
              <a:alpha val="81000"/>
            </a:srgbClr>
          </a:solidFill>
          <a:ln w="6350">
            <a:solidFill>
              <a:srgbClr val="121719"/>
            </a:solidFill>
            <a:prstDash val="solid"/>
          </a:ln>
        </p:spPr>
      </p:sp>
      <p:sp>
        <p:nvSpPr>
          <p:cNvPr id="11" name="Shape 7"/>
          <p:cNvSpPr/>
          <p:nvPr/>
        </p:nvSpPr>
        <p:spPr>
          <a:xfrm>
            <a:off x="0" y="0"/>
            <a:ext cx="5166360" cy="6858000"/>
          </a:xfrm>
          <a:prstGeom prst="rect">
            <a:avLst/>
          </a:prstGeom>
          <a:solidFill>
            <a:srgbClr val="121719">
              <a:alpha val="91000"/>
            </a:srgbClr>
          </a:solidFill>
          <a:ln w="6350">
            <a:solidFill>
              <a:srgbClr val="121719"/>
            </a:solidFill>
            <a:prstDash val="solid"/>
          </a:ln>
        </p:spPr>
      </p:sp>
      <p:sp>
        <p:nvSpPr>
          <p:cNvPr id="12" name="Text 8"/>
          <p:cNvSpPr/>
          <p:nvPr/>
        </p:nvSpPr>
        <p:spPr>
          <a:xfrm>
            <a:off x="530352" y="941832"/>
            <a:ext cx="2834640" cy="182880"/>
          </a:xfrm>
          <a:prstGeom prst="rect">
            <a:avLst/>
          </a:prstGeom>
          <a:noFill/>
          <a:ln/>
        </p:spPr>
        <p:txBody>
          <a:bodyPr wrap="square" lIns="0" tIns="0" rIns="0" bIns="0" rtlCol="0" anchor="ctr">
            <a:normAutofit/>
          </a:bodyPr>
          <a:lstStyle/>
          <a:p>
            <a:pPr algn="l" indent="0" marL="0">
              <a:buNone/>
            </a:pPr>
            <a:r>
              <a:rPr lang="en-US" sz="1250" b="1" spc="240" kern="0" dirty="0">
                <a:solidFill>
                  <a:srgbClr val="E3A72F"/>
                </a:solidFill>
                <a:latin typeface="Bahnschrift SemiBold" pitchFamily="34" charset="0"/>
                <a:ea typeface="Bahnschrift SemiBold" pitchFamily="34" charset="-122"/>
                <a:cs typeface="Bahnschrift SemiBold" pitchFamily="34" charset="-120"/>
              </a:rPr>
              <a:t>NOVA STEEL</a:t>
            </a:r>
            <a:endParaRPr lang="en-US" sz="1250" dirty="0"/>
          </a:p>
        </p:txBody>
      </p:sp>
      <p:sp>
        <p:nvSpPr>
          <p:cNvPr id="13" name="Shape 9"/>
          <p:cNvSpPr/>
          <p:nvPr/>
        </p:nvSpPr>
        <p:spPr>
          <a:xfrm>
            <a:off x="530352" y="1234440"/>
            <a:ext cx="1016813" cy="246888"/>
          </a:xfrm>
          <a:prstGeom prst="roundRect">
            <a:avLst/>
          </a:prstGeom>
          <a:solidFill>
            <a:srgbClr val="465057"/>
          </a:solidFill>
          <a:ln w="5080">
            <a:solidFill>
              <a:srgbClr val="465057"/>
            </a:solidFill>
            <a:prstDash val="solid"/>
          </a:ln>
        </p:spPr>
      </p:sp>
      <p:sp>
        <p:nvSpPr>
          <p:cNvPr id="14" name="Text 10"/>
          <p:cNvSpPr/>
          <p:nvPr/>
        </p:nvSpPr>
        <p:spPr>
          <a:xfrm>
            <a:off x="649224" y="1284732"/>
            <a:ext cx="779069"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ORAL DEFENSE</a:t>
            </a:r>
            <a:endParaRPr lang="en-US" sz="720" dirty="0"/>
          </a:p>
        </p:txBody>
      </p:sp>
      <p:sp>
        <p:nvSpPr>
          <p:cNvPr id="15" name="Text 11"/>
          <p:cNvSpPr/>
          <p:nvPr/>
        </p:nvSpPr>
        <p:spPr>
          <a:xfrm>
            <a:off x="530352" y="1691640"/>
            <a:ext cx="5897880" cy="1234440"/>
          </a:xfrm>
          <a:prstGeom prst="rect">
            <a:avLst/>
          </a:prstGeom>
          <a:noFill/>
          <a:ln/>
        </p:spPr>
        <p:txBody>
          <a:bodyPr wrap="square" lIns="0" tIns="0" rIns="0" bIns="0" rtlCol="0" anchor="t">
            <a:normAutofit/>
          </a:bodyPr>
          <a:lstStyle/>
          <a:p>
            <a:pPr algn="l" indent="0" marL="0">
              <a:buNone/>
            </a:pPr>
            <a:r>
              <a:rPr lang="en-US" sz="3050" b="1" dirty="0">
                <a:solidFill>
                  <a:srgbClr val="FFFFFF"/>
                </a:solidFill>
                <a:latin typeface="Bahnschrift SemiBold" pitchFamily="34" charset="0"/>
                <a:ea typeface="Bahnschrift SemiBold" pitchFamily="34" charset="-122"/>
                <a:cs typeface="Bahnschrift SemiBold" pitchFamily="34" charset="-120"/>
              </a:rPr>
              <a:t>ONE GOVERNED DATA CORE</a:t>
            </a:r>
            <a:endParaRPr lang="en-US" sz="3050" dirty="0"/>
          </a:p>
          <a:p>
            <a:pPr algn="l" indent="0" marL="0">
              <a:buNone/>
            </a:pPr>
            <a:r>
              <a:rPr lang="en-US" sz="3050" b="1" dirty="0">
                <a:solidFill>
                  <a:srgbClr val="FFFFFF"/>
                </a:solidFill>
                <a:latin typeface="Bahnschrift SemiBold" pitchFamily="34" charset="0"/>
                <a:ea typeface="Bahnschrift SemiBold" pitchFamily="34" charset="-122"/>
                <a:cs typeface="Bahnschrift SemiBold" pitchFamily="34" charset="-120"/>
              </a:rPr>
              <a:t>FOR A FOUR-COUNTRY STEEL ESTATE</a:t>
            </a:r>
            <a:endParaRPr lang="en-US" sz="3050" dirty="0"/>
          </a:p>
        </p:txBody>
      </p:sp>
      <p:sp>
        <p:nvSpPr>
          <p:cNvPr id="16" name="Text 12"/>
          <p:cNvSpPr/>
          <p:nvPr/>
        </p:nvSpPr>
        <p:spPr>
          <a:xfrm>
            <a:off x="530352" y="3072384"/>
            <a:ext cx="5897880" cy="228600"/>
          </a:xfrm>
          <a:prstGeom prst="rect">
            <a:avLst/>
          </a:prstGeom>
          <a:noFill/>
          <a:ln/>
        </p:spPr>
        <p:txBody>
          <a:bodyPr wrap="square" lIns="0" tIns="0" rIns="0" bIns="0" rtlCol="0" anchor="ctr">
            <a:normAutofit/>
          </a:bodyPr>
          <a:lstStyle/>
          <a:p>
            <a:pPr algn="l" indent="0" marL="0">
              <a:buNone/>
            </a:pPr>
            <a:r>
              <a:rPr lang="en-US" sz="1250" b="1" dirty="0">
                <a:solidFill>
                  <a:srgbClr val="DDE4E1"/>
                </a:solidFill>
                <a:latin typeface="Aptos" pitchFamily="34" charset="0"/>
                <a:ea typeface="Aptos" pitchFamily="34" charset="-122"/>
                <a:cs typeface="Aptos" pitchFamily="34" charset="-120"/>
              </a:rPr>
              <a:t>30 min architecture &amp; value  |  15 min deterministic demo  |  15 min hard questions</a:t>
            </a:r>
            <a:endParaRPr lang="en-US" sz="1250" dirty="0"/>
          </a:p>
        </p:txBody>
      </p:sp>
      <p:sp>
        <p:nvSpPr>
          <p:cNvPr id="17" name="Shape 13"/>
          <p:cNvSpPr/>
          <p:nvPr/>
        </p:nvSpPr>
        <p:spPr>
          <a:xfrm>
            <a:off x="530352" y="3602736"/>
            <a:ext cx="4736592" cy="932688"/>
          </a:xfrm>
          <a:prstGeom prst="roundRect">
            <a:avLst/>
          </a:prstGeom>
          <a:solidFill>
            <a:srgbClr val="1F2426"/>
          </a:solidFill>
          <a:ln w="8890">
            <a:solidFill>
              <a:srgbClr val="465057"/>
            </a:solidFill>
            <a:prstDash val="solid"/>
          </a:ln>
        </p:spPr>
      </p:sp>
      <p:sp>
        <p:nvSpPr>
          <p:cNvPr id="18" name="Text 14"/>
          <p:cNvSpPr/>
          <p:nvPr/>
        </p:nvSpPr>
        <p:spPr>
          <a:xfrm>
            <a:off x="758952" y="3822192"/>
            <a:ext cx="1700784" cy="137160"/>
          </a:xfrm>
          <a:prstGeom prst="rect">
            <a:avLst/>
          </a:prstGeom>
          <a:noFill/>
          <a:ln/>
        </p:spPr>
        <p:txBody>
          <a:bodyPr wrap="square" lIns="0" tIns="0" rIns="0" bIns="0" rtlCol="0" anchor="ctr">
            <a:normAutofit/>
          </a:bodyPr>
          <a:lstStyle/>
          <a:p>
            <a:pPr algn="l" indent="0" marL="0">
              <a:buNone/>
            </a:pPr>
            <a:r>
              <a:rPr lang="en-US" sz="800" b="1" spc="110" kern="0" dirty="0">
                <a:solidFill>
                  <a:srgbClr val="E3A72F"/>
                </a:solidFill>
                <a:latin typeface="Aptos" pitchFamily="34" charset="0"/>
                <a:ea typeface="Aptos" pitchFamily="34" charset="-122"/>
                <a:cs typeface="Aptos" pitchFamily="34" charset="-120"/>
              </a:rPr>
              <a:t>HONESTY CONTRACT</a:t>
            </a:r>
            <a:endParaRPr lang="en-US" sz="800" dirty="0"/>
          </a:p>
        </p:txBody>
      </p:sp>
      <p:sp>
        <p:nvSpPr>
          <p:cNvPr id="19" name="Text 15"/>
          <p:cNvSpPr/>
          <p:nvPr/>
        </p:nvSpPr>
        <p:spPr>
          <a:xfrm>
            <a:off x="758952" y="4050792"/>
            <a:ext cx="4133088" cy="283464"/>
          </a:xfrm>
          <a:prstGeom prst="rect">
            <a:avLst/>
          </a:prstGeom>
          <a:noFill/>
          <a:ln/>
        </p:spPr>
        <p:txBody>
          <a:bodyPr wrap="square" lIns="0" tIns="0" rIns="0" bIns="0" rtlCol="0" anchor="t">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Targets are ambition. The live demo is reproducible synthetic evidence of mechanics — not realized production savings.</a:t>
            </a:r>
            <a:endParaRPr lang="en-US" sz="1120" dirty="0"/>
          </a:p>
        </p:txBody>
      </p:sp>
      <p:sp>
        <p:nvSpPr>
          <p:cNvPr id="20" name="Shape 16"/>
          <p:cNvSpPr/>
          <p:nvPr/>
        </p:nvSpPr>
        <p:spPr>
          <a:xfrm>
            <a:off x="7936992" y="6270955"/>
            <a:ext cx="3447288" cy="106070"/>
          </a:xfrm>
          <a:prstGeom prst="rect">
            <a:avLst/>
          </a:prstGeom>
          <a:solidFill>
            <a:srgbClr val="AEB9BA"/>
          </a:solidFill>
          <a:ln w="6350">
            <a:solidFill>
              <a:srgbClr val="AEB9BA"/>
            </a:solidFill>
            <a:prstDash val="solid"/>
          </a:ln>
        </p:spPr>
      </p:sp>
      <p:sp>
        <p:nvSpPr>
          <p:cNvPr id="21" name="Shape 17"/>
          <p:cNvSpPr/>
          <p:nvPr/>
        </p:nvSpPr>
        <p:spPr>
          <a:xfrm>
            <a:off x="8096098" y="5740603"/>
            <a:ext cx="350032" cy="530352"/>
          </a:xfrm>
          <a:prstGeom prst="rect">
            <a:avLst/>
          </a:prstGeom>
          <a:solidFill>
            <a:srgbClr val="AEB9BA"/>
          </a:solidFill>
          <a:ln w="6350">
            <a:solidFill>
              <a:srgbClr val="AEB9BA"/>
            </a:solidFill>
            <a:prstDash val="solid"/>
          </a:ln>
        </p:spPr>
      </p:sp>
      <p:sp>
        <p:nvSpPr>
          <p:cNvPr id="22" name="Shape 18"/>
          <p:cNvSpPr/>
          <p:nvPr/>
        </p:nvSpPr>
        <p:spPr>
          <a:xfrm>
            <a:off x="8764341" y="5443606"/>
            <a:ext cx="381853" cy="827349"/>
          </a:xfrm>
          <a:prstGeom prst="rect">
            <a:avLst/>
          </a:prstGeom>
          <a:solidFill>
            <a:srgbClr val="AEB9BA"/>
          </a:solidFill>
          <a:ln w="6350">
            <a:solidFill>
              <a:srgbClr val="AEB9BA"/>
            </a:solidFill>
            <a:prstDash val="solid"/>
          </a:ln>
        </p:spPr>
      </p:sp>
      <p:sp>
        <p:nvSpPr>
          <p:cNvPr id="23" name="Shape 19"/>
          <p:cNvSpPr/>
          <p:nvPr/>
        </p:nvSpPr>
        <p:spPr>
          <a:xfrm>
            <a:off x="9655332" y="5623926"/>
            <a:ext cx="509138" cy="647029"/>
          </a:xfrm>
          <a:prstGeom prst="rect">
            <a:avLst/>
          </a:prstGeom>
          <a:solidFill>
            <a:srgbClr val="AEB9BA"/>
          </a:solidFill>
          <a:ln w="6350">
            <a:solidFill>
              <a:srgbClr val="AEB9BA"/>
            </a:solidFill>
            <a:prstDash val="solid"/>
          </a:ln>
        </p:spPr>
      </p:sp>
      <p:sp>
        <p:nvSpPr>
          <p:cNvPr id="24" name="Shape 20"/>
          <p:cNvSpPr/>
          <p:nvPr/>
        </p:nvSpPr>
        <p:spPr>
          <a:xfrm>
            <a:off x="10705429" y="5284500"/>
            <a:ext cx="445496" cy="986455"/>
          </a:xfrm>
          <a:prstGeom prst="rect">
            <a:avLst/>
          </a:prstGeom>
          <a:solidFill>
            <a:srgbClr val="AEB9BA"/>
          </a:solidFill>
          <a:ln w="6350">
            <a:solidFill>
              <a:srgbClr val="AEB9BA"/>
            </a:solidFill>
            <a:prstDash val="solid"/>
          </a:ln>
        </p:spPr>
      </p:sp>
      <p:sp>
        <p:nvSpPr>
          <p:cNvPr id="25" name="Shape 21"/>
          <p:cNvSpPr/>
          <p:nvPr/>
        </p:nvSpPr>
        <p:spPr>
          <a:xfrm>
            <a:off x="8732520" y="5528462"/>
            <a:ext cx="445496" cy="42428"/>
          </a:xfrm>
          <a:prstGeom prst="rect">
            <a:avLst/>
          </a:prstGeom>
          <a:solidFill>
            <a:srgbClr val="B64A2D"/>
          </a:solidFill>
          <a:ln w="6350">
            <a:solidFill>
              <a:srgbClr val="B64A2D"/>
            </a:solidFill>
            <a:prstDash val="solid"/>
          </a:ln>
        </p:spPr>
      </p:sp>
      <p:sp>
        <p:nvSpPr>
          <p:cNvPr id="26" name="Shape 22"/>
          <p:cNvSpPr/>
          <p:nvPr/>
        </p:nvSpPr>
        <p:spPr>
          <a:xfrm>
            <a:off x="10673608" y="5432999"/>
            <a:ext cx="509138" cy="42428"/>
          </a:xfrm>
          <a:prstGeom prst="rect">
            <a:avLst/>
          </a:prstGeom>
          <a:solidFill>
            <a:srgbClr val="B64A2D"/>
          </a:solidFill>
          <a:ln w="6350">
            <a:solidFill>
              <a:srgbClr val="B64A2D"/>
            </a:solidFill>
            <a:prstDash val="solid"/>
          </a:ln>
        </p:spPr>
      </p:sp>
      <p:sp>
        <p:nvSpPr>
          <p:cNvPr id="27" name="Shape 23"/>
          <p:cNvSpPr/>
          <p:nvPr/>
        </p:nvSpPr>
        <p:spPr>
          <a:xfrm flipH="1">
            <a:off x="8096098" y="5740603"/>
            <a:ext cx="350032" cy="530352"/>
          </a:xfrm>
          <a:prstGeom prst="line">
            <a:avLst/>
          </a:prstGeom>
          <a:noFill/>
          <a:ln w="10160">
            <a:solidFill>
              <a:srgbClr val="AEB9BA"/>
            </a:solidFill>
            <a:prstDash val="solid"/>
          </a:ln>
        </p:spPr>
      </p:sp>
      <p:sp>
        <p:nvSpPr>
          <p:cNvPr id="28" name="Shape 24"/>
          <p:cNvSpPr/>
          <p:nvPr/>
        </p:nvSpPr>
        <p:spPr>
          <a:xfrm flipH="1">
            <a:off x="8520379" y="5740603"/>
            <a:ext cx="350032" cy="530352"/>
          </a:xfrm>
          <a:prstGeom prst="line">
            <a:avLst/>
          </a:prstGeom>
          <a:noFill/>
          <a:ln w="10160">
            <a:solidFill>
              <a:srgbClr val="AEB9BA"/>
            </a:solidFill>
            <a:prstDash val="solid"/>
          </a:ln>
        </p:spPr>
      </p:sp>
      <p:sp>
        <p:nvSpPr>
          <p:cNvPr id="29" name="Shape 25"/>
          <p:cNvSpPr/>
          <p:nvPr/>
        </p:nvSpPr>
        <p:spPr>
          <a:xfrm flipH="1">
            <a:off x="9209837" y="5740603"/>
            <a:ext cx="350032" cy="530352"/>
          </a:xfrm>
          <a:prstGeom prst="line">
            <a:avLst/>
          </a:prstGeom>
          <a:noFill/>
          <a:ln w="10160">
            <a:solidFill>
              <a:srgbClr val="AEB9BA"/>
            </a:solidFill>
            <a:prstDash val="solid"/>
          </a:ln>
        </p:spPr>
      </p:sp>
      <p:sp>
        <p:nvSpPr>
          <p:cNvPr id="30" name="Shape 26"/>
          <p:cNvSpPr/>
          <p:nvPr/>
        </p:nvSpPr>
        <p:spPr>
          <a:xfrm flipH="1">
            <a:off x="9825045" y="5740603"/>
            <a:ext cx="350032" cy="530352"/>
          </a:xfrm>
          <a:prstGeom prst="line">
            <a:avLst/>
          </a:prstGeom>
          <a:noFill/>
          <a:ln w="10160">
            <a:solidFill>
              <a:srgbClr val="AEB9BA"/>
            </a:solidFill>
            <a:prstDash val="solid"/>
          </a:ln>
        </p:spPr>
      </p:sp>
      <p:sp>
        <p:nvSpPr>
          <p:cNvPr id="31" name="Shape 27"/>
          <p:cNvSpPr/>
          <p:nvPr/>
        </p:nvSpPr>
        <p:spPr>
          <a:xfrm flipH="1">
            <a:off x="10461468" y="5740603"/>
            <a:ext cx="350032" cy="530352"/>
          </a:xfrm>
          <a:prstGeom prst="line">
            <a:avLst/>
          </a:prstGeom>
          <a:noFill/>
          <a:ln w="10160">
            <a:solidFill>
              <a:srgbClr val="AEB9BA"/>
            </a:solidFill>
            <a:prstDash val="solid"/>
          </a:ln>
        </p:spPr>
      </p:sp>
      <p:sp>
        <p:nvSpPr>
          <p:cNvPr id="32" name="Shape 28"/>
          <p:cNvSpPr/>
          <p:nvPr/>
        </p:nvSpPr>
        <p:spPr>
          <a:xfrm flipH="1">
            <a:off x="11119104" y="5740603"/>
            <a:ext cx="350032" cy="530352"/>
          </a:xfrm>
          <a:prstGeom prst="line">
            <a:avLst/>
          </a:prstGeom>
          <a:noFill/>
          <a:ln w="10160">
            <a:solidFill>
              <a:srgbClr val="AEB9BA"/>
            </a:solidFill>
            <a:prstDash val="solid"/>
          </a:ln>
        </p:spPr>
      </p:sp>
      <p:sp>
        <p:nvSpPr>
          <p:cNvPr id="33" name="Text 29"/>
          <p:cNvSpPr/>
          <p:nvPr/>
        </p:nvSpPr>
        <p:spPr>
          <a:xfrm>
            <a:off x="530352" y="5468112"/>
            <a:ext cx="4754880" cy="155448"/>
          </a:xfrm>
          <a:prstGeom prst="rect">
            <a:avLst/>
          </a:prstGeom>
          <a:noFill/>
          <a:ln/>
        </p:spPr>
        <p:txBody>
          <a:bodyPr wrap="square" lIns="0" tIns="0" rIns="0" bIns="0" rtlCol="0" anchor="ctr">
            <a:normAutofit/>
          </a:bodyPr>
          <a:lstStyle/>
          <a:p>
            <a:pPr algn="l" indent="0" marL="0">
              <a:buNone/>
            </a:pPr>
            <a:r>
              <a:rPr lang="en-US" sz="870" b="1" spc="115" kern="0" dirty="0">
                <a:solidFill>
                  <a:srgbClr val="AEB9BA"/>
                </a:solidFill>
                <a:latin typeface="Aptos" pitchFamily="34" charset="0"/>
                <a:ea typeface="Aptos" pitchFamily="34" charset="-122"/>
                <a:cs typeface="Aptos" pitchFamily="34" charset="-120"/>
              </a:rPr>
              <a:t>MICROSOFT FABRIC–CENTERED  |  PHASE 0</a:t>
            </a:r>
            <a:endParaRPr lang="en-US" sz="870" dirty="0"/>
          </a:p>
        </p:txBody>
      </p:sp>
      <p:sp>
        <p:nvSpPr>
          <p:cNvPr id="34" name="Text 30"/>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AEB9BA"/>
                </a:solidFill>
                <a:latin typeface="Aptos" pitchFamily="34" charset="0"/>
                <a:ea typeface="Aptos" pitchFamily="34" charset="-122"/>
                <a:cs typeface="Aptos" pitchFamily="34" charset="-120"/>
              </a:rPr>
              <a:t>Source cue | solution-architecture.md §1.1  •  demo-runbook.md §1</a:t>
            </a:r>
            <a:endParaRPr lang="en-US" sz="660" dirty="0"/>
          </a:p>
        </p:txBody>
      </p:sp>
      <p:sp>
        <p:nvSpPr>
          <p:cNvPr id="35" name="Shape 31"/>
          <p:cNvSpPr/>
          <p:nvPr/>
        </p:nvSpPr>
        <p:spPr>
          <a:xfrm>
            <a:off x="0" y="6483096"/>
            <a:ext cx="12191695" cy="374904"/>
          </a:xfrm>
          <a:prstGeom prst="rect">
            <a:avLst/>
          </a:prstGeom>
          <a:solidFill>
            <a:srgbClr val="1F2426"/>
          </a:solidFill>
          <a:ln w="6350">
            <a:solidFill>
              <a:srgbClr val="1F2426"/>
            </a:solidFill>
            <a:prstDash val="solid"/>
          </a:ln>
        </p:spPr>
      </p:sp>
      <p:sp>
        <p:nvSpPr>
          <p:cNvPr id="36" name="Shape 32"/>
          <p:cNvSpPr/>
          <p:nvPr/>
        </p:nvSpPr>
        <p:spPr>
          <a:xfrm>
            <a:off x="384048" y="6547104"/>
            <a:ext cx="3547872" cy="182880"/>
          </a:xfrm>
          <a:prstGeom prst="roundRect">
            <a:avLst/>
          </a:prstGeom>
          <a:solidFill>
            <a:srgbClr val="465057"/>
          </a:solidFill>
          <a:ln w="3175">
            <a:solidFill>
              <a:srgbClr val="465057"/>
            </a:solidFill>
            <a:prstDash val="solid"/>
          </a:ln>
        </p:spPr>
      </p:sp>
      <p:sp>
        <p:nvSpPr>
          <p:cNvPr id="37" name="Text 33"/>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DDE4E1"/>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38" name="Text 34"/>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DDE4E1"/>
                </a:solidFill>
                <a:latin typeface="Aptos" pitchFamily="34" charset="0"/>
                <a:ea typeface="Aptos" pitchFamily="34" charset="-122"/>
                <a:cs typeface="Aptos" pitchFamily="34" charset="-120"/>
              </a:rPr>
              <a:t>ORAL DEFENSE  •  01 / 20</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465057"/>
          </a:solidFill>
          <a:ln w="5080">
            <a:solidFill>
              <a:srgbClr val="465057"/>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02</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THE BUSINESS CASE</a:t>
            </a:r>
            <a:endParaRPr lang="en-US" sz="810" dirty="0"/>
          </a:p>
        </p:txBody>
      </p:sp>
      <p:sp>
        <p:nvSpPr>
          <p:cNvPr id="7" name="Shape 5"/>
          <p:cNvSpPr/>
          <p:nvPr/>
        </p:nvSpPr>
        <p:spPr>
          <a:xfrm>
            <a:off x="10040112" y="274320"/>
            <a:ext cx="1673352" cy="256032"/>
          </a:xfrm>
          <a:prstGeom prst="roundRect">
            <a:avLst/>
          </a:prstGeom>
          <a:solidFill>
            <a:srgbClr val="FFFFFF"/>
          </a:solidFill>
          <a:ln w="6350">
            <a:solidFill>
              <a:srgbClr val="DDE4E1"/>
            </a:solidFill>
            <a:prstDash val="solid"/>
          </a:ln>
        </p:spPr>
      </p:sp>
      <p:sp>
        <p:nvSpPr>
          <p:cNvPr id="8" name="Text 6"/>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687373"/>
                </a:solidFill>
                <a:latin typeface="Aptos" pitchFamily="34" charset="0"/>
                <a:ea typeface="Aptos" pitchFamily="34" charset="-122"/>
                <a:cs typeface="Aptos" pitchFamily="34" charset="-120"/>
              </a:rPr>
              <a:t>00:45–02:15</a:t>
            </a:r>
            <a:endParaRPr lang="en-US" sz="720" dirty="0"/>
          </a:p>
        </p:txBody>
      </p:sp>
      <p:sp>
        <p:nvSpPr>
          <p:cNvPr id="9" name="Text 7"/>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A steel estate under pressure on five fronts</a:t>
            </a:r>
            <a:endParaRPr lang="en-US" sz="2550" dirty="0"/>
          </a:p>
        </p:txBody>
      </p:sp>
      <p:sp>
        <p:nvSpPr>
          <p:cNvPr id="10" name="Shape 8"/>
          <p:cNvSpPr/>
          <p:nvPr/>
        </p:nvSpPr>
        <p:spPr>
          <a:xfrm>
            <a:off x="457200" y="1197864"/>
            <a:ext cx="822960" cy="246888"/>
          </a:xfrm>
          <a:prstGeom prst="roundRect">
            <a:avLst/>
          </a:prstGeom>
          <a:solidFill>
            <a:srgbClr val="465057"/>
          </a:solidFill>
          <a:ln w="5080">
            <a:solidFill>
              <a:srgbClr val="465057"/>
            </a:solidFill>
            <a:prstDash val="solid"/>
          </a:ln>
        </p:spPr>
      </p:sp>
      <p:sp>
        <p:nvSpPr>
          <p:cNvPr id="11" name="Text 9"/>
          <p:cNvSpPr/>
          <p:nvPr/>
        </p:nvSpPr>
        <p:spPr>
          <a:xfrm>
            <a:off x="576072" y="1248156"/>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CONTEXT</a:t>
            </a:r>
            <a:endParaRPr lang="en-US" sz="720" dirty="0"/>
          </a:p>
        </p:txBody>
      </p:sp>
      <p:sp>
        <p:nvSpPr>
          <p:cNvPr id="12" name="Shape 10"/>
          <p:cNvSpPr/>
          <p:nvPr/>
        </p:nvSpPr>
        <p:spPr>
          <a:xfrm>
            <a:off x="457200" y="1554480"/>
            <a:ext cx="3794760" cy="4169664"/>
          </a:xfrm>
          <a:prstGeom prst="roundRect">
            <a:avLst/>
          </a:prstGeom>
          <a:solidFill>
            <a:srgbClr val="1F2426"/>
          </a:solidFill>
          <a:ln w="6350">
            <a:solidFill>
              <a:srgbClr val="1F2426"/>
            </a:solidFill>
            <a:prstDash val="solid"/>
          </a:ln>
        </p:spPr>
      </p:sp>
      <p:sp>
        <p:nvSpPr>
          <p:cNvPr id="13" name="Text 11"/>
          <p:cNvSpPr/>
          <p:nvPr/>
        </p:nvSpPr>
        <p:spPr>
          <a:xfrm>
            <a:off x="713232" y="1810512"/>
            <a:ext cx="2103120" cy="365760"/>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Bahnschrift SemiBold" pitchFamily="34" charset="0"/>
                <a:ea typeface="Bahnschrift SemiBold" pitchFamily="34" charset="-122"/>
                <a:cs typeface="Bahnschrift SemiBold" pitchFamily="34" charset="-120"/>
              </a:rPr>
              <a:t>FOUR-COUNTRY</a:t>
            </a:r>
            <a:endParaRPr lang="en-US" sz="2000" dirty="0"/>
          </a:p>
          <a:p>
            <a:pPr algn="l" indent="0" marL="0">
              <a:buNone/>
            </a:pPr>
            <a:r>
              <a:rPr lang="en-US" sz="2000" b="1" dirty="0">
                <a:solidFill>
                  <a:srgbClr val="FFFFFF"/>
                </a:solidFill>
                <a:latin typeface="Bahnschrift SemiBold" pitchFamily="34" charset="0"/>
                <a:ea typeface="Bahnschrift SemiBold" pitchFamily="34" charset="-122"/>
                <a:cs typeface="Bahnschrift SemiBold" pitchFamily="34" charset="-120"/>
              </a:rPr>
              <a:t>STEEL ESTATE</a:t>
            </a:r>
            <a:endParaRPr lang="en-US" sz="2000" dirty="0"/>
          </a:p>
        </p:txBody>
      </p:sp>
      <p:sp>
        <p:nvSpPr>
          <p:cNvPr id="14" name="Text 12"/>
          <p:cNvSpPr/>
          <p:nvPr/>
        </p:nvSpPr>
        <p:spPr>
          <a:xfrm>
            <a:off x="713232" y="2395728"/>
            <a:ext cx="2194560" cy="310896"/>
          </a:xfrm>
          <a:prstGeom prst="rect">
            <a:avLst/>
          </a:prstGeom>
          <a:noFill/>
          <a:ln/>
        </p:spPr>
        <p:txBody>
          <a:bodyPr wrap="square" lIns="0" tIns="0" rIns="0" bIns="0" rtlCol="0" anchor="ctr">
            <a:normAutofit/>
          </a:bodyPr>
          <a:lstStyle/>
          <a:p>
            <a:pPr algn="l" indent="0" marL="0">
              <a:buNone/>
            </a:pPr>
            <a:r>
              <a:rPr lang="en-US" sz="1000" dirty="0">
                <a:solidFill>
                  <a:srgbClr val="AEB9BA"/>
                </a:solidFill>
                <a:latin typeface="Aptos" pitchFamily="34" charset="0"/>
                <a:ea typeface="Aptos" pitchFamily="34" charset="-122"/>
                <a:cs typeface="Aptos" pitchFamily="34" charset="-120"/>
              </a:rPr>
              <a:t>Luxembourg hub</a:t>
            </a:r>
            <a:endParaRPr lang="en-US" sz="1000" dirty="0"/>
          </a:p>
          <a:p>
            <a:pPr algn="l" indent="0" marL="0">
              <a:buNone/>
            </a:pPr>
            <a:r>
              <a:rPr lang="en-US" sz="1000" dirty="0">
                <a:solidFill>
                  <a:srgbClr val="AEB9BA"/>
                </a:solidFill>
                <a:latin typeface="Aptos" pitchFamily="34" charset="0"/>
                <a:ea typeface="Aptos" pitchFamily="34" charset="-122"/>
                <a:cs typeface="Aptos" pitchFamily="34" charset="-120"/>
              </a:rPr>
              <a:t>Germany • Belgium • Spain</a:t>
            </a:r>
            <a:endParaRPr lang="en-US" sz="1000" dirty="0"/>
          </a:p>
        </p:txBody>
      </p:sp>
      <p:sp>
        <p:nvSpPr>
          <p:cNvPr id="15" name="Shape 13"/>
          <p:cNvSpPr/>
          <p:nvPr/>
        </p:nvSpPr>
        <p:spPr>
          <a:xfrm flipH="1">
            <a:off x="2157984" y="3273552"/>
            <a:ext cx="777240" cy="731520"/>
          </a:xfrm>
          <a:prstGeom prst="line">
            <a:avLst/>
          </a:prstGeom>
          <a:noFill/>
          <a:ln w="25400">
            <a:solidFill>
              <a:srgbClr val="465057"/>
            </a:solidFill>
            <a:prstDash val="solid"/>
          </a:ln>
        </p:spPr>
      </p:sp>
      <p:sp>
        <p:nvSpPr>
          <p:cNvPr id="16" name="Shape 14"/>
          <p:cNvSpPr/>
          <p:nvPr/>
        </p:nvSpPr>
        <p:spPr>
          <a:xfrm flipH="1">
            <a:off x="1060704" y="4005072"/>
            <a:ext cx="1097280" cy="667512"/>
          </a:xfrm>
          <a:prstGeom prst="line">
            <a:avLst/>
          </a:prstGeom>
          <a:noFill/>
          <a:ln w="25400">
            <a:solidFill>
              <a:srgbClr val="465057"/>
            </a:solidFill>
            <a:prstDash val="solid"/>
          </a:ln>
        </p:spPr>
      </p:sp>
      <p:sp>
        <p:nvSpPr>
          <p:cNvPr id="17" name="Shape 15"/>
          <p:cNvSpPr/>
          <p:nvPr/>
        </p:nvSpPr>
        <p:spPr>
          <a:xfrm>
            <a:off x="2157984" y="4005072"/>
            <a:ext cx="1051560" cy="685800"/>
          </a:xfrm>
          <a:prstGeom prst="line">
            <a:avLst/>
          </a:prstGeom>
          <a:noFill/>
          <a:ln w="25400">
            <a:solidFill>
              <a:srgbClr val="465057"/>
            </a:solidFill>
            <a:prstDash val="solid"/>
          </a:ln>
        </p:spPr>
      </p:sp>
      <p:sp>
        <p:nvSpPr>
          <p:cNvPr id="18" name="Shape 16"/>
          <p:cNvSpPr/>
          <p:nvPr/>
        </p:nvSpPr>
        <p:spPr>
          <a:xfrm>
            <a:off x="1097280" y="3337560"/>
            <a:ext cx="658368" cy="658368"/>
          </a:xfrm>
          <a:prstGeom prst="ellipse">
            <a:avLst/>
          </a:prstGeom>
          <a:solidFill>
            <a:srgbClr val="B64A2D"/>
          </a:solidFill>
          <a:ln w="6350">
            <a:solidFill>
              <a:srgbClr val="B64A2D"/>
            </a:solidFill>
            <a:prstDash val="solid"/>
          </a:ln>
        </p:spPr>
      </p:sp>
      <p:sp>
        <p:nvSpPr>
          <p:cNvPr id="19" name="Text 17"/>
          <p:cNvSpPr/>
          <p:nvPr/>
        </p:nvSpPr>
        <p:spPr>
          <a:xfrm>
            <a:off x="1097280" y="3529584"/>
            <a:ext cx="658368" cy="10972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LU</a:t>
            </a:r>
            <a:endParaRPr lang="en-US" sz="1000" dirty="0"/>
          </a:p>
        </p:txBody>
      </p:sp>
      <p:sp>
        <p:nvSpPr>
          <p:cNvPr id="20" name="Text 18"/>
          <p:cNvSpPr/>
          <p:nvPr/>
        </p:nvSpPr>
        <p:spPr>
          <a:xfrm>
            <a:off x="932688" y="4096512"/>
            <a:ext cx="1005840" cy="109728"/>
          </a:xfrm>
          <a:prstGeom prst="rect">
            <a:avLst/>
          </a:prstGeom>
          <a:noFill/>
          <a:ln/>
        </p:spPr>
        <p:txBody>
          <a:bodyPr wrap="square" lIns="0" tIns="0" rIns="0" bIns="0" rtlCol="0" anchor="ctr">
            <a:normAutofit/>
          </a:bodyPr>
          <a:lstStyle/>
          <a:p>
            <a:pPr algn="ctr" indent="0" marL="0">
              <a:buNone/>
            </a:pPr>
            <a:r>
              <a:rPr lang="en-US" sz="690" b="1" dirty="0">
                <a:solidFill>
                  <a:srgbClr val="AEB9BA"/>
                </a:solidFill>
                <a:latin typeface="Aptos" pitchFamily="34" charset="0"/>
                <a:ea typeface="Aptos" pitchFamily="34" charset="-122"/>
                <a:cs typeface="Aptos" pitchFamily="34" charset="-120"/>
              </a:rPr>
              <a:t>Moselle</a:t>
            </a:r>
            <a:endParaRPr lang="en-US" sz="690" dirty="0"/>
          </a:p>
        </p:txBody>
      </p:sp>
      <p:sp>
        <p:nvSpPr>
          <p:cNvPr id="21" name="Shape 19"/>
          <p:cNvSpPr/>
          <p:nvPr/>
        </p:nvSpPr>
        <p:spPr>
          <a:xfrm>
            <a:off x="2926080" y="2880360"/>
            <a:ext cx="658368" cy="658368"/>
          </a:xfrm>
          <a:prstGeom prst="ellipse">
            <a:avLst/>
          </a:prstGeom>
          <a:solidFill>
            <a:srgbClr val="E3A72F"/>
          </a:solidFill>
          <a:ln w="6350">
            <a:solidFill>
              <a:srgbClr val="E3A72F"/>
            </a:solidFill>
            <a:prstDash val="solid"/>
          </a:ln>
        </p:spPr>
      </p:sp>
      <p:sp>
        <p:nvSpPr>
          <p:cNvPr id="22" name="Text 20"/>
          <p:cNvSpPr/>
          <p:nvPr/>
        </p:nvSpPr>
        <p:spPr>
          <a:xfrm>
            <a:off x="2926080" y="3072384"/>
            <a:ext cx="658368" cy="10972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DE</a:t>
            </a:r>
            <a:endParaRPr lang="en-US" sz="1000" dirty="0"/>
          </a:p>
        </p:txBody>
      </p:sp>
      <p:sp>
        <p:nvSpPr>
          <p:cNvPr id="23" name="Text 21"/>
          <p:cNvSpPr/>
          <p:nvPr/>
        </p:nvSpPr>
        <p:spPr>
          <a:xfrm>
            <a:off x="2761488" y="3639312"/>
            <a:ext cx="1005840" cy="109728"/>
          </a:xfrm>
          <a:prstGeom prst="rect">
            <a:avLst/>
          </a:prstGeom>
          <a:noFill/>
          <a:ln/>
        </p:spPr>
        <p:txBody>
          <a:bodyPr wrap="square" lIns="0" tIns="0" rIns="0" bIns="0" rtlCol="0" anchor="ctr">
            <a:normAutofit/>
          </a:bodyPr>
          <a:lstStyle/>
          <a:p>
            <a:pPr algn="ctr" indent="0" marL="0">
              <a:buNone/>
            </a:pPr>
            <a:r>
              <a:rPr lang="en-US" sz="690" b="1" dirty="0">
                <a:solidFill>
                  <a:srgbClr val="AEB9BA"/>
                </a:solidFill>
                <a:latin typeface="Aptos" pitchFamily="34" charset="0"/>
                <a:ea typeface="Aptos" pitchFamily="34" charset="-122"/>
                <a:cs typeface="Aptos" pitchFamily="34" charset="-120"/>
              </a:rPr>
              <a:t>Rhine</a:t>
            </a:r>
            <a:endParaRPr lang="en-US" sz="690" dirty="0"/>
          </a:p>
        </p:txBody>
      </p:sp>
      <p:sp>
        <p:nvSpPr>
          <p:cNvPr id="24" name="Shape 22"/>
          <p:cNvSpPr/>
          <p:nvPr/>
        </p:nvSpPr>
        <p:spPr>
          <a:xfrm>
            <a:off x="822960" y="4526280"/>
            <a:ext cx="658368" cy="658368"/>
          </a:xfrm>
          <a:prstGeom prst="ellipse">
            <a:avLst/>
          </a:prstGeom>
          <a:solidFill>
            <a:srgbClr val="147D74"/>
          </a:solidFill>
          <a:ln w="6350">
            <a:solidFill>
              <a:srgbClr val="147D74"/>
            </a:solidFill>
            <a:prstDash val="solid"/>
          </a:ln>
        </p:spPr>
      </p:sp>
      <p:sp>
        <p:nvSpPr>
          <p:cNvPr id="25" name="Text 23"/>
          <p:cNvSpPr/>
          <p:nvPr/>
        </p:nvSpPr>
        <p:spPr>
          <a:xfrm>
            <a:off x="822960" y="4718304"/>
            <a:ext cx="658368" cy="10972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BE</a:t>
            </a:r>
            <a:endParaRPr lang="en-US" sz="1000" dirty="0"/>
          </a:p>
        </p:txBody>
      </p:sp>
      <p:sp>
        <p:nvSpPr>
          <p:cNvPr id="26" name="Text 24"/>
          <p:cNvSpPr/>
          <p:nvPr/>
        </p:nvSpPr>
        <p:spPr>
          <a:xfrm>
            <a:off x="658368" y="5285232"/>
            <a:ext cx="1005840" cy="109728"/>
          </a:xfrm>
          <a:prstGeom prst="rect">
            <a:avLst/>
          </a:prstGeom>
          <a:noFill/>
          <a:ln/>
        </p:spPr>
        <p:txBody>
          <a:bodyPr wrap="square" lIns="0" tIns="0" rIns="0" bIns="0" rtlCol="0" anchor="ctr">
            <a:normAutofit/>
          </a:bodyPr>
          <a:lstStyle/>
          <a:p>
            <a:pPr algn="ctr" indent="0" marL="0">
              <a:buNone/>
            </a:pPr>
            <a:r>
              <a:rPr lang="en-US" sz="690" b="1" dirty="0">
                <a:solidFill>
                  <a:srgbClr val="AEB9BA"/>
                </a:solidFill>
                <a:latin typeface="Aptos" pitchFamily="34" charset="0"/>
                <a:ea typeface="Aptos" pitchFamily="34" charset="-122"/>
                <a:cs typeface="Aptos" pitchFamily="34" charset="-120"/>
              </a:rPr>
              <a:t>Meuse</a:t>
            </a:r>
            <a:endParaRPr lang="en-US" sz="690" dirty="0"/>
          </a:p>
        </p:txBody>
      </p:sp>
      <p:sp>
        <p:nvSpPr>
          <p:cNvPr id="27" name="Shape 25"/>
          <p:cNvSpPr/>
          <p:nvPr/>
        </p:nvSpPr>
        <p:spPr>
          <a:xfrm>
            <a:off x="3054096" y="4663440"/>
            <a:ext cx="658368" cy="658368"/>
          </a:xfrm>
          <a:prstGeom prst="ellipse">
            <a:avLst/>
          </a:prstGeom>
          <a:solidFill>
            <a:srgbClr val="6D9A6F"/>
          </a:solidFill>
          <a:ln w="6350">
            <a:solidFill>
              <a:srgbClr val="6D9A6F"/>
            </a:solidFill>
            <a:prstDash val="solid"/>
          </a:ln>
        </p:spPr>
      </p:sp>
      <p:sp>
        <p:nvSpPr>
          <p:cNvPr id="28" name="Text 26"/>
          <p:cNvSpPr/>
          <p:nvPr/>
        </p:nvSpPr>
        <p:spPr>
          <a:xfrm>
            <a:off x="3054096" y="4855464"/>
            <a:ext cx="658368" cy="10972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ES</a:t>
            </a:r>
            <a:endParaRPr lang="en-US" sz="1000" dirty="0"/>
          </a:p>
        </p:txBody>
      </p:sp>
      <p:sp>
        <p:nvSpPr>
          <p:cNvPr id="29" name="Text 27"/>
          <p:cNvSpPr/>
          <p:nvPr/>
        </p:nvSpPr>
        <p:spPr>
          <a:xfrm>
            <a:off x="2889504" y="5422392"/>
            <a:ext cx="1005840" cy="109728"/>
          </a:xfrm>
          <a:prstGeom prst="rect">
            <a:avLst/>
          </a:prstGeom>
          <a:noFill/>
          <a:ln/>
        </p:spPr>
        <p:txBody>
          <a:bodyPr wrap="square" lIns="0" tIns="0" rIns="0" bIns="0" rtlCol="0" anchor="ctr">
            <a:normAutofit/>
          </a:bodyPr>
          <a:lstStyle/>
          <a:p>
            <a:pPr algn="ctr" indent="0" marL="0">
              <a:buNone/>
            </a:pPr>
            <a:r>
              <a:rPr lang="en-US" sz="690" b="1" dirty="0">
                <a:solidFill>
                  <a:srgbClr val="AEB9BA"/>
                </a:solidFill>
                <a:latin typeface="Aptos" pitchFamily="34" charset="0"/>
                <a:ea typeface="Aptos" pitchFamily="34" charset="-122"/>
                <a:cs typeface="Aptos" pitchFamily="34" charset="-120"/>
              </a:rPr>
              <a:t>Ebro</a:t>
            </a:r>
            <a:endParaRPr lang="en-US" sz="690" dirty="0"/>
          </a:p>
        </p:txBody>
      </p:sp>
      <p:sp>
        <p:nvSpPr>
          <p:cNvPr id="30" name="Shape 28"/>
          <p:cNvSpPr/>
          <p:nvPr/>
        </p:nvSpPr>
        <p:spPr>
          <a:xfrm>
            <a:off x="1947672" y="3785616"/>
            <a:ext cx="438912" cy="438912"/>
          </a:xfrm>
          <a:prstGeom prst="ellipse">
            <a:avLst/>
          </a:prstGeom>
          <a:solidFill>
            <a:srgbClr val="FFFFFF"/>
          </a:solidFill>
          <a:ln w="6350">
            <a:solidFill>
              <a:srgbClr val="FFFFFF"/>
            </a:solidFill>
            <a:prstDash val="solid"/>
          </a:ln>
        </p:spPr>
      </p:sp>
      <p:sp>
        <p:nvSpPr>
          <p:cNvPr id="31" name="Text 29"/>
          <p:cNvSpPr/>
          <p:nvPr/>
        </p:nvSpPr>
        <p:spPr>
          <a:xfrm>
            <a:off x="1947672" y="3941064"/>
            <a:ext cx="438912" cy="73152"/>
          </a:xfrm>
          <a:prstGeom prst="rect">
            <a:avLst/>
          </a:prstGeom>
          <a:noFill/>
          <a:ln/>
        </p:spPr>
        <p:txBody>
          <a:bodyPr wrap="square" lIns="0" tIns="0" rIns="0" bIns="0" rtlCol="0" anchor="ctr">
            <a:normAutofit/>
          </a:bodyPr>
          <a:lstStyle/>
          <a:p>
            <a:pPr algn="ctr" indent="0" marL="0">
              <a:buNone/>
            </a:pPr>
            <a:r>
              <a:rPr lang="en-US" sz="680" b="1" dirty="0">
                <a:solidFill>
                  <a:srgbClr val="1F2426"/>
                </a:solidFill>
                <a:latin typeface="Aptos" pitchFamily="34" charset="0"/>
                <a:ea typeface="Aptos" pitchFamily="34" charset="-122"/>
                <a:cs typeface="Aptos" pitchFamily="34" charset="-120"/>
              </a:rPr>
              <a:t>HQ</a:t>
            </a:r>
            <a:endParaRPr lang="en-US" sz="680" dirty="0"/>
          </a:p>
        </p:txBody>
      </p:sp>
      <p:sp>
        <p:nvSpPr>
          <p:cNvPr id="32" name="Shape 30"/>
          <p:cNvSpPr/>
          <p:nvPr/>
        </p:nvSpPr>
        <p:spPr>
          <a:xfrm>
            <a:off x="4828032" y="1499616"/>
            <a:ext cx="493776" cy="493776"/>
          </a:xfrm>
          <a:prstGeom prst="ellipse">
            <a:avLst/>
          </a:prstGeom>
          <a:solidFill>
            <a:srgbClr val="B64A2D"/>
          </a:solidFill>
          <a:ln w="6350">
            <a:solidFill>
              <a:srgbClr val="B64A2D"/>
            </a:solidFill>
            <a:prstDash val="solid"/>
          </a:ln>
        </p:spPr>
      </p:sp>
      <p:sp>
        <p:nvSpPr>
          <p:cNvPr id="33" name="Text 31"/>
          <p:cNvSpPr/>
          <p:nvPr/>
        </p:nvSpPr>
        <p:spPr>
          <a:xfrm>
            <a:off x="4828032" y="1664208"/>
            <a:ext cx="493776" cy="82296"/>
          </a:xfrm>
          <a:prstGeom prst="rect">
            <a:avLst/>
          </a:prstGeom>
          <a:noFill/>
          <a:ln/>
        </p:spPr>
        <p:txBody>
          <a:bodyPr wrap="square" lIns="0" tIns="0" rIns="0" bIns="0" rtlCol="0" anchor="ctr">
            <a:normAutofit/>
          </a:bodyPr>
          <a:lstStyle/>
          <a:p>
            <a:pPr algn="ctr" indent="0" marL="0">
              <a:buNone/>
            </a:pPr>
            <a:r>
              <a:rPr lang="en-US" sz="710" b="1" dirty="0">
                <a:solidFill>
                  <a:srgbClr val="FFFFFF"/>
                </a:solidFill>
                <a:latin typeface="Aptos" pitchFamily="34" charset="0"/>
                <a:ea typeface="Aptos" pitchFamily="34" charset="-122"/>
                <a:cs typeface="Aptos" pitchFamily="34" charset="-120"/>
              </a:rPr>
              <a:t>35%</a:t>
            </a:r>
            <a:endParaRPr lang="en-US" sz="710" dirty="0"/>
          </a:p>
        </p:txBody>
      </p:sp>
      <p:sp>
        <p:nvSpPr>
          <p:cNvPr id="34" name="Text 32"/>
          <p:cNvSpPr/>
          <p:nvPr/>
        </p:nvSpPr>
        <p:spPr>
          <a:xfrm>
            <a:off x="5504688" y="1517904"/>
            <a:ext cx="4069080" cy="164592"/>
          </a:xfrm>
          <a:prstGeom prst="rect">
            <a:avLst/>
          </a:prstGeom>
          <a:noFill/>
          <a:ln/>
        </p:spPr>
        <p:txBody>
          <a:bodyPr wrap="square" lIns="0" tIns="0" rIns="0" bIns="0" rtlCol="0" anchor="ctr">
            <a:normAutofit/>
          </a:bodyPr>
          <a:lstStyle/>
          <a:p>
            <a:pPr algn="l" indent="0" marL="0">
              <a:buNone/>
            </a:pPr>
            <a:r>
              <a:rPr lang="en-US" sz="1250" b="1" dirty="0">
                <a:solidFill>
                  <a:srgbClr val="202729"/>
                </a:solidFill>
                <a:latin typeface="Aptos" pitchFamily="34" charset="0"/>
                <a:ea typeface="Aptos" pitchFamily="34" charset="-122"/>
                <a:cs typeface="Aptos" pitchFamily="34" charset="-120"/>
              </a:rPr>
              <a:t>Energy of modeled production cost</a:t>
            </a:r>
            <a:endParaRPr lang="en-US" sz="1250" dirty="0"/>
          </a:p>
        </p:txBody>
      </p:sp>
      <p:sp>
        <p:nvSpPr>
          <p:cNvPr id="35" name="Text 33"/>
          <p:cNvSpPr/>
          <p:nvPr/>
        </p:nvSpPr>
        <p:spPr>
          <a:xfrm>
            <a:off x="5504688" y="1783080"/>
            <a:ext cx="4892040" cy="128016"/>
          </a:xfrm>
          <a:prstGeom prst="rect">
            <a:avLst/>
          </a:prstGeom>
          <a:noFill/>
          <a:ln/>
        </p:spPr>
        <p:txBody>
          <a:bodyPr wrap="square" lIns="0" tIns="0" rIns="0" bIns="0" rtlCol="0" anchor="ctr">
            <a:normAutofit/>
          </a:bodyPr>
          <a:lstStyle/>
          <a:p>
            <a:pPr algn="l" indent="0" marL="0">
              <a:buNone/>
            </a:pPr>
            <a:r>
              <a:rPr lang="en-US" sz="850" dirty="0">
                <a:solidFill>
                  <a:srgbClr val="687373"/>
                </a:solidFill>
                <a:latin typeface="Aptos" pitchFamily="34" charset="0"/>
                <a:ea typeface="Aptos" pitchFamily="34" charset="-122"/>
                <a:cs typeface="Aptos" pitchFamily="34" charset="-120"/>
              </a:rPr>
              <a:t>No real-time optimization lever today</a:t>
            </a:r>
            <a:endParaRPr lang="en-US" sz="850" dirty="0"/>
          </a:p>
        </p:txBody>
      </p:sp>
      <p:sp>
        <p:nvSpPr>
          <p:cNvPr id="36" name="Shape 34"/>
          <p:cNvSpPr/>
          <p:nvPr/>
        </p:nvSpPr>
        <p:spPr>
          <a:xfrm>
            <a:off x="4828032" y="2304288"/>
            <a:ext cx="493776" cy="493776"/>
          </a:xfrm>
          <a:prstGeom prst="ellipse">
            <a:avLst/>
          </a:prstGeom>
          <a:solidFill>
            <a:srgbClr val="E3A72F"/>
          </a:solidFill>
          <a:ln w="6350">
            <a:solidFill>
              <a:srgbClr val="E3A72F"/>
            </a:solidFill>
            <a:prstDash val="solid"/>
          </a:ln>
        </p:spPr>
      </p:sp>
      <p:sp>
        <p:nvSpPr>
          <p:cNvPr id="37" name="Text 35"/>
          <p:cNvSpPr/>
          <p:nvPr/>
        </p:nvSpPr>
        <p:spPr>
          <a:xfrm>
            <a:off x="4828032" y="2468880"/>
            <a:ext cx="493776" cy="82296"/>
          </a:xfrm>
          <a:prstGeom prst="rect">
            <a:avLst/>
          </a:prstGeom>
          <a:noFill/>
          <a:ln/>
        </p:spPr>
        <p:txBody>
          <a:bodyPr wrap="square" lIns="0" tIns="0" rIns="0" bIns="0" rtlCol="0" anchor="ctr">
            <a:normAutofit/>
          </a:bodyPr>
          <a:lstStyle/>
          <a:p>
            <a:pPr algn="ctr" indent="0" marL="0">
              <a:buNone/>
            </a:pPr>
            <a:r>
              <a:rPr lang="en-US" sz="710" b="1" dirty="0">
                <a:solidFill>
                  <a:srgbClr val="FFFFFF"/>
                </a:solidFill>
                <a:latin typeface="Aptos" pitchFamily="34" charset="0"/>
                <a:ea typeface="Aptos" pitchFamily="34" charset="-122"/>
                <a:cs typeface="Aptos" pitchFamily="34" charset="-120"/>
              </a:rPr>
              <a:t>CO₂</a:t>
            </a:r>
            <a:endParaRPr lang="en-US" sz="710" dirty="0"/>
          </a:p>
        </p:txBody>
      </p:sp>
      <p:sp>
        <p:nvSpPr>
          <p:cNvPr id="38" name="Text 36"/>
          <p:cNvSpPr/>
          <p:nvPr/>
        </p:nvSpPr>
        <p:spPr>
          <a:xfrm>
            <a:off x="5504688" y="2322576"/>
            <a:ext cx="4069080" cy="164592"/>
          </a:xfrm>
          <a:prstGeom prst="rect">
            <a:avLst/>
          </a:prstGeom>
          <a:noFill/>
          <a:ln/>
        </p:spPr>
        <p:txBody>
          <a:bodyPr wrap="square" lIns="0" tIns="0" rIns="0" bIns="0" rtlCol="0" anchor="ctr">
            <a:normAutofit/>
          </a:bodyPr>
          <a:lstStyle/>
          <a:p>
            <a:pPr algn="l" indent="0" marL="0">
              <a:buNone/>
            </a:pPr>
            <a:r>
              <a:rPr lang="en-US" sz="1250" b="1" dirty="0">
                <a:solidFill>
                  <a:srgbClr val="202729"/>
                </a:solidFill>
                <a:latin typeface="Aptos" pitchFamily="34" charset="0"/>
                <a:ea typeface="Aptos" pitchFamily="34" charset="-122"/>
                <a:cs typeface="Aptos" pitchFamily="34" charset="-120"/>
              </a:rPr>
              <a:t>EU ETS financial exposure</a:t>
            </a:r>
            <a:endParaRPr lang="en-US" sz="1250" dirty="0"/>
          </a:p>
        </p:txBody>
      </p:sp>
      <p:sp>
        <p:nvSpPr>
          <p:cNvPr id="39" name="Text 37"/>
          <p:cNvSpPr/>
          <p:nvPr/>
        </p:nvSpPr>
        <p:spPr>
          <a:xfrm>
            <a:off x="5504688" y="2587752"/>
            <a:ext cx="4892040" cy="128016"/>
          </a:xfrm>
          <a:prstGeom prst="rect">
            <a:avLst/>
          </a:prstGeom>
          <a:noFill/>
          <a:ln/>
        </p:spPr>
        <p:txBody>
          <a:bodyPr wrap="square" lIns="0" tIns="0" rIns="0" bIns="0" rtlCol="0" anchor="ctr">
            <a:normAutofit/>
          </a:bodyPr>
          <a:lstStyle/>
          <a:p>
            <a:pPr algn="l" indent="0" marL="0">
              <a:buNone/>
            </a:pPr>
            <a:r>
              <a:rPr lang="en-US" sz="850" dirty="0">
                <a:solidFill>
                  <a:srgbClr val="687373"/>
                </a:solidFill>
                <a:latin typeface="Aptos" pitchFamily="34" charset="0"/>
                <a:ea typeface="Aptos" pitchFamily="34" charset="-122"/>
                <a:cs typeface="Aptos" pitchFamily="34" charset="-120"/>
              </a:rPr>
              <a:t>Carbon is a hard business cost</a:t>
            </a:r>
            <a:endParaRPr lang="en-US" sz="850" dirty="0"/>
          </a:p>
        </p:txBody>
      </p:sp>
      <p:sp>
        <p:nvSpPr>
          <p:cNvPr id="40" name="Shape 38"/>
          <p:cNvSpPr/>
          <p:nvPr/>
        </p:nvSpPr>
        <p:spPr>
          <a:xfrm>
            <a:off x="4828032" y="3108960"/>
            <a:ext cx="493776" cy="493776"/>
          </a:xfrm>
          <a:prstGeom prst="ellipse">
            <a:avLst/>
          </a:prstGeom>
          <a:solidFill>
            <a:srgbClr val="B83B35"/>
          </a:solidFill>
          <a:ln w="6350">
            <a:solidFill>
              <a:srgbClr val="B83B35"/>
            </a:solidFill>
            <a:prstDash val="solid"/>
          </a:ln>
        </p:spPr>
      </p:sp>
      <p:sp>
        <p:nvSpPr>
          <p:cNvPr id="41" name="Text 39"/>
          <p:cNvSpPr/>
          <p:nvPr/>
        </p:nvSpPr>
        <p:spPr>
          <a:xfrm>
            <a:off x="4828032" y="3273552"/>
            <a:ext cx="493776" cy="82296"/>
          </a:xfrm>
          <a:prstGeom prst="rect">
            <a:avLst/>
          </a:prstGeom>
          <a:noFill/>
          <a:ln/>
        </p:spPr>
        <p:txBody>
          <a:bodyPr wrap="square" lIns="0" tIns="0" rIns="0" bIns="0" rtlCol="0" anchor="ctr">
            <a:normAutofit/>
          </a:bodyPr>
          <a:lstStyle/>
          <a:p>
            <a:pPr algn="ctr" indent="0" marL="0">
              <a:buNone/>
            </a:pPr>
            <a:r>
              <a:rPr lang="en-US" sz="710" b="1" dirty="0">
                <a:solidFill>
                  <a:srgbClr val="FFFFFF"/>
                </a:solidFill>
                <a:latin typeface="Aptos" pitchFamily="34" charset="0"/>
                <a:ea typeface="Aptos" pitchFamily="34" charset="-122"/>
                <a:cs typeface="Aptos" pitchFamily="34" charset="-120"/>
              </a:rPr>
              <a:t>€8M</a:t>
            </a:r>
            <a:endParaRPr lang="en-US" sz="710" dirty="0"/>
          </a:p>
        </p:txBody>
      </p:sp>
      <p:sp>
        <p:nvSpPr>
          <p:cNvPr id="42" name="Text 40"/>
          <p:cNvSpPr/>
          <p:nvPr/>
        </p:nvSpPr>
        <p:spPr>
          <a:xfrm>
            <a:off x="5504688" y="3127248"/>
            <a:ext cx="4069080" cy="164592"/>
          </a:xfrm>
          <a:prstGeom prst="rect">
            <a:avLst/>
          </a:prstGeom>
          <a:noFill/>
          <a:ln/>
        </p:spPr>
        <p:txBody>
          <a:bodyPr wrap="square" lIns="0" tIns="0" rIns="0" bIns="0" rtlCol="0" anchor="ctr">
            <a:normAutofit/>
          </a:bodyPr>
          <a:lstStyle/>
          <a:p>
            <a:pPr algn="l" indent="0" marL="0">
              <a:buNone/>
            </a:pPr>
            <a:r>
              <a:rPr lang="en-US" sz="1250" b="1" dirty="0">
                <a:solidFill>
                  <a:srgbClr val="202729"/>
                </a:solidFill>
                <a:latin typeface="Aptos" pitchFamily="34" charset="0"/>
                <a:ea typeface="Aptos" pitchFamily="34" charset="-122"/>
                <a:cs typeface="Aptos" pitchFamily="34" charset="-120"/>
              </a:rPr>
              <a:t>Unpredicted lining-failure scale</a:t>
            </a:r>
            <a:endParaRPr lang="en-US" sz="1250" dirty="0"/>
          </a:p>
        </p:txBody>
      </p:sp>
      <p:sp>
        <p:nvSpPr>
          <p:cNvPr id="43" name="Text 41"/>
          <p:cNvSpPr/>
          <p:nvPr/>
        </p:nvSpPr>
        <p:spPr>
          <a:xfrm>
            <a:off x="5504688" y="3392424"/>
            <a:ext cx="4892040" cy="128016"/>
          </a:xfrm>
          <a:prstGeom prst="rect">
            <a:avLst/>
          </a:prstGeom>
          <a:noFill/>
          <a:ln/>
        </p:spPr>
        <p:txBody>
          <a:bodyPr wrap="square" lIns="0" tIns="0" rIns="0" bIns="0" rtlCol="0" anchor="ctr">
            <a:normAutofit/>
          </a:bodyPr>
          <a:lstStyle/>
          <a:p>
            <a:pPr algn="l" indent="0" marL="0">
              <a:buNone/>
            </a:pPr>
            <a:r>
              <a:rPr lang="en-US" sz="850" dirty="0">
                <a:solidFill>
                  <a:srgbClr val="687373"/>
                </a:solidFill>
                <a:latin typeface="Aptos" pitchFamily="34" charset="0"/>
                <a:ea typeface="Aptos" pitchFamily="34" charset="-122"/>
                <a:cs typeface="Aptos" pitchFamily="34" charset="-120"/>
              </a:rPr>
              <a:t>Risk today is reactive, not planned</a:t>
            </a:r>
            <a:endParaRPr lang="en-US" sz="850" dirty="0"/>
          </a:p>
        </p:txBody>
      </p:sp>
      <p:sp>
        <p:nvSpPr>
          <p:cNvPr id="44" name="Shape 42"/>
          <p:cNvSpPr/>
          <p:nvPr/>
        </p:nvSpPr>
        <p:spPr>
          <a:xfrm>
            <a:off x="4828032" y="3913632"/>
            <a:ext cx="493776" cy="493776"/>
          </a:xfrm>
          <a:prstGeom prst="ellipse">
            <a:avLst/>
          </a:prstGeom>
          <a:solidFill>
            <a:srgbClr val="147D74"/>
          </a:solidFill>
          <a:ln w="6350">
            <a:solidFill>
              <a:srgbClr val="147D74"/>
            </a:solidFill>
            <a:prstDash val="solid"/>
          </a:ln>
        </p:spPr>
      </p:sp>
      <p:sp>
        <p:nvSpPr>
          <p:cNvPr id="45" name="Text 43"/>
          <p:cNvSpPr/>
          <p:nvPr/>
        </p:nvSpPr>
        <p:spPr>
          <a:xfrm>
            <a:off x="4828032" y="4078224"/>
            <a:ext cx="493776" cy="82296"/>
          </a:xfrm>
          <a:prstGeom prst="rect">
            <a:avLst/>
          </a:prstGeom>
          <a:noFill/>
          <a:ln/>
        </p:spPr>
        <p:txBody>
          <a:bodyPr wrap="square" lIns="0" tIns="0" rIns="0" bIns="0" rtlCol="0" anchor="ctr">
            <a:normAutofit/>
          </a:bodyPr>
          <a:lstStyle/>
          <a:p>
            <a:pPr algn="ctr" indent="0" marL="0">
              <a:buNone/>
            </a:pPr>
            <a:r>
              <a:rPr lang="en-US" sz="710" b="1" dirty="0">
                <a:solidFill>
                  <a:srgbClr val="FFFFFF"/>
                </a:solidFill>
                <a:latin typeface="Aptos" pitchFamily="34" charset="0"/>
                <a:ea typeface="Aptos" pitchFamily="34" charset="-122"/>
                <a:cs typeface="Aptos" pitchFamily="34" charset="-120"/>
              </a:rPr>
              <a:t>QA</a:t>
            </a:r>
            <a:endParaRPr lang="en-US" sz="710" dirty="0"/>
          </a:p>
        </p:txBody>
      </p:sp>
      <p:sp>
        <p:nvSpPr>
          <p:cNvPr id="46" name="Text 44"/>
          <p:cNvSpPr/>
          <p:nvPr/>
        </p:nvSpPr>
        <p:spPr>
          <a:xfrm>
            <a:off x="5504688" y="3931920"/>
            <a:ext cx="4069080" cy="164592"/>
          </a:xfrm>
          <a:prstGeom prst="rect">
            <a:avLst/>
          </a:prstGeom>
          <a:noFill/>
          <a:ln/>
        </p:spPr>
        <p:txBody>
          <a:bodyPr wrap="square" lIns="0" tIns="0" rIns="0" bIns="0" rtlCol="0" anchor="ctr">
            <a:normAutofit/>
          </a:bodyPr>
          <a:lstStyle/>
          <a:p>
            <a:pPr algn="l" indent="0" marL="0">
              <a:buNone/>
            </a:pPr>
            <a:r>
              <a:rPr lang="en-US" sz="1250" b="1" dirty="0">
                <a:solidFill>
                  <a:srgbClr val="202729"/>
                </a:solidFill>
                <a:latin typeface="Aptos" pitchFamily="34" charset="0"/>
                <a:ea typeface="Aptos" pitchFamily="34" charset="-122"/>
                <a:cs typeface="Aptos" pitchFamily="34" charset="-120"/>
              </a:rPr>
              <a:t>Automotive-grade yield variability</a:t>
            </a:r>
            <a:endParaRPr lang="en-US" sz="1250" dirty="0"/>
          </a:p>
        </p:txBody>
      </p:sp>
      <p:sp>
        <p:nvSpPr>
          <p:cNvPr id="47" name="Text 45"/>
          <p:cNvSpPr/>
          <p:nvPr/>
        </p:nvSpPr>
        <p:spPr>
          <a:xfrm>
            <a:off x="5504688" y="4197096"/>
            <a:ext cx="4892040" cy="128016"/>
          </a:xfrm>
          <a:prstGeom prst="rect">
            <a:avLst/>
          </a:prstGeom>
          <a:noFill/>
          <a:ln/>
        </p:spPr>
        <p:txBody>
          <a:bodyPr wrap="square" lIns="0" tIns="0" rIns="0" bIns="0" rtlCol="0" anchor="ctr">
            <a:normAutofit/>
          </a:bodyPr>
          <a:lstStyle/>
          <a:p>
            <a:pPr algn="l" indent="0" marL="0">
              <a:buNone/>
            </a:pPr>
            <a:r>
              <a:rPr lang="en-US" sz="850" dirty="0">
                <a:solidFill>
                  <a:srgbClr val="687373"/>
                </a:solidFill>
                <a:latin typeface="Aptos" pitchFamily="34" charset="0"/>
                <a:ea typeface="Aptos" pitchFamily="34" charset="-122"/>
                <a:cs typeface="Aptos" pitchFamily="34" charset="-120"/>
              </a:rPr>
              <a:t>Genealogy must be heat-by-heat</a:t>
            </a:r>
            <a:endParaRPr lang="en-US" sz="850" dirty="0"/>
          </a:p>
        </p:txBody>
      </p:sp>
      <p:sp>
        <p:nvSpPr>
          <p:cNvPr id="48" name="Shape 46"/>
          <p:cNvSpPr/>
          <p:nvPr/>
        </p:nvSpPr>
        <p:spPr>
          <a:xfrm>
            <a:off x="4828032" y="4718304"/>
            <a:ext cx="493776" cy="493776"/>
          </a:xfrm>
          <a:prstGeom prst="ellipse">
            <a:avLst/>
          </a:prstGeom>
          <a:solidFill>
            <a:srgbClr val="6D9A6F"/>
          </a:solidFill>
          <a:ln w="6350">
            <a:solidFill>
              <a:srgbClr val="6D9A6F"/>
            </a:solidFill>
            <a:prstDash val="solid"/>
          </a:ln>
        </p:spPr>
      </p:sp>
      <p:sp>
        <p:nvSpPr>
          <p:cNvPr id="49" name="Text 47"/>
          <p:cNvSpPr/>
          <p:nvPr/>
        </p:nvSpPr>
        <p:spPr>
          <a:xfrm>
            <a:off x="4828032" y="4882896"/>
            <a:ext cx="493776" cy="82296"/>
          </a:xfrm>
          <a:prstGeom prst="rect">
            <a:avLst/>
          </a:prstGeom>
          <a:noFill/>
          <a:ln/>
        </p:spPr>
        <p:txBody>
          <a:bodyPr wrap="square" lIns="0" tIns="0" rIns="0" bIns="0" rtlCol="0" anchor="ctr">
            <a:normAutofit/>
          </a:bodyPr>
          <a:lstStyle/>
          <a:p>
            <a:pPr algn="ctr" indent="0" marL="0">
              <a:buNone/>
            </a:pPr>
            <a:r>
              <a:rPr lang="en-US" sz="710" b="1" dirty="0">
                <a:solidFill>
                  <a:srgbClr val="FFFFFF"/>
                </a:solidFill>
                <a:latin typeface="Aptos" pitchFamily="34" charset="0"/>
                <a:ea typeface="Aptos" pitchFamily="34" charset="-122"/>
                <a:cs typeface="Aptos" pitchFamily="34" charset="-120"/>
              </a:rPr>
              <a:t>KN</a:t>
            </a:r>
            <a:endParaRPr lang="en-US" sz="710" dirty="0"/>
          </a:p>
        </p:txBody>
      </p:sp>
      <p:sp>
        <p:nvSpPr>
          <p:cNvPr id="50" name="Text 48"/>
          <p:cNvSpPr/>
          <p:nvPr/>
        </p:nvSpPr>
        <p:spPr>
          <a:xfrm>
            <a:off x="5504688" y="4736592"/>
            <a:ext cx="4069080" cy="164592"/>
          </a:xfrm>
          <a:prstGeom prst="rect">
            <a:avLst/>
          </a:prstGeom>
          <a:noFill/>
          <a:ln/>
        </p:spPr>
        <p:txBody>
          <a:bodyPr wrap="square" lIns="0" tIns="0" rIns="0" bIns="0" rtlCol="0" anchor="ctr">
            <a:normAutofit/>
          </a:bodyPr>
          <a:lstStyle/>
          <a:p>
            <a:pPr algn="l" indent="0" marL="0">
              <a:buNone/>
            </a:pPr>
            <a:r>
              <a:rPr lang="en-US" sz="1250" b="1" dirty="0">
                <a:solidFill>
                  <a:srgbClr val="202729"/>
                </a:solidFill>
                <a:latin typeface="Aptos" pitchFamily="34" charset="0"/>
                <a:ea typeface="Aptos" pitchFamily="34" charset="-122"/>
                <a:cs typeface="Aptos" pitchFamily="34" charset="-120"/>
              </a:rPr>
              <a:t>Retiring expertise leaves with people</a:t>
            </a:r>
            <a:endParaRPr lang="en-US" sz="1250" dirty="0"/>
          </a:p>
        </p:txBody>
      </p:sp>
      <p:sp>
        <p:nvSpPr>
          <p:cNvPr id="51" name="Text 49"/>
          <p:cNvSpPr/>
          <p:nvPr/>
        </p:nvSpPr>
        <p:spPr>
          <a:xfrm>
            <a:off x="5504688" y="5001768"/>
            <a:ext cx="4892040" cy="128016"/>
          </a:xfrm>
          <a:prstGeom prst="rect">
            <a:avLst/>
          </a:prstGeom>
          <a:noFill/>
          <a:ln/>
        </p:spPr>
        <p:txBody>
          <a:bodyPr wrap="square" lIns="0" tIns="0" rIns="0" bIns="0" rtlCol="0" anchor="ctr">
            <a:normAutofit/>
          </a:bodyPr>
          <a:lstStyle/>
          <a:p>
            <a:pPr algn="l" indent="0" marL="0">
              <a:buNone/>
            </a:pPr>
            <a:r>
              <a:rPr lang="en-US" sz="850" dirty="0">
                <a:solidFill>
                  <a:srgbClr val="687373"/>
                </a:solidFill>
                <a:latin typeface="Aptos" pitchFamily="34" charset="0"/>
                <a:ea typeface="Aptos" pitchFamily="34" charset="-122"/>
                <a:cs typeface="Aptos" pitchFamily="34" charset="-120"/>
              </a:rPr>
              <a:t>Tacit checks must be captured safely</a:t>
            </a:r>
            <a:endParaRPr lang="en-US" sz="850" dirty="0"/>
          </a:p>
        </p:txBody>
      </p:sp>
      <p:sp>
        <p:nvSpPr>
          <p:cNvPr id="52" name="Text 50"/>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Source cue | usecase.md  •  personas-and-journeys.md</a:t>
            </a:r>
            <a:endParaRPr lang="en-US" sz="660" dirty="0"/>
          </a:p>
        </p:txBody>
      </p:sp>
      <p:sp>
        <p:nvSpPr>
          <p:cNvPr id="53" name="Shape 51"/>
          <p:cNvSpPr/>
          <p:nvPr/>
        </p:nvSpPr>
        <p:spPr>
          <a:xfrm>
            <a:off x="0" y="6483096"/>
            <a:ext cx="12191695" cy="374904"/>
          </a:xfrm>
          <a:prstGeom prst="rect">
            <a:avLst/>
          </a:prstGeom>
          <a:solidFill>
            <a:srgbClr val="E9E7E1"/>
          </a:solidFill>
          <a:ln w="6350">
            <a:solidFill>
              <a:srgbClr val="E9E7E1"/>
            </a:solidFill>
            <a:prstDash val="solid"/>
          </a:ln>
        </p:spPr>
      </p:sp>
      <p:sp>
        <p:nvSpPr>
          <p:cNvPr id="54" name="Shape 52"/>
          <p:cNvSpPr/>
          <p:nvPr/>
        </p:nvSpPr>
        <p:spPr>
          <a:xfrm>
            <a:off x="384048" y="6547104"/>
            <a:ext cx="3547872" cy="182880"/>
          </a:xfrm>
          <a:prstGeom prst="roundRect">
            <a:avLst/>
          </a:prstGeom>
          <a:solidFill>
            <a:srgbClr val="FFFFFF"/>
          </a:solidFill>
          <a:ln w="3175">
            <a:solidFill>
              <a:srgbClr val="DDE4E1"/>
            </a:solidFill>
            <a:prstDash val="solid"/>
          </a:ln>
        </p:spPr>
      </p:sp>
      <p:sp>
        <p:nvSpPr>
          <p:cNvPr id="55" name="Text 53"/>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56" name="Text 54"/>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ORAL DEFENSE  •  02 / 20</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719"/>
        </a:solidFill>
      </p:bgPr>
    </p:bg>
    <p:spTree>
      <p:nvGrpSpPr>
        <p:cNvPr id="1" name=""/>
        <p:cNvGrpSpPr/>
        <p:nvPr/>
      </p:nvGrpSpPr>
      <p:grpSpPr>
        <a:xfrm>
          <a:off x="0" y="0"/>
          <a:ext cx="0" cy="0"/>
          <a:chOff x="0" y="0"/>
          <a:chExt cx="0" cy="0"/>
        </a:xfrm>
      </p:grpSpPr>
      <p:pic>
        <p:nvPicPr>
          <p:cNvPr id="2" name="Image 0" descr="D:\work\20260724 - Novasteel 3\tools\presentation\assets\steel-texture.png">    </p:cNvPr>
          <p:cNvPicPr>
            <a:picLocks noChangeAspect="1"/>
          </p:cNvPicPr>
          <p:nvPr/>
        </p:nvPicPr>
        <p:blipFill>
          <a:blip r:embed="rId1">
            <a:alphaModFix amt="34000"/>
          </a:blip>
          <a:stretch>
            <a:fillRect/>
          </a:stretch>
        </p:blipFill>
        <p:spPr>
          <a:xfrm>
            <a:off x="0" y="0"/>
            <a:ext cx="12191695" cy="6858000"/>
          </a:xfrm>
          <a:prstGeom prst="rect">
            <a:avLst/>
          </a:prstGeom>
        </p:spPr>
      </p:pic>
      <p:sp>
        <p:nvSpPr>
          <p:cNvPr id="3" name="Shape 0"/>
          <p:cNvSpPr/>
          <p:nvPr/>
        </p:nvSpPr>
        <p:spPr>
          <a:xfrm>
            <a:off x="457200" y="274320"/>
            <a:ext cx="822960" cy="246888"/>
          </a:xfrm>
          <a:prstGeom prst="roundRect">
            <a:avLst/>
          </a:prstGeom>
          <a:solidFill>
            <a:srgbClr val="465057"/>
          </a:solidFill>
          <a:ln w="5080">
            <a:solidFill>
              <a:srgbClr val="465057"/>
            </a:solidFill>
            <a:prstDash val="solid"/>
          </a:ln>
        </p:spPr>
      </p:sp>
      <p:sp>
        <p:nvSpPr>
          <p:cNvPr id="4" name="Text 1"/>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03</a:t>
            </a:r>
            <a:endParaRPr lang="en-US" sz="720" dirty="0"/>
          </a:p>
        </p:txBody>
      </p:sp>
      <p:sp>
        <p:nvSpPr>
          <p:cNvPr id="5" name="Text 2"/>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AEB9BA"/>
                </a:solidFill>
                <a:latin typeface="Aptos" pitchFamily="34" charset="0"/>
                <a:ea typeface="Aptos" pitchFamily="34" charset="-122"/>
                <a:cs typeface="Aptos" pitchFamily="34" charset="-120"/>
              </a:rPr>
              <a:t>EXECUTIVE URGENCY</a:t>
            </a:r>
            <a:endParaRPr lang="en-US" sz="810" dirty="0"/>
          </a:p>
        </p:txBody>
      </p:sp>
      <p:sp>
        <p:nvSpPr>
          <p:cNvPr id="6" name="Shape 3"/>
          <p:cNvSpPr/>
          <p:nvPr/>
        </p:nvSpPr>
        <p:spPr>
          <a:xfrm>
            <a:off x="10040112" y="274320"/>
            <a:ext cx="1673352" cy="256032"/>
          </a:xfrm>
          <a:prstGeom prst="roundRect">
            <a:avLst/>
          </a:prstGeom>
          <a:solidFill>
            <a:srgbClr val="1F2426"/>
          </a:solidFill>
          <a:ln w="6350">
            <a:solidFill>
              <a:srgbClr val="465057"/>
            </a:solidFill>
            <a:prstDash val="solid"/>
          </a:ln>
        </p:spPr>
      </p:sp>
      <p:sp>
        <p:nvSpPr>
          <p:cNvPr id="7" name="Text 4"/>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AEB9BA"/>
                </a:solidFill>
                <a:latin typeface="Aptos" pitchFamily="34" charset="0"/>
                <a:ea typeface="Aptos" pitchFamily="34" charset="-122"/>
                <a:cs typeface="Aptos" pitchFamily="34" charset="-120"/>
              </a:rPr>
              <a:t>02:15–03:30</a:t>
            </a:r>
            <a:endParaRPr lang="en-US" sz="720" dirty="0"/>
          </a:p>
        </p:txBody>
      </p:sp>
      <p:sp>
        <p:nvSpPr>
          <p:cNvPr id="8" name="Text 5"/>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FFFFFF"/>
                </a:solidFill>
                <a:latin typeface="Bahnschrift SemiBold" pitchFamily="34" charset="0"/>
                <a:ea typeface="Bahnschrift SemiBold" pitchFamily="34" charset="-122"/>
                <a:cs typeface="Bahnschrift SemiBold" pitchFamily="34" charset="-120"/>
              </a:rPr>
              <a:t>Doing nothing is not a neutral option</a:t>
            </a:r>
            <a:endParaRPr lang="en-US" sz="2550" dirty="0"/>
          </a:p>
        </p:txBody>
      </p:sp>
      <p:sp>
        <p:nvSpPr>
          <p:cNvPr id="9" name="Shape 6"/>
          <p:cNvSpPr/>
          <p:nvPr/>
        </p:nvSpPr>
        <p:spPr>
          <a:xfrm>
            <a:off x="457200" y="1188720"/>
            <a:ext cx="1559966" cy="246888"/>
          </a:xfrm>
          <a:prstGeom prst="roundRect">
            <a:avLst/>
          </a:prstGeom>
          <a:solidFill>
            <a:srgbClr val="465057"/>
          </a:solidFill>
          <a:ln w="5080">
            <a:solidFill>
              <a:srgbClr val="465057"/>
            </a:solidFill>
            <a:prstDash val="solid"/>
          </a:ln>
        </p:spPr>
      </p:sp>
      <p:sp>
        <p:nvSpPr>
          <p:cNvPr id="10" name="Text 7"/>
          <p:cNvSpPr/>
          <p:nvPr/>
        </p:nvSpPr>
        <p:spPr>
          <a:xfrm>
            <a:off x="576072" y="1239012"/>
            <a:ext cx="1322222"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ILLUSTRATIVE EXPOSURE</a:t>
            </a:r>
            <a:endParaRPr lang="en-US" sz="720" dirty="0"/>
          </a:p>
        </p:txBody>
      </p:sp>
      <p:sp>
        <p:nvSpPr>
          <p:cNvPr id="11" name="Text 8"/>
          <p:cNvSpPr/>
          <p:nvPr/>
        </p:nvSpPr>
        <p:spPr>
          <a:xfrm>
            <a:off x="475488" y="1591056"/>
            <a:ext cx="4663440" cy="621792"/>
          </a:xfrm>
          <a:prstGeom prst="rect">
            <a:avLst/>
          </a:prstGeom>
          <a:noFill/>
          <a:ln/>
        </p:spPr>
        <p:txBody>
          <a:bodyPr wrap="square" lIns="0" tIns="0" rIns="0" bIns="0" rtlCol="0" anchor="t">
            <a:normAutofit/>
          </a:bodyPr>
          <a:lstStyle/>
          <a:p>
            <a:pPr algn="l" indent="0" marL="0">
              <a:buNone/>
            </a:pPr>
            <a:r>
              <a:rPr lang="en-US" sz="2350" b="1" dirty="0">
                <a:solidFill>
                  <a:srgbClr val="FFFFFF"/>
                </a:solidFill>
                <a:latin typeface="Bahnschrift SemiBold" pitchFamily="34" charset="0"/>
                <a:ea typeface="Bahnschrift SemiBold" pitchFamily="34" charset="-122"/>
                <a:cs typeface="Bahnschrift SemiBold" pitchFamily="34" charset="-120"/>
              </a:rPr>
              <a:t>REACTIVE OPERATIONS</a:t>
            </a:r>
            <a:endParaRPr lang="en-US" sz="2350" dirty="0"/>
          </a:p>
          <a:p>
            <a:pPr algn="l" indent="0" marL="0">
              <a:buNone/>
            </a:pPr>
            <a:r>
              <a:rPr lang="en-US" sz="2350" b="1" dirty="0">
                <a:solidFill>
                  <a:srgbClr val="FFFFFF"/>
                </a:solidFill>
                <a:latin typeface="Bahnschrift SemiBold" pitchFamily="34" charset="0"/>
                <a:ea typeface="Bahnschrift SemiBold" pitchFamily="34" charset="-122"/>
                <a:cs typeface="Bahnschrift SemiBold" pitchFamily="34" charset="-120"/>
              </a:rPr>
              <a:t>PAY THE MAXIMUM ON EVERY AXIS.</a:t>
            </a:r>
            <a:endParaRPr lang="en-US" sz="2350" dirty="0"/>
          </a:p>
        </p:txBody>
      </p:sp>
      <p:sp>
        <p:nvSpPr>
          <p:cNvPr id="12" name="Text 9"/>
          <p:cNvSpPr/>
          <p:nvPr/>
        </p:nvSpPr>
        <p:spPr>
          <a:xfrm>
            <a:off x="475488" y="2496312"/>
            <a:ext cx="4251960" cy="265176"/>
          </a:xfrm>
          <a:prstGeom prst="rect">
            <a:avLst/>
          </a:prstGeom>
          <a:noFill/>
          <a:ln/>
        </p:spPr>
        <p:txBody>
          <a:bodyPr wrap="square" lIns="0" tIns="0" rIns="0" bIns="0" rtlCol="0" anchor="t">
            <a:normAutofit/>
          </a:bodyPr>
          <a:lstStyle/>
          <a:p>
            <a:pPr algn="l" indent="0" marL="0">
              <a:buNone/>
            </a:pPr>
            <a:r>
              <a:rPr lang="en-US" sz="1000" dirty="0">
                <a:solidFill>
                  <a:srgbClr val="AEB9BA"/>
                </a:solidFill>
                <a:latin typeface="Aptos" pitchFamily="34" charset="0"/>
                <a:ea typeface="Aptos" pitchFamily="34" charset="-122"/>
                <a:cs typeface="Aptos" pitchFamily="34" charset="-120"/>
              </a:rPr>
              <a:t>No invented aggregate ROI. The exposure categories are deliberately visible, not rolled into a fake total.</a:t>
            </a:r>
            <a:endParaRPr lang="en-US" sz="1000" dirty="0"/>
          </a:p>
        </p:txBody>
      </p:sp>
      <p:sp>
        <p:nvSpPr>
          <p:cNvPr id="13" name="Text 10"/>
          <p:cNvSpPr/>
          <p:nvPr/>
        </p:nvSpPr>
        <p:spPr>
          <a:xfrm>
            <a:off x="5577840" y="1444752"/>
            <a:ext cx="1600200" cy="146304"/>
          </a:xfrm>
          <a:prstGeom prst="rect">
            <a:avLst/>
          </a:prstGeom>
          <a:noFill/>
          <a:ln/>
        </p:spPr>
        <p:txBody>
          <a:bodyPr wrap="square" lIns="0" tIns="0" rIns="0" bIns="0" rtlCol="0" anchor="ctr">
            <a:normAutofit/>
          </a:bodyPr>
          <a:lstStyle/>
          <a:p>
            <a:pPr algn="r" indent="0" marL="0">
              <a:buNone/>
            </a:pPr>
            <a:r>
              <a:rPr lang="en-US" sz="950" b="1" dirty="0">
                <a:solidFill>
                  <a:srgbClr val="FFFFFF"/>
                </a:solidFill>
                <a:latin typeface="Aptos" pitchFamily="34" charset="0"/>
                <a:ea typeface="Aptos" pitchFamily="34" charset="-122"/>
                <a:cs typeface="Aptos" pitchFamily="34" charset="-120"/>
              </a:rPr>
              <a:t>Peak energy</a:t>
            </a:r>
            <a:endParaRPr lang="en-US" sz="950" dirty="0"/>
          </a:p>
        </p:txBody>
      </p:sp>
      <p:sp>
        <p:nvSpPr>
          <p:cNvPr id="14" name="Shape 11"/>
          <p:cNvSpPr/>
          <p:nvPr/>
        </p:nvSpPr>
        <p:spPr>
          <a:xfrm>
            <a:off x="7406640" y="1444752"/>
            <a:ext cx="3401568" cy="292608"/>
          </a:xfrm>
          <a:prstGeom prst="roundRect">
            <a:avLst/>
          </a:prstGeom>
          <a:solidFill>
            <a:srgbClr val="465057"/>
          </a:solidFill>
          <a:ln w="6350">
            <a:solidFill>
              <a:srgbClr val="465057"/>
            </a:solidFill>
            <a:prstDash val="solid"/>
          </a:ln>
        </p:spPr>
      </p:sp>
      <p:sp>
        <p:nvSpPr>
          <p:cNvPr id="15" name="Shape 12"/>
          <p:cNvSpPr/>
          <p:nvPr/>
        </p:nvSpPr>
        <p:spPr>
          <a:xfrm>
            <a:off x="7406640" y="1444752"/>
            <a:ext cx="2520086" cy="292608"/>
          </a:xfrm>
          <a:prstGeom prst="roundRect">
            <a:avLst/>
          </a:prstGeom>
          <a:solidFill>
            <a:srgbClr val="B64A2D"/>
          </a:solidFill>
          <a:ln w="6350">
            <a:solidFill>
              <a:srgbClr val="B64A2D"/>
            </a:solidFill>
            <a:prstDash val="solid"/>
          </a:ln>
        </p:spPr>
      </p:sp>
      <p:sp>
        <p:nvSpPr>
          <p:cNvPr id="16" name="Text 13"/>
          <p:cNvSpPr/>
          <p:nvPr/>
        </p:nvSpPr>
        <p:spPr>
          <a:xfrm>
            <a:off x="7479792" y="1828800"/>
            <a:ext cx="3273552" cy="109728"/>
          </a:xfrm>
          <a:prstGeom prst="rect">
            <a:avLst/>
          </a:prstGeom>
          <a:noFill/>
          <a:ln/>
        </p:spPr>
        <p:txBody>
          <a:bodyPr wrap="square" lIns="0" tIns="0" rIns="0" bIns="0" rtlCol="0" anchor="ctr">
            <a:normAutofit/>
          </a:bodyPr>
          <a:lstStyle/>
          <a:p>
            <a:pPr algn="r" indent="0" marL="0">
              <a:buNone/>
            </a:pPr>
            <a:r>
              <a:rPr lang="en-US" sz="730" dirty="0">
                <a:solidFill>
                  <a:srgbClr val="AEB9BA"/>
                </a:solidFill>
                <a:latin typeface="Aptos" pitchFamily="34" charset="0"/>
                <a:ea typeface="Aptos" pitchFamily="34" charset="-122"/>
                <a:cs typeface="Aptos" pitchFamily="34" charset="-120"/>
              </a:rPr>
              <a:t>buying at the wrong time</a:t>
            </a:r>
            <a:endParaRPr lang="en-US" sz="730" dirty="0"/>
          </a:p>
        </p:txBody>
      </p:sp>
      <p:sp>
        <p:nvSpPr>
          <p:cNvPr id="17" name="Text 14"/>
          <p:cNvSpPr/>
          <p:nvPr/>
        </p:nvSpPr>
        <p:spPr>
          <a:xfrm>
            <a:off x="5577840" y="2231136"/>
            <a:ext cx="1600200" cy="146304"/>
          </a:xfrm>
          <a:prstGeom prst="rect">
            <a:avLst/>
          </a:prstGeom>
          <a:noFill/>
          <a:ln/>
        </p:spPr>
        <p:txBody>
          <a:bodyPr wrap="square" lIns="0" tIns="0" rIns="0" bIns="0" rtlCol="0" anchor="ctr">
            <a:normAutofit/>
          </a:bodyPr>
          <a:lstStyle/>
          <a:p>
            <a:pPr algn="r" indent="0" marL="0">
              <a:buNone/>
            </a:pPr>
            <a:r>
              <a:rPr lang="en-US" sz="950" b="1" dirty="0">
                <a:solidFill>
                  <a:srgbClr val="FFFFFF"/>
                </a:solidFill>
                <a:latin typeface="Aptos" pitchFamily="34" charset="0"/>
                <a:ea typeface="Aptos" pitchFamily="34" charset="-122"/>
                <a:cs typeface="Aptos" pitchFamily="34" charset="-120"/>
              </a:rPr>
              <a:t>ETS exposure</a:t>
            </a:r>
            <a:endParaRPr lang="en-US" sz="950" dirty="0"/>
          </a:p>
        </p:txBody>
      </p:sp>
      <p:sp>
        <p:nvSpPr>
          <p:cNvPr id="18" name="Shape 15"/>
          <p:cNvSpPr/>
          <p:nvPr/>
        </p:nvSpPr>
        <p:spPr>
          <a:xfrm>
            <a:off x="7406640" y="2231136"/>
            <a:ext cx="3401568" cy="292608"/>
          </a:xfrm>
          <a:prstGeom prst="roundRect">
            <a:avLst/>
          </a:prstGeom>
          <a:solidFill>
            <a:srgbClr val="465057"/>
          </a:solidFill>
          <a:ln w="6350">
            <a:solidFill>
              <a:srgbClr val="465057"/>
            </a:solidFill>
            <a:prstDash val="solid"/>
          </a:ln>
        </p:spPr>
      </p:sp>
      <p:sp>
        <p:nvSpPr>
          <p:cNvPr id="19" name="Shape 16"/>
          <p:cNvSpPr/>
          <p:nvPr/>
        </p:nvSpPr>
        <p:spPr>
          <a:xfrm>
            <a:off x="7406640" y="2231136"/>
            <a:ext cx="1986991" cy="292608"/>
          </a:xfrm>
          <a:prstGeom prst="roundRect">
            <a:avLst/>
          </a:prstGeom>
          <a:solidFill>
            <a:srgbClr val="E3A72F"/>
          </a:solidFill>
          <a:ln w="6350">
            <a:solidFill>
              <a:srgbClr val="E3A72F"/>
            </a:solidFill>
            <a:prstDash val="solid"/>
          </a:ln>
        </p:spPr>
      </p:sp>
      <p:sp>
        <p:nvSpPr>
          <p:cNvPr id="20" name="Text 17"/>
          <p:cNvSpPr/>
          <p:nvPr/>
        </p:nvSpPr>
        <p:spPr>
          <a:xfrm>
            <a:off x="7479792" y="2615184"/>
            <a:ext cx="3273552" cy="109728"/>
          </a:xfrm>
          <a:prstGeom prst="rect">
            <a:avLst/>
          </a:prstGeom>
          <a:noFill/>
          <a:ln/>
        </p:spPr>
        <p:txBody>
          <a:bodyPr wrap="square" lIns="0" tIns="0" rIns="0" bIns="0" rtlCol="0" anchor="ctr">
            <a:normAutofit/>
          </a:bodyPr>
          <a:lstStyle/>
          <a:p>
            <a:pPr algn="r" indent="0" marL="0">
              <a:buNone/>
            </a:pPr>
            <a:r>
              <a:rPr lang="en-US" sz="730" dirty="0">
                <a:solidFill>
                  <a:srgbClr val="AEB9BA"/>
                </a:solidFill>
                <a:latin typeface="Aptos" pitchFamily="34" charset="0"/>
                <a:ea typeface="Aptos" pitchFamily="34" charset="-122"/>
                <a:cs typeface="Aptos" pitchFamily="34" charset="-120"/>
              </a:rPr>
              <a:t>carbon becomes material</a:t>
            </a:r>
            <a:endParaRPr lang="en-US" sz="730" dirty="0"/>
          </a:p>
        </p:txBody>
      </p:sp>
      <p:sp>
        <p:nvSpPr>
          <p:cNvPr id="21" name="Text 18"/>
          <p:cNvSpPr/>
          <p:nvPr/>
        </p:nvSpPr>
        <p:spPr>
          <a:xfrm>
            <a:off x="5577840" y="3017520"/>
            <a:ext cx="1600200" cy="146304"/>
          </a:xfrm>
          <a:prstGeom prst="rect">
            <a:avLst/>
          </a:prstGeom>
          <a:noFill/>
          <a:ln/>
        </p:spPr>
        <p:txBody>
          <a:bodyPr wrap="square" lIns="0" tIns="0" rIns="0" bIns="0" rtlCol="0" anchor="ctr">
            <a:normAutofit/>
          </a:bodyPr>
          <a:lstStyle/>
          <a:p>
            <a:pPr algn="r" indent="0" marL="0">
              <a:buNone/>
            </a:pPr>
            <a:r>
              <a:rPr lang="en-US" sz="950" b="1" dirty="0">
                <a:solidFill>
                  <a:srgbClr val="FFFFFF"/>
                </a:solidFill>
                <a:latin typeface="Aptos" pitchFamily="34" charset="0"/>
                <a:ea typeface="Aptos" pitchFamily="34" charset="-122"/>
                <a:cs typeface="Aptos" pitchFamily="34" charset="-120"/>
              </a:rPr>
              <a:t>Unplanned reline</a:t>
            </a:r>
            <a:endParaRPr lang="en-US" sz="950" dirty="0"/>
          </a:p>
        </p:txBody>
      </p:sp>
      <p:sp>
        <p:nvSpPr>
          <p:cNvPr id="22" name="Shape 19"/>
          <p:cNvSpPr/>
          <p:nvPr/>
        </p:nvSpPr>
        <p:spPr>
          <a:xfrm>
            <a:off x="7406640" y="3017520"/>
            <a:ext cx="3401568" cy="292608"/>
          </a:xfrm>
          <a:prstGeom prst="roundRect">
            <a:avLst/>
          </a:prstGeom>
          <a:solidFill>
            <a:srgbClr val="465057"/>
          </a:solidFill>
          <a:ln w="6350">
            <a:solidFill>
              <a:srgbClr val="465057"/>
            </a:solidFill>
            <a:prstDash val="solid"/>
          </a:ln>
        </p:spPr>
      </p:sp>
      <p:sp>
        <p:nvSpPr>
          <p:cNvPr id="23" name="Shape 20"/>
          <p:cNvSpPr/>
          <p:nvPr/>
        </p:nvSpPr>
        <p:spPr>
          <a:xfrm>
            <a:off x="7406640" y="3017520"/>
            <a:ext cx="3101645" cy="292608"/>
          </a:xfrm>
          <a:prstGeom prst="roundRect">
            <a:avLst/>
          </a:prstGeom>
          <a:solidFill>
            <a:srgbClr val="B83B35"/>
          </a:solidFill>
          <a:ln w="6350">
            <a:solidFill>
              <a:srgbClr val="B83B35"/>
            </a:solidFill>
            <a:prstDash val="solid"/>
          </a:ln>
        </p:spPr>
      </p:sp>
      <p:sp>
        <p:nvSpPr>
          <p:cNvPr id="24" name="Text 21"/>
          <p:cNvSpPr/>
          <p:nvPr/>
        </p:nvSpPr>
        <p:spPr>
          <a:xfrm>
            <a:off x="7479792" y="3401568"/>
            <a:ext cx="3273552" cy="109728"/>
          </a:xfrm>
          <a:prstGeom prst="rect">
            <a:avLst/>
          </a:prstGeom>
          <a:noFill/>
          <a:ln/>
        </p:spPr>
        <p:txBody>
          <a:bodyPr wrap="square" lIns="0" tIns="0" rIns="0" bIns="0" rtlCol="0" anchor="ctr">
            <a:normAutofit/>
          </a:bodyPr>
          <a:lstStyle/>
          <a:p>
            <a:pPr algn="r" indent="0" marL="0">
              <a:buNone/>
            </a:pPr>
            <a:r>
              <a:rPr lang="en-US" sz="730" dirty="0">
                <a:solidFill>
                  <a:srgbClr val="AEB9BA"/>
                </a:solidFill>
                <a:latin typeface="Aptos" pitchFamily="34" charset="0"/>
                <a:ea typeface="Aptos" pitchFamily="34" charset="-122"/>
                <a:cs typeface="Aptos" pitchFamily="34" charset="-120"/>
              </a:rPr>
              <a:t>≈ €8M + outage</a:t>
            </a:r>
            <a:endParaRPr lang="en-US" sz="730" dirty="0"/>
          </a:p>
        </p:txBody>
      </p:sp>
      <p:sp>
        <p:nvSpPr>
          <p:cNvPr id="25" name="Text 22"/>
          <p:cNvSpPr/>
          <p:nvPr/>
        </p:nvSpPr>
        <p:spPr>
          <a:xfrm>
            <a:off x="5577840" y="3803904"/>
            <a:ext cx="1600200" cy="146304"/>
          </a:xfrm>
          <a:prstGeom prst="rect">
            <a:avLst/>
          </a:prstGeom>
          <a:noFill/>
          <a:ln/>
        </p:spPr>
        <p:txBody>
          <a:bodyPr wrap="square" lIns="0" tIns="0" rIns="0" bIns="0" rtlCol="0" anchor="ctr">
            <a:normAutofit/>
          </a:bodyPr>
          <a:lstStyle/>
          <a:p>
            <a:pPr algn="r" indent="0" marL="0">
              <a:buNone/>
            </a:pPr>
            <a:r>
              <a:rPr lang="en-US" sz="950" b="1" dirty="0">
                <a:solidFill>
                  <a:srgbClr val="FFFFFF"/>
                </a:solidFill>
                <a:latin typeface="Aptos" pitchFamily="34" charset="0"/>
                <a:ea typeface="Aptos" pitchFamily="34" charset="-122"/>
                <a:cs typeface="Aptos" pitchFamily="34" charset="-120"/>
              </a:rPr>
              <a:t>Yield / claims</a:t>
            </a:r>
            <a:endParaRPr lang="en-US" sz="950" dirty="0"/>
          </a:p>
        </p:txBody>
      </p:sp>
      <p:sp>
        <p:nvSpPr>
          <p:cNvPr id="26" name="Shape 23"/>
          <p:cNvSpPr/>
          <p:nvPr/>
        </p:nvSpPr>
        <p:spPr>
          <a:xfrm>
            <a:off x="7406640" y="3803904"/>
            <a:ext cx="3401568" cy="292608"/>
          </a:xfrm>
          <a:prstGeom prst="roundRect">
            <a:avLst/>
          </a:prstGeom>
          <a:solidFill>
            <a:srgbClr val="465057"/>
          </a:solidFill>
          <a:ln w="6350">
            <a:solidFill>
              <a:srgbClr val="465057"/>
            </a:solidFill>
            <a:prstDash val="solid"/>
          </a:ln>
        </p:spPr>
      </p:sp>
      <p:sp>
        <p:nvSpPr>
          <p:cNvPr id="27" name="Shape 24"/>
          <p:cNvSpPr/>
          <p:nvPr/>
        </p:nvSpPr>
        <p:spPr>
          <a:xfrm>
            <a:off x="7406640" y="3803904"/>
            <a:ext cx="1696212" cy="292608"/>
          </a:xfrm>
          <a:prstGeom prst="roundRect">
            <a:avLst/>
          </a:prstGeom>
          <a:solidFill>
            <a:srgbClr val="147D74"/>
          </a:solidFill>
          <a:ln w="6350">
            <a:solidFill>
              <a:srgbClr val="147D74"/>
            </a:solidFill>
            <a:prstDash val="solid"/>
          </a:ln>
        </p:spPr>
      </p:sp>
      <p:sp>
        <p:nvSpPr>
          <p:cNvPr id="28" name="Text 25"/>
          <p:cNvSpPr/>
          <p:nvPr/>
        </p:nvSpPr>
        <p:spPr>
          <a:xfrm>
            <a:off x="7479792" y="4187952"/>
            <a:ext cx="3273552" cy="109728"/>
          </a:xfrm>
          <a:prstGeom prst="rect">
            <a:avLst/>
          </a:prstGeom>
          <a:noFill/>
          <a:ln/>
        </p:spPr>
        <p:txBody>
          <a:bodyPr wrap="square" lIns="0" tIns="0" rIns="0" bIns="0" rtlCol="0" anchor="ctr">
            <a:normAutofit/>
          </a:bodyPr>
          <a:lstStyle/>
          <a:p>
            <a:pPr algn="r" indent="0" marL="0">
              <a:buNone/>
            </a:pPr>
            <a:r>
              <a:rPr lang="en-US" sz="730" dirty="0">
                <a:solidFill>
                  <a:srgbClr val="AEB9BA"/>
                </a:solidFill>
                <a:latin typeface="Aptos" pitchFamily="34" charset="0"/>
                <a:ea typeface="Aptos" pitchFamily="34" charset="-122"/>
                <a:cs typeface="Aptos" pitchFamily="34" charset="-120"/>
              </a:rPr>
              <a:t>late drift is costly</a:t>
            </a:r>
            <a:endParaRPr lang="en-US" sz="730" dirty="0"/>
          </a:p>
        </p:txBody>
      </p:sp>
      <p:sp>
        <p:nvSpPr>
          <p:cNvPr id="29" name="Text 26"/>
          <p:cNvSpPr/>
          <p:nvPr/>
        </p:nvSpPr>
        <p:spPr>
          <a:xfrm>
            <a:off x="5577840" y="4590288"/>
            <a:ext cx="1600200" cy="146304"/>
          </a:xfrm>
          <a:prstGeom prst="rect">
            <a:avLst/>
          </a:prstGeom>
          <a:noFill/>
          <a:ln/>
        </p:spPr>
        <p:txBody>
          <a:bodyPr wrap="square" lIns="0" tIns="0" rIns="0" bIns="0" rtlCol="0" anchor="ctr">
            <a:normAutofit/>
          </a:bodyPr>
          <a:lstStyle/>
          <a:p>
            <a:pPr algn="r" indent="0" marL="0">
              <a:buNone/>
            </a:pPr>
            <a:r>
              <a:rPr lang="en-US" sz="950" b="1" dirty="0">
                <a:solidFill>
                  <a:srgbClr val="FFFFFF"/>
                </a:solidFill>
                <a:latin typeface="Aptos" pitchFamily="34" charset="0"/>
                <a:ea typeface="Aptos" pitchFamily="34" charset="-122"/>
                <a:cs typeface="Aptos" pitchFamily="34" charset="-120"/>
              </a:rPr>
              <a:t>Knowledge attrition</a:t>
            </a:r>
            <a:endParaRPr lang="en-US" sz="950" dirty="0"/>
          </a:p>
        </p:txBody>
      </p:sp>
      <p:sp>
        <p:nvSpPr>
          <p:cNvPr id="30" name="Shape 27"/>
          <p:cNvSpPr/>
          <p:nvPr/>
        </p:nvSpPr>
        <p:spPr>
          <a:xfrm>
            <a:off x="7406640" y="4590288"/>
            <a:ext cx="3401568" cy="292608"/>
          </a:xfrm>
          <a:prstGeom prst="roundRect">
            <a:avLst/>
          </a:prstGeom>
          <a:solidFill>
            <a:srgbClr val="465057"/>
          </a:solidFill>
          <a:ln w="6350">
            <a:solidFill>
              <a:srgbClr val="465057"/>
            </a:solidFill>
            <a:prstDash val="solid"/>
          </a:ln>
        </p:spPr>
      </p:sp>
      <p:sp>
        <p:nvSpPr>
          <p:cNvPr id="31" name="Shape 28"/>
          <p:cNvSpPr/>
          <p:nvPr/>
        </p:nvSpPr>
        <p:spPr>
          <a:xfrm>
            <a:off x="7406640" y="4590288"/>
            <a:ext cx="2326234" cy="292608"/>
          </a:xfrm>
          <a:prstGeom prst="roundRect">
            <a:avLst/>
          </a:prstGeom>
          <a:solidFill>
            <a:srgbClr val="6D9A6F"/>
          </a:solidFill>
          <a:ln w="6350">
            <a:solidFill>
              <a:srgbClr val="6D9A6F"/>
            </a:solidFill>
            <a:prstDash val="solid"/>
          </a:ln>
        </p:spPr>
      </p:sp>
      <p:sp>
        <p:nvSpPr>
          <p:cNvPr id="32" name="Text 29"/>
          <p:cNvSpPr/>
          <p:nvPr/>
        </p:nvSpPr>
        <p:spPr>
          <a:xfrm>
            <a:off x="7479792" y="4974336"/>
            <a:ext cx="3273552" cy="109728"/>
          </a:xfrm>
          <a:prstGeom prst="rect">
            <a:avLst/>
          </a:prstGeom>
          <a:noFill/>
          <a:ln/>
        </p:spPr>
        <p:txBody>
          <a:bodyPr wrap="square" lIns="0" tIns="0" rIns="0" bIns="0" rtlCol="0" anchor="ctr">
            <a:normAutofit/>
          </a:bodyPr>
          <a:lstStyle/>
          <a:p>
            <a:pPr algn="r" indent="0" marL="0">
              <a:buNone/>
            </a:pPr>
            <a:r>
              <a:rPr lang="en-US" sz="730" dirty="0">
                <a:solidFill>
                  <a:srgbClr val="AEB9BA"/>
                </a:solidFill>
                <a:latin typeface="Aptos" pitchFamily="34" charset="0"/>
                <a:ea typeface="Aptos" pitchFamily="34" charset="-122"/>
                <a:cs typeface="Aptos" pitchFamily="34" charset="-120"/>
              </a:rPr>
              <a:t>irreversible loss</a:t>
            </a:r>
            <a:endParaRPr lang="en-US" sz="730" dirty="0"/>
          </a:p>
        </p:txBody>
      </p:sp>
      <p:sp>
        <p:nvSpPr>
          <p:cNvPr id="33" name="Shape 30"/>
          <p:cNvSpPr/>
          <p:nvPr/>
        </p:nvSpPr>
        <p:spPr>
          <a:xfrm>
            <a:off x="914400" y="3886200"/>
            <a:ext cx="1234440" cy="1234440"/>
          </a:xfrm>
          <a:prstGeom prst="ellipse">
            <a:avLst/>
          </a:prstGeom>
          <a:solidFill>
            <a:srgbClr val="1F2426"/>
          </a:solidFill>
          <a:ln w="25400">
            <a:solidFill>
              <a:srgbClr val="B64A2D"/>
            </a:solidFill>
            <a:prstDash val="solid"/>
          </a:ln>
        </p:spPr>
      </p:sp>
      <p:sp>
        <p:nvSpPr>
          <p:cNvPr id="34" name="Text 31"/>
          <p:cNvSpPr/>
          <p:nvPr/>
        </p:nvSpPr>
        <p:spPr>
          <a:xfrm>
            <a:off x="914400" y="4343400"/>
            <a:ext cx="1234440" cy="182880"/>
          </a:xfrm>
          <a:prstGeom prst="rect">
            <a:avLst/>
          </a:prstGeom>
          <a:noFill/>
          <a:ln/>
        </p:spPr>
        <p:txBody>
          <a:bodyPr wrap="square" lIns="0" tIns="0" rIns="0" bIns="0" rtlCol="0" anchor="ctr">
            <a:normAutofit/>
          </a:bodyPr>
          <a:lstStyle/>
          <a:p>
            <a:pPr algn="ctr" indent="0" marL="0">
              <a:buNone/>
            </a:pPr>
            <a:r>
              <a:rPr lang="en-US" sz="1300" b="1" dirty="0">
                <a:solidFill>
                  <a:srgbClr val="E3A72F"/>
                </a:solidFill>
                <a:latin typeface="Bahnschrift SemiBold" pitchFamily="34" charset="0"/>
                <a:ea typeface="Bahnschrift SemiBold" pitchFamily="34" charset="-122"/>
                <a:cs typeface="Bahnschrift SemiBold" pitchFamily="34" charset="-120"/>
              </a:rPr>
              <a:t>WAIT</a:t>
            </a:r>
            <a:endParaRPr lang="en-US" sz="1300" dirty="0"/>
          </a:p>
        </p:txBody>
      </p:sp>
      <p:sp>
        <p:nvSpPr>
          <p:cNvPr id="35" name="Shape 32"/>
          <p:cNvSpPr/>
          <p:nvPr/>
        </p:nvSpPr>
        <p:spPr>
          <a:xfrm>
            <a:off x="2240280" y="4498848"/>
            <a:ext cx="1874520" cy="0"/>
          </a:xfrm>
          <a:prstGeom prst="line">
            <a:avLst/>
          </a:prstGeom>
          <a:noFill/>
          <a:ln w="31750">
            <a:solidFill>
              <a:srgbClr val="B64A2D"/>
            </a:solidFill>
            <a:prstDash val="solid"/>
          </a:ln>
        </p:spPr>
      </p:sp>
      <p:sp>
        <p:nvSpPr>
          <p:cNvPr id="36" name="Shape 33"/>
          <p:cNvSpPr/>
          <p:nvPr/>
        </p:nvSpPr>
        <p:spPr>
          <a:xfrm>
            <a:off x="3913632" y="4315968"/>
            <a:ext cx="310896" cy="365760"/>
          </a:xfrm>
          <a:prstGeom prst="chevron">
            <a:avLst/>
          </a:prstGeom>
          <a:solidFill>
            <a:srgbClr val="B64A2D"/>
          </a:solidFill>
          <a:ln w="12700">
            <a:solidFill>
              <a:srgbClr val="B64A2D">
                <a:alpha val="0"/>
              </a:srgbClr>
            </a:solidFill>
            <a:prstDash val="solid"/>
          </a:ln>
        </p:spPr>
      </p:sp>
      <p:sp>
        <p:nvSpPr>
          <p:cNvPr id="37" name="Text 34"/>
          <p:cNvSpPr/>
          <p:nvPr/>
        </p:nvSpPr>
        <p:spPr>
          <a:xfrm>
            <a:off x="804672" y="5440680"/>
            <a:ext cx="3886200" cy="16459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ptos" pitchFamily="34" charset="0"/>
                <a:ea typeface="Aptos" pitchFamily="34" charset="-122"/>
                <a:cs typeface="Aptos" pitchFamily="34" charset="-120"/>
              </a:rPr>
              <a:t>Every delay compounds exposure.</a:t>
            </a:r>
            <a:endParaRPr lang="en-US" sz="1050" dirty="0"/>
          </a:p>
        </p:txBody>
      </p:sp>
      <p:sp>
        <p:nvSpPr>
          <p:cNvPr id="38" name="Text 35"/>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AEB9BA"/>
                </a:solidFill>
                <a:latin typeface="Aptos" pitchFamily="34" charset="0"/>
                <a:ea typeface="Aptos" pitchFamily="34" charset="-122"/>
                <a:cs typeface="Aptos" pitchFamily="34" charset="-120"/>
              </a:rPr>
              <a:t>Source cue | usecase.md  •  personas-and-journeys.md</a:t>
            </a:r>
            <a:endParaRPr lang="en-US" sz="660" dirty="0"/>
          </a:p>
        </p:txBody>
      </p:sp>
      <p:sp>
        <p:nvSpPr>
          <p:cNvPr id="39" name="Shape 36"/>
          <p:cNvSpPr/>
          <p:nvPr/>
        </p:nvSpPr>
        <p:spPr>
          <a:xfrm>
            <a:off x="0" y="6483096"/>
            <a:ext cx="12191695" cy="374904"/>
          </a:xfrm>
          <a:prstGeom prst="rect">
            <a:avLst/>
          </a:prstGeom>
          <a:solidFill>
            <a:srgbClr val="1F2426"/>
          </a:solidFill>
          <a:ln w="6350">
            <a:solidFill>
              <a:srgbClr val="1F2426"/>
            </a:solidFill>
            <a:prstDash val="solid"/>
          </a:ln>
        </p:spPr>
      </p:sp>
      <p:sp>
        <p:nvSpPr>
          <p:cNvPr id="40" name="Shape 37"/>
          <p:cNvSpPr/>
          <p:nvPr/>
        </p:nvSpPr>
        <p:spPr>
          <a:xfrm>
            <a:off x="384048" y="6547104"/>
            <a:ext cx="3547872" cy="182880"/>
          </a:xfrm>
          <a:prstGeom prst="roundRect">
            <a:avLst/>
          </a:prstGeom>
          <a:solidFill>
            <a:srgbClr val="465057"/>
          </a:solidFill>
          <a:ln w="3175">
            <a:solidFill>
              <a:srgbClr val="465057"/>
            </a:solidFill>
            <a:prstDash val="solid"/>
          </a:ln>
        </p:spPr>
      </p:sp>
      <p:sp>
        <p:nvSpPr>
          <p:cNvPr id="41" name="Text 38"/>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DDE4E1"/>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42" name="Text 39"/>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DDE4E1"/>
                </a:solidFill>
                <a:latin typeface="Aptos" pitchFamily="34" charset="0"/>
                <a:ea typeface="Aptos" pitchFamily="34" charset="-122"/>
                <a:cs typeface="Aptos" pitchFamily="34" charset="-120"/>
              </a:rPr>
              <a:t>ORAL DEFENSE  •  03 / 20</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465057"/>
          </a:solidFill>
          <a:ln w="5080">
            <a:solidFill>
              <a:srgbClr val="465057"/>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04</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TRANSFORMATION OBJECTIVE</a:t>
            </a:r>
            <a:endParaRPr lang="en-US" sz="810" dirty="0"/>
          </a:p>
        </p:txBody>
      </p:sp>
      <p:sp>
        <p:nvSpPr>
          <p:cNvPr id="7" name="Shape 5"/>
          <p:cNvSpPr/>
          <p:nvPr/>
        </p:nvSpPr>
        <p:spPr>
          <a:xfrm>
            <a:off x="10040112" y="274320"/>
            <a:ext cx="1673352" cy="256032"/>
          </a:xfrm>
          <a:prstGeom prst="roundRect">
            <a:avLst/>
          </a:prstGeom>
          <a:solidFill>
            <a:srgbClr val="FFFFFF"/>
          </a:solidFill>
          <a:ln w="6350">
            <a:solidFill>
              <a:srgbClr val="DDE4E1"/>
            </a:solidFill>
            <a:prstDash val="solid"/>
          </a:ln>
        </p:spPr>
      </p:sp>
      <p:sp>
        <p:nvSpPr>
          <p:cNvPr id="8" name="Text 6"/>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687373"/>
                </a:solidFill>
                <a:latin typeface="Aptos" pitchFamily="34" charset="0"/>
                <a:ea typeface="Aptos" pitchFamily="34" charset="-122"/>
                <a:cs typeface="Aptos" pitchFamily="34" charset="-120"/>
              </a:rPr>
              <a:t>03:30–05:00</a:t>
            </a:r>
            <a:endParaRPr lang="en-US" sz="720" dirty="0"/>
          </a:p>
        </p:txBody>
      </p:sp>
      <p:sp>
        <p:nvSpPr>
          <p:cNvPr id="9" name="Text 7"/>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Four falsifiable targets — not demo claims</a:t>
            </a:r>
            <a:endParaRPr lang="en-US" sz="2550" dirty="0"/>
          </a:p>
        </p:txBody>
      </p:sp>
      <p:sp>
        <p:nvSpPr>
          <p:cNvPr id="10" name="Shape 8"/>
          <p:cNvSpPr/>
          <p:nvPr/>
        </p:nvSpPr>
        <p:spPr>
          <a:xfrm>
            <a:off x="457200" y="1188720"/>
            <a:ext cx="822960" cy="246888"/>
          </a:xfrm>
          <a:prstGeom prst="roundRect">
            <a:avLst/>
          </a:prstGeom>
          <a:solidFill>
            <a:srgbClr val="E3A72F"/>
          </a:solidFill>
          <a:ln w="5080">
            <a:solidFill>
              <a:srgbClr val="E3A72F"/>
            </a:solidFill>
            <a:prstDash val="solid"/>
          </a:ln>
        </p:spPr>
      </p:sp>
      <p:sp>
        <p:nvSpPr>
          <p:cNvPr id="11" name="Text 9"/>
          <p:cNvSpPr/>
          <p:nvPr/>
        </p:nvSpPr>
        <p:spPr>
          <a:xfrm>
            <a:off x="576072" y="12390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121719"/>
                </a:solidFill>
                <a:latin typeface="Aptos" pitchFamily="34" charset="0"/>
                <a:ea typeface="Aptos" pitchFamily="34" charset="-122"/>
                <a:cs typeface="Aptos" pitchFamily="34" charset="-120"/>
              </a:rPr>
              <a:t>TARGETS</a:t>
            </a:r>
            <a:endParaRPr lang="en-US" sz="720" dirty="0"/>
          </a:p>
        </p:txBody>
      </p:sp>
      <p:sp>
        <p:nvSpPr>
          <p:cNvPr id="12" name="Text 10"/>
          <p:cNvSpPr/>
          <p:nvPr/>
        </p:nvSpPr>
        <p:spPr>
          <a:xfrm>
            <a:off x="1865376" y="1243584"/>
            <a:ext cx="7406640" cy="137160"/>
          </a:xfrm>
          <a:prstGeom prst="rect">
            <a:avLst/>
          </a:prstGeom>
          <a:noFill/>
          <a:ln/>
        </p:spPr>
        <p:txBody>
          <a:bodyPr wrap="square" lIns="0" tIns="0" rIns="0" bIns="0" rtlCol="0" anchor="ctr">
            <a:normAutofit/>
          </a:bodyPr>
          <a:lstStyle/>
          <a:p>
            <a:pPr algn="l" indent="0" marL="0">
              <a:buNone/>
            </a:pPr>
            <a:r>
              <a:rPr lang="en-US" sz="960" b="1" dirty="0">
                <a:solidFill>
                  <a:srgbClr val="687373"/>
                </a:solidFill>
                <a:latin typeface="Aptos" pitchFamily="34" charset="0"/>
                <a:ea typeface="Aptos" pitchFamily="34" charset="-122"/>
                <a:cs typeface="Aptos" pitchFamily="34" charset="-120"/>
              </a:rPr>
              <a:t>Every headline target carries a baseline. The demonstration shows mechanics, not realized production outcomes.</a:t>
            </a:r>
            <a:endParaRPr lang="en-US" sz="960" dirty="0"/>
          </a:p>
        </p:txBody>
      </p:sp>
      <p:sp>
        <p:nvSpPr>
          <p:cNvPr id="13" name="Shape 11"/>
          <p:cNvSpPr/>
          <p:nvPr/>
        </p:nvSpPr>
        <p:spPr>
          <a:xfrm>
            <a:off x="457200" y="1874520"/>
            <a:ext cx="2578608" cy="2468880"/>
          </a:xfrm>
          <a:prstGeom prst="roundRect">
            <a:avLst/>
          </a:prstGeom>
          <a:solidFill>
            <a:srgbClr val="FFFFFF"/>
          </a:solidFill>
          <a:ln w="8890">
            <a:solidFill>
              <a:srgbClr val="DDE4E1"/>
            </a:solidFill>
            <a:prstDash val="solid"/>
          </a:ln>
        </p:spPr>
      </p:sp>
      <p:sp>
        <p:nvSpPr>
          <p:cNvPr id="14" name="Shape 12"/>
          <p:cNvSpPr/>
          <p:nvPr/>
        </p:nvSpPr>
        <p:spPr>
          <a:xfrm>
            <a:off x="457200" y="1874520"/>
            <a:ext cx="77724" cy="2468880"/>
          </a:xfrm>
          <a:prstGeom prst="rect">
            <a:avLst/>
          </a:prstGeom>
          <a:solidFill>
            <a:srgbClr val="B64A2D"/>
          </a:solidFill>
          <a:ln w="6350">
            <a:solidFill>
              <a:srgbClr val="B64A2D"/>
            </a:solidFill>
            <a:prstDash val="solid"/>
          </a:ln>
        </p:spPr>
      </p:sp>
      <p:sp>
        <p:nvSpPr>
          <p:cNvPr id="15" name="Shape 13"/>
          <p:cNvSpPr/>
          <p:nvPr/>
        </p:nvSpPr>
        <p:spPr>
          <a:xfrm>
            <a:off x="658368" y="2057400"/>
            <a:ext cx="822960" cy="246888"/>
          </a:xfrm>
          <a:prstGeom prst="roundRect">
            <a:avLst/>
          </a:prstGeom>
          <a:solidFill>
            <a:srgbClr val="E3A72F"/>
          </a:solidFill>
          <a:ln w="5080">
            <a:solidFill>
              <a:srgbClr val="E3A72F"/>
            </a:solidFill>
            <a:prstDash val="solid"/>
          </a:ln>
        </p:spPr>
      </p:sp>
      <p:sp>
        <p:nvSpPr>
          <p:cNvPr id="16" name="Text 14"/>
          <p:cNvSpPr/>
          <p:nvPr/>
        </p:nvSpPr>
        <p:spPr>
          <a:xfrm>
            <a:off x="777240" y="210769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121719"/>
                </a:solidFill>
                <a:latin typeface="Aptos" pitchFamily="34" charset="0"/>
                <a:ea typeface="Aptos" pitchFamily="34" charset="-122"/>
                <a:cs typeface="Aptos" pitchFamily="34" charset="-120"/>
              </a:rPr>
              <a:t>TARGET</a:t>
            </a:r>
            <a:endParaRPr lang="en-US" sz="720" dirty="0"/>
          </a:p>
        </p:txBody>
      </p:sp>
      <p:sp>
        <p:nvSpPr>
          <p:cNvPr id="17" name="Text 15"/>
          <p:cNvSpPr/>
          <p:nvPr/>
        </p:nvSpPr>
        <p:spPr>
          <a:xfrm>
            <a:off x="658368" y="2450592"/>
            <a:ext cx="2212848" cy="438912"/>
          </a:xfrm>
          <a:prstGeom prst="rect">
            <a:avLst/>
          </a:prstGeom>
          <a:noFill/>
          <a:ln/>
        </p:spPr>
        <p:txBody>
          <a:bodyPr wrap="square" lIns="0" tIns="0" rIns="0" bIns="0" rtlCol="0" anchor="ctr">
            <a:normAutofit/>
          </a:bodyPr>
          <a:lstStyle/>
          <a:p>
            <a:pPr algn="l" indent="0" marL="0">
              <a:buNone/>
            </a:pPr>
            <a:r>
              <a:rPr lang="en-US" sz="2700" b="1" dirty="0">
                <a:solidFill>
                  <a:srgbClr val="B64A2D"/>
                </a:solidFill>
                <a:latin typeface="Bahnschrift SemiBold" pitchFamily="34" charset="0"/>
                <a:ea typeface="Bahnschrift SemiBold" pitchFamily="34" charset="-122"/>
                <a:cs typeface="Bahnschrift SemiBold" pitchFamily="34" charset="-120"/>
              </a:rPr>
              <a:t>−14%</a:t>
            </a:r>
            <a:endParaRPr lang="en-US" sz="2700" dirty="0"/>
          </a:p>
        </p:txBody>
      </p:sp>
      <p:sp>
        <p:nvSpPr>
          <p:cNvPr id="18" name="Text 16"/>
          <p:cNvSpPr/>
          <p:nvPr/>
        </p:nvSpPr>
        <p:spPr>
          <a:xfrm>
            <a:off x="658368" y="2935224"/>
            <a:ext cx="2212848" cy="283464"/>
          </a:xfrm>
          <a:prstGeom prst="rect">
            <a:avLst/>
          </a:prstGeom>
          <a:noFill/>
          <a:ln/>
        </p:spPr>
        <p:txBody>
          <a:bodyPr wrap="square" lIns="0" tIns="0" rIns="0" bIns="0" rtlCol="0" anchor="ctr">
            <a:normAutofit/>
          </a:bodyPr>
          <a:lstStyle/>
          <a:p>
            <a:pPr algn="l" indent="0" marL="0">
              <a:buNone/>
            </a:pPr>
            <a:r>
              <a:rPr lang="en-US" sz="1060" b="1" dirty="0">
                <a:solidFill>
                  <a:srgbClr val="202729"/>
                </a:solidFill>
                <a:latin typeface="Aptos" pitchFamily="34" charset="0"/>
                <a:ea typeface="Aptos" pitchFamily="34" charset="-122"/>
                <a:cs typeface="Aptos" pitchFamily="34" charset="-120"/>
              </a:rPr>
              <a:t>Energy / ton</a:t>
            </a:r>
            <a:endParaRPr lang="en-US" sz="1060" dirty="0"/>
          </a:p>
        </p:txBody>
      </p:sp>
      <p:sp>
        <p:nvSpPr>
          <p:cNvPr id="19" name="Text 17"/>
          <p:cNvSpPr/>
          <p:nvPr/>
        </p:nvSpPr>
        <p:spPr>
          <a:xfrm>
            <a:off x="658368" y="4005072"/>
            <a:ext cx="2212848" cy="164592"/>
          </a:xfrm>
          <a:prstGeom prst="rect">
            <a:avLst/>
          </a:prstGeom>
          <a:noFill/>
          <a:ln/>
        </p:spPr>
        <p:txBody>
          <a:bodyPr wrap="square" lIns="0" tIns="0" rIns="0" bIns="0" rtlCol="0" anchor="ctr">
            <a:normAutofit/>
          </a:bodyPr>
          <a:lstStyle/>
          <a:p>
            <a:pPr algn="l" indent="0" marL="0">
              <a:buNone/>
            </a:pPr>
            <a:r>
              <a:rPr lang="en-US" sz="760" dirty="0">
                <a:solidFill>
                  <a:srgbClr val="687373"/>
                </a:solidFill>
                <a:latin typeface="Aptos" pitchFamily="34" charset="0"/>
                <a:ea typeface="Aptos" pitchFamily="34" charset="-122"/>
                <a:cs typeface="Aptos" pitchFamily="34" charset="-120"/>
              </a:rPr>
              <a:t>~19.5 → ~16.8 GJ/t  |  KPI-ENE-01</a:t>
            </a:r>
            <a:endParaRPr lang="en-US" sz="760" dirty="0"/>
          </a:p>
        </p:txBody>
      </p:sp>
      <p:sp>
        <p:nvSpPr>
          <p:cNvPr id="20" name="Shape 18"/>
          <p:cNvSpPr/>
          <p:nvPr/>
        </p:nvSpPr>
        <p:spPr>
          <a:xfrm>
            <a:off x="2249424" y="3355848"/>
            <a:ext cx="411480" cy="411480"/>
          </a:xfrm>
          <a:prstGeom prst="ellipse">
            <a:avLst/>
          </a:prstGeom>
          <a:solidFill>
            <a:srgbClr val="F3E9CB"/>
          </a:solidFill>
          <a:ln w="12700">
            <a:solidFill>
              <a:srgbClr val="E3A72F"/>
            </a:solidFill>
            <a:prstDash val="solid"/>
          </a:ln>
        </p:spPr>
      </p:sp>
      <p:sp>
        <p:nvSpPr>
          <p:cNvPr id="21" name="Text 19"/>
          <p:cNvSpPr/>
          <p:nvPr/>
        </p:nvSpPr>
        <p:spPr>
          <a:xfrm>
            <a:off x="2249424" y="3502152"/>
            <a:ext cx="411480" cy="73152"/>
          </a:xfrm>
          <a:prstGeom prst="rect">
            <a:avLst/>
          </a:prstGeom>
          <a:noFill/>
          <a:ln/>
        </p:spPr>
        <p:txBody>
          <a:bodyPr wrap="square" lIns="0" tIns="0" rIns="0" bIns="0" rtlCol="0" anchor="ctr">
            <a:normAutofit/>
          </a:bodyPr>
          <a:lstStyle/>
          <a:p>
            <a:pPr algn="ctr" indent="0" marL="0">
              <a:buNone/>
            </a:pPr>
            <a:r>
              <a:rPr lang="en-US" sz="700" b="1" dirty="0">
                <a:solidFill>
                  <a:srgbClr val="B64A2D"/>
                </a:solidFill>
                <a:latin typeface="Aptos" pitchFamily="34" charset="0"/>
                <a:ea typeface="Aptos" pitchFamily="34" charset="-122"/>
                <a:cs typeface="Aptos" pitchFamily="34" charset="-120"/>
              </a:rPr>
              <a:t>T</a:t>
            </a:r>
            <a:endParaRPr lang="en-US" sz="700" dirty="0"/>
          </a:p>
        </p:txBody>
      </p:sp>
      <p:sp>
        <p:nvSpPr>
          <p:cNvPr id="22" name="Shape 20"/>
          <p:cNvSpPr/>
          <p:nvPr/>
        </p:nvSpPr>
        <p:spPr>
          <a:xfrm>
            <a:off x="3337560" y="1874520"/>
            <a:ext cx="2578608" cy="2468880"/>
          </a:xfrm>
          <a:prstGeom prst="roundRect">
            <a:avLst/>
          </a:prstGeom>
          <a:solidFill>
            <a:srgbClr val="FFFFFF"/>
          </a:solidFill>
          <a:ln w="8890">
            <a:solidFill>
              <a:srgbClr val="DDE4E1"/>
            </a:solidFill>
            <a:prstDash val="solid"/>
          </a:ln>
        </p:spPr>
      </p:sp>
      <p:sp>
        <p:nvSpPr>
          <p:cNvPr id="23" name="Shape 21"/>
          <p:cNvSpPr/>
          <p:nvPr/>
        </p:nvSpPr>
        <p:spPr>
          <a:xfrm>
            <a:off x="3337560" y="1874520"/>
            <a:ext cx="77724" cy="2468880"/>
          </a:xfrm>
          <a:prstGeom prst="rect">
            <a:avLst/>
          </a:prstGeom>
          <a:solidFill>
            <a:srgbClr val="B64A2D"/>
          </a:solidFill>
          <a:ln w="6350">
            <a:solidFill>
              <a:srgbClr val="B64A2D"/>
            </a:solidFill>
            <a:prstDash val="solid"/>
          </a:ln>
        </p:spPr>
      </p:sp>
      <p:sp>
        <p:nvSpPr>
          <p:cNvPr id="24" name="Shape 22"/>
          <p:cNvSpPr/>
          <p:nvPr/>
        </p:nvSpPr>
        <p:spPr>
          <a:xfrm>
            <a:off x="3538728" y="2057400"/>
            <a:ext cx="822960" cy="246888"/>
          </a:xfrm>
          <a:prstGeom prst="roundRect">
            <a:avLst/>
          </a:prstGeom>
          <a:solidFill>
            <a:srgbClr val="E3A72F"/>
          </a:solidFill>
          <a:ln w="5080">
            <a:solidFill>
              <a:srgbClr val="E3A72F"/>
            </a:solidFill>
            <a:prstDash val="solid"/>
          </a:ln>
        </p:spPr>
      </p:sp>
      <p:sp>
        <p:nvSpPr>
          <p:cNvPr id="25" name="Text 23"/>
          <p:cNvSpPr/>
          <p:nvPr/>
        </p:nvSpPr>
        <p:spPr>
          <a:xfrm>
            <a:off x="3657600" y="210769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121719"/>
                </a:solidFill>
                <a:latin typeface="Aptos" pitchFamily="34" charset="0"/>
                <a:ea typeface="Aptos" pitchFamily="34" charset="-122"/>
                <a:cs typeface="Aptos" pitchFamily="34" charset="-120"/>
              </a:rPr>
              <a:t>TARGET</a:t>
            </a:r>
            <a:endParaRPr lang="en-US" sz="720" dirty="0"/>
          </a:p>
        </p:txBody>
      </p:sp>
      <p:sp>
        <p:nvSpPr>
          <p:cNvPr id="26" name="Text 24"/>
          <p:cNvSpPr/>
          <p:nvPr/>
        </p:nvSpPr>
        <p:spPr>
          <a:xfrm>
            <a:off x="3538728" y="2450592"/>
            <a:ext cx="2212848" cy="438912"/>
          </a:xfrm>
          <a:prstGeom prst="rect">
            <a:avLst/>
          </a:prstGeom>
          <a:noFill/>
          <a:ln/>
        </p:spPr>
        <p:txBody>
          <a:bodyPr wrap="square" lIns="0" tIns="0" rIns="0" bIns="0" rtlCol="0" anchor="ctr">
            <a:normAutofit/>
          </a:bodyPr>
          <a:lstStyle/>
          <a:p>
            <a:pPr algn="l" indent="0" marL="0">
              <a:buNone/>
            </a:pPr>
            <a:r>
              <a:rPr lang="en-US" sz="2700" b="1" dirty="0">
                <a:solidFill>
                  <a:srgbClr val="B64A2D"/>
                </a:solidFill>
                <a:latin typeface="Bahnschrift SemiBold" pitchFamily="34" charset="0"/>
                <a:ea typeface="Bahnschrift SemiBold" pitchFamily="34" charset="-122"/>
                <a:cs typeface="Bahnschrift SemiBold" pitchFamily="34" charset="-120"/>
              </a:rPr>
              <a:t>−22%</a:t>
            </a:r>
            <a:endParaRPr lang="en-US" sz="2700" dirty="0"/>
          </a:p>
        </p:txBody>
      </p:sp>
      <p:sp>
        <p:nvSpPr>
          <p:cNvPr id="27" name="Text 25"/>
          <p:cNvSpPr/>
          <p:nvPr/>
        </p:nvSpPr>
        <p:spPr>
          <a:xfrm>
            <a:off x="3538728" y="2935224"/>
            <a:ext cx="2212848" cy="283464"/>
          </a:xfrm>
          <a:prstGeom prst="rect">
            <a:avLst/>
          </a:prstGeom>
          <a:noFill/>
          <a:ln/>
        </p:spPr>
        <p:txBody>
          <a:bodyPr wrap="square" lIns="0" tIns="0" rIns="0" bIns="0" rtlCol="0" anchor="ctr">
            <a:normAutofit/>
          </a:bodyPr>
          <a:lstStyle/>
          <a:p>
            <a:pPr algn="l" indent="0" marL="0">
              <a:buNone/>
            </a:pPr>
            <a:r>
              <a:rPr lang="en-US" sz="1060" b="1" dirty="0">
                <a:solidFill>
                  <a:srgbClr val="202729"/>
                </a:solidFill>
                <a:latin typeface="Aptos" pitchFamily="34" charset="0"/>
                <a:ea typeface="Aptos" pitchFamily="34" charset="-122"/>
                <a:cs typeface="Aptos" pitchFamily="34" charset="-120"/>
              </a:rPr>
              <a:t>CO₂ / ton</a:t>
            </a:r>
            <a:endParaRPr lang="en-US" sz="1060" dirty="0"/>
          </a:p>
        </p:txBody>
      </p:sp>
      <p:sp>
        <p:nvSpPr>
          <p:cNvPr id="28" name="Text 26"/>
          <p:cNvSpPr/>
          <p:nvPr/>
        </p:nvSpPr>
        <p:spPr>
          <a:xfrm>
            <a:off x="3538728" y="4005072"/>
            <a:ext cx="2212848" cy="164592"/>
          </a:xfrm>
          <a:prstGeom prst="rect">
            <a:avLst/>
          </a:prstGeom>
          <a:noFill/>
          <a:ln/>
        </p:spPr>
        <p:txBody>
          <a:bodyPr wrap="square" lIns="0" tIns="0" rIns="0" bIns="0" rtlCol="0" anchor="ctr">
            <a:normAutofit/>
          </a:bodyPr>
          <a:lstStyle/>
          <a:p>
            <a:pPr algn="l" indent="0" marL="0">
              <a:buNone/>
            </a:pPr>
            <a:r>
              <a:rPr lang="en-US" sz="760" dirty="0">
                <a:solidFill>
                  <a:srgbClr val="687373"/>
                </a:solidFill>
                <a:latin typeface="Aptos" pitchFamily="34" charset="0"/>
                <a:ea typeface="Aptos" pitchFamily="34" charset="-122"/>
                <a:cs typeface="Aptos" pitchFamily="34" charset="-120"/>
              </a:rPr>
              <a:t>~2.10 → ~1.64 t/t  |  KPI-CO2-01</a:t>
            </a:r>
            <a:endParaRPr lang="en-US" sz="760" dirty="0"/>
          </a:p>
        </p:txBody>
      </p:sp>
      <p:sp>
        <p:nvSpPr>
          <p:cNvPr id="29" name="Shape 27"/>
          <p:cNvSpPr/>
          <p:nvPr/>
        </p:nvSpPr>
        <p:spPr>
          <a:xfrm>
            <a:off x="5129784" y="3355848"/>
            <a:ext cx="411480" cy="411480"/>
          </a:xfrm>
          <a:prstGeom prst="ellipse">
            <a:avLst/>
          </a:prstGeom>
          <a:solidFill>
            <a:srgbClr val="F3E9CB"/>
          </a:solidFill>
          <a:ln w="12700">
            <a:solidFill>
              <a:srgbClr val="E3A72F"/>
            </a:solidFill>
            <a:prstDash val="solid"/>
          </a:ln>
        </p:spPr>
      </p:sp>
      <p:sp>
        <p:nvSpPr>
          <p:cNvPr id="30" name="Text 28"/>
          <p:cNvSpPr/>
          <p:nvPr/>
        </p:nvSpPr>
        <p:spPr>
          <a:xfrm>
            <a:off x="5129784" y="3502152"/>
            <a:ext cx="411480" cy="73152"/>
          </a:xfrm>
          <a:prstGeom prst="rect">
            <a:avLst/>
          </a:prstGeom>
          <a:noFill/>
          <a:ln/>
        </p:spPr>
        <p:txBody>
          <a:bodyPr wrap="square" lIns="0" tIns="0" rIns="0" bIns="0" rtlCol="0" anchor="ctr">
            <a:normAutofit/>
          </a:bodyPr>
          <a:lstStyle/>
          <a:p>
            <a:pPr algn="ctr" indent="0" marL="0">
              <a:buNone/>
            </a:pPr>
            <a:r>
              <a:rPr lang="en-US" sz="700" b="1" dirty="0">
                <a:solidFill>
                  <a:srgbClr val="B64A2D"/>
                </a:solidFill>
                <a:latin typeface="Aptos" pitchFamily="34" charset="0"/>
                <a:ea typeface="Aptos" pitchFamily="34" charset="-122"/>
                <a:cs typeface="Aptos" pitchFamily="34" charset="-120"/>
              </a:rPr>
              <a:t>T</a:t>
            </a:r>
            <a:endParaRPr lang="en-US" sz="700" dirty="0"/>
          </a:p>
        </p:txBody>
      </p:sp>
      <p:sp>
        <p:nvSpPr>
          <p:cNvPr id="31" name="Shape 29"/>
          <p:cNvSpPr/>
          <p:nvPr/>
        </p:nvSpPr>
        <p:spPr>
          <a:xfrm>
            <a:off x="6217920" y="1874520"/>
            <a:ext cx="2578608" cy="2468880"/>
          </a:xfrm>
          <a:prstGeom prst="roundRect">
            <a:avLst/>
          </a:prstGeom>
          <a:solidFill>
            <a:srgbClr val="FFFFFF"/>
          </a:solidFill>
          <a:ln w="8890">
            <a:solidFill>
              <a:srgbClr val="DDE4E1"/>
            </a:solidFill>
            <a:prstDash val="solid"/>
          </a:ln>
        </p:spPr>
      </p:sp>
      <p:sp>
        <p:nvSpPr>
          <p:cNvPr id="32" name="Shape 30"/>
          <p:cNvSpPr/>
          <p:nvPr/>
        </p:nvSpPr>
        <p:spPr>
          <a:xfrm>
            <a:off x="6217920" y="1874520"/>
            <a:ext cx="77724" cy="2468880"/>
          </a:xfrm>
          <a:prstGeom prst="rect">
            <a:avLst/>
          </a:prstGeom>
          <a:solidFill>
            <a:srgbClr val="B64A2D"/>
          </a:solidFill>
          <a:ln w="6350">
            <a:solidFill>
              <a:srgbClr val="B64A2D"/>
            </a:solidFill>
            <a:prstDash val="solid"/>
          </a:ln>
        </p:spPr>
      </p:sp>
      <p:sp>
        <p:nvSpPr>
          <p:cNvPr id="33" name="Shape 31"/>
          <p:cNvSpPr/>
          <p:nvPr/>
        </p:nvSpPr>
        <p:spPr>
          <a:xfrm>
            <a:off x="6419088" y="2057400"/>
            <a:ext cx="822960" cy="246888"/>
          </a:xfrm>
          <a:prstGeom prst="roundRect">
            <a:avLst/>
          </a:prstGeom>
          <a:solidFill>
            <a:srgbClr val="E3A72F"/>
          </a:solidFill>
          <a:ln w="5080">
            <a:solidFill>
              <a:srgbClr val="E3A72F"/>
            </a:solidFill>
            <a:prstDash val="solid"/>
          </a:ln>
        </p:spPr>
      </p:sp>
      <p:sp>
        <p:nvSpPr>
          <p:cNvPr id="34" name="Text 32"/>
          <p:cNvSpPr/>
          <p:nvPr/>
        </p:nvSpPr>
        <p:spPr>
          <a:xfrm>
            <a:off x="6537960" y="210769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121719"/>
                </a:solidFill>
                <a:latin typeface="Aptos" pitchFamily="34" charset="0"/>
                <a:ea typeface="Aptos" pitchFamily="34" charset="-122"/>
                <a:cs typeface="Aptos" pitchFamily="34" charset="-120"/>
              </a:rPr>
              <a:t>TARGET</a:t>
            </a:r>
            <a:endParaRPr lang="en-US" sz="720" dirty="0"/>
          </a:p>
        </p:txBody>
      </p:sp>
      <p:sp>
        <p:nvSpPr>
          <p:cNvPr id="35" name="Text 33"/>
          <p:cNvSpPr/>
          <p:nvPr/>
        </p:nvSpPr>
        <p:spPr>
          <a:xfrm>
            <a:off x="6419088" y="2450592"/>
            <a:ext cx="2212848" cy="438912"/>
          </a:xfrm>
          <a:prstGeom prst="rect">
            <a:avLst/>
          </a:prstGeom>
          <a:noFill/>
          <a:ln/>
        </p:spPr>
        <p:txBody>
          <a:bodyPr wrap="square" lIns="0" tIns="0" rIns="0" bIns="0" rtlCol="0" anchor="ctr">
            <a:normAutofit/>
          </a:bodyPr>
          <a:lstStyle/>
          <a:p>
            <a:pPr algn="l" indent="0" marL="0">
              <a:buNone/>
            </a:pPr>
            <a:r>
              <a:rPr lang="en-US" sz="2200" b="1" dirty="0">
                <a:solidFill>
                  <a:srgbClr val="B64A2D"/>
                </a:solidFill>
                <a:latin typeface="Bahnschrift SemiBold" pitchFamily="34" charset="0"/>
                <a:ea typeface="Bahnschrift SemiBold" pitchFamily="34" charset="-122"/>
                <a:cs typeface="Bahnschrift SemiBold" pitchFamily="34" charset="-120"/>
              </a:rPr>
              <a:t>≥21 d</a:t>
            </a:r>
            <a:endParaRPr lang="en-US" sz="2200" dirty="0"/>
          </a:p>
        </p:txBody>
      </p:sp>
      <p:sp>
        <p:nvSpPr>
          <p:cNvPr id="36" name="Text 34"/>
          <p:cNvSpPr/>
          <p:nvPr/>
        </p:nvSpPr>
        <p:spPr>
          <a:xfrm>
            <a:off x="6419088" y="2935224"/>
            <a:ext cx="2212848" cy="283464"/>
          </a:xfrm>
          <a:prstGeom prst="rect">
            <a:avLst/>
          </a:prstGeom>
          <a:noFill/>
          <a:ln/>
        </p:spPr>
        <p:txBody>
          <a:bodyPr wrap="square" lIns="0" tIns="0" rIns="0" bIns="0" rtlCol="0" anchor="ctr">
            <a:normAutofit/>
          </a:bodyPr>
          <a:lstStyle/>
          <a:p>
            <a:pPr algn="l" indent="0" marL="0">
              <a:buNone/>
            </a:pPr>
            <a:r>
              <a:rPr lang="en-US" sz="1060" b="1" dirty="0">
                <a:solidFill>
                  <a:srgbClr val="202729"/>
                </a:solidFill>
                <a:latin typeface="Aptos" pitchFamily="34" charset="0"/>
                <a:ea typeface="Aptos" pitchFamily="34" charset="-122"/>
                <a:cs typeface="Aptos" pitchFamily="34" charset="-120"/>
              </a:rPr>
              <a:t>Lining warning</a:t>
            </a:r>
            <a:endParaRPr lang="en-US" sz="1060" dirty="0"/>
          </a:p>
        </p:txBody>
      </p:sp>
      <p:sp>
        <p:nvSpPr>
          <p:cNvPr id="37" name="Text 35"/>
          <p:cNvSpPr/>
          <p:nvPr/>
        </p:nvSpPr>
        <p:spPr>
          <a:xfrm>
            <a:off x="6419088" y="4005072"/>
            <a:ext cx="2212848" cy="164592"/>
          </a:xfrm>
          <a:prstGeom prst="rect">
            <a:avLst/>
          </a:prstGeom>
          <a:noFill/>
          <a:ln/>
        </p:spPr>
        <p:txBody>
          <a:bodyPr wrap="square" lIns="0" tIns="0" rIns="0" bIns="0" rtlCol="0" anchor="ctr">
            <a:normAutofit/>
          </a:bodyPr>
          <a:lstStyle/>
          <a:p>
            <a:pPr algn="l" indent="0" marL="0">
              <a:buNone/>
            </a:pPr>
            <a:r>
              <a:rPr lang="en-US" sz="760" dirty="0">
                <a:solidFill>
                  <a:srgbClr val="687373"/>
                </a:solidFill>
                <a:latin typeface="Aptos" pitchFamily="34" charset="0"/>
                <a:ea typeface="Aptos" pitchFamily="34" charset="-122"/>
                <a:cs typeface="Aptos" pitchFamily="34" charset="-120"/>
              </a:rPr>
              <a:t>advance-warning target  |  KPI-FUR-01</a:t>
            </a:r>
            <a:endParaRPr lang="en-US" sz="760" dirty="0"/>
          </a:p>
        </p:txBody>
      </p:sp>
      <p:sp>
        <p:nvSpPr>
          <p:cNvPr id="38" name="Shape 36"/>
          <p:cNvSpPr/>
          <p:nvPr/>
        </p:nvSpPr>
        <p:spPr>
          <a:xfrm>
            <a:off x="8010144" y="3355848"/>
            <a:ext cx="411480" cy="411480"/>
          </a:xfrm>
          <a:prstGeom prst="ellipse">
            <a:avLst/>
          </a:prstGeom>
          <a:solidFill>
            <a:srgbClr val="F3E9CB"/>
          </a:solidFill>
          <a:ln w="12700">
            <a:solidFill>
              <a:srgbClr val="E3A72F"/>
            </a:solidFill>
            <a:prstDash val="solid"/>
          </a:ln>
        </p:spPr>
      </p:sp>
      <p:sp>
        <p:nvSpPr>
          <p:cNvPr id="39" name="Text 37"/>
          <p:cNvSpPr/>
          <p:nvPr/>
        </p:nvSpPr>
        <p:spPr>
          <a:xfrm>
            <a:off x="8010144" y="3502152"/>
            <a:ext cx="411480" cy="73152"/>
          </a:xfrm>
          <a:prstGeom prst="rect">
            <a:avLst/>
          </a:prstGeom>
          <a:noFill/>
          <a:ln/>
        </p:spPr>
        <p:txBody>
          <a:bodyPr wrap="square" lIns="0" tIns="0" rIns="0" bIns="0" rtlCol="0" anchor="ctr">
            <a:normAutofit/>
          </a:bodyPr>
          <a:lstStyle/>
          <a:p>
            <a:pPr algn="ctr" indent="0" marL="0">
              <a:buNone/>
            </a:pPr>
            <a:r>
              <a:rPr lang="en-US" sz="700" b="1" dirty="0">
                <a:solidFill>
                  <a:srgbClr val="B64A2D"/>
                </a:solidFill>
                <a:latin typeface="Aptos" pitchFamily="34" charset="0"/>
                <a:ea typeface="Aptos" pitchFamily="34" charset="-122"/>
                <a:cs typeface="Aptos" pitchFamily="34" charset="-120"/>
              </a:rPr>
              <a:t>T</a:t>
            </a:r>
            <a:endParaRPr lang="en-US" sz="700" dirty="0"/>
          </a:p>
        </p:txBody>
      </p:sp>
      <p:sp>
        <p:nvSpPr>
          <p:cNvPr id="40" name="Shape 38"/>
          <p:cNvSpPr/>
          <p:nvPr/>
        </p:nvSpPr>
        <p:spPr>
          <a:xfrm>
            <a:off x="9098280" y="1874520"/>
            <a:ext cx="2578608" cy="2468880"/>
          </a:xfrm>
          <a:prstGeom prst="roundRect">
            <a:avLst/>
          </a:prstGeom>
          <a:solidFill>
            <a:srgbClr val="FFFFFF"/>
          </a:solidFill>
          <a:ln w="8890">
            <a:solidFill>
              <a:srgbClr val="DDE4E1"/>
            </a:solidFill>
            <a:prstDash val="solid"/>
          </a:ln>
        </p:spPr>
      </p:sp>
      <p:sp>
        <p:nvSpPr>
          <p:cNvPr id="41" name="Shape 39"/>
          <p:cNvSpPr/>
          <p:nvPr/>
        </p:nvSpPr>
        <p:spPr>
          <a:xfrm>
            <a:off x="9098280" y="1874520"/>
            <a:ext cx="77724" cy="2468880"/>
          </a:xfrm>
          <a:prstGeom prst="rect">
            <a:avLst/>
          </a:prstGeom>
          <a:solidFill>
            <a:srgbClr val="B64A2D"/>
          </a:solidFill>
          <a:ln w="6350">
            <a:solidFill>
              <a:srgbClr val="B64A2D"/>
            </a:solidFill>
            <a:prstDash val="solid"/>
          </a:ln>
        </p:spPr>
      </p:sp>
      <p:sp>
        <p:nvSpPr>
          <p:cNvPr id="42" name="Shape 40"/>
          <p:cNvSpPr/>
          <p:nvPr/>
        </p:nvSpPr>
        <p:spPr>
          <a:xfrm>
            <a:off x="9299448" y="2057400"/>
            <a:ext cx="822960" cy="246888"/>
          </a:xfrm>
          <a:prstGeom prst="roundRect">
            <a:avLst/>
          </a:prstGeom>
          <a:solidFill>
            <a:srgbClr val="E3A72F"/>
          </a:solidFill>
          <a:ln w="5080">
            <a:solidFill>
              <a:srgbClr val="E3A72F"/>
            </a:solidFill>
            <a:prstDash val="solid"/>
          </a:ln>
        </p:spPr>
      </p:sp>
      <p:sp>
        <p:nvSpPr>
          <p:cNvPr id="43" name="Text 41"/>
          <p:cNvSpPr/>
          <p:nvPr/>
        </p:nvSpPr>
        <p:spPr>
          <a:xfrm>
            <a:off x="9418320" y="210769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121719"/>
                </a:solidFill>
                <a:latin typeface="Aptos" pitchFamily="34" charset="0"/>
                <a:ea typeface="Aptos" pitchFamily="34" charset="-122"/>
                <a:cs typeface="Aptos" pitchFamily="34" charset="-120"/>
              </a:rPr>
              <a:t>TARGET</a:t>
            </a:r>
            <a:endParaRPr lang="en-US" sz="720" dirty="0"/>
          </a:p>
        </p:txBody>
      </p:sp>
      <p:sp>
        <p:nvSpPr>
          <p:cNvPr id="44" name="Text 42"/>
          <p:cNvSpPr/>
          <p:nvPr/>
        </p:nvSpPr>
        <p:spPr>
          <a:xfrm>
            <a:off x="9299448" y="2450592"/>
            <a:ext cx="2212848" cy="438912"/>
          </a:xfrm>
          <a:prstGeom prst="rect">
            <a:avLst/>
          </a:prstGeom>
          <a:noFill/>
          <a:ln/>
        </p:spPr>
        <p:txBody>
          <a:bodyPr wrap="square" lIns="0" tIns="0" rIns="0" bIns="0" rtlCol="0" anchor="ctr">
            <a:normAutofit/>
          </a:bodyPr>
          <a:lstStyle/>
          <a:p>
            <a:pPr algn="l" indent="0" marL="0">
              <a:buNone/>
            </a:pPr>
            <a:r>
              <a:rPr lang="en-US" sz="2700" b="1" dirty="0">
                <a:solidFill>
                  <a:srgbClr val="B64A2D"/>
                </a:solidFill>
                <a:latin typeface="Bahnschrift SemiBold" pitchFamily="34" charset="0"/>
                <a:ea typeface="Bahnschrift SemiBold" pitchFamily="34" charset="-122"/>
                <a:cs typeface="Bahnschrift SemiBold" pitchFamily="34" charset="-120"/>
              </a:rPr>
              <a:t>+8%</a:t>
            </a:r>
            <a:endParaRPr lang="en-US" sz="2700" dirty="0"/>
          </a:p>
        </p:txBody>
      </p:sp>
      <p:sp>
        <p:nvSpPr>
          <p:cNvPr id="45" name="Text 43"/>
          <p:cNvSpPr/>
          <p:nvPr/>
        </p:nvSpPr>
        <p:spPr>
          <a:xfrm>
            <a:off x="9299448" y="2935224"/>
            <a:ext cx="2212848" cy="283464"/>
          </a:xfrm>
          <a:prstGeom prst="rect">
            <a:avLst/>
          </a:prstGeom>
          <a:noFill/>
          <a:ln/>
        </p:spPr>
        <p:txBody>
          <a:bodyPr wrap="square" lIns="0" tIns="0" rIns="0" bIns="0" rtlCol="0" anchor="ctr">
            <a:normAutofit/>
          </a:bodyPr>
          <a:lstStyle/>
          <a:p>
            <a:pPr algn="l" indent="0" marL="0">
              <a:buNone/>
            </a:pPr>
            <a:r>
              <a:rPr lang="en-US" sz="1060" b="1" dirty="0">
                <a:solidFill>
                  <a:srgbClr val="202729"/>
                </a:solidFill>
                <a:latin typeface="Aptos" pitchFamily="34" charset="0"/>
                <a:ea typeface="Aptos" pitchFamily="34" charset="-122"/>
                <a:cs typeface="Aptos" pitchFamily="34" charset="-120"/>
              </a:rPr>
              <a:t>High-grade yield</a:t>
            </a:r>
            <a:endParaRPr lang="en-US" sz="1060" dirty="0"/>
          </a:p>
        </p:txBody>
      </p:sp>
      <p:sp>
        <p:nvSpPr>
          <p:cNvPr id="46" name="Text 44"/>
          <p:cNvSpPr/>
          <p:nvPr/>
        </p:nvSpPr>
        <p:spPr>
          <a:xfrm>
            <a:off x="9299448" y="4005072"/>
            <a:ext cx="2212848" cy="164592"/>
          </a:xfrm>
          <a:prstGeom prst="rect">
            <a:avLst/>
          </a:prstGeom>
          <a:noFill/>
          <a:ln/>
        </p:spPr>
        <p:txBody>
          <a:bodyPr wrap="square" lIns="0" tIns="0" rIns="0" bIns="0" rtlCol="0" anchor="ctr">
            <a:normAutofit/>
          </a:bodyPr>
          <a:lstStyle/>
          <a:p>
            <a:pPr algn="l" indent="0" marL="0">
              <a:buNone/>
            </a:pPr>
            <a:r>
              <a:rPr lang="en-US" sz="760" dirty="0">
                <a:solidFill>
                  <a:srgbClr val="687373"/>
                </a:solidFill>
                <a:latin typeface="Aptos" pitchFamily="34" charset="0"/>
                <a:ea typeface="Aptos" pitchFamily="34" charset="-122"/>
                <a:cs typeface="Aptos" pitchFamily="34" charset="-120"/>
              </a:rPr>
              <a:t>~90% → ~97%  |  KPI-QUA-01</a:t>
            </a:r>
            <a:endParaRPr lang="en-US" sz="760" dirty="0"/>
          </a:p>
        </p:txBody>
      </p:sp>
      <p:sp>
        <p:nvSpPr>
          <p:cNvPr id="47" name="Shape 45"/>
          <p:cNvSpPr/>
          <p:nvPr/>
        </p:nvSpPr>
        <p:spPr>
          <a:xfrm>
            <a:off x="10890504" y="3355848"/>
            <a:ext cx="411480" cy="411480"/>
          </a:xfrm>
          <a:prstGeom prst="ellipse">
            <a:avLst/>
          </a:prstGeom>
          <a:solidFill>
            <a:srgbClr val="F3E9CB"/>
          </a:solidFill>
          <a:ln w="12700">
            <a:solidFill>
              <a:srgbClr val="E3A72F"/>
            </a:solidFill>
            <a:prstDash val="solid"/>
          </a:ln>
        </p:spPr>
      </p:sp>
      <p:sp>
        <p:nvSpPr>
          <p:cNvPr id="48" name="Text 46"/>
          <p:cNvSpPr/>
          <p:nvPr/>
        </p:nvSpPr>
        <p:spPr>
          <a:xfrm>
            <a:off x="10890504" y="3502152"/>
            <a:ext cx="411480" cy="73152"/>
          </a:xfrm>
          <a:prstGeom prst="rect">
            <a:avLst/>
          </a:prstGeom>
          <a:noFill/>
          <a:ln/>
        </p:spPr>
        <p:txBody>
          <a:bodyPr wrap="square" lIns="0" tIns="0" rIns="0" bIns="0" rtlCol="0" anchor="ctr">
            <a:normAutofit/>
          </a:bodyPr>
          <a:lstStyle/>
          <a:p>
            <a:pPr algn="ctr" indent="0" marL="0">
              <a:buNone/>
            </a:pPr>
            <a:r>
              <a:rPr lang="en-US" sz="700" b="1" dirty="0">
                <a:solidFill>
                  <a:srgbClr val="B64A2D"/>
                </a:solidFill>
                <a:latin typeface="Aptos" pitchFamily="34" charset="0"/>
                <a:ea typeface="Aptos" pitchFamily="34" charset="-122"/>
                <a:cs typeface="Aptos" pitchFamily="34" charset="-120"/>
              </a:rPr>
              <a:t>T</a:t>
            </a:r>
            <a:endParaRPr lang="en-US" sz="700" dirty="0"/>
          </a:p>
        </p:txBody>
      </p:sp>
      <p:sp>
        <p:nvSpPr>
          <p:cNvPr id="49" name="Shape 47"/>
          <p:cNvSpPr/>
          <p:nvPr/>
        </p:nvSpPr>
        <p:spPr>
          <a:xfrm>
            <a:off x="457200" y="4800600"/>
            <a:ext cx="11018520" cy="960120"/>
          </a:xfrm>
          <a:prstGeom prst="roundRect">
            <a:avLst/>
          </a:prstGeom>
          <a:solidFill>
            <a:srgbClr val="FFFFFF"/>
          </a:solidFill>
          <a:ln w="10160">
            <a:solidFill>
              <a:srgbClr val="DDE4E1"/>
            </a:solidFill>
            <a:prstDash val="solid"/>
          </a:ln>
        </p:spPr>
      </p:sp>
      <p:sp>
        <p:nvSpPr>
          <p:cNvPr id="50" name="Shape 48"/>
          <p:cNvSpPr/>
          <p:nvPr/>
        </p:nvSpPr>
        <p:spPr>
          <a:xfrm>
            <a:off x="731520" y="5074920"/>
            <a:ext cx="384048" cy="384048"/>
          </a:xfrm>
          <a:prstGeom prst="ellipse">
            <a:avLst/>
          </a:prstGeom>
          <a:solidFill>
            <a:srgbClr val="147D74"/>
          </a:solidFill>
          <a:ln w="6350">
            <a:solidFill>
              <a:srgbClr val="147D74"/>
            </a:solidFill>
            <a:prstDash val="solid"/>
          </a:ln>
        </p:spPr>
      </p:sp>
      <p:sp>
        <p:nvSpPr>
          <p:cNvPr id="51" name="Text 49"/>
          <p:cNvSpPr/>
          <p:nvPr/>
        </p:nvSpPr>
        <p:spPr>
          <a:xfrm>
            <a:off x="731520" y="5202936"/>
            <a:ext cx="384048" cy="7315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Aptos" pitchFamily="34" charset="0"/>
                <a:ea typeface="Aptos" pitchFamily="34" charset="-122"/>
                <a:cs typeface="Aptos" pitchFamily="34" charset="-120"/>
              </a:rPr>
              <a:t>E</a:t>
            </a:r>
            <a:endParaRPr lang="en-US" sz="750" dirty="0"/>
          </a:p>
        </p:txBody>
      </p:sp>
      <p:sp>
        <p:nvSpPr>
          <p:cNvPr id="52" name="Text 50"/>
          <p:cNvSpPr/>
          <p:nvPr/>
        </p:nvSpPr>
        <p:spPr>
          <a:xfrm>
            <a:off x="1298448" y="4965192"/>
            <a:ext cx="2468880" cy="128016"/>
          </a:xfrm>
          <a:prstGeom prst="rect">
            <a:avLst/>
          </a:prstGeom>
          <a:noFill/>
          <a:ln/>
        </p:spPr>
        <p:txBody>
          <a:bodyPr wrap="square" lIns="0" tIns="0" rIns="0" bIns="0" rtlCol="0" anchor="ctr">
            <a:normAutofit/>
          </a:bodyPr>
          <a:lstStyle/>
          <a:p>
            <a:pPr algn="l" indent="0" marL="0">
              <a:buNone/>
            </a:pPr>
            <a:r>
              <a:rPr lang="en-US" sz="800" b="1" spc="100" kern="0" dirty="0">
                <a:solidFill>
                  <a:srgbClr val="147D74"/>
                </a:solidFill>
                <a:latin typeface="Aptos" pitchFamily="34" charset="0"/>
                <a:ea typeface="Aptos" pitchFamily="34" charset="-122"/>
                <a:cs typeface="Aptos" pitchFamily="34" charset="-120"/>
              </a:rPr>
              <a:t>DEMONSTRATION EVIDENCE</a:t>
            </a:r>
            <a:endParaRPr lang="en-US" sz="800" dirty="0"/>
          </a:p>
        </p:txBody>
      </p:sp>
      <p:sp>
        <p:nvSpPr>
          <p:cNvPr id="53" name="Text 51"/>
          <p:cNvSpPr/>
          <p:nvPr/>
        </p:nvSpPr>
        <p:spPr>
          <a:xfrm>
            <a:off x="1298448" y="5230368"/>
            <a:ext cx="9555480" cy="164592"/>
          </a:xfrm>
          <a:prstGeom prst="rect">
            <a:avLst/>
          </a:prstGeom>
          <a:noFill/>
          <a:ln/>
        </p:spPr>
        <p:txBody>
          <a:bodyPr wrap="square" lIns="0" tIns="0" rIns="0" bIns="0" rtlCol="0" anchor="ctr">
            <a:normAutofit/>
          </a:bodyPr>
          <a:lstStyle/>
          <a:p>
            <a:pPr algn="l" indent="0" marL="0">
              <a:buNone/>
            </a:pPr>
            <a:r>
              <a:rPr lang="en-US" sz="1040" b="1" dirty="0">
                <a:solidFill>
                  <a:srgbClr val="202729"/>
                </a:solidFill>
                <a:latin typeface="Aptos" pitchFamily="34" charset="0"/>
                <a:ea typeface="Aptos" pitchFamily="34" charset="-122"/>
                <a:cs typeface="Aptos" pitchFamily="34" charset="-120"/>
              </a:rPr>
              <a:t>A deterministic synthetic run can produce RUL bands, a feasible dispatch, quality what-ifs, and auditable human decisions. It cannot bank the four targets.</a:t>
            </a:r>
            <a:endParaRPr lang="en-US" sz="1040" dirty="0"/>
          </a:p>
        </p:txBody>
      </p:sp>
      <p:sp>
        <p:nvSpPr>
          <p:cNvPr id="54" name="Text 52"/>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Source cue | solution-requirements.md §4, §13  •  usecase.md</a:t>
            </a:r>
            <a:endParaRPr lang="en-US" sz="660" dirty="0"/>
          </a:p>
        </p:txBody>
      </p:sp>
      <p:sp>
        <p:nvSpPr>
          <p:cNvPr id="55" name="Shape 53"/>
          <p:cNvSpPr/>
          <p:nvPr/>
        </p:nvSpPr>
        <p:spPr>
          <a:xfrm>
            <a:off x="0" y="6483096"/>
            <a:ext cx="12191695" cy="374904"/>
          </a:xfrm>
          <a:prstGeom prst="rect">
            <a:avLst/>
          </a:prstGeom>
          <a:solidFill>
            <a:srgbClr val="E9E7E1"/>
          </a:solidFill>
          <a:ln w="6350">
            <a:solidFill>
              <a:srgbClr val="E9E7E1"/>
            </a:solidFill>
            <a:prstDash val="solid"/>
          </a:ln>
        </p:spPr>
      </p:sp>
      <p:sp>
        <p:nvSpPr>
          <p:cNvPr id="56" name="Shape 54"/>
          <p:cNvSpPr/>
          <p:nvPr/>
        </p:nvSpPr>
        <p:spPr>
          <a:xfrm>
            <a:off x="384048" y="6547104"/>
            <a:ext cx="3547872" cy="182880"/>
          </a:xfrm>
          <a:prstGeom prst="roundRect">
            <a:avLst/>
          </a:prstGeom>
          <a:solidFill>
            <a:srgbClr val="FFFFFF"/>
          </a:solidFill>
          <a:ln w="3175">
            <a:solidFill>
              <a:srgbClr val="DDE4E1"/>
            </a:solidFill>
            <a:prstDash val="solid"/>
          </a:ln>
        </p:spPr>
      </p:sp>
      <p:sp>
        <p:nvSpPr>
          <p:cNvPr id="57" name="Text 55"/>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58" name="Text 56"/>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ORAL DEFENSE  •  04 / 20</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719"/>
        </a:solidFill>
      </p:bgPr>
    </p:bg>
    <p:spTree>
      <p:nvGrpSpPr>
        <p:cNvPr id="1" name=""/>
        <p:cNvGrpSpPr/>
        <p:nvPr/>
      </p:nvGrpSpPr>
      <p:grpSpPr>
        <a:xfrm>
          <a:off x="0" y="0"/>
          <a:ext cx="0" cy="0"/>
          <a:chOff x="0" y="0"/>
          <a:chExt cx="0" cy="0"/>
        </a:xfrm>
      </p:grpSpPr>
      <p:pic>
        <p:nvPicPr>
          <p:cNvPr id="2" name="Image 0" descr="D:\work\20260724 - Novasteel 3\tools\presentation\assets\steel-texture.png">    </p:cNvPr>
          <p:cNvPicPr>
            <a:picLocks noChangeAspect="1"/>
          </p:cNvPicPr>
          <p:nvPr/>
        </p:nvPicPr>
        <p:blipFill>
          <a:blip r:embed="rId1">
            <a:alphaModFix amt="34000"/>
          </a:blip>
          <a:stretch>
            <a:fillRect/>
          </a:stretch>
        </p:blipFill>
        <p:spPr>
          <a:xfrm>
            <a:off x="0" y="0"/>
            <a:ext cx="12191695" cy="6858000"/>
          </a:xfrm>
          <a:prstGeom prst="rect">
            <a:avLst/>
          </a:prstGeom>
        </p:spPr>
      </p:pic>
      <p:sp>
        <p:nvSpPr>
          <p:cNvPr id="3" name="Shape 0"/>
          <p:cNvSpPr/>
          <p:nvPr/>
        </p:nvSpPr>
        <p:spPr>
          <a:xfrm>
            <a:off x="457200" y="274320"/>
            <a:ext cx="822960" cy="246888"/>
          </a:xfrm>
          <a:prstGeom prst="roundRect">
            <a:avLst/>
          </a:prstGeom>
          <a:solidFill>
            <a:srgbClr val="465057"/>
          </a:solidFill>
          <a:ln w="5080">
            <a:solidFill>
              <a:srgbClr val="465057"/>
            </a:solidFill>
            <a:prstDash val="solid"/>
          </a:ln>
        </p:spPr>
      </p:sp>
      <p:sp>
        <p:nvSpPr>
          <p:cNvPr id="4" name="Text 1"/>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05</a:t>
            </a:r>
            <a:endParaRPr lang="en-US" sz="720" dirty="0"/>
          </a:p>
        </p:txBody>
      </p:sp>
      <p:sp>
        <p:nvSpPr>
          <p:cNvPr id="5" name="Text 2"/>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AEB9BA"/>
                </a:solidFill>
                <a:latin typeface="Aptos" pitchFamily="34" charset="0"/>
                <a:ea typeface="Aptos" pitchFamily="34" charset="-122"/>
                <a:cs typeface="Aptos" pitchFamily="34" charset="-120"/>
              </a:rPr>
              <a:t>SOLUTION OVERVIEW</a:t>
            </a:r>
            <a:endParaRPr lang="en-US" sz="810" dirty="0"/>
          </a:p>
        </p:txBody>
      </p:sp>
      <p:sp>
        <p:nvSpPr>
          <p:cNvPr id="6" name="Shape 3"/>
          <p:cNvSpPr/>
          <p:nvPr/>
        </p:nvSpPr>
        <p:spPr>
          <a:xfrm>
            <a:off x="10040112" y="274320"/>
            <a:ext cx="1673352" cy="256032"/>
          </a:xfrm>
          <a:prstGeom prst="roundRect">
            <a:avLst/>
          </a:prstGeom>
          <a:solidFill>
            <a:srgbClr val="1F2426"/>
          </a:solidFill>
          <a:ln w="6350">
            <a:solidFill>
              <a:srgbClr val="465057"/>
            </a:solidFill>
            <a:prstDash val="solid"/>
          </a:ln>
        </p:spPr>
      </p:sp>
      <p:sp>
        <p:nvSpPr>
          <p:cNvPr id="7" name="Text 4"/>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AEB9BA"/>
                </a:solidFill>
                <a:latin typeface="Aptos" pitchFamily="34" charset="0"/>
                <a:ea typeface="Aptos" pitchFamily="34" charset="-122"/>
                <a:cs typeface="Aptos" pitchFamily="34" charset="-120"/>
              </a:rPr>
              <a:t>05:00–06:30</a:t>
            </a:r>
            <a:endParaRPr lang="en-US" sz="720" dirty="0"/>
          </a:p>
        </p:txBody>
      </p:sp>
      <p:sp>
        <p:nvSpPr>
          <p:cNvPr id="8" name="Text 5"/>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FFFFFF"/>
                </a:solidFill>
                <a:latin typeface="Bahnschrift SemiBold" pitchFamily="34" charset="0"/>
                <a:ea typeface="Bahnschrift SemiBold" pitchFamily="34" charset="-122"/>
                <a:cs typeface="Bahnschrift SemiBold" pitchFamily="34" charset="-120"/>
              </a:rPr>
              <a:t>One governed platform: signals → intelligence → accountable decisions</a:t>
            </a:r>
            <a:endParaRPr lang="en-US" sz="2550" dirty="0"/>
          </a:p>
        </p:txBody>
      </p:sp>
      <p:sp>
        <p:nvSpPr>
          <p:cNvPr id="9" name="Shape 6"/>
          <p:cNvSpPr/>
          <p:nvPr/>
        </p:nvSpPr>
        <p:spPr>
          <a:xfrm>
            <a:off x="685800" y="1993392"/>
            <a:ext cx="1234440" cy="1234440"/>
          </a:xfrm>
          <a:prstGeom prst="ellipse">
            <a:avLst/>
          </a:prstGeom>
          <a:solidFill>
            <a:srgbClr val="1F2426"/>
          </a:solidFill>
          <a:ln w="26670">
            <a:solidFill>
              <a:srgbClr val="B64A2D"/>
            </a:solidFill>
            <a:prstDash val="solid"/>
          </a:ln>
        </p:spPr>
      </p:sp>
      <p:sp>
        <p:nvSpPr>
          <p:cNvPr id="10" name="Text 7"/>
          <p:cNvSpPr/>
          <p:nvPr/>
        </p:nvSpPr>
        <p:spPr>
          <a:xfrm>
            <a:off x="777240" y="2304288"/>
            <a:ext cx="1051560" cy="283464"/>
          </a:xfrm>
          <a:prstGeom prst="rect">
            <a:avLst/>
          </a:prstGeom>
          <a:noFill/>
          <a:ln/>
        </p:spPr>
        <p:txBody>
          <a:bodyPr wrap="square" lIns="0" tIns="0" rIns="0" bIns="0" rtlCol="0" anchor="ctr">
            <a:normAutofit/>
          </a:bodyPr>
          <a:lstStyle/>
          <a:p>
            <a:pPr algn="ctr" indent="0" marL="0">
              <a:buNone/>
            </a:pPr>
            <a:r>
              <a:rPr lang="en-US" sz="1030" b="1" dirty="0">
                <a:solidFill>
                  <a:srgbClr val="FFFFFF"/>
                </a:solidFill>
                <a:latin typeface="Bahnschrift SemiBold" pitchFamily="34" charset="0"/>
                <a:ea typeface="Bahnschrift SemiBold" pitchFamily="34" charset="-122"/>
                <a:cs typeface="Bahnschrift SemiBold" pitchFamily="34" charset="-120"/>
              </a:rPr>
              <a:t>PLANT</a:t>
            </a:r>
            <a:endParaRPr lang="en-US" sz="1030" dirty="0"/>
          </a:p>
          <a:p>
            <a:pPr algn="ctr" indent="0" marL="0">
              <a:buNone/>
            </a:pPr>
            <a:r>
              <a:rPr lang="en-US" sz="1030" b="1" dirty="0">
                <a:solidFill>
                  <a:srgbClr val="FFFFFF"/>
                </a:solidFill>
                <a:latin typeface="Bahnschrift SemiBold" pitchFamily="34" charset="0"/>
                <a:ea typeface="Bahnschrift SemiBold" pitchFamily="34" charset="-122"/>
                <a:cs typeface="Bahnschrift SemiBold" pitchFamily="34" charset="-120"/>
              </a:rPr>
              <a:t>SIGNALS</a:t>
            </a:r>
            <a:endParaRPr lang="en-US" sz="1030" dirty="0"/>
          </a:p>
        </p:txBody>
      </p:sp>
      <p:sp>
        <p:nvSpPr>
          <p:cNvPr id="11" name="Text 8"/>
          <p:cNvSpPr/>
          <p:nvPr/>
        </p:nvSpPr>
        <p:spPr>
          <a:xfrm>
            <a:off x="502920" y="3392424"/>
            <a:ext cx="1600200" cy="155448"/>
          </a:xfrm>
          <a:prstGeom prst="rect">
            <a:avLst/>
          </a:prstGeom>
          <a:noFill/>
          <a:ln/>
        </p:spPr>
        <p:txBody>
          <a:bodyPr wrap="square" lIns="0" tIns="0" rIns="0" bIns="0" rtlCol="0" anchor="ctr">
            <a:normAutofit/>
          </a:bodyPr>
          <a:lstStyle/>
          <a:p>
            <a:pPr algn="ctr" indent="0" marL="0">
              <a:buNone/>
            </a:pPr>
            <a:r>
              <a:rPr lang="en-US" sz="740" dirty="0">
                <a:solidFill>
                  <a:srgbClr val="AEB9BA"/>
                </a:solidFill>
                <a:latin typeface="Aptos" pitchFamily="34" charset="0"/>
                <a:ea typeface="Aptos" pitchFamily="34" charset="-122"/>
                <a:cs typeface="Aptos" pitchFamily="34" charset="-120"/>
              </a:rPr>
              <a:t>OT / MES / market</a:t>
            </a:r>
            <a:endParaRPr lang="en-US" sz="740" dirty="0"/>
          </a:p>
        </p:txBody>
      </p:sp>
      <p:sp>
        <p:nvSpPr>
          <p:cNvPr id="12" name="Shape 9"/>
          <p:cNvSpPr/>
          <p:nvPr/>
        </p:nvSpPr>
        <p:spPr>
          <a:xfrm>
            <a:off x="2194560" y="2487168"/>
            <a:ext cx="429768" cy="310896"/>
          </a:xfrm>
          <a:prstGeom prst="chevron">
            <a:avLst/>
          </a:prstGeom>
          <a:solidFill>
            <a:srgbClr val="465057"/>
          </a:solidFill>
          <a:ln w="12700">
            <a:solidFill>
              <a:srgbClr val="465057">
                <a:alpha val="0"/>
              </a:srgbClr>
            </a:solidFill>
            <a:prstDash val="solid"/>
          </a:ln>
        </p:spPr>
      </p:sp>
      <p:sp>
        <p:nvSpPr>
          <p:cNvPr id="13" name="Shape 10"/>
          <p:cNvSpPr/>
          <p:nvPr/>
        </p:nvSpPr>
        <p:spPr>
          <a:xfrm>
            <a:off x="2971800" y="1993392"/>
            <a:ext cx="1463040" cy="1463040"/>
          </a:xfrm>
          <a:prstGeom prst="ellipse">
            <a:avLst/>
          </a:prstGeom>
          <a:solidFill>
            <a:srgbClr val="1F2426"/>
          </a:solidFill>
          <a:ln w="26670">
            <a:solidFill>
              <a:srgbClr val="147D74"/>
            </a:solidFill>
            <a:prstDash val="solid"/>
          </a:ln>
        </p:spPr>
      </p:sp>
      <p:sp>
        <p:nvSpPr>
          <p:cNvPr id="14" name="Text 11"/>
          <p:cNvSpPr/>
          <p:nvPr/>
        </p:nvSpPr>
        <p:spPr>
          <a:xfrm>
            <a:off x="3063240" y="2304288"/>
            <a:ext cx="1280160" cy="283464"/>
          </a:xfrm>
          <a:prstGeom prst="rect">
            <a:avLst/>
          </a:prstGeom>
          <a:noFill/>
          <a:ln/>
        </p:spPr>
        <p:txBody>
          <a:bodyPr wrap="square" lIns="0" tIns="0" rIns="0" bIns="0" rtlCol="0" anchor="ctr">
            <a:normAutofit/>
          </a:bodyPr>
          <a:lstStyle/>
          <a:p>
            <a:pPr algn="ctr" indent="0" marL="0">
              <a:buNone/>
            </a:pPr>
            <a:r>
              <a:rPr lang="en-US" sz="1030" b="1" dirty="0">
                <a:solidFill>
                  <a:srgbClr val="FFFFFF"/>
                </a:solidFill>
                <a:latin typeface="Bahnschrift SemiBold" pitchFamily="34" charset="0"/>
                <a:ea typeface="Bahnschrift SemiBold" pitchFamily="34" charset="-122"/>
                <a:cs typeface="Bahnschrift SemiBold" pitchFamily="34" charset="-120"/>
              </a:rPr>
              <a:t>FABRIC</a:t>
            </a:r>
            <a:endParaRPr lang="en-US" sz="1030" dirty="0"/>
          </a:p>
          <a:p>
            <a:pPr algn="ctr" indent="0" marL="0">
              <a:buNone/>
            </a:pPr>
            <a:r>
              <a:rPr lang="en-US" sz="1030" b="1" dirty="0">
                <a:solidFill>
                  <a:srgbClr val="FFFFFF"/>
                </a:solidFill>
                <a:latin typeface="Bahnschrift SemiBold" pitchFamily="34" charset="0"/>
                <a:ea typeface="Bahnschrift SemiBold" pitchFamily="34" charset="-122"/>
                <a:cs typeface="Bahnschrift SemiBold" pitchFamily="34" charset="-120"/>
              </a:rPr>
              <a:t>CORE</a:t>
            </a:r>
            <a:endParaRPr lang="en-US" sz="1030" dirty="0"/>
          </a:p>
        </p:txBody>
      </p:sp>
      <p:sp>
        <p:nvSpPr>
          <p:cNvPr id="15" name="Text 12"/>
          <p:cNvSpPr/>
          <p:nvPr/>
        </p:nvSpPr>
        <p:spPr>
          <a:xfrm>
            <a:off x="2788920" y="3621024"/>
            <a:ext cx="1828800" cy="155448"/>
          </a:xfrm>
          <a:prstGeom prst="rect">
            <a:avLst/>
          </a:prstGeom>
          <a:noFill/>
          <a:ln/>
        </p:spPr>
        <p:txBody>
          <a:bodyPr wrap="square" lIns="0" tIns="0" rIns="0" bIns="0" rtlCol="0" anchor="ctr">
            <a:normAutofit/>
          </a:bodyPr>
          <a:lstStyle/>
          <a:p>
            <a:pPr algn="ctr" indent="0" marL="0">
              <a:buNone/>
            </a:pPr>
            <a:r>
              <a:rPr lang="en-US" sz="740" dirty="0">
                <a:solidFill>
                  <a:srgbClr val="AEB9BA"/>
                </a:solidFill>
                <a:latin typeface="Aptos" pitchFamily="34" charset="0"/>
                <a:ea typeface="Aptos" pitchFamily="34" charset="-122"/>
                <a:cs typeface="Aptos" pitchFamily="34" charset="-120"/>
              </a:rPr>
              <a:t>governed data spine</a:t>
            </a:r>
            <a:endParaRPr lang="en-US" sz="740" dirty="0"/>
          </a:p>
        </p:txBody>
      </p:sp>
      <p:sp>
        <p:nvSpPr>
          <p:cNvPr id="16" name="Shape 13"/>
          <p:cNvSpPr/>
          <p:nvPr/>
        </p:nvSpPr>
        <p:spPr>
          <a:xfrm>
            <a:off x="4709160" y="2487168"/>
            <a:ext cx="429768" cy="310896"/>
          </a:xfrm>
          <a:prstGeom prst="chevron">
            <a:avLst/>
          </a:prstGeom>
          <a:solidFill>
            <a:srgbClr val="465057"/>
          </a:solidFill>
          <a:ln w="12700">
            <a:solidFill>
              <a:srgbClr val="465057">
                <a:alpha val="0"/>
              </a:srgbClr>
            </a:solidFill>
            <a:prstDash val="solid"/>
          </a:ln>
        </p:spPr>
      </p:sp>
      <p:sp>
        <p:nvSpPr>
          <p:cNvPr id="17" name="Shape 14"/>
          <p:cNvSpPr/>
          <p:nvPr/>
        </p:nvSpPr>
        <p:spPr>
          <a:xfrm>
            <a:off x="5715000" y="1993392"/>
            <a:ext cx="1234440" cy="1234440"/>
          </a:xfrm>
          <a:prstGeom prst="ellipse">
            <a:avLst/>
          </a:prstGeom>
          <a:solidFill>
            <a:srgbClr val="1F2426"/>
          </a:solidFill>
          <a:ln w="26670">
            <a:solidFill>
              <a:srgbClr val="E3A72F"/>
            </a:solidFill>
            <a:prstDash val="solid"/>
          </a:ln>
        </p:spPr>
      </p:sp>
      <p:sp>
        <p:nvSpPr>
          <p:cNvPr id="18" name="Text 15"/>
          <p:cNvSpPr/>
          <p:nvPr/>
        </p:nvSpPr>
        <p:spPr>
          <a:xfrm>
            <a:off x="5806440" y="2304288"/>
            <a:ext cx="1051560" cy="283464"/>
          </a:xfrm>
          <a:prstGeom prst="rect">
            <a:avLst/>
          </a:prstGeom>
          <a:noFill/>
          <a:ln/>
        </p:spPr>
        <p:txBody>
          <a:bodyPr wrap="square" lIns="0" tIns="0" rIns="0" bIns="0" rtlCol="0" anchor="ctr">
            <a:normAutofit/>
          </a:bodyPr>
          <a:lstStyle/>
          <a:p>
            <a:pPr algn="ctr" indent="0" marL="0">
              <a:buNone/>
            </a:pPr>
            <a:r>
              <a:rPr lang="en-US" sz="1030" b="1" dirty="0">
                <a:solidFill>
                  <a:srgbClr val="FFFFFF"/>
                </a:solidFill>
                <a:latin typeface="Bahnschrift SemiBold" pitchFamily="34" charset="0"/>
                <a:ea typeface="Bahnschrift SemiBold" pitchFamily="34" charset="-122"/>
                <a:cs typeface="Bahnschrift SemiBold" pitchFamily="34" charset="-120"/>
              </a:rPr>
              <a:t>FOUR AI</a:t>
            </a:r>
            <a:endParaRPr lang="en-US" sz="1030" dirty="0"/>
          </a:p>
          <a:p>
            <a:pPr algn="ctr" indent="0" marL="0">
              <a:buNone/>
            </a:pPr>
            <a:r>
              <a:rPr lang="en-US" sz="1030" b="1" dirty="0">
                <a:solidFill>
                  <a:srgbClr val="FFFFFF"/>
                </a:solidFill>
                <a:latin typeface="Bahnschrift SemiBold" pitchFamily="34" charset="0"/>
                <a:ea typeface="Bahnschrift SemiBold" pitchFamily="34" charset="-122"/>
                <a:cs typeface="Bahnschrift SemiBold" pitchFamily="34" charset="-120"/>
              </a:rPr>
              <a:t>CAPABILITIES</a:t>
            </a:r>
            <a:endParaRPr lang="en-US" sz="1030" dirty="0"/>
          </a:p>
        </p:txBody>
      </p:sp>
      <p:sp>
        <p:nvSpPr>
          <p:cNvPr id="19" name="Text 16"/>
          <p:cNvSpPr/>
          <p:nvPr/>
        </p:nvSpPr>
        <p:spPr>
          <a:xfrm>
            <a:off x="5532120" y="3392424"/>
            <a:ext cx="1600200" cy="155448"/>
          </a:xfrm>
          <a:prstGeom prst="rect">
            <a:avLst/>
          </a:prstGeom>
          <a:noFill/>
          <a:ln/>
        </p:spPr>
        <p:txBody>
          <a:bodyPr wrap="square" lIns="0" tIns="0" rIns="0" bIns="0" rtlCol="0" anchor="ctr">
            <a:normAutofit/>
          </a:bodyPr>
          <a:lstStyle/>
          <a:p>
            <a:pPr algn="ctr" indent="0" marL="0">
              <a:buNone/>
            </a:pPr>
            <a:r>
              <a:rPr lang="en-US" sz="740" dirty="0">
                <a:solidFill>
                  <a:srgbClr val="AEB9BA"/>
                </a:solidFill>
                <a:latin typeface="Aptos" pitchFamily="34" charset="0"/>
                <a:ea typeface="Aptos" pitchFamily="34" charset="-122"/>
                <a:cs typeface="Aptos" pitchFamily="34" charset="-120"/>
              </a:rPr>
              <a:t>Python + constrained GenAI</a:t>
            </a:r>
            <a:endParaRPr lang="en-US" sz="740" dirty="0"/>
          </a:p>
        </p:txBody>
      </p:sp>
      <p:sp>
        <p:nvSpPr>
          <p:cNvPr id="20" name="Shape 17"/>
          <p:cNvSpPr/>
          <p:nvPr/>
        </p:nvSpPr>
        <p:spPr>
          <a:xfrm>
            <a:off x="7223760" y="2487168"/>
            <a:ext cx="429768" cy="310896"/>
          </a:xfrm>
          <a:prstGeom prst="chevron">
            <a:avLst/>
          </a:prstGeom>
          <a:solidFill>
            <a:srgbClr val="465057"/>
          </a:solidFill>
          <a:ln w="12700">
            <a:solidFill>
              <a:srgbClr val="465057">
                <a:alpha val="0"/>
              </a:srgbClr>
            </a:solidFill>
            <a:prstDash val="solid"/>
          </a:ln>
        </p:spPr>
      </p:sp>
      <p:sp>
        <p:nvSpPr>
          <p:cNvPr id="21" name="Shape 18"/>
          <p:cNvSpPr/>
          <p:nvPr/>
        </p:nvSpPr>
        <p:spPr>
          <a:xfrm>
            <a:off x="8001000" y="1993392"/>
            <a:ext cx="1234440" cy="1234440"/>
          </a:xfrm>
          <a:prstGeom prst="ellipse">
            <a:avLst/>
          </a:prstGeom>
          <a:solidFill>
            <a:srgbClr val="1F2426"/>
          </a:solidFill>
          <a:ln w="26670">
            <a:solidFill>
              <a:srgbClr val="6D9A6F"/>
            </a:solidFill>
            <a:prstDash val="solid"/>
          </a:ln>
        </p:spPr>
      </p:sp>
      <p:sp>
        <p:nvSpPr>
          <p:cNvPr id="22" name="Text 19"/>
          <p:cNvSpPr/>
          <p:nvPr/>
        </p:nvSpPr>
        <p:spPr>
          <a:xfrm>
            <a:off x="8092440" y="2304288"/>
            <a:ext cx="1051560" cy="283464"/>
          </a:xfrm>
          <a:prstGeom prst="rect">
            <a:avLst/>
          </a:prstGeom>
          <a:noFill/>
          <a:ln/>
        </p:spPr>
        <p:txBody>
          <a:bodyPr wrap="square" lIns="0" tIns="0" rIns="0" bIns="0" rtlCol="0" anchor="ctr">
            <a:normAutofit/>
          </a:bodyPr>
          <a:lstStyle/>
          <a:p>
            <a:pPr algn="ctr" indent="0" marL="0">
              <a:buNone/>
            </a:pPr>
            <a:r>
              <a:rPr lang="en-US" sz="1030" b="1" dirty="0">
                <a:solidFill>
                  <a:srgbClr val="FFFFFF"/>
                </a:solidFill>
                <a:latin typeface="Bahnschrift SemiBold" pitchFamily="34" charset="0"/>
                <a:ea typeface="Bahnschrift SemiBold" pitchFamily="34" charset="-122"/>
                <a:cs typeface="Bahnschrift SemiBold" pitchFamily="34" charset="-120"/>
              </a:rPr>
              <a:t>PERSONA</a:t>
            </a:r>
            <a:endParaRPr lang="en-US" sz="1030" dirty="0"/>
          </a:p>
          <a:p>
            <a:pPr algn="ctr" indent="0" marL="0">
              <a:buNone/>
            </a:pPr>
            <a:r>
              <a:rPr lang="en-US" sz="1030" b="1" dirty="0">
                <a:solidFill>
                  <a:srgbClr val="FFFFFF"/>
                </a:solidFill>
                <a:latin typeface="Bahnschrift SemiBold" pitchFamily="34" charset="0"/>
                <a:ea typeface="Bahnschrift SemiBold" pitchFamily="34" charset="-122"/>
                <a:cs typeface="Bahnschrift SemiBold" pitchFamily="34" charset="-120"/>
              </a:rPr>
              <a:t>EXPERIENCE</a:t>
            </a:r>
            <a:endParaRPr lang="en-US" sz="1030" dirty="0"/>
          </a:p>
        </p:txBody>
      </p:sp>
      <p:sp>
        <p:nvSpPr>
          <p:cNvPr id="23" name="Text 20"/>
          <p:cNvSpPr/>
          <p:nvPr/>
        </p:nvSpPr>
        <p:spPr>
          <a:xfrm>
            <a:off x="7818120" y="3392424"/>
            <a:ext cx="1600200" cy="155448"/>
          </a:xfrm>
          <a:prstGeom prst="rect">
            <a:avLst/>
          </a:prstGeom>
          <a:noFill/>
          <a:ln/>
        </p:spPr>
        <p:txBody>
          <a:bodyPr wrap="square" lIns="0" tIns="0" rIns="0" bIns="0" rtlCol="0" anchor="ctr">
            <a:normAutofit/>
          </a:bodyPr>
          <a:lstStyle/>
          <a:p>
            <a:pPr algn="ctr" indent="0" marL="0">
              <a:buNone/>
            </a:pPr>
            <a:r>
              <a:rPr lang="en-US" sz="740" dirty="0">
                <a:solidFill>
                  <a:srgbClr val="AEB9BA"/>
                </a:solidFill>
                <a:latin typeface="Aptos" pitchFamily="34" charset="0"/>
                <a:ea typeface="Aptos" pitchFamily="34" charset="-122"/>
                <a:cs typeface="Aptos" pitchFamily="34" charset="-120"/>
              </a:rPr>
              <a:t>8 role-specific views</a:t>
            </a:r>
            <a:endParaRPr lang="en-US" sz="740" dirty="0"/>
          </a:p>
        </p:txBody>
      </p:sp>
      <p:sp>
        <p:nvSpPr>
          <p:cNvPr id="24" name="Shape 21"/>
          <p:cNvSpPr/>
          <p:nvPr/>
        </p:nvSpPr>
        <p:spPr>
          <a:xfrm>
            <a:off x="9509760" y="2487168"/>
            <a:ext cx="429768" cy="310896"/>
          </a:xfrm>
          <a:prstGeom prst="chevron">
            <a:avLst/>
          </a:prstGeom>
          <a:solidFill>
            <a:srgbClr val="465057"/>
          </a:solidFill>
          <a:ln w="12700">
            <a:solidFill>
              <a:srgbClr val="465057">
                <a:alpha val="0"/>
              </a:srgbClr>
            </a:solidFill>
            <a:prstDash val="solid"/>
          </a:ln>
        </p:spPr>
      </p:sp>
      <p:sp>
        <p:nvSpPr>
          <p:cNvPr id="25" name="Shape 22"/>
          <p:cNvSpPr/>
          <p:nvPr/>
        </p:nvSpPr>
        <p:spPr>
          <a:xfrm>
            <a:off x="10259568" y="1993392"/>
            <a:ext cx="1234440" cy="1234440"/>
          </a:xfrm>
          <a:prstGeom prst="ellipse">
            <a:avLst/>
          </a:prstGeom>
          <a:solidFill>
            <a:srgbClr val="1F2426"/>
          </a:solidFill>
          <a:ln w="26670">
            <a:solidFill>
              <a:srgbClr val="B64A2D"/>
            </a:solidFill>
            <a:prstDash val="solid"/>
          </a:ln>
        </p:spPr>
      </p:sp>
      <p:sp>
        <p:nvSpPr>
          <p:cNvPr id="26" name="Text 23"/>
          <p:cNvSpPr/>
          <p:nvPr/>
        </p:nvSpPr>
        <p:spPr>
          <a:xfrm>
            <a:off x="10351008" y="2304288"/>
            <a:ext cx="1051560" cy="283464"/>
          </a:xfrm>
          <a:prstGeom prst="rect">
            <a:avLst/>
          </a:prstGeom>
          <a:noFill/>
          <a:ln/>
        </p:spPr>
        <p:txBody>
          <a:bodyPr wrap="square" lIns="0" tIns="0" rIns="0" bIns="0" rtlCol="0" anchor="ctr">
            <a:normAutofit/>
          </a:bodyPr>
          <a:lstStyle/>
          <a:p>
            <a:pPr algn="ctr" indent="0" marL="0">
              <a:buNone/>
            </a:pPr>
            <a:r>
              <a:rPr lang="en-US" sz="1030" b="1" dirty="0">
                <a:solidFill>
                  <a:srgbClr val="FFFFFF"/>
                </a:solidFill>
                <a:latin typeface="Bahnschrift SemiBold" pitchFamily="34" charset="0"/>
                <a:ea typeface="Bahnschrift SemiBold" pitchFamily="34" charset="-122"/>
                <a:cs typeface="Bahnschrift SemiBold" pitchFamily="34" charset="-120"/>
              </a:rPr>
              <a:t>HUMAN</a:t>
            </a:r>
            <a:endParaRPr lang="en-US" sz="1030" dirty="0"/>
          </a:p>
          <a:p>
            <a:pPr algn="ctr" indent="0" marL="0">
              <a:buNone/>
            </a:pPr>
            <a:r>
              <a:rPr lang="en-US" sz="1030" b="1" dirty="0">
                <a:solidFill>
                  <a:srgbClr val="FFFFFF"/>
                </a:solidFill>
                <a:latin typeface="Bahnschrift SemiBold" pitchFamily="34" charset="0"/>
                <a:ea typeface="Bahnschrift SemiBold" pitchFamily="34" charset="-122"/>
                <a:cs typeface="Bahnschrift SemiBold" pitchFamily="34" charset="-120"/>
              </a:rPr>
              <a:t>DECISION</a:t>
            </a:r>
            <a:endParaRPr lang="en-US" sz="1030" dirty="0"/>
          </a:p>
        </p:txBody>
      </p:sp>
      <p:sp>
        <p:nvSpPr>
          <p:cNvPr id="27" name="Text 24"/>
          <p:cNvSpPr/>
          <p:nvPr/>
        </p:nvSpPr>
        <p:spPr>
          <a:xfrm>
            <a:off x="10076688" y="3392424"/>
            <a:ext cx="1600200" cy="155448"/>
          </a:xfrm>
          <a:prstGeom prst="rect">
            <a:avLst/>
          </a:prstGeom>
          <a:noFill/>
          <a:ln/>
        </p:spPr>
        <p:txBody>
          <a:bodyPr wrap="square" lIns="0" tIns="0" rIns="0" bIns="0" rtlCol="0" anchor="ctr">
            <a:normAutofit/>
          </a:bodyPr>
          <a:lstStyle/>
          <a:p>
            <a:pPr algn="ctr" indent="0" marL="0">
              <a:buNone/>
            </a:pPr>
            <a:r>
              <a:rPr lang="en-US" sz="740" dirty="0">
                <a:solidFill>
                  <a:srgbClr val="AEB9BA"/>
                </a:solidFill>
                <a:latin typeface="Aptos" pitchFamily="34" charset="0"/>
                <a:ea typeface="Aptos" pitchFamily="34" charset="-122"/>
                <a:cs typeface="Aptos" pitchFamily="34" charset="-120"/>
              </a:rPr>
              <a:t>approval + audit</a:t>
            </a:r>
            <a:endParaRPr lang="en-US" sz="740" dirty="0"/>
          </a:p>
        </p:txBody>
      </p:sp>
      <p:sp>
        <p:nvSpPr>
          <p:cNvPr id="28" name="Shape 25"/>
          <p:cNvSpPr/>
          <p:nvPr/>
        </p:nvSpPr>
        <p:spPr>
          <a:xfrm>
            <a:off x="3995928" y="2578608"/>
            <a:ext cx="402336" cy="402336"/>
          </a:xfrm>
          <a:prstGeom prst="ellipse">
            <a:avLst/>
          </a:prstGeom>
          <a:solidFill>
            <a:srgbClr val="147D74"/>
          </a:solidFill>
          <a:ln w="6350">
            <a:solidFill>
              <a:srgbClr val="147D74"/>
            </a:solidFill>
            <a:prstDash val="solid"/>
          </a:ln>
        </p:spPr>
      </p:sp>
      <p:sp>
        <p:nvSpPr>
          <p:cNvPr id="29" name="Text 26"/>
          <p:cNvSpPr/>
          <p:nvPr/>
        </p:nvSpPr>
        <p:spPr>
          <a:xfrm>
            <a:off x="3995928" y="2724912"/>
            <a:ext cx="402336" cy="64008"/>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Aptos" pitchFamily="34" charset="0"/>
                <a:ea typeface="Aptos" pitchFamily="34" charset="-122"/>
                <a:cs typeface="Aptos" pitchFamily="34" charset="-120"/>
              </a:rPr>
              <a:t>1</a:t>
            </a:r>
            <a:endParaRPr lang="en-US" sz="700" dirty="0"/>
          </a:p>
        </p:txBody>
      </p:sp>
      <p:sp>
        <p:nvSpPr>
          <p:cNvPr id="30" name="Shape 27"/>
          <p:cNvSpPr/>
          <p:nvPr/>
        </p:nvSpPr>
        <p:spPr>
          <a:xfrm>
            <a:off x="685800" y="4663440"/>
            <a:ext cx="10808208" cy="804672"/>
          </a:xfrm>
          <a:prstGeom prst="roundRect">
            <a:avLst/>
          </a:prstGeom>
          <a:solidFill>
            <a:srgbClr val="1F2426"/>
          </a:solidFill>
          <a:ln w="8890">
            <a:solidFill>
              <a:srgbClr val="465057"/>
            </a:solidFill>
            <a:prstDash val="solid"/>
          </a:ln>
        </p:spPr>
      </p:sp>
      <p:sp>
        <p:nvSpPr>
          <p:cNvPr id="31" name="Text 28"/>
          <p:cNvSpPr/>
          <p:nvPr/>
        </p:nvSpPr>
        <p:spPr>
          <a:xfrm>
            <a:off x="932688" y="4873752"/>
            <a:ext cx="1828800" cy="118872"/>
          </a:xfrm>
          <a:prstGeom prst="rect">
            <a:avLst/>
          </a:prstGeom>
          <a:noFill/>
          <a:ln/>
        </p:spPr>
        <p:txBody>
          <a:bodyPr wrap="square" lIns="0" tIns="0" rIns="0" bIns="0" rtlCol="0" anchor="ctr">
            <a:normAutofit/>
          </a:bodyPr>
          <a:lstStyle/>
          <a:p>
            <a:pPr algn="l" indent="0" marL="0">
              <a:buNone/>
            </a:pPr>
            <a:r>
              <a:rPr lang="en-US" sz="800" b="1" spc="90" kern="0" dirty="0">
                <a:solidFill>
                  <a:srgbClr val="E3A72F"/>
                </a:solidFill>
                <a:latin typeface="Aptos" pitchFamily="34" charset="0"/>
                <a:ea typeface="Aptos" pitchFamily="34" charset="-122"/>
                <a:cs typeface="Aptos" pitchFamily="34" charset="-120"/>
              </a:rPr>
              <a:t>The operating contract</a:t>
            </a:r>
            <a:endParaRPr lang="en-US" sz="800" dirty="0"/>
          </a:p>
        </p:txBody>
      </p:sp>
      <p:sp>
        <p:nvSpPr>
          <p:cNvPr id="32" name="Text 29"/>
          <p:cNvSpPr/>
          <p:nvPr/>
        </p:nvSpPr>
        <p:spPr>
          <a:xfrm>
            <a:off x="2834640" y="4800600"/>
            <a:ext cx="8138160" cy="201168"/>
          </a:xfrm>
          <a:prstGeom prst="rect">
            <a:avLst/>
          </a:prstGeom>
          <a:noFill/>
          <a:ln/>
        </p:spPr>
        <p:txBody>
          <a:bodyPr wrap="square" lIns="0" tIns="0" rIns="0" bIns="0" rtlCol="0" anchor="ctr">
            <a:normAutofit/>
          </a:bodyPr>
          <a:lstStyle/>
          <a:p>
            <a:pPr algn="ctr" indent="0" marL="0">
              <a:buNone/>
            </a:pPr>
            <a:r>
              <a:rPr lang="en-US" sz="1120" b="1" dirty="0">
                <a:solidFill>
                  <a:srgbClr val="FFFFFF"/>
                </a:solidFill>
                <a:latin typeface="Aptos" pitchFamily="34" charset="0"/>
                <a:ea typeface="Aptos" pitchFamily="34" charset="-122"/>
                <a:cs typeface="Aptos" pitchFamily="34" charset="-120"/>
              </a:rPr>
              <a:t>Fabric unifies production, energy, emissions, quality, maintenance, and knowledge. Every consequential output stays advisory, human-approved, and append-only auditable.</a:t>
            </a:r>
            <a:endParaRPr lang="en-US" sz="1120" dirty="0"/>
          </a:p>
        </p:txBody>
      </p:sp>
      <p:sp>
        <p:nvSpPr>
          <p:cNvPr id="33" name="Text 30"/>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AEB9BA"/>
                </a:solidFill>
                <a:latin typeface="Aptos" pitchFamily="34" charset="0"/>
                <a:ea typeface="Aptos" pitchFamily="34" charset="-122"/>
                <a:cs typeface="Aptos" pitchFamily="34" charset="-120"/>
              </a:rPr>
              <a:t>Source cue | solution-architecture.md §3</a:t>
            </a:r>
            <a:endParaRPr lang="en-US" sz="660" dirty="0"/>
          </a:p>
        </p:txBody>
      </p:sp>
      <p:sp>
        <p:nvSpPr>
          <p:cNvPr id="34" name="Shape 31"/>
          <p:cNvSpPr/>
          <p:nvPr/>
        </p:nvSpPr>
        <p:spPr>
          <a:xfrm>
            <a:off x="0" y="6483096"/>
            <a:ext cx="12191695" cy="374904"/>
          </a:xfrm>
          <a:prstGeom prst="rect">
            <a:avLst/>
          </a:prstGeom>
          <a:solidFill>
            <a:srgbClr val="1F2426"/>
          </a:solidFill>
          <a:ln w="6350">
            <a:solidFill>
              <a:srgbClr val="1F2426"/>
            </a:solidFill>
            <a:prstDash val="solid"/>
          </a:ln>
        </p:spPr>
      </p:sp>
      <p:sp>
        <p:nvSpPr>
          <p:cNvPr id="35" name="Shape 32"/>
          <p:cNvSpPr/>
          <p:nvPr/>
        </p:nvSpPr>
        <p:spPr>
          <a:xfrm>
            <a:off x="384048" y="6547104"/>
            <a:ext cx="3547872" cy="182880"/>
          </a:xfrm>
          <a:prstGeom prst="roundRect">
            <a:avLst/>
          </a:prstGeom>
          <a:solidFill>
            <a:srgbClr val="465057"/>
          </a:solidFill>
          <a:ln w="3175">
            <a:solidFill>
              <a:srgbClr val="465057"/>
            </a:solidFill>
            <a:prstDash val="solid"/>
          </a:ln>
        </p:spPr>
      </p:sp>
      <p:sp>
        <p:nvSpPr>
          <p:cNvPr id="36" name="Text 33"/>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DDE4E1"/>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37" name="Text 34"/>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DDE4E1"/>
                </a:solidFill>
                <a:latin typeface="Aptos" pitchFamily="34" charset="0"/>
                <a:ea typeface="Aptos" pitchFamily="34" charset="-122"/>
                <a:cs typeface="Aptos" pitchFamily="34" charset="-120"/>
              </a:rPr>
              <a:t>ORAL DEFENSE  •  05 / 20</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465057"/>
          </a:solidFill>
          <a:ln w="5080">
            <a:solidFill>
              <a:srgbClr val="465057"/>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06</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SAFETY AND TRUST</a:t>
            </a:r>
            <a:endParaRPr lang="en-US" sz="810" dirty="0"/>
          </a:p>
        </p:txBody>
      </p:sp>
      <p:sp>
        <p:nvSpPr>
          <p:cNvPr id="7" name="Shape 5"/>
          <p:cNvSpPr/>
          <p:nvPr/>
        </p:nvSpPr>
        <p:spPr>
          <a:xfrm>
            <a:off x="10040112" y="274320"/>
            <a:ext cx="1673352" cy="256032"/>
          </a:xfrm>
          <a:prstGeom prst="roundRect">
            <a:avLst/>
          </a:prstGeom>
          <a:solidFill>
            <a:srgbClr val="FFFFFF"/>
          </a:solidFill>
          <a:ln w="6350">
            <a:solidFill>
              <a:srgbClr val="DDE4E1"/>
            </a:solidFill>
            <a:prstDash val="solid"/>
          </a:ln>
        </p:spPr>
      </p:sp>
      <p:sp>
        <p:nvSpPr>
          <p:cNvPr id="8" name="Text 6"/>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687373"/>
                </a:solidFill>
                <a:latin typeface="Aptos" pitchFamily="34" charset="0"/>
                <a:ea typeface="Aptos" pitchFamily="34" charset="-122"/>
                <a:cs typeface="Aptos" pitchFamily="34" charset="-120"/>
              </a:rPr>
              <a:t>06:30–08:00</a:t>
            </a:r>
            <a:endParaRPr lang="en-US" sz="720" dirty="0"/>
          </a:p>
        </p:txBody>
      </p:sp>
      <p:sp>
        <p:nvSpPr>
          <p:cNvPr id="9" name="Text 7"/>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Five guardrails we will not trade away</a:t>
            </a:r>
            <a:endParaRPr lang="en-US" sz="2550" dirty="0"/>
          </a:p>
        </p:txBody>
      </p:sp>
      <p:sp>
        <p:nvSpPr>
          <p:cNvPr id="10" name="Shape 8"/>
          <p:cNvSpPr/>
          <p:nvPr/>
        </p:nvSpPr>
        <p:spPr>
          <a:xfrm>
            <a:off x="457200" y="1188720"/>
            <a:ext cx="1137514" cy="246888"/>
          </a:xfrm>
          <a:prstGeom prst="roundRect">
            <a:avLst/>
          </a:prstGeom>
          <a:solidFill>
            <a:srgbClr val="B64A2D"/>
          </a:solidFill>
          <a:ln w="5080">
            <a:solidFill>
              <a:srgbClr val="B64A2D"/>
            </a:solidFill>
            <a:prstDash val="solid"/>
          </a:ln>
        </p:spPr>
      </p:sp>
      <p:sp>
        <p:nvSpPr>
          <p:cNvPr id="11" name="Text 9"/>
          <p:cNvSpPr/>
          <p:nvPr/>
        </p:nvSpPr>
        <p:spPr>
          <a:xfrm>
            <a:off x="576072" y="1239012"/>
            <a:ext cx="899770"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NON-NEGOTIABLE</a:t>
            </a:r>
            <a:endParaRPr lang="en-US" sz="720" dirty="0"/>
          </a:p>
        </p:txBody>
      </p:sp>
      <p:sp>
        <p:nvSpPr>
          <p:cNvPr id="12" name="Shape 10"/>
          <p:cNvSpPr/>
          <p:nvPr/>
        </p:nvSpPr>
        <p:spPr>
          <a:xfrm>
            <a:off x="457200" y="1856232"/>
            <a:ext cx="1993392" cy="3200400"/>
          </a:xfrm>
          <a:prstGeom prst="roundRect">
            <a:avLst/>
          </a:prstGeom>
          <a:solidFill>
            <a:srgbClr val="FFFFFF"/>
          </a:solidFill>
          <a:ln w="8890">
            <a:solidFill>
              <a:srgbClr val="DDE4E1"/>
            </a:solidFill>
            <a:prstDash val="solid"/>
          </a:ln>
        </p:spPr>
      </p:sp>
      <p:sp>
        <p:nvSpPr>
          <p:cNvPr id="13" name="Shape 11"/>
          <p:cNvSpPr/>
          <p:nvPr/>
        </p:nvSpPr>
        <p:spPr>
          <a:xfrm>
            <a:off x="457200" y="1856232"/>
            <a:ext cx="77724" cy="3200400"/>
          </a:xfrm>
          <a:prstGeom prst="rect">
            <a:avLst/>
          </a:prstGeom>
          <a:solidFill>
            <a:srgbClr val="B64A2D"/>
          </a:solidFill>
          <a:ln w="6350">
            <a:solidFill>
              <a:srgbClr val="B64A2D"/>
            </a:solidFill>
            <a:prstDash val="solid"/>
          </a:ln>
        </p:spPr>
      </p:sp>
      <p:sp>
        <p:nvSpPr>
          <p:cNvPr id="14" name="Shape 12"/>
          <p:cNvSpPr/>
          <p:nvPr/>
        </p:nvSpPr>
        <p:spPr>
          <a:xfrm>
            <a:off x="1078992" y="2249424"/>
            <a:ext cx="758952" cy="758952"/>
          </a:xfrm>
          <a:prstGeom prst="ellipse">
            <a:avLst/>
          </a:prstGeom>
          <a:solidFill>
            <a:srgbClr val="B64A2D"/>
          </a:solidFill>
          <a:ln w="6350">
            <a:solidFill>
              <a:srgbClr val="B64A2D"/>
            </a:solidFill>
            <a:prstDash val="solid"/>
          </a:ln>
        </p:spPr>
      </p:sp>
      <p:sp>
        <p:nvSpPr>
          <p:cNvPr id="15" name="Text 13"/>
          <p:cNvSpPr/>
          <p:nvPr/>
        </p:nvSpPr>
        <p:spPr>
          <a:xfrm>
            <a:off x="1078992" y="2514600"/>
            <a:ext cx="758952" cy="10972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Bahnschrift SemiBold" pitchFamily="34" charset="0"/>
                <a:ea typeface="Bahnschrift SemiBold" pitchFamily="34" charset="-122"/>
                <a:cs typeface="Bahnschrift SemiBold" pitchFamily="34" charset="-120"/>
              </a:rPr>
              <a:t>01</a:t>
            </a:r>
            <a:endParaRPr lang="en-US" sz="1300" dirty="0"/>
          </a:p>
        </p:txBody>
      </p:sp>
      <p:sp>
        <p:nvSpPr>
          <p:cNvPr id="16" name="Shape 14"/>
          <p:cNvSpPr/>
          <p:nvPr/>
        </p:nvSpPr>
        <p:spPr>
          <a:xfrm flipH="1">
            <a:off x="1307592" y="2139696"/>
            <a:ext cx="0" cy="164592"/>
          </a:xfrm>
          <a:prstGeom prst="line">
            <a:avLst/>
          </a:prstGeom>
          <a:noFill/>
          <a:ln w="19050">
            <a:solidFill>
              <a:srgbClr val="B64A2D"/>
            </a:solidFill>
            <a:prstDash val="solid"/>
          </a:ln>
        </p:spPr>
      </p:sp>
      <p:sp>
        <p:nvSpPr>
          <p:cNvPr id="17" name="Shape 15"/>
          <p:cNvSpPr/>
          <p:nvPr/>
        </p:nvSpPr>
        <p:spPr>
          <a:xfrm flipH="1">
            <a:off x="1618488" y="2139696"/>
            <a:ext cx="0" cy="164592"/>
          </a:xfrm>
          <a:prstGeom prst="line">
            <a:avLst/>
          </a:prstGeom>
          <a:noFill/>
          <a:ln w="19050">
            <a:solidFill>
              <a:srgbClr val="B64A2D"/>
            </a:solidFill>
            <a:prstDash val="solid"/>
          </a:ln>
        </p:spPr>
      </p:sp>
      <p:sp>
        <p:nvSpPr>
          <p:cNvPr id="18" name="Shape 16"/>
          <p:cNvSpPr/>
          <p:nvPr/>
        </p:nvSpPr>
        <p:spPr>
          <a:xfrm>
            <a:off x="1307592" y="2139696"/>
            <a:ext cx="310896" cy="0"/>
          </a:xfrm>
          <a:prstGeom prst="line">
            <a:avLst/>
          </a:prstGeom>
          <a:noFill/>
          <a:ln w="19050">
            <a:solidFill>
              <a:srgbClr val="B64A2D"/>
            </a:solidFill>
            <a:prstDash val="solid"/>
          </a:ln>
        </p:spPr>
      </p:sp>
      <p:sp>
        <p:nvSpPr>
          <p:cNvPr id="19" name="Text 17"/>
          <p:cNvSpPr/>
          <p:nvPr/>
        </p:nvSpPr>
        <p:spPr>
          <a:xfrm>
            <a:off x="649224" y="3246120"/>
            <a:ext cx="1600200" cy="411480"/>
          </a:xfrm>
          <a:prstGeom prst="rect">
            <a:avLst/>
          </a:prstGeom>
          <a:noFill/>
          <a:ln/>
        </p:spPr>
        <p:txBody>
          <a:bodyPr wrap="square" lIns="0" tIns="0" rIns="0" bIns="0" rtlCol="0" anchor="ctr">
            <a:normAutofit/>
          </a:bodyPr>
          <a:lstStyle/>
          <a:p>
            <a:pPr algn="ctr" indent="0" marL="0">
              <a:buNone/>
            </a:pPr>
            <a:r>
              <a:rPr lang="en-US" sz="1100" b="1" dirty="0">
                <a:solidFill>
                  <a:srgbClr val="202729"/>
                </a:solidFill>
                <a:latin typeface="Bahnschrift SemiBold" pitchFamily="34" charset="0"/>
                <a:ea typeface="Bahnschrift SemiBold" pitchFamily="34" charset="-122"/>
                <a:cs typeface="Bahnschrift SemiBold" pitchFamily="34" charset="-120"/>
              </a:rPr>
              <a:t>Decision support</a:t>
            </a:r>
            <a:endParaRPr lang="en-US" sz="1100" dirty="0"/>
          </a:p>
          <a:p>
            <a:pPr algn="ctr" indent="0" marL="0">
              <a:buNone/>
            </a:pPr>
            <a:r>
              <a:rPr lang="en-US" sz="1100" b="1" dirty="0">
                <a:solidFill>
                  <a:srgbClr val="202729"/>
                </a:solidFill>
                <a:latin typeface="Bahnschrift SemiBold" pitchFamily="34" charset="0"/>
                <a:ea typeface="Bahnschrift SemiBold" pitchFamily="34" charset="-122"/>
                <a:cs typeface="Bahnschrift SemiBold" pitchFamily="34" charset="-120"/>
              </a:rPr>
              <a:t>not control</a:t>
            </a:r>
            <a:endParaRPr lang="en-US" sz="1100" dirty="0"/>
          </a:p>
        </p:txBody>
      </p:sp>
      <p:sp>
        <p:nvSpPr>
          <p:cNvPr id="20" name="Text 18"/>
          <p:cNvSpPr/>
          <p:nvPr/>
        </p:nvSpPr>
        <p:spPr>
          <a:xfrm>
            <a:off x="658368" y="4087368"/>
            <a:ext cx="1572768" cy="365760"/>
          </a:xfrm>
          <a:prstGeom prst="rect">
            <a:avLst/>
          </a:prstGeom>
          <a:noFill/>
          <a:ln/>
        </p:spPr>
        <p:txBody>
          <a:bodyPr wrap="square" lIns="0" tIns="0" rIns="0" bIns="0" rtlCol="0" anchor="t">
            <a:normAutofit/>
          </a:bodyPr>
          <a:lstStyle/>
          <a:p>
            <a:pPr algn="ctr" indent="0" marL="0">
              <a:buNone/>
            </a:pPr>
            <a:r>
              <a:rPr lang="en-US" sz="820" dirty="0">
                <a:solidFill>
                  <a:srgbClr val="687373"/>
                </a:solidFill>
                <a:latin typeface="Aptos" pitchFamily="34" charset="0"/>
                <a:ea typeface="Aptos" pitchFamily="34" charset="-122"/>
                <a:cs typeface="Aptos" pitchFamily="34" charset="-120"/>
              </a:rPr>
              <a:t>No PLC, interlock, furnace, or setpoint write</a:t>
            </a:r>
            <a:endParaRPr lang="en-US" sz="820" dirty="0"/>
          </a:p>
        </p:txBody>
      </p:sp>
      <p:sp>
        <p:nvSpPr>
          <p:cNvPr id="21" name="Shape 19"/>
          <p:cNvSpPr/>
          <p:nvPr/>
        </p:nvSpPr>
        <p:spPr>
          <a:xfrm>
            <a:off x="2724912" y="1856232"/>
            <a:ext cx="1993392" cy="3200400"/>
          </a:xfrm>
          <a:prstGeom prst="roundRect">
            <a:avLst/>
          </a:prstGeom>
          <a:solidFill>
            <a:srgbClr val="FFFFFF"/>
          </a:solidFill>
          <a:ln w="8890">
            <a:solidFill>
              <a:srgbClr val="DDE4E1"/>
            </a:solidFill>
            <a:prstDash val="solid"/>
          </a:ln>
        </p:spPr>
      </p:sp>
      <p:sp>
        <p:nvSpPr>
          <p:cNvPr id="22" name="Shape 20"/>
          <p:cNvSpPr/>
          <p:nvPr/>
        </p:nvSpPr>
        <p:spPr>
          <a:xfrm>
            <a:off x="2724912" y="1856232"/>
            <a:ext cx="77724" cy="3200400"/>
          </a:xfrm>
          <a:prstGeom prst="rect">
            <a:avLst/>
          </a:prstGeom>
          <a:solidFill>
            <a:srgbClr val="E3A72F"/>
          </a:solidFill>
          <a:ln w="6350">
            <a:solidFill>
              <a:srgbClr val="E3A72F"/>
            </a:solidFill>
            <a:prstDash val="solid"/>
          </a:ln>
        </p:spPr>
      </p:sp>
      <p:sp>
        <p:nvSpPr>
          <p:cNvPr id="23" name="Shape 21"/>
          <p:cNvSpPr/>
          <p:nvPr/>
        </p:nvSpPr>
        <p:spPr>
          <a:xfrm>
            <a:off x="3346704" y="2249424"/>
            <a:ext cx="758952" cy="758952"/>
          </a:xfrm>
          <a:prstGeom prst="ellipse">
            <a:avLst/>
          </a:prstGeom>
          <a:solidFill>
            <a:srgbClr val="E3A72F"/>
          </a:solidFill>
          <a:ln w="6350">
            <a:solidFill>
              <a:srgbClr val="E3A72F"/>
            </a:solidFill>
            <a:prstDash val="solid"/>
          </a:ln>
        </p:spPr>
      </p:sp>
      <p:sp>
        <p:nvSpPr>
          <p:cNvPr id="24" name="Text 22"/>
          <p:cNvSpPr/>
          <p:nvPr/>
        </p:nvSpPr>
        <p:spPr>
          <a:xfrm>
            <a:off x="3346704" y="2514600"/>
            <a:ext cx="758952" cy="10972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Bahnschrift SemiBold" pitchFamily="34" charset="0"/>
                <a:ea typeface="Bahnschrift SemiBold" pitchFamily="34" charset="-122"/>
                <a:cs typeface="Bahnschrift SemiBold" pitchFamily="34" charset="-120"/>
              </a:rPr>
              <a:t>02</a:t>
            </a:r>
            <a:endParaRPr lang="en-US" sz="1300" dirty="0"/>
          </a:p>
        </p:txBody>
      </p:sp>
      <p:sp>
        <p:nvSpPr>
          <p:cNvPr id="25" name="Shape 23"/>
          <p:cNvSpPr/>
          <p:nvPr/>
        </p:nvSpPr>
        <p:spPr>
          <a:xfrm flipH="1">
            <a:off x="3575304" y="2139696"/>
            <a:ext cx="0" cy="164592"/>
          </a:xfrm>
          <a:prstGeom prst="line">
            <a:avLst/>
          </a:prstGeom>
          <a:noFill/>
          <a:ln w="19050">
            <a:solidFill>
              <a:srgbClr val="E3A72F"/>
            </a:solidFill>
            <a:prstDash val="solid"/>
          </a:ln>
        </p:spPr>
      </p:sp>
      <p:sp>
        <p:nvSpPr>
          <p:cNvPr id="26" name="Shape 24"/>
          <p:cNvSpPr/>
          <p:nvPr/>
        </p:nvSpPr>
        <p:spPr>
          <a:xfrm flipH="1">
            <a:off x="3886200" y="2139696"/>
            <a:ext cx="0" cy="164592"/>
          </a:xfrm>
          <a:prstGeom prst="line">
            <a:avLst/>
          </a:prstGeom>
          <a:noFill/>
          <a:ln w="19050">
            <a:solidFill>
              <a:srgbClr val="E3A72F"/>
            </a:solidFill>
            <a:prstDash val="solid"/>
          </a:ln>
        </p:spPr>
      </p:sp>
      <p:sp>
        <p:nvSpPr>
          <p:cNvPr id="27" name="Shape 25"/>
          <p:cNvSpPr/>
          <p:nvPr/>
        </p:nvSpPr>
        <p:spPr>
          <a:xfrm>
            <a:off x="3575304" y="2139696"/>
            <a:ext cx="310896" cy="0"/>
          </a:xfrm>
          <a:prstGeom prst="line">
            <a:avLst/>
          </a:prstGeom>
          <a:noFill/>
          <a:ln w="19050">
            <a:solidFill>
              <a:srgbClr val="E3A72F"/>
            </a:solidFill>
            <a:prstDash val="solid"/>
          </a:ln>
        </p:spPr>
      </p:sp>
      <p:sp>
        <p:nvSpPr>
          <p:cNvPr id="28" name="Text 26"/>
          <p:cNvSpPr/>
          <p:nvPr/>
        </p:nvSpPr>
        <p:spPr>
          <a:xfrm>
            <a:off x="2916936" y="3246120"/>
            <a:ext cx="1600200" cy="411480"/>
          </a:xfrm>
          <a:prstGeom prst="rect">
            <a:avLst/>
          </a:prstGeom>
          <a:noFill/>
          <a:ln/>
        </p:spPr>
        <p:txBody>
          <a:bodyPr wrap="square" lIns="0" tIns="0" rIns="0" bIns="0" rtlCol="0" anchor="ctr">
            <a:normAutofit/>
          </a:bodyPr>
          <a:lstStyle/>
          <a:p>
            <a:pPr algn="ctr" indent="0" marL="0">
              <a:buNone/>
            </a:pPr>
            <a:r>
              <a:rPr lang="en-US" sz="1100" b="1" dirty="0">
                <a:solidFill>
                  <a:srgbClr val="202729"/>
                </a:solidFill>
                <a:latin typeface="Bahnschrift SemiBold" pitchFamily="34" charset="0"/>
                <a:ea typeface="Bahnschrift SemiBold" pitchFamily="34" charset="-122"/>
                <a:cs typeface="Bahnschrift SemiBold" pitchFamily="34" charset="-120"/>
              </a:rPr>
              <a:t>Synthetic-only</a:t>
            </a:r>
            <a:endParaRPr lang="en-US" sz="1100" dirty="0"/>
          </a:p>
          <a:p>
            <a:pPr algn="ctr" indent="0" marL="0">
              <a:buNone/>
            </a:pPr>
            <a:r>
              <a:rPr lang="en-US" sz="1100" b="1" dirty="0">
                <a:solidFill>
                  <a:srgbClr val="202729"/>
                </a:solidFill>
                <a:latin typeface="Bahnschrift SemiBold" pitchFamily="34" charset="0"/>
                <a:ea typeface="Bahnschrift SemiBold" pitchFamily="34" charset="-122"/>
                <a:cs typeface="Bahnschrift SemiBold" pitchFamily="34" charset="-120"/>
              </a:rPr>
              <a:t>Phase 0</a:t>
            </a:r>
            <a:endParaRPr lang="en-US" sz="1100" dirty="0"/>
          </a:p>
        </p:txBody>
      </p:sp>
      <p:sp>
        <p:nvSpPr>
          <p:cNvPr id="29" name="Text 27"/>
          <p:cNvSpPr/>
          <p:nvPr/>
        </p:nvSpPr>
        <p:spPr>
          <a:xfrm>
            <a:off x="2926080" y="4087368"/>
            <a:ext cx="1572768" cy="365760"/>
          </a:xfrm>
          <a:prstGeom prst="rect">
            <a:avLst/>
          </a:prstGeom>
          <a:noFill/>
          <a:ln/>
        </p:spPr>
        <p:txBody>
          <a:bodyPr wrap="square" lIns="0" tIns="0" rIns="0" bIns="0" rtlCol="0" anchor="t">
            <a:normAutofit/>
          </a:bodyPr>
          <a:lstStyle/>
          <a:p>
            <a:pPr algn="ctr" indent="0" marL="0">
              <a:buNone/>
            </a:pPr>
            <a:r>
              <a:rPr lang="en-US" sz="820" dirty="0">
                <a:solidFill>
                  <a:srgbClr val="687373"/>
                </a:solidFill>
                <a:latin typeface="Aptos" pitchFamily="34" charset="0"/>
                <a:ea typeface="Aptos" pitchFamily="34" charset="-122"/>
                <a:cs typeface="Aptos" pitchFamily="34" charset="-120"/>
              </a:rPr>
              <a:t>Isolated NS-DEMO-* data, identities, capacity</a:t>
            </a:r>
            <a:endParaRPr lang="en-US" sz="820" dirty="0"/>
          </a:p>
        </p:txBody>
      </p:sp>
      <p:sp>
        <p:nvSpPr>
          <p:cNvPr id="30" name="Shape 28"/>
          <p:cNvSpPr/>
          <p:nvPr/>
        </p:nvSpPr>
        <p:spPr>
          <a:xfrm>
            <a:off x="4992624" y="1856232"/>
            <a:ext cx="1993392" cy="3200400"/>
          </a:xfrm>
          <a:prstGeom prst="roundRect">
            <a:avLst/>
          </a:prstGeom>
          <a:solidFill>
            <a:srgbClr val="FFFFFF"/>
          </a:solidFill>
          <a:ln w="8890">
            <a:solidFill>
              <a:srgbClr val="DDE4E1"/>
            </a:solidFill>
            <a:prstDash val="solid"/>
          </a:ln>
        </p:spPr>
      </p:sp>
      <p:sp>
        <p:nvSpPr>
          <p:cNvPr id="31" name="Shape 29"/>
          <p:cNvSpPr/>
          <p:nvPr/>
        </p:nvSpPr>
        <p:spPr>
          <a:xfrm>
            <a:off x="4992624" y="1856232"/>
            <a:ext cx="77724" cy="3200400"/>
          </a:xfrm>
          <a:prstGeom prst="rect">
            <a:avLst/>
          </a:prstGeom>
          <a:solidFill>
            <a:srgbClr val="147D74"/>
          </a:solidFill>
          <a:ln w="6350">
            <a:solidFill>
              <a:srgbClr val="147D74"/>
            </a:solidFill>
            <a:prstDash val="solid"/>
          </a:ln>
        </p:spPr>
      </p:sp>
      <p:sp>
        <p:nvSpPr>
          <p:cNvPr id="32" name="Shape 30"/>
          <p:cNvSpPr/>
          <p:nvPr/>
        </p:nvSpPr>
        <p:spPr>
          <a:xfrm>
            <a:off x="5614416" y="2249424"/>
            <a:ext cx="758952" cy="758952"/>
          </a:xfrm>
          <a:prstGeom prst="ellipse">
            <a:avLst/>
          </a:prstGeom>
          <a:solidFill>
            <a:srgbClr val="147D74"/>
          </a:solidFill>
          <a:ln w="6350">
            <a:solidFill>
              <a:srgbClr val="147D74"/>
            </a:solidFill>
            <a:prstDash val="solid"/>
          </a:ln>
        </p:spPr>
      </p:sp>
      <p:sp>
        <p:nvSpPr>
          <p:cNvPr id="33" name="Text 31"/>
          <p:cNvSpPr/>
          <p:nvPr/>
        </p:nvSpPr>
        <p:spPr>
          <a:xfrm>
            <a:off x="5614416" y="2514600"/>
            <a:ext cx="758952" cy="10972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Bahnschrift SemiBold" pitchFamily="34" charset="0"/>
                <a:ea typeface="Bahnschrift SemiBold" pitchFamily="34" charset="-122"/>
                <a:cs typeface="Bahnschrift SemiBold" pitchFamily="34" charset="-120"/>
              </a:rPr>
              <a:t>03</a:t>
            </a:r>
            <a:endParaRPr lang="en-US" sz="1300" dirty="0"/>
          </a:p>
        </p:txBody>
      </p:sp>
      <p:sp>
        <p:nvSpPr>
          <p:cNvPr id="34" name="Shape 32"/>
          <p:cNvSpPr/>
          <p:nvPr/>
        </p:nvSpPr>
        <p:spPr>
          <a:xfrm flipH="1">
            <a:off x="5843016" y="2139696"/>
            <a:ext cx="0" cy="164592"/>
          </a:xfrm>
          <a:prstGeom prst="line">
            <a:avLst/>
          </a:prstGeom>
          <a:noFill/>
          <a:ln w="19050">
            <a:solidFill>
              <a:srgbClr val="147D74"/>
            </a:solidFill>
            <a:prstDash val="solid"/>
          </a:ln>
        </p:spPr>
      </p:sp>
      <p:sp>
        <p:nvSpPr>
          <p:cNvPr id="35" name="Shape 33"/>
          <p:cNvSpPr/>
          <p:nvPr/>
        </p:nvSpPr>
        <p:spPr>
          <a:xfrm flipH="1">
            <a:off x="6153912" y="2139696"/>
            <a:ext cx="0" cy="164592"/>
          </a:xfrm>
          <a:prstGeom prst="line">
            <a:avLst/>
          </a:prstGeom>
          <a:noFill/>
          <a:ln w="19050">
            <a:solidFill>
              <a:srgbClr val="147D74"/>
            </a:solidFill>
            <a:prstDash val="solid"/>
          </a:ln>
        </p:spPr>
      </p:sp>
      <p:sp>
        <p:nvSpPr>
          <p:cNvPr id="36" name="Shape 34"/>
          <p:cNvSpPr/>
          <p:nvPr/>
        </p:nvSpPr>
        <p:spPr>
          <a:xfrm>
            <a:off x="5843016" y="2139696"/>
            <a:ext cx="310896" cy="0"/>
          </a:xfrm>
          <a:prstGeom prst="line">
            <a:avLst/>
          </a:prstGeom>
          <a:noFill/>
          <a:ln w="19050">
            <a:solidFill>
              <a:srgbClr val="147D74"/>
            </a:solidFill>
            <a:prstDash val="solid"/>
          </a:ln>
        </p:spPr>
      </p:sp>
      <p:sp>
        <p:nvSpPr>
          <p:cNvPr id="37" name="Text 35"/>
          <p:cNvSpPr/>
          <p:nvPr/>
        </p:nvSpPr>
        <p:spPr>
          <a:xfrm>
            <a:off x="5184648" y="3246120"/>
            <a:ext cx="1600200" cy="411480"/>
          </a:xfrm>
          <a:prstGeom prst="rect">
            <a:avLst/>
          </a:prstGeom>
          <a:noFill/>
          <a:ln/>
        </p:spPr>
        <p:txBody>
          <a:bodyPr wrap="square" lIns="0" tIns="0" rIns="0" bIns="0" rtlCol="0" anchor="ctr">
            <a:normAutofit/>
          </a:bodyPr>
          <a:lstStyle/>
          <a:p>
            <a:pPr algn="ctr" indent="0" marL="0">
              <a:buNone/>
            </a:pPr>
            <a:r>
              <a:rPr lang="en-US" sz="1100" b="1" dirty="0">
                <a:solidFill>
                  <a:srgbClr val="202729"/>
                </a:solidFill>
                <a:latin typeface="Bahnschrift SemiBold" pitchFamily="34" charset="0"/>
                <a:ea typeface="Bahnschrift SemiBold" pitchFamily="34" charset="-122"/>
                <a:cs typeface="Bahnschrift SemiBold" pitchFamily="34" charset="-120"/>
              </a:rPr>
              <a:t>EU-only</a:t>
            </a:r>
            <a:endParaRPr lang="en-US" sz="1100" dirty="0"/>
          </a:p>
          <a:p>
            <a:pPr algn="ctr" indent="0" marL="0">
              <a:buNone/>
            </a:pPr>
            <a:r>
              <a:rPr lang="en-US" sz="1100" b="1" dirty="0">
                <a:solidFill>
                  <a:srgbClr val="202729"/>
                </a:solidFill>
                <a:latin typeface="Bahnschrift SemiBold" pitchFamily="34" charset="0"/>
                <a:ea typeface="Bahnschrift SemiBold" pitchFamily="34" charset="-122"/>
                <a:cs typeface="Bahnschrift SemiBold" pitchFamily="34" charset="-120"/>
              </a:rPr>
              <a:t>posture</a:t>
            </a:r>
            <a:endParaRPr lang="en-US" sz="1100" dirty="0"/>
          </a:p>
        </p:txBody>
      </p:sp>
      <p:sp>
        <p:nvSpPr>
          <p:cNvPr id="38" name="Text 36"/>
          <p:cNvSpPr/>
          <p:nvPr/>
        </p:nvSpPr>
        <p:spPr>
          <a:xfrm>
            <a:off x="5193792" y="4087368"/>
            <a:ext cx="1572768" cy="365760"/>
          </a:xfrm>
          <a:prstGeom prst="rect">
            <a:avLst/>
          </a:prstGeom>
          <a:noFill/>
          <a:ln/>
        </p:spPr>
        <p:txBody>
          <a:bodyPr wrap="square" lIns="0" tIns="0" rIns="0" bIns="0" rtlCol="0" anchor="t">
            <a:normAutofit/>
          </a:bodyPr>
          <a:lstStyle/>
          <a:p>
            <a:pPr algn="ctr" indent="0" marL="0">
              <a:buNone/>
            </a:pPr>
            <a:r>
              <a:rPr lang="en-US" sz="820" dirty="0">
                <a:solidFill>
                  <a:srgbClr val="687373"/>
                </a:solidFill>
                <a:latin typeface="Aptos" pitchFamily="34" charset="0"/>
                <a:ea typeface="Aptos" pitchFamily="34" charset="-122"/>
                <a:cs typeface="Aptos" pitchFamily="34" charset="-120"/>
              </a:rPr>
              <a:t>Sweden Central primary; Data Zone (EU)</a:t>
            </a:r>
            <a:endParaRPr lang="en-US" sz="820" dirty="0"/>
          </a:p>
        </p:txBody>
      </p:sp>
      <p:sp>
        <p:nvSpPr>
          <p:cNvPr id="39" name="Shape 37"/>
          <p:cNvSpPr/>
          <p:nvPr/>
        </p:nvSpPr>
        <p:spPr>
          <a:xfrm>
            <a:off x="7260336" y="1856232"/>
            <a:ext cx="1993392" cy="3200400"/>
          </a:xfrm>
          <a:prstGeom prst="roundRect">
            <a:avLst/>
          </a:prstGeom>
          <a:solidFill>
            <a:srgbClr val="FFFFFF"/>
          </a:solidFill>
          <a:ln w="8890">
            <a:solidFill>
              <a:srgbClr val="DDE4E1"/>
            </a:solidFill>
            <a:prstDash val="solid"/>
          </a:ln>
        </p:spPr>
      </p:sp>
      <p:sp>
        <p:nvSpPr>
          <p:cNvPr id="40" name="Shape 38"/>
          <p:cNvSpPr/>
          <p:nvPr/>
        </p:nvSpPr>
        <p:spPr>
          <a:xfrm>
            <a:off x="7260336" y="1856232"/>
            <a:ext cx="77724" cy="3200400"/>
          </a:xfrm>
          <a:prstGeom prst="rect">
            <a:avLst/>
          </a:prstGeom>
          <a:solidFill>
            <a:srgbClr val="6D9A6F"/>
          </a:solidFill>
          <a:ln w="6350">
            <a:solidFill>
              <a:srgbClr val="6D9A6F"/>
            </a:solidFill>
            <a:prstDash val="solid"/>
          </a:ln>
        </p:spPr>
      </p:sp>
      <p:sp>
        <p:nvSpPr>
          <p:cNvPr id="41" name="Shape 39"/>
          <p:cNvSpPr/>
          <p:nvPr/>
        </p:nvSpPr>
        <p:spPr>
          <a:xfrm>
            <a:off x="7882128" y="2249424"/>
            <a:ext cx="758952" cy="758952"/>
          </a:xfrm>
          <a:prstGeom prst="ellipse">
            <a:avLst/>
          </a:prstGeom>
          <a:solidFill>
            <a:srgbClr val="6D9A6F"/>
          </a:solidFill>
          <a:ln w="6350">
            <a:solidFill>
              <a:srgbClr val="6D9A6F"/>
            </a:solidFill>
            <a:prstDash val="solid"/>
          </a:ln>
        </p:spPr>
      </p:sp>
      <p:sp>
        <p:nvSpPr>
          <p:cNvPr id="42" name="Text 40"/>
          <p:cNvSpPr/>
          <p:nvPr/>
        </p:nvSpPr>
        <p:spPr>
          <a:xfrm>
            <a:off x="7882128" y="2514600"/>
            <a:ext cx="758952" cy="10972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Bahnschrift SemiBold" pitchFamily="34" charset="0"/>
                <a:ea typeface="Bahnschrift SemiBold" pitchFamily="34" charset="-122"/>
                <a:cs typeface="Bahnschrift SemiBold" pitchFamily="34" charset="-120"/>
              </a:rPr>
              <a:t>04</a:t>
            </a:r>
            <a:endParaRPr lang="en-US" sz="1300" dirty="0"/>
          </a:p>
        </p:txBody>
      </p:sp>
      <p:sp>
        <p:nvSpPr>
          <p:cNvPr id="43" name="Shape 41"/>
          <p:cNvSpPr/>
          <p:nvPr/>
        </p:nvSpPr>
        <p:spPr>
          <a:xfrm flipH="1">
            <a:off x="8110728" y="2139696"/>
            <a:ext cx="0" cy="164592"/>
          </a:xfrm>
          <a:prstGeom prst="line">
            <a:avLst/>
          </a:prstGeom>
          <a:noFill/>
          <a:ln w="19050">
            <a:solidFill>
              <a:srgbClr val="6D9A6F"/>
            </a:solidFill>
            <a:prstDash val="solid"/>
          </a:ln>
        </p:spPr>
      </p:sp>
      <p:sp>
        <p:nvSpPr>
          <p:cNvPr id="44" name="Shape 42"/>
          <p:cNvSpPr/>
          <p:nvPr/>
        </p:nvSpPr>
        <p:spPr>
          <a:xfrm flipH="1">
            <a:off x="8421624" y="2139696"/>
            <a:ext cx="0" cy="164592"/>
          </a:xfrm>
          <a:prstGeom prst="line">
            <a:avLst/>
          </a:prstGeom>
          <a:noFill/>
          <a:ln w="19050">
            <a:solidFill>
              <a:srgbClr val="6D9A6F"/>
            </a:solidFill>
            <a:prstDash val="solid"/>
          </a:ln>
        </p:spPr>
      </p:sp>
      <p:sp>
        <p:nvSpPr>
          <p:cNvPr id="45" name="Shape 43"/>
          <p:cNvSpPr/>
          <p:nvPr/>
        </p:nvSpPr>
        <p:spPr>
          <a:xfrm>
            <a:off x="8110728" y="2139696"/>
            <a:ext cx="310896" cy="0"/>
          </a:xfrm>
          <a:prstGeom prst="line">
            <a:avLst/>
          </a:prstGeom>
          <a:noFill/>
          <a:ln w="19050">
            <a:solidFill>
              <a:srgbClr val="6D9A6F"/>
            </a:solidFill>
            <a:prstDash val="solid"/>
          </a:ln>
        </p:spPr>
      </p:sp>
      <p:sp>
        <p:nvSpPr>
          <p:cNvPr id="46" name="Text 44"/>
          <p:cNvSpPr/>
          <p:nvPr/>
        </p:nvSpPr>
        <p:spPr>
          <a:xfrm>
            <a:off x="7452360" y="3246120"/>
            <a:ext cx="1600200" cy="411480"/>
          </a:xfrm>
          <a:prstGeom prst="rect">
            <a:avLst/>
          </a:prstGeom>
          <a:noFill/>
          <a:ln/>
        </p:spPr>
        <p:txBody>
          <a:bodyPr wrap="square" lIns="0" tIns="0" rIns="0" bIns="0" rtlCol="0" anchor="ctr">
            <a:normAutofit/>
          </a:bodyPr>
          <a:lstStyle/>
          <a:p>
            <a:pPr algn="ctr" indent="0" marL="0">
              <a:buNone/>
            </a:pPr>
            <a:r>
              <a:rPr lang="en-US" sz="1100" b="1" dirty="0">
                <a:solidFill>
                  <a:srgbClr val="202729"/>
                </a:solidFill>
                <a:latin typeface="Bahnschrift SemiBold" pitchFamily="34" charset="0"/>
                <a:ea typeface="Bahnschrift SemiBold" pitchFamily="34" charset="-122"/>
                <a:cs typeface="Bahnschrift SemiBold" pitchFamily="34" charset="-120"/>
              </a:rPr>
              <a:t>Append-only</a:t>
            </a:r>
            <a:endParaRPr lang="en-US" sz="1100" dirty="0"/>
          </a:p>
          <a:p>
            <a:pPr algn="ctr" indent="0" marL="0">
              <a:buNone/>
            </a:pPr>
            <a:r>
              <a:rPr lang="en-US" sz="1100" b="1" dirty="0">
                <a:solidFill>
                  <a:srgbClr val="202729"/>
                </a:solidFill>
                <a:latin typeface="Bahnschrift SemiBold" pitchFamily="34" charset="0"/>
                <a:ea typeface="Bahnschrift SemiBold" pitchFamily="34" charset="-122"/>
                <a:cs typeface="Bahnschrift SemiBold" pitchFamily="34" charset="-120"/>
              </a:rPr>
              <a:t>audit</a:t>
            </a:r>
            <a:endParaRPr lang="en-US" sz="1100" dirty="0"/>
          </a:p>
        </p:txBody>
      </p:sp>
      <p:sp>
        <p:nvSpPr>
          <p:cNvPr id="47" name="Text 45"/>
          <p:cNvSpPr/>
          <p:nvPr/>
        </p:nvSpPr>
        <p:spPr>
          <a:xfrm>
            <a:off x="7461504" y="4087368"/>
            <a:ext cx="1572768" cy="365760"/>
          </a:xfrm>
          <a:prstGeom prst="rect">
            <a:avLst/>
          </a:prstGeom>
          <a:noFill/>
          <a:ln/>
        </p:spPr>
        <p:txBody>
          <a:bodyPr wrap="square" lIns="0" tIns="0" rIns="0" bIns="0" rtlCol="0" anchor="t">
            <a:normAutofit/>
          </a:bodyPr>
          <a:lstStyle/>
          <a:p>
            <a:pPr algn="ctr" indent="0" marL="0">
              <a:buNone/>
            </a:pPr>
            <a:r>
              <a:rPr lang="en-US" sz="820" dirty="0">
                <a:solidFill>
                  <a:srgbClr val="687373"/>
                </a:solidFill>
                <a:latin typeface="Aptos" pitchFamily="34" charset="0"/>
                <a:ea typeface="Aptos" pitchFamily="34" charset="-122"/>
                <a:cs typeface="Aptos" pitchFamily="34" charset="-120"/>
              </a:rPr>
              <a:t>Inputs, version, confidence, decision, outcome</a:t>
            </a:r>
            <a:endParaRPr lang="en-US" sz="820" dirty="0"/>
          </a:p>
        </p:txBody>
      </p:sp>
      <p:sp>
        <p:nvSpPr>
          <p:cNvPr id="48" name="Shape 46"/>
          <p:cNvSpPr/>
          <p:nvPr/>
        </p:nvSpPr>
        <p:spPr>
          <a:xfrm>
            <a:off x="9528048" y="1856232"/>
            <a:ext cx="1993392" cy="3200400"/>
          </a:xfrm>
          <a:prstGeom prst="roundRect">
            <a:avLst/>
          </a:prstGeom>
          <a:solidFill>
            <a:srgbClr val="FFFFFF"/>
          </a:solidFill>
          <a:ln w="8890">
            <a:solidFill>
              <a:srgbClr val="DDE4E1"/>
            </a:solidFill>
            <a:prstDash val="solid"/>
          </a:ln>
        </p:spPr>
      </p:sp>
      <p:sp>
        <p:nvSpPr>
          <p:cNvPr id="49" name="Shape 47"/>
          <p:cNvSpPr/>
          <p:nvPr/>
        </p:nvSpPr>
        <p:spPr>
          <a:xfrm>
            <a:off x="9528048" y="1856232"/>
            <a:ext cx="77724" cy="3200400"/>
          </a:xfrm>
          <a:prstGeom prst="rect">
            <a:avLst/>
          </a:prstGeom>
          <a:solidFill>
            <a:srgbClr val="465057"/>
          </a:solidFill>
          <a:ln w="6350">
            <a:solidFill>
              <a:srgbClr val="465057"/>
            </a:solidFill>
            <a:prstDash val="solid"/>
          </a:ln>
        </p:spPr>
      </p:sp>
      <p:sp>
        <p:nvSpPr>
          <p:cNvPr id="50" name="Shape 48"/>
          <p:cNvSpPr/>
          <p:nvPr/>
        </p:nvSpPr>
        <p:spPr>
          <a:xfrm>
            <a:off x="10149840" y="2249424"/>
            <a:ext cx="758952" cy="758952"/>
          </a:xfrm>
          <a:prstGeom prst="ellipse">
            <a:avLst/>
          </a:prstGeom>
          <a:solidFill>
            <a:srgbClr val="465057"/>
          </a:solidFill>
          <a:ln w="6350">
            <a:solidFill>
              <a:srgbClr val="465057"/>
            </a:solidFill>
            <a:prstDash val="solid"/>
          </a:ln>
        </p:spPr>
      </p:sp>
      <p:sp>
        <p:nvSpPr>
          <p:cNvPr id="51" name="Text 49"/>
          <p:cNvSpPr/>
          <p:nvPr/>
        </p:nvSpPr>
        <p:spPr>
          <a:xfrm>
            <a:off x="10149840" y="2514600"/>
            <a:ext cx="758952" cy="10972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Bahnschrift SemiBold" pitchFamily="34" charset="0"/>
                <a:ea typeface="Bahnschrift SemiBold" pitchFamily="34" charset="-122"/>
                <a:cs typeface="Bahnschrift SemiBold" pitchFamily="34" charset="-120"/>
              </a:rPr>
              <a:t>05</a:t>
            </a:r>
            <a:endParaRPr lang="en-US" sz="1300" dirty="0"/>
          </a:p>
        </p:txBody>
      </p:sp>
      <p:sp>
        <p:nvSpPr>
          <p:cNvPr id="52" name="Shape 50"/>
          <p:cNvSpPr/>
          <p:nvPr/>
        </p:nvSpPr>
        <p:spPr>
          <a:xfrm flipH="1">
            <a:off x="10378440" y="2139696"/>
            <a:ext cx="0" cy="164592"/>
          </a:xfrm>
          <a:prstGeom prst="line">
            <a:avLst/>
          </a:prstGeom>
          <a:noFill/>
          <a:ln w="19050">
            <a:solidFill>
              <a:srgbClr val="465057"/>
            </a:solidFill>
            <a:prstDash val="solid"/>
          </a:ln>
        </p:spPr>
      </p:sp>
      <p:sp>
        <p:nvSpPr>
          <p:cNvPr id="53" name="Shape 51"/>
          <p:cNvSpPr/>
          <p:nvPr/>
        </p:nvSpPr>
        <p:spPr>
          <a:xfrm flipH="1">
            <a:off x="10689336" y="2139696"/>
            <a:ext cx="0" cy="164592"/>
          </a:xfrm>
          <a:prstGeom prst="line">
            <a:avLst/>
          </a:prstGeom>
          <a:noFill/>
          <a:ln w="19050">
            <a:solidFill>
              <a:srgbClr val="465057"/>
            </a:solidFill>
            <a:prstDash val="solid"/>
          </a:ln>
        </p:spPr>
      </p:sp>
      <p:sp>
        <p:nvSpPr>
          <p:cNvPr id="54" name="Shape 52"/>
          <p:cNvSpPr/>
          <p:nvPr/>
        </p:nvSpPr>
        <p:spPr>
          <a:xfrm>
            <a:off x="10378440" y="2139696"/>
            <a:ext cx="310896" cy="0"/>
          </a:xfrm>
          <a:prstGeom prst="line">
            <a:avLst/>
          </a:prstGeom>
          <a:noFill/>
          <a:ln w="19050">
            <a:solidFill>
              <a:srgbClr val="465057"/>
            </a:solidFill>
            <a:prstDash val="solid"/>
          </a:ln>
        </p:spPr>
      </p:sp>
      <p:sp>
        <p:nvSpPr>
          <p:cNvPr id="55" name="Text 53"/>
          <p:cNvSpPr/>
          <p:nvPr/>
        </p:nvSpPr>
        <p:spPr>
          <a:xfrm>
            <a:off x="9720072" y="3246120"/>
            <a:ext cx="1600200" cy="411480"/>
          </a:xfrm>
          <a:prstGeom prst="rect">
            <a:avLst/>
          </a:prstGeom>
          <a:noFill/>
          <a:ln/>
        </p:spPr>
        <p:txBody>
          <a:bodyPr wrap="square" lIns="0" tIns="0" rIns="0" bIns="0" rtlCol="0" anchor="ctr">
            <a:normAutofit/>
          </a:bodyPr>
          <a:lstStyle/>
          <a:p>
            <a:pPr algn="ctr" indent="0" marL="0">
              <a:buNone/>
            </a:pPr>
            <a:r>
              <a:rPr lang="en-US" sz="1100" b="1" dirty="0">
                <a:solidFill>
                  <a:srgbClr val="202729"/>
                </a:solidFill>
                <a:latin typeface="Bahnschrift SemiBold" pitchFamily="34" charset="0"/>
                <a:ea typeface="Bahnschrift SemiBold" pitchFamily="34" charset="-122"/>
                <a:cs typeface="Bahnschrift SemiBold" pitchFamily="34" charset="-120"/>
              </a:rPr>
              <a:t>No standing</a:t>
            </a:r>
            <a:endParaRPr lang="en-US" sz="1100" dirty="0"/>
          </a:p>
          <a:p>
            <a:pPr algn="ctr" indent="0" marL="0">
              <a:buNone/>
            </a:pPr>
            <a:r>
              <a:rPr lang="en-US" sz="1100" b="1" dirty="0">
                <a:solidFill>
                  <a:srgbClr val="202729"/>
                </a:solidFill>
                <a:latin typeface="Bahnschrift SemiBold" pitchFamily="34" charset="0"/>
                <a:ea typeface="Bahnschrift SemiBold" pitchFamily="34" charset="-122"/>
                <a:cs typeface="Bahnschrift SemiBold" pitchFamily="34" charset="-120"/>
              </a:rPr>
              <a:t>secrets</a:t>
            </a:r>
            <a:endParaRPr lang="en-US" sz="1100" dirty="0"/>
          </a:p>
        </p:txBody>
      </p:sp>
      <p:sp>
        <p:nvSpPr>
          <p:cNvPr id="56" name="Text 54"/>
          <p:cNvSpPr/>
          <p:nvPr/>
        </p:nvSpPr>
        <p:spPr>
          <a:xfrm>
            <a:off x="9729216" y="4087368"/>
            <a:ext cx="1572768" cy="365760"/>
          </a:xfrm>
          <a:prstGeom prst="rect">
            <a:avLst/>
          </a:prstGeom>
          <a:noFill/>
          <a:ln/>
        </p:spPr>
        <p:txBody>
          <a:bodyPr wrap="square" lIns="0" tIns="0" rIns="0" bIns="0" rtlCol="0" anchor="t">
            <a:normAutofit/>
          </a:bodyPr>
          <a:lstStyle/>
          <a:p>
            <a:pPr algn="ctr" indent="0" marL="0">
              <a:buNone/>
            </a:pPr>
            <a:r>
              <a:rPr lang="en-US" sz="820" dirty="0">
                <a:solidFill>
                  <a:srgbClr val="687373"/>
                </a:solidFill>
                <a:latin typeface="Aptos" pitchFamily="34" charset="0"/>
                <a:ea typeface="Aptos" pitchFamily="34" charset="-122"/>
                <a:cs typeface="Aptos" pitchFamily="34" charset="-120"/>
              </a:rPr>
              <a:t>Entra managed identities by workload</a:t>
            </a:r>
            <a:endParaRPr lang="en-US" sz="820" dirty="0"/>
          </a:p>
        </p:txBody>
      </p:sp>
      <p:sp>
        <p:nvSpPr>
          <p:cNvPr id="57" name="Shape 55"/>
          <p:cNvSpPr/>
          <p:nvPr/>
        </p:nvSpPr>
        <p:spPr>
          <a:xfrm>
            <a:off x="457200" y="5532120"/>
            <a:ext cx="11018520" cy="420624"/>
          </a:xfrm>
          <a:prstGeom prst="roundRect">
            <a:avLst/>
          </a:prstGeom>
          <a:solidFill>
            <a:srgbClr val="1F2426"/>
          </a:solidFill>
          <a:ln w="6350">
            <a:solidFill>
              <a:srgbClr val="1F2426"/>
            </a:solidFill>
            <a:prstDash val="solid"/>
          </a:ln>
        </p:spPr>
      </p:sp>
      <p:sp>
        <p:nvSpPr>
          <p:cNvPr id="58" name="Text 56"/>
          <p:cNvSpPr/>
          <p:nvPr/>
        </p:nvSpPr>
        <p:spPr>
          <a:xfrm>
            <a:off x="685800" y="5669280"/>
            <a:ext cx="10561320" cy="10972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If a proposed feature weakens any one of these, it is outside the Phase 0 contract.</a:t>
            </a:r>
            <a:endParaRPr lang="en-US" sz="1000" dirty="0"/>
          </a:p>
        </p:txBody>
      </p:sp>
      <p:sp>
        <p:nvSpPr>
          <p:cNvPr id="59" name="Text 57"/>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Source cue | solution-architecture.md §1.1, ADR-007/008  •  security-governance-and-threat-model.md</a:t>
            </a:r>
            <a:endParaRPr lang="en-US" sz="660" dirty="0"/>
          </a:p>
        </p:txBody>
      </p:sp>
      <p:sp>
        <p:nvSpPr>
          <p:cNvPr id="60" name="Shape 58"/>
          <p:cNvSpPr/>
          <p:nvPr/>
        </p:nvSpPr>
        <p:spPr>
          <a:xfrm>
            <a:off x="0" y="6483096"/>
            <a:ext cx="12191695" cy="374904"/>
          </a:xfrm>
          <a:prstGeom prst="rect">
            <a:avLst/>
          </a:prstGeom>
          <a:solidFill>
            <a:srgbClr val="E9E7E1"/>
          </a:solidFill>
          <a:ln w="6350">
            <a:solidFill>
              <a:srgbClr val="E9E7E1"/>
            </a:solidFill>
            <a:prstDash val="solid"/>
          </a:ln>
        </p:spPr>
      </p:sp>
      <p:sp>
        <p:nvSpPr>
          <p:cNvPr id="61" name="Shape 59"/>
          <p:cNvSpPr/>
          <p:nvPr/>
        </p:nvSpPr>
        <p:spPr>
          <a:xfrm>
            <a:off x="384048" y="6547104"/>
            <a:ext cx="3547872" cy="182880"/>
          </a:xfrm>
          <a:prstGeom prst="roundRect">
            <a:avLst/>
          </a:prstGeom>
          <a:solidFill>
            <a:srgbClr val="FFFFFF"/>
          </a:solidFill>
          <a:ln w="3175">
            <a:solidFill>
              <a:srgbClr val="DDE4E1"/>
            </a:solidFill>
            <a:prstDash val="solid"/>
          </a:ln>
        </p:spPr>
      </p:sp>
      <p:sp>
        <p:nvSpPr>
          <p:cNvPr id="62" name="Text 60"/>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63" name="Text 61"/>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ORAL DEFENSE  •  06 / 20</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465057"/>
          </a:solidFill>
          <a:ln w="5080">
            <a:solidFill>
              <a:srgbClr val="465057"/>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07</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VALUE BY ROLE</a:t>
            </a:r>
            <a:endParaRPr lang="en-US" sz="810" dirty="0"/>
          </a:p>
        </p:txBody>
      </p:sp>
      <p:sp>
        <p:nvSpPr>
          <p:cNvPr id="7" name="Shape 5"/>
          <p:cNvSpPr/>
          <p:nvPr/>
        </p:nvSpPr>
        <p:spPr>
          <a:xfrm>
            <a:off x="10040112" y="274320"/>
            <a:ext cx="1673352" cy="256032"/>
          </a:xfrm>
          <a:prstGeom prst="roundRect">
            <a:avLst/>
          </a:prstGeom>
          <a:solidFill>
            <a:srgbClr val="FFFFFF"/>
          </a:solidFill>
          <a:ln w="6350">
            <a:solidFill>
              <a:srgbClr val="DDE4E1"/>
            </a:solidFill>
            <a:prstDash val="solid"/>
          </a:ln>
        </p:spPr>
      </p:sp>
      <p:sp>
        <p:nvSpPr>
          <p:cNvPr id="8" name="Text 6"/>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687373"/>
                </a:solidFill>
                <a:latin typeface="Aptos" pitchFamily="34" charset="0"/>
                <a:ea typeface="Aptos" pitchFamily="34" charset="-122"/>
                <a:cs typeface="Aptos" pitchFamily="34" charset="-120"/>
              </a:rPr>
              <a:t>08:00–09:30</a:t>
            </a:r>
            <a:endParaRPr lang="en-US" sz="720" dirty="0"/>
          </a:p>
        </p:txBody>
      </p:sp>
      <p:sp>
        <p:nvSpPr>
          <p:cNvPr id="9" name="Text 7"/>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Eight personas, one operating story</a:t>
            </a:r>
            <a:endParaRPr lang="en-US" sz="2550" dirty="0"/>
          </a:p>
        </p:txBody>
      </p:sp>
      <p:sp>
        <p:nvSpPr>
          <p:cNvPr id="10" name="Shape 8"/>
          <p:cNvSpPr/>
          <p:nvPr/>
        </p:nvSpPr>
        <p:spPr>
          <a:xfrm>
            <a:off x="457200" y="1188720"/>
            <a:ext cx="1258214" cy="246888"/>
          </a:xfrm>
          <a:prstGeom prst="roundRect">
            <a:avLst/>
          </a:prstGeom>
          <a:solidFill>
            <a:srgbClr val="465057"/>
          </a:solidFill>
          <a:ln w="5080">
            <a:solidFill>
              <a:srgbClr val="465057"/>
            </a:solidFill>
            <a:prstDash val="solid"/>
          </a:ln>
        </p:spPr>
      </p:sp>
      <p:sp>
        <p:nvSpPr>
          <p:cNvPr id="11" name="Text 9"/>
          <p:cNvSpPr/>
          <p:nvPr/>
        </p:nvSpPr>
        <p:spPr>
          <a:xfrm>
            <a:off x="576072" y="1239012"/>
            <a:ext cx="1020470"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PERSONA JOURNEYS</a:t>
            </a:r>
            <a:endParaRPr lang="en-US" sz="720" dirty="0"/>
          </a:p>
        </p:txBody>
      </p:sp>
      <p:sp>
        <p:nvSpPr>
          <p:cNvPr id="12" name="Shape 10"/>
          <p:cNvSpPr/>
          <p:nvPr/>
        </p:nvSpPr>
        <p:spPr>
          <a:xfrm>
            <a:off x="457200" y="1828800"/>
            <a:ext cx="2487168" cy="877824"/>
          </a:xfrm>
          <a:prstGeom prst="roundRect">
            <a:avLst/>
          </a:prstGeom>
          <a:solidFill>
            <a:srgbClr val="FFFFFF"/>
          </a:solidFill>
          <a:ln w="8890">
            <a:solidFill>
              <a:srgbClr val="DDE4E1"/>
            </a:solidFill>
            <a:prstDash val="solid"/>
          </a:ln>
        </p:spPr>
      </p:sp>
      <p:sp>
        <p:nvSpPr>
          <p:cNvPr id="13" name="Shape 11"/>
          <p:cNvSpPr/>
          <p:nvPr/>
        </p:nvSpPr>
        <p:spPr>
          <a:xfrm>
            <a:off x="457200" y="1828800"/>
            <a:ext cx="77724" cy="877824"/>
          </a:xfrm>
          <a:prstGeom prst="rect">
            <a:avLst/>
          </a:prstGeom>
          <a:solidFill>
            <a:srgbClr val="B64A2D"/>
          </a:solidFill>
          <a:ln w="6350">
            <a:solidFill>
              <a:srgbClr val="B64A2D"/>
            </a:solidFill>
            <a:prstDash val="solid"/>
          </a:ln>
        </p:spPr>
      </p:sp>
      <p:sp>
        <p:nvSpPr>
          <p:cNvPr id="14" name="Shape 12"/>
          <p:cNvSpPr/>
          <p:nvPr/>
        </p:nvSpPr>
        <p:spPr>
          <a:xfrm>
            <a:off x="621792" y="2011680"/>
            <a:ext cx="429768" cy="429768"/>
          </a:xfrm>
          <a:prstGeom prst="ellipse">
            <a:avLst/>
          </a:prstGeom>
          <a:solidFill>
            <a:srgbClr val="B64A2D"/>
          </a:solidFill>
          <a:ln w="6350">
            <a:solidFill>
              <a:srgbClr val="B64A2D"/>
            </a:solidFill>
            <a:prstDash val="solid"/>
          </a:ln>
        </p:spPr>
      </p:sp>
      <p:sp>
        <p:nvSpPr>
          <p:cNvPr id="15" name="Text 13"/>
          <p:cNvSpPr/>
          <p:nvPr/>
        </p:nvSpPr>
        <p:spPr>
          <a:xfrm>
            <a:off x="621792" y="2116836"/>
            <a:ext cx="429768" cy="91440"/>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PM</a:t>
            </a:r>
            <a:endParaRPr lang="en-US" sz="800" dirty="0"/>
          </a:p>
        </p:txBody>
      </p:sp>
      <p:sp>
        <p:nvSpPr>
          <p:cNvPr id="16" name="Text 14"/>
          <p:cNvSpPr/>
          <p:nvPr/>
        </p:nvSpPr>
        <p:spPr>
          <a:xfrm>
            <a:off x="1170432" y="1993392"/>
            <a:ext cx="1645920" cy="164592"/>
          </a:xfrm>
          <a:prstGeom prst="rect">
            <a:avLst/>
          </a:prstGeom>
          <a:noFill/>
          <a:ln/>
        </p:spPr>
        <p:txBody>
          <a:bodyPr wrap="square" lIns="0" tIns="0" rIns="0" bIns="0" rtlCol="0" anchor="ctr">
            <a:normAutofit/>
          </a:bodyPr>
          <a:lstStyle/>
          <a:p>
            <a:pPr algn="l" indent="0" marL="0">
              <a:buNone/>
            </a:pPr>
            <a:r>
              <a:rPr lang="en-US" sz="860" b="1" dirty="0">
                <a:solidFill>
                  <a:srgbClr val="202729"/>
                </a:solidFill>
                <a:latin typeface="Aptos" pitchFamily="34" charset="0"/>
                <a:ea typeface="Aptos" pitchFamily="34" charset="-122"/>
                <a:cs typeface="Aptos" pitchFamily="34" charset="-120"/>
              </a:rPr>
              <a:t>Plant Manager</a:t>
            </a:r>
            <a:endParaRPr lang="en-US" sz="860" dirty="0"/>
          </a:p>
        </p:txBody>
      </p:sp>
      <p:sp>
        <p:nvSpPr>
          <p:cNvPr id="17" name="Text 15"/>
          <p:cNvSpPr/>
          <p:nvPr/>
        </p:nvSpPr>
        <p:spPr>
          <a:xfrm>
            <a:off x="1170432" y="2240280"/>
            <a:ext cx="1645920" cy="201168"/>
          </a:xfrm>
          <a:prstGeom prst="rect">
            <a:avLst/>
          </a:prstGeom>
          <a:noFill/>
          <a:ln/>
        </p:spPr>
        <p:txBody>
          <a:bodyPr wrap="square" lIns="0" tIns="0" rIns="0" bIns="0" rtlCol="0" anchor="ctr">
            <a:normAutofit/>
          </a:bodyPr>
          <a:lstStyle/>
          <a:p>
            <a:pPr algn="l" indent="0" marL="0">
              <a:buNone/>
            </a:pPr>
            <a:r>
              <a:rPr lang="en-US" sz="740" dirty="0">
                <a:solidFill>
                  <a:srgbClr val="687373"/>
                </a:solidFill>
                <a:latin typeface="Aptos" pitchFamily="34" charset="0"/>
                <a:ea typeface="Aptos" pitchFamily="34" charset="-122"/>
                <a:cs typeface="Aptos" pitchFamily="34" charset="-120"/>
              </a:rPr>
              <a:t>Site Command Center</a:t>
            </a:r>
            <a:endParaRPr lang="en-US" sz="740" dirty="0"/>
          </a:p>
        </p:txBody>
      </p:sp>
      <p:sp>
        <p:nvSpPr>
          <p:cNvPr id="18" name="Shape 16"/>
          <p:cNvSpPr/>
          <p:nvPr/>
        </p:nvSpPr>
        <p:spPr>
          <a:xfrm>
            <a:off x="3218688" y="1828800"/>
            <a:ext cx="2487168" cy="877824"/>
          </a:xfrm>
          <a:prstGeom prst="roundRect">
            <a:avLst/>
          </a:prstGeom>
          <a:solidFill>
            <a:srgbClr val="FFFFFF"/>
          </a:solidFill>
          <a:ln w="8890">
            <a:solidFill>
              <a:srgbClr val="DDE4E1"/>
            </a:solidFill>
            <a:prstDash val="solid"/>
          </a:ln>
        </p:spPr>
      </p:sp>
      <p:sp>
        <p:nvSpPr>
          <p:cNvPr id="19" name="Shape 17"/>
          <p:cNvSpPr/>
          <p:nvPr/>
        </p:nvSpPr>
        <p:spPr>
          <a:xfrm>
            <a:off x="3218688" y="1828800"/>
            <a:ext cx="77724" cy="877824"/>
          </a:xfrm>
          <a:prstGeom prst="rect">
            <a:avLst/>
          </a:prstGeom>
          <a:solidFill>
            <a:srgbClr val="465057"/>
          </a:solidFill>
          <a:ln w="6350">
            <a:solidFill>
              <a:srgbClr val="465057"/>
            </a:solidFill>
            <a:prstDash val="solid"/>
          </a:ln>
        </p:spPr>
      </p:sp>
      <p:sp>
        <p:nvSpPr>
          <p:cNvPr id="20" name="Shape 18"/>
          <p:cNvSpPr/>
          <p:nvPr/>
        </p:nvSpPr>
        <p:spPr>
          <a:xfrm>
            <a:off x="3383280" y="2011680"/>
            <a:ext cx="429768" cy="429768"/>
          </a:xfrm>
          <a:prstGeom prst="ellipse">
            <a:avLst/>
          </a:prstGeom>
          <a:solidFill>
            <a:srgbClr val="465057"/>
          </a:solidFill>
          <a:ln w="6350">
            <a:solidFill>
              <a:srgbClr val="465057"/>
            </a:solidFill>
            <a:prstDash val="solid"/>
          </a:ln>
        </p:spPr>
      </p:sp>
      <p:sp>
        <p:nvSpPr>
          <p:cNvPr id="21" name="Text 19"/>
          <p:cNvSpPr/>
          <p:nvPr/>
        </p:nvSpPr>
        <p:spPr>
          <a:xfrm>
            <a:off x="3383280" y="2116836"/>
            <a:ext cx="429768" cy="91440"/>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EX</a:t>
            </a:r>
            <a:endParaRPr lang="en-US" sz="800" dirty="0"/>
          </a:p>
        </p:txBody>
      </p:sp>
      <p:sp>
        <p:nvSpPr>
          <p:cNvPr id="22" name="Text 20"/>
          <p:cNvSpPr/>
          <p:nvPr/>
        </p:nvSpPr>
        <p:spPr>
          <a:xfrm>
            <a:off x="3931920" y="1993392"/>
            <a:ext cx="1645920" cy="164592"/>
          </a:xfrm>
          <a:prstGeom prst="rect">
            <a:avLst/>
          </a:prstGeom>
          <a:noFill/>
          <a:ln/>
        </p:spPr>
        <p:txBody>
          <a:bodyPr wrap="square" lIns="0" tIns="0" rIns="0" bIns="0" rtlCol="0" anchor="ctr">
            <a:normAutofit/>
          </a:bodyPr>
          <a:lstStyle/>
          <a:p>
            <a:pPr algn="l" indent="0" marL="0">
              <a:buNone/>
            </a:pPr>
            <a:r>
              <a:rPr lang="en-US" sz="860" b="1" dirty="0">
                <a:solidFill>
                  <a:srgbClr val="202729"/>
                </a:solidFill>
                <a:latin typeface="Aptos" pitchFamily="34" charset="0"/>
                <a:ea typeface="Aptos" pitchFamily="34" charset="-122"/>
                <a:cs typeface="Aptos" pitchFamily="34" charset="-120"/>
              </a:rPr>
              <a:t>Executive</a:t>
            </a:r>
            <a:endParaRPr lang="en-US" sz="860" dirty="0"/>
          </a:p>
        </p:txBody>
      </p:sp>
      <p:sp>
        <p:nvSpPr>
          <p:cNvPr id="23" name="Text 21"/>
          <p:cNvSpPr/>
          <p:nvPr/>
        </p:nvSpPr>
        <p:spPr>
          <a:xfrm>
            <a:off x="3931920" y="2240280"/>
            <a:ext cx="1645920" cy="201168"/>
          </a:xfrm>
          <a:prstGeom prst="rect">
            <a:avLst/>
          </a:prstGeom>
          <a:noFill/>
          <a:ln/>
        </p:spPr>
        <p:txBody>
          <a:bodyPr wrap="square" lIns="0" tIns="0" rIns="0" bIns="0" rtlCol="0" anchor="ctr">
            <a:normAutofit/>
          </a:bodyPr>
          <a:lstStyle/>
          <a:p>
            <a:pPr algn="l" indent="0" marL="0">
              <a:buNone/>
            </a:pPr>
            <a:r>
              <a:rPr lang="en-US" sz="740" dirty="0">
                <a:solidFill>
                  <a:srgbClr val="687373"/>
                </a:solidFill>
                <a:latin typeface="Aptos" pitchFamily="34" charset="0"/>
                <a:ea typeface="Aptos" pitchFamily="34" charset="-122"/>
                <a:cs typeface="Aptos" pitchFamily="34" charset="-120"/>
              </a:rPr>
              <a:t>Value &amp; ROI Cockpit</a:t>
            </a:r>
            <a:endParaRPr lang="en-US" sz="740" dirty="0"/>
          </a:p>
        </p:txBody>
      </p:sp>
      <p:sp>
        <p:nvSpPr>
          <p:cNvPr id="24" name="Shape 22"/>
          <p:cNvSpPr/>
          <p:nvPr/>
        </p:nvSpPr>
        <p:spPr>
          <a:xfrm>
            <a:off x="5980176" y="1828800"/>
            <a:ext cx="2487168" cy="877824"/>
          </a:xfrm>
          <a:prstGeom prst="roundRect">
            <a:avLst/>
          </a:prstGeom>
          <a:solidFill>
            <a:srgbClr val="FFFFFF"/>
          </a:solidFill>
          <a:ln w="8890">
            <a:solidFill>
              <a:srgbClr val="DDE4E1"/>
            </a:solidFill>
            <a:prstDash val="solid"/>
          </a:ln>
        </p:spPr>
      </p:sp>
      <p:sp>
        <p:nvSpPr>
          <p:cNvPr id="25" name="Shape 23"/>
          <p:cNvSpPr/>
          <p:nvPr/>
        </p:nvSpPr>
        <p:spPr>
          <a:xfrm>
            <a:off x="5980176" y="1828800"/>
            <a:ext cx="77724" cy="877824"/>
          </a:xfrm>
          <a:prstGeom prst="rect">
            <a:avLst/>
          </a:prstGeom>
          <a:solidFill>
            <a:srgbClr val="E3A72F"/>
          </a:solidFill>
          <a:ln w="6350">
            <a:solidFill>
              <a:srgbClr val="E3A72F"/>
            </a:solidFill>
            <a:prstDash val="solid"/>
          </a:ln>
        </p:spPr>
      </p:sp>
      <p:sp>
        <p:nvSpPr>
          <p:cNvPr id="26" name="Shape 24"/>
          <p:cNvSpPr/>
          <p:nvPr/>
        </p:nvSpPr>
        <p:spPr>
          <a:xfrm>
            <a:off x="6144768" y="2011680"/>
            <a:ext cx="429768" cy="429768"/>
          </a:xfrm>
          <a:prstGeom prst="ellipse">
            <a:avLst/>
          </a:prstGeom>
          <a:solidFill>
            <a:srgbClr val="E3A72F"/>
          </a:solidFill>
          <a:ln w="6350">
            <a:solidFill>
              <a:srgbClr val="E3A72F"/>
            </a:solidFill>
            <a:prstDash val="solid"/>
          </a:ln>
        </p:spPr>
      </p:sp>
      <p:sp>
        <p:nvSpPr>
          <p:cNvPr id="27" name="Text 25"/>
          <p:cNvSpPr/>
          <p:nvPr/>
        </p:nvSpPr>
        <p:spPr>
          <a:xfrm>
            <a:off x="6144768" y="2116836"/>
            <a:ext cx="429768" cy="91440"/>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RE</a:t>
            </a:r>
            <a:endParaRPr lang="en-US" sz="800" dirty="0"/>
          </a:p>
        </p:txBody>
      </p:sp>
      <p:sp>
        <p:nvSpPr>
          <p:cNvPr id="28" name="Text 26"/>
          <p:cNvSpPr/>
          <p:nvPr/>
        </p:nvSpPr>
        <p:spPr>
          <a:xfrm>
            <a:off x="6693408" y="1993392"/>
            <a:ext cx="1645920" cy="164592"/>
          </a:xfrm>
          <a:prstGeom prst="rect">
            <a:avLst/>
          </a:prstGeom>
          <a:noFill/>
          <a:ln/>
        </p:spPr>
        <p:txBody>
          <a:bodyPr wrap="square" lIns="0" tIns="0" rIns="0" bIns="0" rtlCol="0" anchor="ctr">
            <a:normAutofit/>
          </a:bodyPr>
          <a:lstStyle/>
          <a:p>
            <a:pPr algn="l" indent="0" marL="0">
              <a:buNone/>
            </a:pPr>
            <a:r>
              <a:rPr lang="en-US" sz="860" b="1" dirty="0">
                <a:solidFill>
                  <a:srgbClr val="202729"/>
                </a:solidFill>
                <a:latin typeface="Aptos" pitchFamily="34" charset="0"/>
                <a:ea typeface="Aptos" pitchFamily="34" charset="-122"/>
                <a:cs typeface="Aptos" pitchFamily="34" charset="-120"/>
              </a:rPr>
              <a:t>Reliability Engineer</a:t>
            </a:r>
            <a:endParaRPr lang="en-US" sz="860" dirty="0"/>
          </a:p>
        </p:txBody>
      </p:sp>
      <p:sp>
        <p:nvSpPr>
          <p:cNvPr id="29" name="Text 27"/>
          <p:cNvSpPr/>
          <p:nvPr/>
        </p:nvSpPr>
        <p:spPr>
          <a:xfrm>
            <a:off x="6693408" y="2240280"/>
            <a:ext cx="1645920" cy="201168"/>
          </a:xfrm>
          <a:prstGeom prst="rect">
            <a:avLst/>
          </a:prstGeom>
          <a:noFill/>
          <a:ln/>
        </p:spPr>
        <p:txBody>
          <a:bodyPr wrap="square" lIns="0" tIns="0" rIns="0" bIns="0" rtlCol="0" anchor="ctr">
            <a:normAutofit/>
          </a:bodyPr>
          <a:lstStyle/>
          <a:p>
            <a:pPr algn="l" indent="0" marL="0">
              <a:buNone/>
            </a:pPr>
            <a:r>
              <a:rPr lang="en-US" sz="740" dirty="0">
                <a:solidFill>
                  <a:srgbClr val="687373"/>
                </a:solidFill>
                <a:latin typeface="Aptos" pitchFamily="34" charset="0"/>
                <a:ea typeface="Aptos" pitchFamily="34" charset="-122"/>
                <a:cs typeface="Aptos" pitchFamily="34" charset="-120"/>
              </a:rPr>
              <a:t>Furnace RUL</a:t>
            </a:r>
            <a:endParaRPr lang="en-US" sz="740" dirty="0"/>
          </a:p>
        </p:txBody>
      </p:sp>
      <p:sp>
        <p:nvSpPr>
          <p:cNvPr id="30" name="Shape 28"/>
          <p:cNvSpPr/>
          <p:nvPr/>
        </p:nvSpPr>
        <p:spPr>
          <a:xfrm>
            <a:off x="8741664" y="1828800"/>
            <a:ext cx="2487168" cy="877824"/>
          </a:xfrm>
          <a:prstGeom prst="roundRect">
            <a:avLst/>
          </a:prstGeom>
          <a:solidFill>
            <a:srgbClr val="FFFFFF"/>
          </a:solidFill>
          <a:ln w="8890">
            <a:solidFill>
              <a:srgbClr val="DDE4E1"/>
            </a:solidFill>
            <a:prstDash val="solid"/>
          </a:ln>
        </p:spPr>
      </p:sp>
      <p:sp>
        <p:nvSpPr>
          <p:cNvPr id="31" name="Shape 29"/>
          <p:cNvSpPr/>
          <p:nvPr/>
        </p:nvSpPr>
        <p:spPr>
          <a:xfrm>
            <a:off x="8741664" y="1828800"/>
            <a:ext cx="77724" cy="877824"/>
          </a:xfrm>
          <a:prstGeom prst="rect">
            <a:avLst/>
          </a:prstGeom>
          <a:solidFill>
            <a:srgbClr val="6D9A6F"/>
          </a:solidFill>
          <a:ln w="6350">
            <a:solidFill>
              <a:srgbClr val="6D9A6F"/>
            </a:solidFill>
            <a:prstDash val="solid"/>
          </a:ln>
        </p:spPr>
      </p:sp>
      <p:sp>
        <p:nvSpPr>
          <p:cNvPr id="32" name="Shape 30"/>
          <p:cNvSpPr/>
          <p:nvPr/>
        </p:nvSpPr>
        <p:spPr>
          <a:xfrm>
            <a:off x="8906256" y="2011680"/>
            <a:ext cx="429768" cy="429768"/>
          </a:xfrm>
          <a:prstGeom prst="ellipse">
            <a:avLst/>
          </a:prstGeom>
          <a:solidFill>
            <a:srgbClr val="6D9A6F"/>
          </a:solidFill>
          <a:ln w="6350">
            <a:solidFill>
              <a:srgbClr val="6D9A6F"/>
            </a:solidFill>
            <a:prstDash val="solid"/>
          </a:ln>
        </p:spPr>
      </p:sp>
      <p:sp>
        <p:nvSpPr>
          <p:cNvPr id="33" name="Text 31"/>
          <p:cNvSpPr/>
          <p:nvPr/>
        </p:nvSpPr>
        <p:spPr>
          <a:xfrm>
            <a:off x="8906256" y="2116836"/>
            <a:ext cx="429768" cy="91440"/>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OP</a:t>
            </a:r>
            <a:endParaRPr lang="en-US" sz="800" dirty="0"/>
          </a:p>
        </p:txBody>
      </p:sp>
      <p:sp>
        <p:nvSpPr>
          <p:cNvPr id="34" name="Text 32"/>
          <p:cNvSpPr/>
          <p:nvPr/>
        </p:nvSpPr>
        <p:spPr>
          <a:xfrm>
            <a:off x="9454896" y="1993392"/>
            <a:ext cx="1645920" cy="164592"/>
          </a:xfrm>
          <a:prstGeom prst="rect">
            <a:avLst/>
          </a:prstGeom>
          <a:noFill/>
          <a:ln/>
        </p:spPr>
        <p:txBody>
          <a:bodyPr wrap="square" lIns="0" tIns="0" rIns="0" bIns="0" rtlCol="0" anchor="ctr">
            <a:normAutofit/>
          </a:bodyPr>
          <a:lstStyle/>
          <a:p>
            <a:pPr algn="l" indent="0" marL="0">
              <a:buNone/>
            </a:pPr>
            <a:r>
              <a:rPr lang="en-US" sz="860" b="1" dirty="0">
                <a:solidFill>
                  <a:srgbClr val="202729"/>
                </a:solidFill>
                <a:latin typeface="Aptos" pitchFamily="34" charset="0"/>
                <a:ea typeface="Aptos" pitchFamily="34" charset="-122"/>
                <a:cs typeface="Aptos" pitchFamily="34" charset="-120"/>
              </a:rPr>
              <a:t>Furnace Operator</a:t>
            </a:r>
            <a:endParaRPr lang="en-US" sz="860" dirty="0"/>
          </a:p>
        </p:txBody>
      </p:sp>
      <p:sp>
        <p:nvSpPr>
          <p:cNvPr id="35" name="Text 33"/>
          <p:cNvSpPr/>
          <p:nvPr/>
        </p:nvSpPr>
        <p:spPr>
          <a:xfrm>
            <a:off x="9454896" y="2240280"/>
            <a:ext cx="1645920" cy="201168"/>
          </a:xfrm>
          <a:prstGeom prst="rect">
            <a:avLst/>
          </a:prstGeom>
          <a:noFill/>
          <a:ln/>
        </p:spPr>
        <p:txBody>
          <a:bodyPr wrap="square" lIns="0" tIns="0" rIns="0" bIns="0" rtlCol="0" anchor="ctr">
            <a:normAutofit/>
          </a:bodyPr>
          <a:lstStyle/>
          <a:p>
            <a:pPr algn="l" indent="0" marL="0">
              <a:buNone/>
            </a:pPr>
            <a:r>
              <a:rPr lang="en-US" sz="740" dirty="0">
                <a:solidFill>
                  <a:srgbClr val="687373"/>
                </a:solidFill>
                <a:latin typeface="Aptos" pitchFamily="34" charset="0"/>
                <a:ea typeface="Aptos" pitchFamily="34" charset="-122"/>
                <a:cs typeface="Aptos" pitchFamily="34" charset="-120"/>
              </a:rPr>
              <a:t>Health + Knowledge</a:t>
            </a:r>
            <a:endParaRPr lang="en-US" sz="740" dirty="0"/>
          </a:p>
        </p:txBody>
      </p:sp>
      <p:sp>
        <p:nvSpPr>
          <p:cNvPr id="36" name="Shape 34"/>
          <p:cNvSpPr/>
          <p:nvPr/>
        </p:nvSpPr>
        <p:spPr>
          <a:xfrm>
            <a:off x="457200" y="3054096"/>
            <a:ext cx="2487168" cy="877824"/>
          </a:xfrm>
          <a:prstGeom prst="roundRect">
            <a:avLst/>
          </a:prstGeom>
          <a:solidFill>
            <a:srgbClr val="FFFFFF"/>
          </a:solidFill>
          <a:ln w="8890">
            <a:solidFill>
              <a:srgbClr val="DDE4E1"/>
            </a:solidFill>
            <a:prstDash val="solid"/>
          </a:ln>
        </p:spPr>
      </p:sp>
      <p:sp>
        <p:nvSpPr>
          <p:cNvPr id="37" name="Shape 35"/>
          <p:cNvSpPr/>
          <p:nvPr/>
        </p:nvSpPr>
        <p:spPr>
          <a:xfrm>
            <a:off x="457200" y="3054096"/>
            <a:ext cx="77724" cy="877824"/>
          </a:xfrm>
          <a:prstGeom prst="rect">
            <a:avLst/>
          </a:prstGeom>
          <a:solidFill>
            <a:srgbClr val="147D74"/>
          </a:solidFill>
          <a:ln w="6350">
            <a:solidFill>
              <a:srgbClr val="147D74"/>
            </a:solidFill>
            <a:prstDash val="solid"/>
          </a:ln>
        </p:spPr>
      </p:sp>
      <p:sp>
        <p:nvSpPr>
          <p:cNvPr id="38" name="Shape 36"/>
          <p:cNvSpPr/>
          <p:nvPr/>
        </p:nvSpPr>
        <p:spPr>
          <a:xfrm>
            <a:off x="621792" y="3236976"/>
            <a:ext cx="429768" cy="429768"/>
          </a:xfrm>
          <a:prstGeom prst="ellipse">
            <a:avLst/>
          </a:prstGeom>
          <a:solidFill>
            <a:srgbClr val="147D74"/>
          </a:solidFill>
          <a:ln w="6350">
            <a:solidFill>
              <a:srgbClr val="147D74"/>
            </a:solidFill>
            <a:prstDash val="solid"/>
          </a:ln>
        </p:spPr>
      </p:sp>
      <p:sp>
        <p:nvSpPr>
          <p:cNvPr id="39" name="Text 37"/>
          <p:cNvSpPr/>
          <p:nvPr/>
        </p:nvSpPr>
        <p:spPr>
          <a:xfrm>
            <a:off x="621792" y="3342132"/>
            <a:ext cx="429768" cy="91440"/>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EN</a:t>
            </a:r>
            <a:endParaRPr lang="en-US" sz="800" dirty="0"/>
          </a:p>
        </p:txBody>
      </p:sp>
      <p:sp>
        <p:nvSpPr>
          <p:cNvPr id="40" name="Text 38"/>
          <p:cNvSpPr/>
          <p:nvPr/>
        </p:nvSpPr>
        <p:spPr>
          <a:xfrm>
            <a:off x="1170432" y="3218688"/>
            <a:ext cx="1645920" cy="164592"/>
          </a:xfrm>
          <a:prstGeom prst="rect">
            <a:avLst/>
          </a:prstGeom>
          <a:noFill/>
          <a:ln/>
        </p:spPr>
        <p:txBody>
          <a:bodyPr wrap="square" lIns="0" tIns="0" rIns="0" bIns="0" rtlCol="0" anchor="ctr">
            <a:normAutofit/>
          </a:bodyPr>
          <a:lstStyle/>
          <a:p>
            <a:pPr algn="l" indent="0" marL="0">
              <a:buNone/>
            </a:pPr>
            <a:r>
              <a:rPr lang="en-US" sz="860" b="1" dirty="0">
                <a:solidFill>
                  <a:srgbClr val="202729"/>
                </a:solidFill>
                <a:latin typeface="Aptos" pitchFamily="34" charset="0"/>
                <a:ea typeface="Aptos" pitchFamily="34" charset="-122"/>
                <a:cs typeface="Aptos" pitchFamily="34" charset="-120"/>
              </a:rPr>
              <a:t>Energy Manager</a:t>
            </a:r>
            <a:endParaRPr lang="en-US" sz="860" dirty="0"/>
          </a:p>
        </p:txBody>
      </p:sp>
      <p:sp>
        <p:nvSpPr>
          <p:cNvPr id="41" name="Text 39"/>
          <p:cNvSpPr/>
          <p:nvPr/>
        </p:nvSpPr>
        <p:spPr>
          <a:xfrm>
            <a:off x="1170432" y="3465576"/>
            <a:ext cx="1645920" cy="201168"/>
          </a:xfrm>
          <a:prstGeom prst="rect">
            <a:avLst/>
          </a:prstGeom>
          <a:noFill/>
          <a:ln/>
        </p:spPr>
        <p:txBody>
          <a:bodyPr wrap="square" lIns="0" tIns="0" rIns="0" bIns="0" rtlCol="0" anchor="ctr">
            <a:normAutofit/>
          </a:bodyPr>
          <a:lstStyle/>
          <a:p>
            <a:pPr algn="l" indent="0" marL="0">
              <a:buNone/>
            </a:pPr>
            <a:r>
              <a:rPr lang="en-US" sz="740" dirty="0">
                <a:solidFill>
                  <a:srgbClr val="687373"/>
                </a:solidFill>
                <a:latin typeface="Aptos" pitchFamily="34" charset="0"/>
                <a:ea typeface="Aptos" pitchFamily="34" charset="-122"/>
                <a:cs typeface="Aptos" pitchFamily="34" charset="-120"/>
              </a:rPr>
              <a:t>Dispatch Optimization</a:t>
            </a:r>
            <a:endParaRPr lang="en-US" sz="740" dirty="0"/>
          </a:p>
        </p:txBody>
      </p:sp>
      <p:sp>
        <p:nvSpPr>
          <p:cNvPr id="42" name="Shape 40"/>
          <p:cNvSpPr/>
          <p:nvPr/>
        </p:nvSpPr>
        <p:spPr>
          <a:xfrm>
            <a:off x="3218688" y="3054096"/>
            <a:ext cx="2487168" cy="877824"/>
          </a:xfrm>
          <a:prstGeom prst="roundRect">
            <a:avLst/>
          </a:prstGeom>
          <a:solidFill>
            <a:srgbClr val="FFFFFF"/>
          </a:solidFill>
          <a:ln w="8890">
            <a:solidFill>
              <a:srgbClr val="DDE4E1"/>
            </a:solidFill>
            <a:prstDash val="solid"/>
          </a:ln>
        </p:spPr>
      </p:sp>
      <p:sp>
        <p:nvSpPr>
          <p:cNvPr id="43" name="Shape 41"/>
          <p:cNvSpPr/>
          <p:nvPr/>
        </p:nvSpPr>
        <p:spPr>
          <a:xfrm>
            <a:off x="3218688" y="3054096"/>
            <a:ext cx="77724" cy="877824"/>
          </a:xfrm>
          <a:prstGeom prst="rect">
            <a:avLst/>
          </a:prstGeom>
          <a:solidFill>
            <a:srgbClr val="B64A2D"/>
          </a:solidFill>
          <a:ln w="6350">
            <a:solidFill>
              <a:srgbClr val="B64A2D"/>
            </a:solidFill>
            <a:prstDash val="solid"/>
          </a:ln>
        </p:spPr>
      </p:sp>
      <p:sp>
        <p:nvSpPr>
          <p:cNvPr id="44" name="Shape 42"/>
          <p:cNvSpPr/>
          <p:nvPr/>
        </p:nvSpPr>
        <p:spPr>
          <a:xfrm>
            <a:off x="3383280" y="3236976"/>
            <a:ext cx="429768" cy="429768"/>
          </a:xfrm>
          <a:prstGeom prst="ellipse">
            <a:avLst/>
          </a:prstGeom>
          <a:solidFill>
            <a:srgbClr val="B64A2D"/>
          </a:solidFill>
          <a:ln w="6350">
            <a:solidFill>
              <a:srgbClr val="B64A2D"/>
            </a:solidFill>
            <a:prstDash val="solid"/>
          </a:ln>
        </p:spPr>
      </p:sp>
      <p:sp>
        <p:nvSpPr>
          <p:cNvPr id="45" name="Text 43"/>
          <p:cNvSpPr/>
          <p:nvPr/>
        </p:nvSpPr>
        <p:spPr>
          <a:xfrm>
            <a:off x="3383280" y="3342132"/>
            <a:ext cx="429768" cy="91440"/>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SU</a:t>
            </a:r>
            <a:endParaRPr lang="en-US" sz="800" dirty="0"/>
          </a:p>
        </p:txBody>
      </p:sp>
      <p:sp>
        <p:nvSpPr>
          <p:cNvPr id="46" name="Text 44"/>
          <p:cNvSpPr/>
          <p:nvPr/>
        </p:nvSpPr>
        <p:spPr>
          <a:xfrm>
            <a:off x="3931920" y="3218688"/>
            <a:ext cx="1645920" cy="164592"/>
          </a:xfrm>
          <a:prstGeom prst="rect">
            <a:avLst/>
          </a:prstGeom>
          <a:noFill/>
          <a:ln/>
        </p:spPr>
        <p:txBody>
          <a:bodyPr wrap="square" lIns="0" tIns="0" rIns="0" bIns="0" rtlCol="0" anchor="ctr">
            <a:normAutofit/>
          </a:bodyPr>
          <a:lstStyle/>
          <a:p>
            <a:pPr algn="l" indent="0" marL="0">
              <a:buNone/>
            </a:pPr>
            <a:r>
              <a:rPr lang="en-US" sz="860" b="1" dirty="0">
                <a:solidFill>
                  <a:srgbClr val="202729"/>
                </a:solidFill>
                <a:latin typeface="Aptos" pitchFamily="34" charset="0"/>
                <a:ea typeface="Aptos" pitchFamily="34" charset="-122"/>
                <a:cs typeface="Aptos" pitchFamily="34" charset="-120"/>
              </a:rPr>
              <a:t>Sustainability</a:t>
            </a:r>
            <a:endParaRPr lang="en-US" sz="860" dirty="0"/>
          </a:p>
        </p:txBody>
      </p:sp>
      <p:sp>
        <p:nvSpPr>
          <p:cNvPr id="47" name="Text 45"/>
          <p:cNvSpPr/>
          <p:nvPr/>
        </p:nvSpPr>
        <p:spPr>
          <a:xfrm>
            <a:off x="3931920" y="3465576"/>
            <a:ext cx="1645920" cy="201168"/>
          </a:xfrm>
          <a:prstGeom prst="rect">
            <a:avLst/>
          </a:prstGeom>
          <a:noFill/>
          <a:ln/>
        </p:spPr>
        <p:txBody>
          <a:bodyPr wrap="square" lIns="0" tIns="0" rIns="0" bIns="0" rtlCol="0" anchor="ctr">
            <a:normAutofit/>
          </a:bodyPr>
          <a:lstStyle/>
          <a:p>
            <a:pPr algn="l" indent="0" marL="0">
              <a:buNone/>
            </a:pPr>
            <a:r>
              <a:rPr lang="en-US" sz="740" dirty="0">
                <a:solidFill>
                  <a:srgbClr val="687373"/>
                </a:solidFill>
                <a:latin typeface="Aptos" pitchFamily="34" charset="0"/>
                <a:ea typeface="Aptos" pitchFamily="34" charset="-122"/>
                <a:cs typeface="Aptos" pitchFamily="34" charset="-120"/>
              </a:rPr>
              <a:t>ETS Cockpit</a:t>
            </a:r>
            <a:endParaRPr lang="en-US" sz="740" dirty="0"/>
          </a:p>
        </p:txBody>
      </p:sp>
      <p:sp>
        <p:nvSpPr>
          <p:cNvPr id="48" name="Shape 46"/>
          <p:cNvSpPr/>
          <p:nvPr/>
        </p:nvSpPr>
        <p:spPr>
          <a:xfrm>
            <a:off x="5980176" y="3054096"/>
            <a:ext cx="2487168" cy="877824"/>
          </a:xfrm>
          <a:prstGeom prst="roundRect">
            <a:avLst/>
          </a:prstGeom>
          <a:solidFill>
            <a:srgbClr val="FFFFFF"/>
          </a:solidFill>
          <a:ln w="8890">
            <a:solidFill>
              <a:srgbClr val="DDE4E1"/>
            </a:solidFill>
            <a:prstDash val="solid"/>
          </a:ln>
        </p:spPr>
      </p:sp>
      <p:sp>
        <p:nvSpPr>
          <p:cNvPr id="49" name="Shape 47"/>
          <p:cNvSpPr/>
          <p:nvPr/>
        </p:nvSpPr>
        <p:spPr>
          <a:xfrm>
            <a:off x="5980176" y="3054096"/>
            <a:ext cx="77724" cy="877824"/>
          </a:xfrm>
          <a:prstGeom prst="rect">
            <a:avLst/>
          </a:prstGeom>
          <a:solidFill>
            <a:srgbClr val="E3A72F"/>
          </a:solidFill>
          <a:ln w="6350">
            <a:solidFill>
              <a:srgbClr val="E3A72F"/>
            </a:solidFill>
            <a:prstDash val="solid"/>
          </a:ln>
        </p:spPr>
      </p:sp>
      <p:sp>
        <p:nvSpPr>
          <p:cNvPr id="50" name="Shape 48"/>
          <p:cNvSpPr/>
          <p:nvPr/>
        </p:nvSpPr>
        <p:spPr>
          <a:xfrm>
            <a:off x="6144768" y="3236976"/>
            <a:ext cx="429768" cy="429768"/>
          </a:xfrm>
          <a:prstGeom prst="ellipse">
            <a:avLst/>
          </a:prstGeom>
          <a:solidFill>
            <a:srgbClr val="E3A72F"/>
          </a:solidFill>
          <a:ln w="6350">
            <a:solidFill>
              <a:srgbClr val="E3A72F"/>
            </a:solidFill>
            <a:prstDash val="solid"/>
          </a:ln>
        </p:spPr>
      </p:sp>
      <p:sp>
        <p:nvSpPr>
          <p:cNvPr id="51" name="Text 49"/>
          <p:cNvSpPr/>
          <p:nvPr/>
        </p:nvSpPr>
        <p:spPr>
          <a:xfrm>
            <a:off x="6144768" y="3342132"/>
            <a:ext cx="429768" cy="91440"/>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QA</a:t>
            </a:r>
            <a:endParaRPr lang="en-US" sz="800" dirty="0"/>
          </a:p>
        </p:txBody>
      </p:sp>
      <p:sp>
        <p:nvSpPr>
          <p:cNvPr id="52" name="Text 50"/>
          <p:cNvSpPr/>
          <p:nvPr/>
        </p:nvSpPr>
        <p:spPr>
          <a:xfrm>
            <a:off x="6693408" y="3218688"/>
            <a:ext cx="1645920" cy="164592"/>
          </a:xfrm>
          <a:prstGeom prst="rect">
            <a:avLst/>
          </a:prstGeom>
          <a:noFill/>
          <a:ln/>
        </p:spPr>
        <p:txBody>
          <a:bodyPr wrap="square" lIns="0" tIns="0" rIns="0" bIns="0" rtlCol="0" anchor="ctr">
            <a:normAutofit/>
          </a:bodyPr>
          <a:lstStyle/>
          <a:p>
            <a:pPr algn="l" indent="0" marL="0">
              <a:buNone/>
            </a:pPr>
            <a:r>
              <a:rPr lang="en-US" sz="860" b="1" dirty="0">
                <a:solidFill>
                  <a:srgbClr val="202729"/>
                </a:solidFill>
                <a:latin typeface="Aptos" pitchFamily="34" charset="0"/>
                <a:ea typeface="Aptos" pitchFamily="34" charset="-122"/>
                <a:cs typeface="Aptos" pitchFamily="34" charset="-120"/>
              </a:rPr>
              <a:t>Quality Engineer</a:t>
            </a:r>
            <a:endParaRPr lang="en-US" sz="860" dirty="0"/>
          </a:p>
        </p:txBody>
      </p:sp>
      <p:sp>
        <p:nvSpPr>
          <p:cNvPr id="53" name="Text 51"/>
          <p:cNvSpPr/>
          <p:nvPr/>
        </p:nvSpPr>
        <p:spPr>
          <a:xfrm>
            <a:off x="6693408" y="3465576"/>
            <a:ext cx="1645920" cy="201168"/>
          </a:xfrm>
          <a:prstGeom prst="rect">
            <a:avLst/>
          </a:prstGeom>
          <a:noFill/>
          <a:ln/>
        </p:spPr>
        <p:txBody>
          <a:bodyPr wrap="square" lIns="0" tIns="0" rIns="0" bIns="0" rtlCol="0" anchor="ctr">
            <a:normAutofit/>
          </a:bodyPr>
          <a:lstStyle/>
          <a:p>
            <a:pPr algn="l" indent="0" marL="0">
              <a:buNone/>
            </a:pPr>
            <a:r>
              <a:rPr lang="en-US" sz="740" dirty="0">
                <a:solidFill>
                  <a:srgbClr val="687373"/>
                </a:solidFill>
                <a:latin typeface="Aptos" pitchFamily="34" charset="0"/>
                <a:ea typeface="Aptos" pitchFamily="34" charset="-122"/>
                <a:cs typeface="Aptos" pitchFamily="34" charset="-120"/>
              </a:rPr>
              <a:t>In-line Quality</a:t>
            </a:r>
            <a:endParaRPr lang="en-US" sz="740" dirty="0"/>
          </a:p>
        </p:txBody>
      </p:sp>
      <p:sp>
        <p:nvSpPr>
          <p:cNvPr id="54" name="Shape 52"/>
          <p:cNvSpPr/>
          <p:nvPr/>
        </p:nvSpPr>
        <p:spPr>
          <a:xfrm>
            <a:off x="8741664" y="3054096"/>
            <a:ext cx="2487168" cy="877824"/>
          </a:xfrm>
          <a:prstGeom prst="roundRect">
            <a:avLst/>
          </a:prstGeom>
          <a:solidFill>
            <a:srgbClr val="FFFFFF"/>
          </a:solidFill>
          <a:ln w="8890">
            <a:solidFill>
              <a:srgbClr val="DDE4E1"/>
            </a:solidFill>
            <a:prstDash val="solid"/>
          </a:ln>
        </p:spPr>
      </p:sp>
      <p:sp>
        <p:nvSpPr>
          <p:cNvPr id="55" name="Shape 53"/>
          <p:cNvSpPr/>
          <p:nvPr/>
        </p:nvSpPr>
        <p:spPr>
          <a:xfrm>
            <a:off x="8741664" y="3054096"/>
            <a:ext cx="77724" cy="877824"/>
          </a:xfrm>
          <a:prstGeom prst="rect">
            <a:avLst/>
          </a:prstGeom>
          <a:solidFill>
            <a:srgbClr val="147D74"/>
          </a:solidFill>
          <a:ln w="6350">
            <a:solidFill>
              <a:srgbClr val="147D74"/>
            </a:solidFill>
            <a:prstDash val="solid"/>
          </a:ln>
        </p:spPr>
      </p:sp>
      <p:sp>
        <p:nvSpPr>
          <p:cNvPr id="56" name="Shape 54"/>
          <p:cNvSpPr/>
          <p:nvPr/>
        </p:nvSpPr>
        <p:spPr>
          <a:xfrm>
            <a:off x="8906256" y="3236976"/>
            <a:ext cx="429768" cy="429768"/>
          </a:xfrm>
          <a:prstGeom prst="ellipse">
            <a:avLst/>
          </a:prstGeom>
          <a:solidFill>
            <a:srgbClr val="147D74"/>
          </a:solidFill>
          <a:ln w="6350">
            <a:solidFill>
              <a:srgbClr val="147D74"/>
            </a:solidFill>
            <a:prstDash val="solid"/>
          </a:ln>
        </p:spPr>
      </p:sp>
      <p:sp>
        <p:nvSpPr>
          <p:cNvPr id="57" name="Text 55"/>
          <p:cNvSpPr/>
          <p:nvPr/>
        </p:nvSpPr>
        <p:spPr>
          <a:xfrm>
            <a:off x="8906256" y="3342132"/>
            <a:ext cx="429768" cy="91440"/>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KE</a:t>
            </a:r>
            <a:endParaRPr lang="en-US" sz="800" dirty="0"/>
          </a:p>
        </p:txBody>
      </p:sp>
      <p:sp>
        <p:nvSpPr>
          <p:cNvPr id="58" name="Text 56"/>
          <p:cNvSpPr/>
          <p:nvPr/>
        </p:nvSpPr>
        <p:spPr>
          <a:xfrm>
            <a:off x="9454896" y="3218688"/>
            <a:ext cx="1645920" cy="164592"/>
          </a:xfrm>
          <a:prstGeom prst="rect">
            <a:avLst/>
          </a:prstGeom>
          <a:noFill/>
          <a:ln/>
        </p:spPr>
        <p:txBody>
          <a:bodyPr wrap="square" lIns="0" tIns="0" rIns="0" bIns="0" rtlCol="0" anchor="ctr">
            <a:normAutofit/>
          </a:bodyPr>
          <a:lstStyle/>
          <a:p>
            <a:pPr algn="l" indent="0" marL="0">
              <a:buNone/>
            </a:pPr>
            <a:r>
              <a:rPr lang="en-US" sz="860" b="1" dirty="0">
                <a:solidFill>
                  <a:srgbClr val="202729"/>
                </a:solidFill>
                <a:latin typeface="Aptos" pitchFamily="34" charset="0"/>
                <a:ea typeface="Aptos" pitchFamily="34" charset="-122"/>
                <a:cs typeface="Aptos" pitchFamily="34" charset="-120"/>
              </a:rPr>
              <a:t>Knowledge Engineer</a:t>
            </a:r>
            <a:endParaRPr lang="en-US" sz="860" dirty="0"/>
          </a:p>
        </p:txBody>
      </p:sp>
      <p:sp>
        <p:nvSpPr>
          <p:cNvPr id="59" name="Text 57"/>
          <p:cNvSpPr/>
          <p:nvPr/>
        </p:nvSpPr>
        <p:spPr>
          <a:xfrm>
            <a:off x="9454896" y="3465576"/>
            <a:ext cx="1645920" cy="201168"/>
          </a:xfrm>
          <a:prstGeom prst="rect">
            <a:avLst/>
          </a:prstGeom>
          <a:noFill/>
          <a:ln/>
        </p:spPr>
        <p:txBody>
          <a:bodyPr wrap="square" lIns="0" tIns="0" rIns="0" bIns="0" rtlCol="0" anchor="ctr">
            <a:normAutofit/>
          </a:bodyPr>
          <a:lstStyle/>
          <a:p>
            <a:pPr algn="l" indent="0" marL="0">
              <a:buNone/>
            </a:pPr>
            <a:r>
              <a:rPr lang="en-US" sz="740" dirty="0">
                <a:solidFill>
                  <a:srgbClr val="687373"/>
                </a:solidFill>
                <a:latin typeface="Aptos" pitchFamily="34" charset="0"/>
                <a:ea typeface="Aptos" pitchFamily="34" charset="-122"/>
                <a:cs typeface="Aptos" pitchFamily="34" charset="-120"/>
              </a:rPr>
              <a:t>Capture Studio</a:t>
            </a:r>
            <a:endParaRPr lang="en-US" sz="740" dirty="0"/>
          </a:p>
        </p:txBody>
      </p:sp>
      <p:sp>
        <p:nvSpPr>
          <p:cNvPr id="60" name="Shape 58"/>
          <p:cNvSpPr/>
          <p:nvPr/>
        </p:nvSpPr>
        <p:spPr>
          <a:xfrm>
            <a:off x="576072" y="4956048"/>
            <a:ext cx="384048" cy="384048"/>
          </a:xfrm>
          <a:prstGeom prst="ellipse">
            <a:avLst/>
          </a:prstGeom>
          <a:solidFill>
            <a:srgbClr val="465057"/>
          </a:solidFill>
          <a:ln w="6350">
            <a:solidFill>
              <a:srgbClr val="465057"/>
            </a:solidFill>
            <a:prstDash val="solid"/>
          </a:ln>
        </p:spPr>
      </p:sp>
      <p:sp>
        <p:nvSpPr>
          <p:cNvPr id="61" name="Text 59"/>
          <p:cNvSpPr/>
          <p:nvPr/>
        </p:nvSpPr>
        <p:spPr>
          <a:xfrm>
            <a:off x="576072" y="5079492"/>
            <a:ext cx="384048" cy="73152"/>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Aptos" pitchFamily="34" charset="0"/>
                <a:ea typeface="Aptos" pitchFamily="34" charset="-122"/>
                <a:cs typeface="Aptos" pitchFamily="34" charset="-120"/>
              </a:rPr>
              <a:t>1</a:t>
            </a:r>
            <a:endParaRPr lang="en-US" sz="700" dirty="0"/>
          </a:p>
        </p:txBody>
      </p:sp>
      <p:sp>
        <p:nvSpPr>
          <p:cNvPr id="62" name="Text 60"/>
          <p:cNvSpPr/>
          <p:nvPr/>
        </p:nvSpPr>
        <p:spPr>
          <a:xfrm>
            <a:off x="1078992" y="4974336"/>
            <a:ext cx="941832" cy="109728"/>
          </a:xfrm>
          <a:prstGeom prst="rect">
            <a:avLst/>
          </a:prstGeom>
          <a:noFill/>
          <a:ln/>
        </p:spPr>
        <p:txBody>
          <a:bodyPr wrap="square" lIns="0" tIns="0" rIns="0" bIns="0" rtlCol="0" anchor="ctr">
            <a:normAutofit/>
          </a:bodyPr>
          <a:lstStyle/>
          <a:p>
            <a:pPr algn="l" indent="0" marL="0">
              <a:buNone/>
            </a:pPr>
            <a:r>
              <a:rPr lang="en-US" sz="840" b="1" dirty="0">
                <a:solidFill>
                  <a:srgbClr val="202729"/>
                </a:solidFill>
                <a:latin typeface="Aptos" pitchFamily="34" charset="0"/>
                <a:ea typeface="Aptos" pitchFamily="34" charset="-122"/>
                <a:cs typeface="Aptos" pitchFamily="34" charset="-120"/>
              </a:rPr>
              <a:t>See</a:t>
            </a:r>
            <a:endParaRPr lang="en-US" sz="840" dirty="0"/>
          </a:p>
        </p:txBody>
      </p:sp>
      <p:sp>
        <p:nvSpPr>
          <p:cNvPr id="63" name="Text 61"/>
          <p:cNvSpPr/>
          <p:nvPr/>
        </p:nvSpPr>
        <p:spPr>
          <a:xfrm>
            <a:off x="1078992" y="5148072"/>
            <a:ext cx="1188720" cy="82296"/>
          </a:xfrm>
          <a:prstGeom prst="rect">
            <a:avLst/>
          </a:prstGeom>
          <a:noFill/>
          <a:ln/>
        </p:spPr>
        <p:txBody>
          <a:bodyPr wrap="square" lIns="0" tIns="0" rIns="0" bIns="0" rtlCol="0" anchor="ctr">
            <a:normAutofit/>
          </a:bodyPr>
          <a:lstStyle/>
          <a:p>
            <a:pPr algn="l" indent="0" marL="0">
              <a:buNone/>
            </a:pPr>
            <a:r>
              <a:rPr lang="en-US" sz="690" dirty="0">
                <a:solidFill>
                  <a:srgbClr val="687373"/>
                </a:solidFill>
                <a:latin typeface="Aptos" pitchFamily="34" charset="0"/>
                <a:ea typeface="Aptos" pitchFamily="34" charset="-122"/>
                <a:cs typeface="Aptos" pitchFamily="34" charset="-120"/>
              </a:rPr>
              <a:t>fleet / freshness</a:t>
            </a:r>
            <a:endParaRPr lang="en-US" sz="690" dirty="0"/>
          </a:p>
        </p:txBody>
      </p:sp>
      <p:sp>
        <p:nvSpPr>
          <p:cNvPr id="64" name="Shape 62"/>
          <p:cNvSpPr/>
          <p:nvPr/>
        </p:nvSpPr>
        <p:spPr>
          <a:xfrm>
            <a:off x="2331720" y="5047488"/>
            <a:ext cx="237744" cy="201168"/>
          </a:xfrm>
          <a:prstGeom prst="chevron">
            <a:avLst/>
          </a:prstGeom>
          <a:solidFill>
            <a:srgbClr val="465057"/>
          </a:solidFill>
          <a:ln w="12700">
            <a:solidFill>
              <a:srgbClr val="465057">
                <a:alpha val="0"/>
              </a:srgbClr>
            </a:solidFill>
            <a:prstDash val="solid"/>
          </a:ln>
        </p:spPr>
      </p:sp>
      <p:sp>
        <p:nvSpPr>
          <p:cNvPr id="65" name="Shape 63"/>
          <p:cNvSpPr/>
          <p:nvPr/>
        </p:nvSpPr>
        <p:spPr>
          <a:xfrm>
            <a:off x="2816352" y="4956048"/>
            <a:ext cx="384048" cy="384048"/>
          </a:xfrm>
          <a:prstGeom prst="ellipse">
            <a:avLst/>
          </a:prstGeom>
          <a:solidFill>
            <a:srgbClr val="147D74"/>
          </a:solidFill>
          <a:ln w="6350">
            <a:solidFill>
              <a:srgbClr val="147D74"/>
            </a:solidFill>
            <a:prstDash val="solid"/>
          </a:ln>
        </p:spPr>
      </p:sp>
      <p:sp>
        <p:nvSpPr>
          <p:cNvPr id="66" name="Text 64"/>
          <p:cNvSpPr/>
          <p:nvPr/>
        </p:nvSpPr>
        <p:spPr>
          <a:xfrm>
            <a:off x="2816352" y="5079492"/>
            <a:ext cx="384048" cy="73152"/>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Aptos" pitchFamily="34" charset="0"/>
                <a:ea typeface="Aptos" pitchFamily="34" charset="-122"/>
                <a:cs typeface="Aptos" pitchFamily="34" charset="-120"/>
              </a:rPr>
              <a:t>2</a:t>
            </a:r>
            <a:endParaRPr lang="en-US" sz="700" dirty="0"/>
          </a:p>
        </p:txBody>
      </p:sp>
      <p:sp>
        <p:nvSpPr>
          <p:cNvPr id="67" name="Text 65"/>
          <p:cNvSpPr/>
          <p:nvPr/>
        </p:nvSpPr>
        <p:spPr>
          <a:xfrm>
            <a:off x="3319272" y="4974336"/>
            <a:ext cx="941832" cy="109728"/>
          </a:xfrm>
          <a:prstGeom prst="rect">
            <a:avLst/>
          </a:prstGeom>
          <a:noFill/>
          <a:ln/>
        </p:spPr>
        <p:txBody>
          <a:bodyPr wrap="square" lIns="0" tIns="0" rIns="0" bIns="0" rtlCol="0" anchor="ctr">
            <a:normAutofit/>
          </a:bodyPr>
          <a:lstStyle/>
          <a:p>
            <a:pPr algn="l" indent="0" marL="0">
              <a:buNone/>
            </a:pPr>
            <a:r>
              <a:rPr lang="en-US" sz="840" b="1" dirty="0">
                <a:solidFill>
                  <a:srgbClr val="202729"/>
                </a:solidFill>
                <a:latin typeface="Aptos" pitchFamily="34" charset="0"/>
                <a:ea typeface="Aptos" pitchFamily="34" charset="-122"/>
                <a:cs typeface="Aptos" pitchFamily="34" charset="-120"/>
              </a:rPr>
              <a:t>Investigate</a:t>
            </a:r>
            <a:endParaRPr lang="en-US" sz="840" dirty="0"/>
          </a:p>
        </p:txBody>
      </p:sp>
      <p:sp>
        <p:nvSpPr>
          <p:cNvPr id="68" name="Text 66"/>
          <p:cNvSpPr/>
          <p:nvPr/>
        </p:nvSpPr>
        <p:spPr>
          <a:xfrm>
            <a:off x="3319272" y="5148072"/>
            <a:ext cx="1188720" cy="82296"/>
          </a:xfrm>
          <a:prstGeom prst="rect">
            <a:avLst/>
          </a:prstGeom>
          <a:noFill/>
          <a:ln/>
        </p:spPr>
        <p:txBody>
          <a:bodyPr wrap="square" lIns="0" tIns="0" rIns="0" bIns="0" rtlCol="0" anchor="ctr">
            <a:normAutofit/>
          </a:bodyPr>
          <a:lstStyle/>
          <a:p>
            <a:pPr algn="l" indent="0" marL="0">
              <a:buNone/>
            </a:pPr>
            <a:r>
              <a:rPr lang="en-US" sz="690" dirty="0">
                <a:solidFill>
                  <a:srgbClr val="687373"/>
                </a:solidFill>
                <a:latin typeface="Aptos" pitchFamily="34" charset="0"/>
                <a:ea typeface="Aptos" pitchFamily="34" charset="-122"/>
                <a:cs typeface="Aptos" pitchFamily="34" charset="-120"/>
              </a:rPr>
              <a:t>risk / lineage</a:t>
            </a:r>
            <a:endParaRPr lang="en-US" sz="690" dirty="0"/>
          </a:p>
        </p:txBody>
      </p:sp>
      <p:sp>
        <p:nvSpPr>
          <p:cNvPr id="69" name="Shape 67"/>
          <p:cNvSpPr/>
          <p:nvPr/>
        </p:nvSpPr>
        <p:spPr>
          <a:xfrm>
            <a:off x="4572000" y="5047488"/>
            <a:ext cx="237744" cy="201168"/>
          </a:xfrm>
          <a:prstGeom prst="chevron">
            <a:avLst/>
          </a:prstGeom>
          <a:solidFill>
            <a:srgbClr val="465057"/>
          </a:solidFill>
          <a:ln w="12700">
            <a:solidFill>
              <a:srgbClr val="465057">
                <a:alpha val="0"/>
              </a:srgbClr>
            </a:solidFill>
            <a:prstDash val="solid"/>
          </a:ln>
        </p:spPr>
      </p:sp>
      <p:sp>
        <p:nvSpPr>
          <p:cNvPr id="70" name="Shape 68"/>
          <p:cNvSpPr/>
          <p:nvPr/>
        </p:nvSpPr>
        <p:spPr>
          <a:xfrm>
            <a:off x="5056632" y="4956048"/>
            <a:ext cx="384048" cy="384048"/>
          </a:xfrm>
          <a:prstGeom prst="ellipse">
            <a:avLst/>
          </a:prstGeom>
          <a:solidFill>
            <a:srgbClr val="E3A72F"/>
          </a:solidFill>
          <a:ln w="6350">
            <a:solidFill>
              <a:srgbClr val="E3A72F"/>
            </a:solidFill>
            <a:prstDash val="solid"/>
          </a:ln>
        </p:spPr>
      </p:sp>
      <p:sp>
        <p:nvSpPr>
          <p:cNvPr id="71" name="Text 69"/>
          <p:cNvSpPr/>
          <p:nvPr/>
        </p:nvSpPr>
        <p:spPr>
          <a:xfrm>
            <a:off x="5056632" y="5079492"/>
            <a:ext cx="384048" cy="73152"/>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Aptos" pitchFamily="34" charset="0"/>
                <a:ea typeface="Aptos" pitchFamily="34" charset="-122"/>
                <a:cs typeface="Aptos" pitchFamily="34" charset="-120"/>
              </a:rPr>
              <a:t>3</a:t>
            </a:r>
            <a:endParaRPr lang="en-US" sz="700" dirty="0"/>
          </a:p>
        </p:txBody>
      </p:sp>
      <p:sp>
        <p:nvSpPr>
          <p:cNvPr id="72" name="Text 70"/>
          <p:cNvSpPr/>
          <p:nvPr/>
        </p:nvSpPr>
        <p:spPr>
          <a:xfrm>
            <a:off x="5559552" y="4974336"/>
            <a:ext cx="941832" cy="109728"/>
          </a:xfrm>
          <a:prstGeom prst="rect">
            <a:avLst/>
          </a:prstGeom>
          <a:noFill/>
          <a:ln/>
        </p:spPr>
        <p:txBody>
          <a:bodyPr wrap="square" lIns="0" tIns="0" rIns="0" bIns="0" rtlCol="0" anchor="ctr">
            <a:normAutofit/>
          </a:bodyPr>
          <a:lstStyle/>
          <a:p>
            <a:pPr algn="l" indent="0" marL="0">
              <a:buNone/>
            </a:pPr>
            <a:r>
              <a:rPr lang="en-US" sz="840" b="1" dirty="0">
                <a:solidFill>
                  <a:srgbClr val="202729"/>
                </a:solidFill>
                <a:latin typeface="Aptos" pitchFamily="34" charset="0"/>
                <a:ea typeface="Aptos" pitchFamily="34" charset="-122"/>
                <a:cs typeface="Aptos" pitchFamily="34" charset="-120"/>
              </a:rPr>
              <a:t>Simulate</a:t>
            </a:r>
            <a:endParaRPr lang="en-US" sz="840" dirty="0"/>
          </a:p>
        </p:txBody>
      </p:sp>
      <p:sp>
        <p:nvSpPr>
          <p:cNvPr id="73" name="Text 71"/>
          <p:cNvSpPr/>
          <p:nvPr/>
        </p:nvSpPr>
        <p:spPr>
          <a:xfrm>
            <a:off x="5559552" y="5148072"/>
            <a:ext cx="1188720" cy="82296"/>
          </a:xfrm>
          <a:prstGeom prst="rect">
            <a:avLst/>
          </a:prstGeom>
          <a:noFill/>
          <a:ln/>
        </p:spPr>
        <p:txBody>
          <a:bodyPr wrap="square" lIns="0" tIns="0" rIns="0" bIns="0" rtlCol="0" anchor="ctr">
            <a:normAutofit/>
          </a:bodyPr>
          <a:lstStyle/>
          <a:p>
            <a:pPr algn="l" indent="0" marL="0">
              <a:buNone/>
            </a:pPr>
            <a:r>
              <a:rPr lang="en-US" sz="690" dirty="0">
                <a:solidFill>
                  <a:srgbClr val="687373"/>
                </a:solidFill>
                <a:latin typeface="Aptos" pitchFamily="34" charset="0"/>
                <a:ea typeface="Aptos" pitchFamily="34" charset="-122"/>
                <a:cs typeface="Aptos" pitchFamily="34" charset="-120"/>
              </a:rPr>
              <a:t>bounded what-if</a:t>
            </a:r>
            <a:endParaRPr lang="en-US" sz="690" dirty="0"/>
          </a:p>
        </p:txBody>
      </p:sp>
      <p:sp>
        <p:nvSpPr>
          <p:cNvPr id="74" name="Shape 72"/>
          <p:cNvSpPr/>
          <p:nvPr/>
        </p:nvSpPr>
        <p:spPr>
          <a:xfrm>
            <a:off x="6812280" y="5047488"/>
            <a:ext cx="237744" cy="201168"/>
          </a:xfrm>
          <a:prstGeom prst="chevron">
            <a:avLst/>
          </a:prstGeom>
          <a:solidFill>
            <a:srgbClr val="465057"/>
          </a:solidFill>
          <a:ln w="12700">
            <a:solidFill>
              <a:srgbClr val="465057">
                <a:alpha val="0"/>
              </a:srgbClr>
            </a:solidFill>
            <a:prstDash val="solid"/>
          </a:ln>
        </p:spPr>
      </p:sp>
      <p:sp>
        <p:nvSpPr>
          <p:cNvPr id="75" name="Shape 73"/>
          <p:cNvSpPr/>
          <p:nvPr/>
        </p:nvSpPr>
        <p:spPr>
          <a:xfrm>
            <a:off x="7296912" y="4956048"/>
            <a:ext cx="384048" cy="384048"/>
          </a:xfrm>
          <a:prstGeom prst="ellipse">
            <a:avLst/>
          </a:prstGeom>
          <a:solidFill>
            <a:srgbClr val="B64A2D"/>
          </a:solidFill>
          <a:ln w="6350">
            <a:solidFill>
              <a:srgbClr val="B64A2D"/>
            </a:solidFill>
            <a:prstDash val="solid"/>
          </a:ln>
        </p:spPr>
      </p:sp>
      <p:sp>
        <p:nvSpPr>
          <p:cNvPr id="76" name="Text 74"/>
          <p:cNvSpPr/>
          <p:nvPr/>
        </p:nvSpPr>
        <p:spPr>
          <a:xfrm>
            <a:off x="7296912" y="5079492"/>
            <a:ext cx="384048" cy="73152"/>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Aptos" pitchFamily="34" charset="0"/>
                <a:ea typeface="Aptos" pitchFamily="34" charset="-122"/>
                <a:cs typeface="Aptos" pitchFamily="34" charset="-120"/>
              </a:rPr>
              <a:t>4</a:t>
            </a:r>
            <a:endParaRPr lang="en-US" sz="700" dirty="0"/>
          </a:p>
        </p:txBody>
      </p:sp>
      <p:sp>
        <p:nvSpPr>
          <p:cNvPr id="77" name="Text 75"/>
          <p:cNvSpPr/>
          <p:nvPr/>
        </p:nvSpPr>
        <p:spPr>
          <a:xfrm>
            <a:off x="7799832" y="4974336"/>
            <a:ext cx="941832" cy="109728"/>
          </a:xfrm>
          <a:prstGeom prst="rect">
            <a:avLst/>
          </a:prstGeom>
          <a:noFill/>
          <a:ln/>
        </p:spPr>
        <p:txBody>
          <a:bodyPr wrap="square" lIns="0" tIns="0" rIns="0" bIns="0" rtlCol="0" anchor="ctr">
            <a:normAutofit/>
          </a:bodyPr>
          <a:lstStyle/>
          <a:p>
            <a:pPr algn="l" indent="0" marL="0">
              <a:buNone/>
            </a:pPr>
            <a:r>
              <a:rPr lang="en-US" sz="840" b="1" dirty="0">
                <a:solidFill>
                  <a:srgbClr val="202729"/>
                </a:solidFill>
                <a:latin typeface="Aptos" pitchFamily="34" charset="0"/>
                <a:ea typeface="Aptos" pitchFamily="34" charset="-122"/>
                <a:cs typeface="Aptos" pitchFamily="34" charset="-120"/>
              </a:rPr>
              <a:t>Approve</a:t>
            </a:r>
            <a:endParaRPr lang="en-US" sz="840" dirty="0"/>
          </a:p>
        </p:txBody>
      </p:sp>
      <p:sp>
        <p:nvSpPr>
          <p:cNvPr id="78" name="Text 76"/>
          <p:cNvSpPr/>
          <p:nvPr/>
        </p:nvSpPr>
        <p:spPr>
          <a:xfrm>
            <a:off x="7799832" y="5148072"/>
            <a:ext cx="1188720" cy="82296"/>
          </a:xfrm>
          <a:prstGeom prst="rect">
            <a:avLst/>
          </a:prstGeom>
          <a:noFill/>
          <a:ln/>
        </p:spPr>
        <p:txBody>
          <a:bodyPr wrap="square" lIns="0" tIns="0" rIns="0" bIns="0" rtlCol="0" anchor="ctr">
            <a:normAutofit/>
          </a:bodyPr>
          <a:lstStyle/>
          <a:p>
            <a:pPr algn="l" indent="0" marL="0">
              <a:buNone/>
            </a:pPr>
            <a:r>
              <a:rPr lang="en-US" sz="690" dirty="0">
                <a:solidFill>
                  <a:srgbClr val="687373"/>
                </a:solidFill>
                <a:latin typeface="Aptos" pitchFamily="34" charset="0"/>
                <a:ea typeface="Aptos" pitchFamily="34" charset="-122"/>
                <a:cs typeface="Aptos" pitchFamily="34" charset="-120"/>
              </a:rPr>
              <a:t>human decision</a:t>
            </a:r>
            <a:endParaRPr lang="en-US" sz="690" dirty="0"/>
          </a:p>
        </p:txBody>
      </p:sp>
      <p:sp>
        <p:nvSpPr>
          <p:cNvPr id="79" name="Shape 77"/>
          <p:cNvSpPr/>
          <p:nvPr/>
        </p:nvSpPr>
        <p:spPr>
          <a:xfrm>
            <a:off x="9052560" y="5047488"/>
            <a:ext cx="237744" cy="201168"/>
          </a:xfrm>
          <a:prstGeom prst="chevron">
            <a:avLst/>
          </a:prstGeom>
          <a:solidFill>
            <a:srgbClr val="465057"/>
          </a:solidFill>
          <a:ln w="12700">
            <a:solidFill>
              <a:srgbClr val="465057">
                <a:alpha val="0"/>
              </a:srgbClr>
            </a:solidFill>
            <a:prstDash val="solid"/>
          </a:ln>
        </p:spPr>
      </p:sp>
      <p:sp>
        <p:nvSpPr>
          <p:cNvPr id="80" name="Shape 78"/>
          <p:cNvSpPr/>
          <p:nvPr/>
        </p:nvSpPr>
        <p:spPr>
          <a:xfrm>
            <a:off x="9537192" y="4956048"/>
            <a:ext cx="384048" cy="384048"/>
          </a:xfrm>
          <a:prstGeom prst="ellipse">
            <a:avLst/>
          </a:prstGeom>
          <a:solidFill>
            <a:srgbClr val="6D9A6F"/>
          </a:solidFill>
          <a:ln w="6350">
            <a:solidFill>
              <a:srgbClr val="6D9A6F"/>
            </a:solidFill>
            <a:prstDash val="solid"/>
          </a:ln>
        </p:spPr>
      </p:sp>
      <p:sp>
        <p:nvSpPr>
          <p:cNvPr id="81" name="Text 79"/>
          <p:cNvSpPr/>
          <p:nvPr/>
        </p:nvSpPr>
        <p:spPr>
          <a:xfrm>
            <a:off x="9537192" y="5079492"/>
            <a:ext cx="384048" cy="73152"/>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Aptos" pitchFamily="34" charset="0"/>
                <a:ea typeface="Aptos" pitchFamily="34" charset="-122"/>
                <a:cs typeface="Aptos" pitchFamily="34" charset="-120"/>
              </a:rPr>
              <a:t>5</a:t>
            </a:r>
            <a:endParaRPr lang="en-US" sz="700" dirty="0"/>
          </a:p>
        </p:txBody>
      </p:sp>
      <p:sp>
        <p:nvSpPr>
          <p:cNvPr id="82" name="Text 80"/>
          <p:cNvSpPr/>
          <p:nvPr/>
        </p:nvSpPr>
        <p:spPr>
          <a:xfrm>
            <a:off x="10040112" y="4974336"/>
            <a:ext cx="941832" cy="109728"/>
          </a:xfrm>
          <a:prstGeom prst="rect">
            <a:avLst/>
          </a:prstGeom>
          <a:noFill/>
          <a:ln/>
        </p:spPr>
        <p:txBody>
          <a:bodyPr wrap="square" lIns="0" tIns="0" rIns="0" bIns="0" rtlCol="0" anchor="ctr">
            <a:normAutofit/>
          </a:bodyPr>
          <a:lstStyle/>
          <a:p>
            <a:pPr algn="l" indent="0" marL="0">
              <a:buNone/>
            </a:pPr>
            <a:r>
              <a:rPr lang="en-US" sz="840" b="1" dirty="0">
                <a:solidFill>
                  <a:srgbClr val="202729"/>
                </a:solidFill>
                <a:latin typeface="Aptos" pitchFamily="34" charset="0"/>
                <a:ea typeface="Aptos" pitchFamily="34" charset="-122"/>
                <a:cs typeface="Aptos" pitchFamily="34" charset="-120"/>
              </a:rPr>
              <a:t>Learn</a:t>
            </a:r>
            <a:endParaRPr lang="en-US" sz="840" dirty="0"/>
          </a:p>
        </p:txBody>
      </p:sp>
      <p:sp>
        <p:nvSpPr>
          <p:cNvPr id="83" name="Text 81"/>
          <p:cNvSpPr/>
          <p:nvPr/>
        </p:nvSpPr>
        <p:spPr>
          <a:xfrm>
            <a:off x="10040112" y="5148072"/>
            <a:ext cx="1188720" cy="82296"/>
          </a:xfrm>
          <a:prstGeom prst="rect">
            <a:avLst/>
          </a:prstGeom>
          <a:noFill/>
          <a:ln/>
        </p:spPr>
        <p:txBody>
          <a:bodyPr wrap="square" lIns="0" tIns="0" rIns="0" bIns="0" rtlCol="0" anchor="ctr">
            <a:normAutofit/>
          </a:bodyPr>
          <a:lstStyle/>
          <a:p>
            <a:pPr algn="l" indent="0" marL="0">
              <a:buNone/>
            </a:pPr>
            <a:r>
              <a:rPr lang="en-US" sz="690" dirty="0">
                <a:solidFill>
                  <a:srgbClr val="687373"/>
                </a:solidFill>
                <a:latin typeface="Aptos" pitchFamily="34" charset="0"/>
                <a:ea typeface="Aptos" pitchFamily="34" charset="-122"/>
                <a:cs typeface="Aptos" pitchFamily="34" charset="-120"/>
              </a:rPr>
              <a:t>audit outcome</a:t>
            </a:r>
            <a:endParaRPr lang="en-US" sz="690" dirty="0"/>
          </a:p>
        </p:txBody>
      </p:sp>
      <p:sp>
        <p:nvSpPr>
          <p:cNvPr id="84" name="Text 82"/>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Source cue | personas-and-journeys.md  •  demo-runbook.md §2</a:t>
            </a:r>
            <a:endParaRPr lang="en-US" sz="660" dirty="0"/>
          </a:p>
        </p:txBody>
      </p:sp>
      <p:sp>
        <p:nvSpPr>
          <p:cNvPr id="85" name="Shape 83"/>
          <p:cNvSpPr/>
          <p:nvPr/>
        </p:nvSpPr>
        <p:spPr>
          <a:xfrm>
            <a:off x="0" y="6483096"/>
            <a:ext cx="12191695" cy="374904"/>
          </a:xfrm>
          <a:prstGeom prst="rect">
            <a:avLst/>
          </a:prstGeom>
          <a:solidFill>
            <a:srgbClr val="E9E7E1"/>
          </a:solidFill>
          <a:ln w="6350">
            <a:solidFill>
              <a:srgbClr val="E9E7E1"/>
            </a:solidFill>
            <a:prstDash val="solid"/>
          </a:ln>
        </p:spPr>
      </p:sp>
      <p:sp>
        <p:nvSpPr>
          <p:cNvPr id="86" name="Shape 84"/>
          <p:cNvSpPr/>
          <p:nvPr/>
        </p:nvSpPr>
        <p:spPr>
          <a:xfrm>
            <a:off x="384048" y="6547104"/>
            <a:ext cx="3547872" cy="182880"/>
          </a:xfrm>
          <a:prstGeom prst="roundRect">
            <a:avLst/>
          </a:prstGeom>
          <a:solidFill>
            <a:srgbClr val="FFFFFF"/>
          </a:solidFill>
          <a:ln w="3175">
            <a:solidFill>
              <a:srgbClr val="DDE4E1"/>
            </a:solidFill>
            <a:prstDash val="solid"/>
          </a:ln>
        </p:spPr>
      </p:sp>
      <p:sp>
        <p:nvSpPr>
          <p:cNvPr id="87" name="Text 85"/>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88" name="Text 86"/>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ORAL DEFENSE  •  07 / 20</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719"/>
        </a:solidFill>
      </p:bgPr>
    </p:bg>
    <p:spTree>
      <p:nvGrpSpPr>
        <p:cNvPr id="1" name=""/>
        <p:cNvGrpSpPr/>
        <p:nvPr/>
      </p:nvGrpSpPr>
      <p:grpSpPr>
        <a:xfrm>
          <a:off x="0" y="0"/>
          <a:ext cx="0" cy="0"/>
          <a:chOff x="0" y="0"/>
          <a:chExt cx="0" cy="0"/>
        </a:xfrm>
      </p:grpSpPr>
      <p:pic>
        <p:nvPicPr>
          <p:cNvPr id="2" name="Image 0" descr="D:\work\20260724 - Novasteel 3\tools\presentation\assets\steel-texture.png">    </p:cNvPr>
          <p:cNvPicPr>
            <a:picLocks noChangeAspect="1"/>
          </p:cNvPicPr>
          <p:nvPr/>
        </p:nvPicPr>
        <p:blipFill>
          <a:blip r:embed="rId1">
            <a:alphaModFix amt="34000"/>
          </a:blip>
          <a:stretch>
            <a:fillRect/>
          </a:stretch>
        </p:blipFill>
        <p:spPr>
          <a:xfrm>
            <a:off x="0" y="0"/>
            <a:ext cx="12191695" cy="6858000"/>
          </a:xfrm>
          <a:prstGeom prst="rect">
            <a:avLst/>
          </a:prstGeom>
        </p:spPr>
      </p:pic>
      <p:sp>
        <p:nvSpPr>
          <p:cNvPr id="3" name="Shape 0"/>
          <p:cNvSpPr/>
          <p:nvPr/>
        </p:nvSpPr>
        <p:spPr>
          <a:xfrm>
            <a:off x="457200" y="274320"/>
            <a:ext cx="822960" cy="246888"/>
          </a:xfrm>
          <a:prstGeom prst="roundRect">
            <a:avLst/>
          </a:prstGeom>
          <a:solidFill>
            <a:srgbClr val="465057"/>
          </a:solidFill>
          <a:ln w="5080">
            <a:solidFill>
              <a:srgbClr val="465057"/>
            </a:solidFill>
            <a:prstDash val="solid"/>
          </a:ln>
        </p:spPr>
      </p:sp>
      <p:sp>
        <p:nvSpPr>
          <p:cNvPr id="4" name="Text 1"/>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08</a:t>
            </a:r>
            <a:endParaRPr lang="en-US" sz="720" dirty="0"/>
          </a:p>
        </p:txBody>
      </p:sp>
      <p:sp>
        <p:nvSpPr>
          <p:cNvPr id="5" name="Text 2"/>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AEB9BA"/>
                </a:solidFill>
                <a:latin typeface="Aptos" pitchFamily="34" charset="0"/>
                <a:ea typeface="Aptos" pitchFamily="34" charset="-122"/>
                <a:cs typeface="Aptos" pitchFamily="34" charset="-120"/>
              </a:rPr>
              <a:t>ARCHITECTURE MAP</a:t>
            </a:r>
            <a:endParaRPr lang="en-US" sz="810" dirty="0"/>
          </a:p>
        </p:txBody>
      </p:sp>
      <p:sp>
        <p:nvSpPr>
          <p:cNvPr id="6" name="Shape 3"/>
          <p:cNvSpPr/>
          <p:nvPr/>
        </p:nvSpPr>
        <p:spPr>
          <a:xfrm>
            <a:off x="10040112" y="274320"/>
            <a:ext cx="1673352" cy="256032"/>
          </a:xfrm>
          <a:prstGeom prst="roundRect">
            <a:avLst/>
          </a:prstGeom>
          <a:solidFill>
            <a:srgbClr val="1F2426"/>
          </a:solidFill>
          <a:ln w="6350">
            <a:solidFill>
              <a:srgbClr val="465057"/>
            </a:solidFill>
            <a:prstDash val="solid"/>
          </a:ln>
        </p:spPr>
      </p:sp>
      <p:sp>
        <p:nvSpPr>
          <p:cNvPr id="7" name="Text 4"/>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AEB9BA"/>
                </a:solidFill>
                <a:latin typeface="Aptos" pitchFamily="34" charset="0"/>
                <a:ea typeface="Aptos" pitchFamily="34" charset="-122"/>
                <a:cs typeface="Aptos" pitchFamily="34" charset="-120"/>
              </a:rPr>
              <a:t>09:30–11:30</a:t>
            </a:r>
            <a:endParaRPr lang="en-US" sz="720" dirty="0"/>
          </a:p>
        </p:txBody>
      </p:sp>
      <p:sp>
        <p:nvSpPr>
          <p:cNvPr id="8" name="Text 5"/>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FFFFFF"/>
                </a:solidFill>
                <a:latin typeface="Bahnschrift SemiBold" pitchFamily="34" charset="0"/>
                <a:ea typeface="Bahnschrift SemiBold" pitchFamily="34" charset="-122"/>
                <a:cs typeface="Bahnschrift SemiBold" pitchFamily="34" charset="-120"/>
              </a:rPr>
              <a:t>From plant signal to governed persona experience</a:t>
            </a:r>
            <a:endParaRPr lang="en-US" sz="2550" dirty="0"/>
          </a:p>
        </p:txBody>
      </p:sp>
      <p:sp>
        <p:nvSpPr>
          <p:cNvPr id="9" name="Shape 6"/>
          <p:cNvSpPr/>
          <p:nvPr/>
        </p:nvSpPr>
        <p:spPr>
          <a:xfrm>
            <a:off x="457200" y="1188720"/>
            <a:ext cx="1439266" cy="246888"/>
          </a:xfrm>
          <a:prstGeom prst="roundRect">
            <a:avLst/>
          </a:prstGeom>
          <a:solidFill>
            <a:srgbClr val="465057"/>
          </a:solidFill>
          <a:ln w="5080">
            <a:solidFill>
              <a:srgbClr val="465057"/>
            </a:solidFill>
            <a:prstDash val="solid"/>
          </a:ln>
        </p:spPr>
      </p:sp>
      <p:sp>
        <p:nvSpPr>
          <p:cNvPr id="10" name="Text 7"/>
          <p:cNvSpPr/>
          <p:nvPr/>
        </p:nvSpPr>
        <p:spPr>
          <a:xfrm>
            <a:off x="576072" y="1239012"/>
            <a:ext cx="1201522"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SWEDEN CENTRAL + EU</a:t>
            </a:r>
            <a:endParaRPr lang="en-US" sz="720" dirty="0"/>
          </a:p>
        </p:txBody>
      </p:sp>
      <p:sp>
        <p:nvSpPr>
          <p:cNvPr id="11" name="Shape 8"/>
          <p:cNvSpPr/>
          <p:nvPr/>
        </p:nvSpPr>
        <p:spPr>
          <a:xfrm>
            <a:off x="475488" y="1847088"/>
            <a:ext cx="1920240" cy="2514600"/>
          </a:xfrm>
          <a:prstGeom prst="roundRect">
            <a:avLst/>
          </a:prstGeom>
          <a:solidFill>
            <a:srgbClr val="1F2426"/>
          </a:solidFill>
          <a:ln w="15875">
            <a:solidFill>
              <a:srgbClr val="B64A2D"/>
            </a:solidFill>
            <a:prstDash val="solid"/>
          </a:ln>
        </p:spPr>
      </p:sp>
      <p:sp>
        <p:nvSpPr>
          <p:cNvPr id="12" name="Shape 9"/>
          <p:cNvSpPr/>
          <p:nvPr/>
        </p:nvSpPr>
        <p:spPr>
          <a:xfrm>
            <a:off x="475488" y="1847088"/>
            <a:ext cx="1920240" cy="91440"/>
          </a:xfrm>
          <a:prstGeom prst="rect">
            <a:avLst/>
          </a:prstGeom>
          <a:solidFill>
            <a:srgbClr val="B64A2D"/>
          </a:solidFill>
          <a:ln w="6350">
            <a:solidFill>
              <a:srgbClr val="B64A2D"/>
            </a:solidFill>
            <a:prstDash val="solid"/>
          </a:ln>
        </p:spPr>
      </p:sp>
      <p:sp>
        <p:nvSpPr>
          <p:cNvPr id="13" name="Text 10"/>
          <p:cNvSpPr/>
          <p:nvPr/>
        </p:nvSpPr>
        <p:spPr>
          <a:xfrm>
            <a:off x="658368" y="2167128"/>
            <a:ext cx="1554480" cy="16459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Bahnschrift SemiBold" pitchFamily="34" charset="0"/>
                <a:ea typeface="Bahnschrift SemiBold" pitchFamily="34" charset="-122"/>
                <a:cs typeface="Bahnschrift SemiBold" pitchFamily="34" charset="-120"/>
              </a:rPr>
              <a:t>SITES</a:t>
            </a:r>
            <a:endParaRPr lang="en-US" sz="1100" dirty="0"/>
          </a:p>
        </p:txBody>
      </p:sp>
      <p:sp>
        <p:nvSpPr>
          <p:cNvPr id="14" name="Text 11"/>
          <p:cNvSpPr/>
          <p:nvPr/>
        </p:nvSpPr>
        <p:spPr>
          <a:xfrm>
            <a:off x="640080" y="2660904"/>
            <a:ext cx="1591056" cy="576072"/>
          </a:xfrm>
          <a:prstGeom prst="rect">
            <a:avLst/>
          </a:prstGeom>
          <a:noFill/>
          <a:ln/>
        </p:spPr>
        <p:txBody>
          <a:bodyPr wrap="square" lIns="0" tIns="0" rIns="0" bIns="0" rtlCol="0" anchor="ctr">
            <a:normAutofit/>
          </a:bodyPr>
          <a:lstStyle/>
          <a:p>
            <a:pPr algn="ctr" indent="0" marL="0">
              <a:buNone/>
            </a:pPr>
            <a:r>
              <a:rPr lang="en-US" sz="900" dirty="0">
                <a:solidFill>
                  <a:srgbClr val="AEB9BA"/>
                </a:solidFill>
                <a:latin typeface="Aptos" pitchFamily="34" charset="0"/>
                <a:ea typeface="Aptos" pitchFamily="34" charset="-122"/>
                <a:cs typeface="Aptos" pitchFamily="34" charset="-120"/>
              </a:rPr>
              <a:t>Purdue L3.5</a:t>
            </a:r>
            <a:endParaRPr lang="en-US" sz="900" dirty="0"/>
          </a:p>
          <a:p>
            <a:pPr algn="ctr" indent="0" marL="0">
              <a:buNone/>
            </a:pPr>
            <a:r>
              <a:rPr lang="en-US" sz="900" dirty="0">
                <a:solidFill>
                  <a:srgbClr val="AEB9BA"/>
                </a:solidFill>
                <a:latin typeface="Aptos" pitchFamily="34" charset="0"/>
                <a:ea typeface="Aptos" pitchFamily="34" charset="-122"/>
                <a:cs typeface="Aptos" pitchFamily="34" charset="-120"/>
              </a:rPr>
              <a:t>OT gateway</a:t>
            </a:r>
            <a:endParaRPr lang="en-US" sz="900" dirty="0"/>
          </a:p>
          <a:p>
            <a:pPr algn="ctr" indent="0" marL="0">
              <a:buNone/>
            </a:pPr>
            <a:r>
              <a:rPr lang="en-US" sz="900" dirty="0">
                <a:solidFill>
                  <a:srgbClr val="AEB9BA"/>
                </a:solidFill>
                <a:latin typeface="Aptos" pitchFamily="34" charset="0"/>
                <a:ea typeface="Aptos" pitchFamily="34" charset="-122"/>
                <a:cs typeface="Aptos" pitchFamily="34" charset="-120"/>
              </a:rPr>
              <a:t>outbound only</a:t>
            </a:r>
            <a:endParaRPr lang="en-US" sz="900" dirty="0"/>
          </a:p>
        </p:txBody>
      </p:sp>
      <p:sp>
        <p:nvSpPr>
          <p:cNvPr id="15" name="Shape 12"/>
          <p:cNvSpPr/>
          <p:nvPr/>
        </p:nvSpPr>
        <p:spPr>
          <a:xfrm>
            <a:off x="2468880" y="2834640"/>
            <a:ext cx="173736" cy="320040"/>
          </a:xfrm>
          <a:prstGeom prst="chevron">
            <a:avLst/>
          </a:prstGeom>
          <a:solidFill>
            <a:srgbClr val="465057"/>
          </a:solidFill>
          <a:ln w="12700">
            <a:solidFill>
              <a:srgbClr val="465057">
                <a:alpha val="0"/>
              </a:srgbClr>
            </a:solidFill>
            <a:prstDash val="solid"/>
          </a:ln>
        </p:spPr>
      </p:sp>
      <p:sp>
        <p:nvSpPr>
          <p:cNvPr id="16" name="Shape 13"/>
          <p:cNvSpPr/>
          <p:nvPr/>
        </p:nvSpPr>
        <p:spPr>
          <a:xfrm>
            <a:off x="2660904" y="1847088"/>
            <a:ext cx="1920240" cy="2514600"/>
          </a:xfrm>
          <a:prstGeom prst="roundRect">
            <a:avLst/>
          </a:prstGeom>
          <a:solidFill>
            <a:srgbClr val="1F2426"/>
          </a:solidFill>
          <a:ln w="15875">
            <a:solidFill>
              <a:srgbClr val="E3A72F"/>
            </a:solidFill>
            <a:prstDash val="solid"/>
          </a:ln>
        </p:spPr>
      </p:sp>
      <p:sp>
        <p:nvSpPr>
          <p:cNvPr id="17" name="Shape 14"/>
          <p:cNvSpPr/>
          <p:nvPr/>
        </p:nvSpPr>
        <p:spPr>
          <a:xfrm>
            <a:off x="2660904" y="1847088"/>
            <a:ext cx="1920240" cy="91440"/>
          </a:xfrm>
          <a:prstGeom prst="rect">
            <a:avLst/>
          </a:prstGeom>
          <a:solidFill>
            <a:srgbClr val="E3A72F"/>
          </a:solidFill>
          <a:ln w="6350">
            <a:solidFill>
              <a:srgbClr val="E3A72F"/>
            </a:solidFill>
            <a:prstDash val="solid"/>
          </a:ln>
        </p:spPr>
      </p:sp>
      <p:sp>
        <p:nvSpPr>
          <p:cNvPr id="18" name="Text 15"/>
          <p:cNvSpPr/>
          <p:nvPr/>
        </p:nvSpPr>
        <p:spPr>
          <a:xfrm>
            <a:off x="2843784" y="2167128"/>
            <a:ext cx="1554480" cy="16459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Bahnschrift SemiBold" pitchFamily="34" charset="0"/>
                <a:ea typeface="Bahnschrift SemiBold" pitchFamily="34" charset="-122"/>
                <a:cs typeface="Bahnschrift SemiBold" pitchFamily="34" charset="-120"/>
              </a:rPr>
              <a:t>INGRESS</a:t>
            </a:r>
            <a:endParaRPr lang="en-US" sz="1100" dirty="0"/>
          </a:p>
        </p:txBody>
      </p:sp>
      <p:sp>
        <p:nvSpPr>
          <p:cNvPr id="19" name="Text 16"/>
          <p:cNvSpPr/>
          <p:nvPr/>
        </p:nvSpPr>
        <p:spPr>
          <a:xfrm>
            <a:off x="2825496" y="2660904"/>
            <a:ext cx="1591056" cy="576072"/>
          </a:xfrm>
          <a:prstGeom prst="rect">
            <a:avLst/>
          </a:prstGeom>
          <a:noFill/>
          <a:ln/>
        </p:spPr>
        <p:txBody>
          <a:bodyPr wrap="square" lIns="0" tIns="0" rIns="0" bIns="0" rtlCol="0" anchor="ctr">
            <a:normAutofit/>
          </a:bodyPr>
          <a:lstStyle/>
          <a:p>
            <a:pPr algn="ctr" indent="0" marL="0">
              <a:buNone/>
            </a:pPr>
            <a:r>
              <a:rPr lang="en-US" sz="900" dirty="0">
                <a:solidFill>
                  <a:srgbClr val="AEB9BA"/>
                </a:solidFill>
                <a:latin typeface="Aptos" pitchFamily="34" charset="0"/>
                <a:ea typeface="Aptos" pitchFamily="34" charset="-122"/>
                <a:cs typeface="Aptos" pitchFamily="34" charset="-120"/>
              </a:rPr>
              <a:t>Event Hubs</a:t>
            </a:r>
            <a:endParaRPr lang="en-US" sz="900" dirty="0"/>
          </a:p>
          <a:p>
            <a:pPr algn="ctr" indent="0" marL="0">
              <a:buNone/>
            </a:pPr>
            <a:r>
              <a:rPr lang="en-US" sz="900" dirty="0">
                <a:solidFill>
                  <a:srgbClr val="AEB9BA"/>
                </a:solidFill>
                <a:latin typeface="Aptos" pitchFamily="34" charset="0"/>
                <a:ea typeface="Aptos" pitchFamily="34" charset="-122"/>
                <a:cs typeface="Aptos" pitchFamily="34" charset="-120"/>
              </a:rPr>
              <a:t>MI relay</a:t>
            </a:r>
            <a:endParaRPr lang="en-US" sz="900" dirty="0"/>
          </a:p>
          <a:p>
            <a:pPr algn="ctr" indent="0" marL="0">
              <a:buNone/>
            </a:pPr>
            <a:r>
              <a:rPr lang="en-US" sz="900" dirty="0">
                <a:solidFill>
                  <a:srgbClr val="AEB9BA"/>
                </a:solidFill>
                <a:latin typeface="Aptos" pitchFamily="34" charset="0"/>
                <a:ea typeface="Aptos" pitchFamily="34" charset="-122"/>
                <a:cs typeface="Aptos" pitchFamily="34" charset="-120"/>
              </a:rPr>
              <a:t>no SAS</a:t>
            </a:r>
            <a:endParaRPr lang="en-US" sz="900" dirty="0"/>
          </a:p>
        </p:txBody>
      </p:sp>
      <p:sp>
        <p:nvSpPr>
          <p:cNvPr id="20" name="Shape 17"/>
          <p:cNvSpPr/>
          <p:nvPr/>
        </p:nvSpPr>
        <p:spPr>
          <a:xfrm>
            <a:off x="4654296" y="2834640"/>
            <a:ext cx="173736" cy="320040"/>
          </a:xfrm>
          <a:prstGeom prst="chevron">
            <a:avLst/>
          </a:prstGeom>
          <a:solidFill>
            <a:srgbClr val="465057"/>
          </a:solidFill>
          <a:ln w="12700">
            <a:solidFill>
              <a:srgbClr val="465057">
                <a:alpha val="0"/>
              </a:srgbClr>
            </a:solidFill>
            <a:prstDash val="solid"/>
          </a:ln>
        </p:spPr>
      </p:sp>
      <p:sp>
        <p:nvSpPr>
          <p:cNvPr id="21" name="Shape 18"/>
          <p:cNvSpPr/>
          <p:nvPr/>
        </p:nvSpPr>
        <p:spPr>
          <a:xfrm>
            <a:off x="4846320" y="1847088"/>
            <a:ext cx="2468880" cy="2514600"/>
          </a:xfrm>
          <a:prstGeom prst="roundRect">
            <a:avLst/>
          </a:prstGeom>
          <a:solidFill>
            <a:srgbClr val="1F2426"/>
          </a:solidFill>
          <a:ln w="15875">
            <a:solidFill>
              <a:srgbClr val="147D74"/>
            </a:solidFill>
            <a:prstDash val="solid"/>
          </a:ln>
        </p:spPr>
      </p:sp>
      <p:sp>
        <p:nvSpPr>
          <p:cNvPr id="22" name="Shape 19"/>
          <p:cNvSpPr/>
          <p:nvPr/>
        </p:nvSpPr>
        <p:spPr>
          <a:xfrm>
            <a:off x="4846320" y="1847088"/>
            <a:ext cx="2468880" cy="91440"/>
          </a:xfrm>
          <a:prstGeom prst="rect">
            <a:avLst/>
          </a:prstGeom>
          <a:solidFill>
            <a:srgbClr val="147D74"/>
          </a:solidFill>
          <a:ln w="6350">
            <a:solidFill>
              <a:srgbClr val="147D74"/>
            </a:solidFill>
            <a:prstDash val="solid"/>
          </a:ln>
        </p:spPr>
      </p:sp>
      <p:sp>
        <p:nvSpPr>
          <p:cNvPr id="23" name="Text 20"/>
          <p:cNvSpPr/>
          <p:nvPr/>
        </p:nvSpPr>
        <p:spPr>
          <a:xfrm>
            <a:off x="5029200" y="2167128"/>
            <a:ext cx="2103120" cy="16459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Bahnschrift SemiBold" pitchFamily="34" charset="0"/>
                <a:ea typeface="Bahnschrift SemiBold" pitchFamily="34" charset="-122"/>
                <a:cs typeface="Bahnschrift SemiBold" pitchFamily="34" charset="-120"/>
              </a:rPr>
              <a:t>FABRIC CORE</a:t>
            </a:r>
            <a:endParaRPr lang="en-US" sz="1100" dirty="0"/>
          </a:p>
        </p:txBody>
      </p:sp>
      <p:sp>
        <p:nvSpPr>
          <p:cNvPr id="24" name="Text 21"/>
          <p:cNvSpPr/>
          <p:nvPr/>
        </p:nvSpPr>
        <p:spPr>
          <a:xfrm>
            <a:off x="5010912" y="2660904"/>
            <a:ext cx="2139696" cy="576072"/>
          </a:xfrm>
          <a:prstGeom prst="rect">
            <a:avLst/>
          </a:prstGeom>
          <a:noFill/>
          <a:ln/>
        </p:spPr>
        <p:txBody>
          <a:bodyPr wrap="square" lIns="0" tIns="0" rIns="0" bIns="0" rtlCol="0" anchor="ctr">
            <a:normAutofit/>
          </a:bodyPr>
          <a:lstStyle/>
          <a:p>
            <a:pPr algn="ctr" indent="0" marL="0">
              <a:buNone/>
            </a:pPr>
            <a:r>
              <a:rPr lang="en-US" sz="900" dirty="0">
                <a:solidFill>
                  <a:srgbClr val="AEB9BA"/>
                </a:solidFill>
                <a:latin typeface="Aptos" pitchFamily="34" charset="0"/>
                <a:ea typeface="Aptos" pitchFamily="34" charset="-122"/>
                <a:cs typeface="Aptos" pitchFamily="34" charset="-120"/>
              </a:rPr>
              <a:t>Eventstream → KQL</a:t>
            </a:r>
            <a:endParaRPr lang="en-US" sz="900" dirty="0"/>
          </a:p>
          <a:p>
            <a:pPr algn="ctr" indent="0" marL="0">
              <a:buNone/>
            </a:pPr>
            <a:r>
              <a:rPr lang="en-US" sz="900" dirty="0">
                <a:solidFill>
                  <a:srgbClr val="AEB9BA"/>
                </a:solidFill>
                <a:latin typeface="Aptos" pitchFamily="34" charset="0"/>
                <a:ea typeface="Aptos" pitchFamily="34" charset="-122"/>
                <a:cs typeface="Aptos" pitchFamily="34" charset="-120"/>
              </a:rPr>
              <a:t>OneLake → Delta</a:t>
            </a:r>
            <a:endParaRPr lang="en-US" sz="900" dirty="0"/>
          </a:p>
          <a:p>
            <a:pPr algn="ctr" indent="0" marL="0">
              <a:buNone/>
            </a:pPr>
            <a:r>
              <a:rPr lang="en-US" sz="900" dirty="0">
                <a:solidFill>
                  <a:srgbClr val="AEB9BA"/>
                </a:solidFill>
                <a:latin typeface="Aptos" pitchFamily="34" charset="0"/>
                <a:ea typeface="Aptos" pitchFamily="34" charset="-122"/>
                <a:cs typeface="Aptos" pitchFamily="34" charset="-120"/>
              </a:rPr>
              <a:t>Direct Lake</a:t>
            </a:r>
            <a:endParaRPr lang="en-US" sz="900" dirty="0"/>
          </a:p>
        </p:txBody>
      </p:sp>
      <p:sp>
        <p:nvSpPr>
          <p:cNvPr id="25" name="Shape 22"/>
          <p:cNvSpPr/>
          <p:nvPr/>
        </p:nvSpPr>
        <p:spPr>
          <a:xfrm>
            <a:off x="7388352" y="2834640"/>
            <a:ext cx="173736" cy="320040"/>
          </a:xfrm>
          <a:prstGeom prst="chevron">
            <a:avLst/>
          </a:prstGeom>
          <a:solidFill>
            <a:srgbClr val="465057"/>
          </a:solidFill>
          <a:ln w="12700">
            <a:solidFill>
              <a:srgbClr val="465057">
                <a:alpha val="0"/>
              </a:srgbClr>
            </a:solidFill>
            <a:prstDash val="solid"/>
          </a:ln>
        </p:spPr>
      </p:sp>
      <p:sp>
        <p:nvSpPr>
          <p:cNvPr id="26" name="Shape 23"/>
          <p:cNvSpPr/>
          <p:nvPr/>
        </p:nvSpPr>
        <p:spPr>
          <a:xfrm>
            <a:off x="7580376" y="1847088"/>
            <a:ext cx="1920240" cy="2514600"/>
          </a:xfrm>
          <a:prstGeom prst="roundRect">
            <a:avLst/>
          </a:prstGeom>
          <a:solidFill>
            <a:srgbClr val="1F2426"/>
          </a:solidFill>
          <a:ln w="15875">
            <a:solidFill>
              <a:srgbClr val="6D9A6F"/>
            </a:solidFill>
            <a:prstDash val="solid"/>
          </a:ln>
        </p:spPr>
      </p:sp>
      <p:sp>
        <p:nvSpPr>
          <p:cNvPr id="27" name="Shape 24"/>
          <p:cNvSpPr/>
          <p:nvPr/>
        </p:nvSpPr>
        <p:spPr>
          <a:xfrm>
            <a:off x="7580376" y="1847088"/>
            <a:ext cx="1920240" cy="91440"/>
          </a:xfrm>
          <a:prstGeom prst="rect">
            <a:avLst/>
          </a:prstGeom>
          <a:solidFill>
            <a:srgbClr val="6D9A6F"/>
          </a:solidFill>
          <a:ln w="6350">
            <a:solidFill>
              <a:srgbClr val="6D9A6F"/>
            </a:solidFill>
            <a:prstDash val="solid"/>
          </a:ln>
        </p:spPr>
      </p:sp>
      <p:sp>
        <p:nvSpPr>
          <p:cNvPr id="28" name="Text 25"/>
          <p:cNvSpPr/>
          <p:nvPr/>
        </p:nvSpPr>
        <p:spPr>
          <a:xfrm>
            <a:off x="7763256" y="2167128"/>
            <a:ext cx="1554480" cy="16459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Bahnschrift SemiBold" pitchFamily="34" charset="0"/>
                <a:ea typeface="Bahnschrift SemiBold" pitchFamily="34" charset="-122"/>
                <a:cs typeface="Bahnschrift SemiBold" pitchFamily="34" charset="-120"/>
              </a:rPr>
              <a:t>AI + API</a:t>
            </a:r>
            <a:endParaRPr lang="en-US" sz="1100" dirty="0"/>
          </a:p>
        </p:txBody>
      </p:sp>
      <p:sp>
        <p:nvSpPr>
          <p:cNvPr id="29" name="Text 26"/>
          <p:cNvSpPr/>
          <p:nvPr/>
        </p:nvSpPr>
        <p:spPr>
          <a:xfrm>
            <a:off x="7744968" y="2660904"/>
            <a:ext cx="1591056" cy="576072"/>
          </a:xfrm>
          <a:prstGeom prst="rect">
            <a:avLst/>
          </a:prstGeom>
          <a:noFill/>
          <a:ln/>
        </p:spPr>
        <p:txBody>
          <a:bodyPr wrap="square" lIns="0" tIns="0" rIns="0" bIns="0" rtlCol="0" anchor="ctr">
            <a:normAutofit/>
          </a:bodyPr>
          <a:lstStyle/>
          <a:p>
            <a:pPr algn="ctr" indent="0" marL="0">
              <a:buNone/>
            </a:pPr>
            <a:r>
              <a:rPr lang="en-US" sz="900" dirty="0">
                <a:solidFill>
                  <a:srgbClr val="AEB9BA"/>
                </a:solidFill>
                <a:latin typeface="Aptos" pitchFamily="34" charset="0"/>
                <a:ea typeface="Aptos" pitchFamily="34" charset="-122"/>
                <a:cs typeface="Aptos" pitchFamily="34" charset="-120"/>
              </a:rPr>
              <a:t>Python workers</a:t>
            </a:r>
            <a:endParaRPr lang="en-US" sz="900" dirty="0"/>
          </a:p>
          <a:p>
            <a:pPr algn="ctr" indent="0" marL="0">
              <a:buNone/>
            </a:pPr>
            <a:r>
              <a:rPr lang="en-US" sz="900" dirty="0">
                <a:solidFill>
                  <a:srgbClr val="AEB9BA"/>
                </a:solidFill>
                <a:latin typeface="Aptos" pitchFamily="34" charset="0"/>
                <a:ea typeface="Aptos" pitchFamily="34" charset="-122"/>
                <a:cs typeface="Aptos" pitchFamily="34" charset="-120"/>
              </a:rPr>
              <a:t>Foundry + Speech</a:t>
            </a:r>
            <a:endParaRPr lang="en-US" sz="900" dirty="0"/>
          </a:p>
          <a:p>
            <a:pPr algn="ctr" indent="0" marL="0">
              <a:buNone/>
            </a:pPr>
            <a:r>
              <a:rPr lang="en-US" sz="900" dirty="0">
                <a:solidFill>
                  <a:srgbClr val="AEB9BA"/>
                </a:solidFill>
                <a:latin typeface="Aptos" pitchFamily="34" charset="0"/>
                <a:ea typeface="Aptos" pitchFamily="34" charset="-122"/>
                <a:cs typeface="Aptos" pitchFamily="34" charset="-120"/>
              </a:rPr>
              <a:t>FastAPI BFF</a:t>
            </a:r>
            <a:endParaRPr lang="en-US" sz="900" dirty="0"/>
          </a:p>
        </p:txBody>
      </p:sp>
      <p:sp>
        <p:nvSpPr>
          <p:cNvPr id="30" name="Shape 27"/>
          <p:cNvSpPr/>
          <p:nvPr/>
        </p:nvSpPr>
        <p:spPr>
          <a:xfrm>
            <a:off x="9573768" y="2834640"/>
            <a:ext cx="173736" cy="320040"/>
          </a:xfrm>
          <a:prstGeom prst="chevron">
            <a:avLst/>
          </a:prstGeom>
          <a:solidFill>
            <a:srgbClr val="465057"/>
          </a:solidFill>
          <a:ln w="12700">
            <a:solidFill>
              <a:srgbClr val="465057">
                <a:alpha val="0"/>
              </a:srgbClr>
            </a:solidFill>
            <a:prstDash val="solid"/>
          </a:ln>
        </p:spPr>
      </p:sp>
      <p:sp>
        <p:nvSpPr>
          <p:cNvPr id="31" name="Shape 28"/>
          <p:cNvSpPr/>
          <p:nvPr/>
        </p:nvSpPr>
        <p:spPr>
          <a:xfrm>
            <a:off x="9765792" y="1847088"/>
            <a:ext cx="1920240" cy="2514600"/>
          </a:xfrm>
          <a:prstGeom prst="roundRect">
            <a:avLst/>
          </a:prstGeom>
          <a:solidFill>
            <a:srgbClr val="1F2426"/>
          </a:solidFill>
          <a:ln w="15875">
            <a:solidFill>
              <a:srgbClr val="B64A2D"/>
            </a:solidFill>
            <a:prstDash val="solid"/>
          </a:ln>
        </p:spPr>
      </p:sp>
      <p:sp>
        <p:nvSpPr>
          <p:cNvPr id="32" name="Shape 29"/>
          <p:cNvSpPr/>
          <p:nvPr/>
        </p:nvSpPr>
        <p:spPr>
          <a:xfrm>
            <a:off x="9765792" y="1847088"/>
            <a:ext cx="1920240" cy="91440"/>
          </a:xfrm>
          <a:prstGeom prst="rect">
            <a:avLst/>
          </a:prstGeom>
          <a:solidFill>
            <a:srgbClr val="B64A2D"/>
          </a:solidFill>
          <a:ln w="6350">
            <a:solidFill>
              <a:srgbClr val="B64A2D"/>
            </a:solidFill>
            <a:prstDash val="solid"/>
          </a:ln>
        </p:spPr>
      </p:sp>
      <p:sp>
        <p:nvSpPr>
          <p:cNvPr id="33" name="Text 30"/>
          <p:cNvSpPr/>
          <p:nvPr/>
        </p:nvSpPr>
        <p:spPr>
          <a:xfrm>
            <a:off x="9948672" y="2167128"/>
            <a:ext cx="1554480" cy="16459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Bahnschrift SemiBold" pitchFamily="34" charset="0"/>
                <a:ea typeface="Bahnschrift SemiBold" pitchFamily="34" charset="-122"/>
                <a:cs typeface="Bahnschrift SemiBold" pitchFamily="34" charset="-120"/>
              </a:rPr>
              <a:t>EXPERIENCE</a:t>
            </a:r>
            <a:endParaRPr lang="en-US" sz="1100" dirty="0"/>
          </a:p>
        </p:txBody>
      </p:sp>
      <p:sp>
        <p:nvSpPr>
          <p:cNvPr id="34" name="Text 31"/>
          <p:cNvSpPr/>
          <p:nvPr/>
        </p:nvSpPr>
        <p:spPr>
          <a:xfrm>
            <a:off x="9930384" y="2660904"/>
            <a:ext cx="1591056" cy="576072"/>
          </a:xfrm>
          <a:prstGeom prst="rect">
            <a:avLst/>
          </a:prstGeom>
          <a:noFill/>
          <a:ln/>
        </p:spPr>
        <p:txBody>
          <a:bodyPr wrap="square" lIns="0" tIns="0" rIns="0" bIns="0" rtlCol="0" anchor="ctr">
            <a:normAutofit/>
          </a:bodyPr>
          <a:lstStyle/>
          <a:p>
            <a:pPr algn="ctr" indent="0" marL="0">
              <a:buNone/>
            </a:pPr>
            <a:r>
              <a:rPr lang="en-US" sz="900" dirty="0">
                <a:solidFill>
                  <a:srgbClr val="AEB9BA"/>
                </a:solidFill>
                <a:latin typeface="Aptos" pitchFamily="34" charset="0"/>
                <a:ea typeface="Aptos" pitchFamily="34" charset="-122"/>
                <a:cs typeface="Aptos" pitchFamily="34" charset="-120"/>
              </a:rPr>
              <a:t>Blazor shell</a:t>
            </a:r>
            <a:endParaRPr lang="en-US" sz="900" dirty="0"/>
          </a:p>
          <a:p>
            <a:pPr algn="ctr" indent="0" marL="0">
              <a:buNone/>
            </a:pPr>
            <a:r>
              <a:rPr lang="en-US" sz="900" dirty="0">
                <a:solidFill>
                  <a:srgbClr val="AEB9BA"/>
                </a:solidFill>
                <a:latin typeface="Aptos" pitchFamily="34" charset="0"/>
                <a:ea typeface="Aptos" pitchFamily="34" charset="-122"/>
                <a:cs typeface="Aptos" pitchFamily="34" charset="-120"/>
              </a:rPr>
              <a:t>React / MUI / D3</a:t>
            </a:r>
            <a:endParaRPr lang="en-US" sz="900" dirty="0"/>
          </a:p>
          <a:p>
            <a:pPr algn="ctr" indent="0" marL="0">
              <a:buNone/>
            </a:pPr>
            <a:r>
              <a:rPr lang="en-US" sz="900" dirty="0">
                <a:solidFill>
                  <a:srgbClr val="AEB9BA"/>
                </a:solidFill>
                <a:latin typeface="Aptos" pitchFamily="34" charset="0"/>
                <a:ea typeface="Aptos" pitchFamily="34" charset="-122"/>
                <a:cs typeface="Aptos" pitchFamily="34" charset="-120"/>
              </a:rPr>
              <a:t>Power BI internal</a:t>
            </a:r>
            <a:endParaRPr lang="en-US" sz="900" dirty="0"/>
          </a:p>
        </p:txBody>
      </p:sp>
      <p:sp>
        <p:nvSpPr>
          <p:cNvPr id="35" name="Text 32"/>
          <p:cNvSpPr/>
          <p:nvPr/>
        </p:nvSpPr>
        <p:spPr>
          <a:xfrm>
            <a:off x="4983480" y="3739896"/>
            <a:ext cx="2194560" cy="192024"/>
          </a:xfrm>
          <a:prstGeom prst="rect">
            <a:avLst/>
          </a:prstGeom>
          <a:noFill/>
          <a:ln/>
        </p:spPr>
        <p:txBody>
          <a:bodyPr wrap="square" lIns="0" tIns="0" rIns="0" bIns="0" rtlCol="0" anchor="ctr">
            <a:normAutofit/>
          </a:bodyPr>
          <a:lstStyle/>
          <a:p>
            <a:pPr algn="ctr" indent="0" marL="0">
              <a:buNone/>
            </a:pPr>
            <a:r>
              <a:rPr lang="en-US" sz="840" b="1" spc="70" kern="0" dirty="0">
                <a:solidFill>
                  <a:srgbClr val="147D74"/>
                </a:solidFill>
                <a:latin typeface="Aptos" pitchFamily="34" charset="0"/>
                <a:ea typeface="Aptos" pitchFamily="34" charset="-122"/>
                <a:cs typeface="Aptos" pitchFamily="34" charset="-120"/>
              </a:rPr>
              <a:t>FABRIC IS THE DATA AND ANALYTICS SPINE</a:t>
            </a:r>
            <a:endParaRPr lang="en-US" sz="840" dirty="0"/>
          </a:p>
        </p:txBody>
      </p:sp>
      <p:sp>
        <p:nvSpPr>
          <p:cNvPr id="36" name="Shape 33"/>
          <p:cNvSpPr/>
          <p:nvPr/>
        </p:nvSpPr>
        <p:spPr>
          <a:xfrm>
            <a:off x="658368" y="4956048"/>
            <a:ext cx="384048" cy="384048"/>
          </a:xfrm>
          <a:prstGeom prst="ellipse">
            <a:avLst/>
          </a:prstGeom>
          <a:solidFill>
            <a:srgbClr val="B64A2D"/>
          </a:solidFill>
          <a:ln w="6350">
            <a:solidFill>
              <a:srgbClr val="B64A2D"/>
            </a:solidFill>
            <a:prstDash val="solid"/>
          </a:ln>
        </p:spPr>
      </p:sp>
      <p:sp>
        <p:nvSpPr>
          <p:cNvPr id="37" name="Text 34"/>
          <p:cNvSpPr/>
          <p:nvPr/>
        </p:nvSpPr>
        <p:spPr>
          <a:xfrm>
            <a:off x="658368" y="5061204"/>
            <a:ext cx="384048" cy="91440"/>
          </a:xfrm>
          <a:prstGeom prst="rect">
            <a:avLst/>
          </a:prstGeom>
          <a:noFill/>
          <a:ln/>
        </p:spPr>
        <p:txBody>
          <a:bodyPr wrap="square" lIns="0" tIns="0" rIns="0" bIns="0" rtlCol="0" anchor="ctr">
            <a:normAutofit/>
          </a:bodyPr>
          <a:lstStyle/>
          <a:p>
            <a:pPr algn="ctr" indent="0" marL="0">
              <a:buNone/>
            </a:pPr>
            <a:r>
              <a:rPr lang="en-US" sz="730" b="1" dirty="0">
                <a:solidFill>
                  <a:srgbClr val="FFFFFF"/>
                </a:solidFill>
                <a:latin typeface="Aptos" pitchFamily="34" charset="0"/>
                <a:ea typeface="Aptos" pitchFamily="34" charset="-122"/>
                <a:cs typeface="Aptos" pitchFamily="34" charset="-120"/>
              </a:rPr>
              <a:t>1</a:t>
            </a:r>
            <a:endParaRPr lang="en-US" sz="730" dirty="0"/>
          </a:p>
        </p:txBody>
      </p:sp>
      <p:sp>
        <p:nvSpPr>
          <p:cNvPr id="38" name="Text 35"/>
          <p:cNvSpPr/>
          <p:nvPr/>
        </p:nvSpPr>
        <p:spPr>
          <a:xfrm>
            <a:off x="1188720" y="4951476"/>
            <a:ext cx="1965960" cy="155448"/>
          </a:xfrm>
          <a:prstGeom prst="rect">
            <a:avLst/>
          </a:prstGeom>
          <a:noFill/>
          <a:ln/>
        </p:spPr>
        <p:txBody>
          <a:bodyPr wrap="square" lIns="0" tIns="0" rIns="0" bIns="0" rtlCol="0" anchor="ctr">
            <a:normAutofit/>
          </a:bodyPr>
          <a:lstStyle/>
          <a:p>
            <a:pPr algn="l" indent="0" marL="0">
              <a:buNone/>
            </a:pPr>
            <a:r>
              <a:rPr lang="en-US" sz="920" b="1" dirty="0">
                <a:solidFill>
                  <a:srgbClr val="FFFFFF"/>
                </a:solidFill>
                <a:latin typeface="Aptos" pitchFamily="34" charset="0"/>
                <a:ea typeface="Aptos" pitchFamily="34" charset="-122"/>
                <a:cs typeface="Aptos" pitchFamily="34" charset="-120"/>
              </a:rPr>
              <a:t>Outbound OT</a:t>
            </a:r>
            <a:endParaRPr lang="en-US" sz="920" dirty="0"/>
          </a:p>
        </p:txBody>
      </p:sp>
      <p:sp>
        <p:nvSpPr>
          <p:cNvPr id="39" name="Text 36"/>
          <p:cNvSpPr/>
          <p:nvPr/>
        </p:nvSpPr>
        <p:spPr>
          <a:xfrm>
            <a:off x="1188720" y="5184648"/>
            <a:ext cx="1965960" cy="256032"/>
          </a:xfrm>
          <a:prstGeom prst="rect">
            <a:avLst/>
          </a:prstGeom>
          <a:noFill/>
          <a:ln/>
        </p:spPr>
        <p:txBody>
          <a:bodyPr wrap="square" lIns="0" tIns="0" rIns="0" bIns="0" rtlCol="0" anchor="t">
            <a:normAutofit/>
          </a:bodyPr>
          <a:lstStyle/>
          <a:p>
            <a:pPr algn="l" indent="0" marL="0">
              <a:buNone/>
            </a:pPr>
            <a:r>
              <a:rPr lang="en-US" sz="780" dirty="0">
                <a:solidFill>
                  <a:srgbClr val="AEB9BA"/>
                </a:solidFill>
                <a:latin typeface="Aptos" pitchFamily="34" charset="0"/>
                <a:ea typeface="Aptos" pitchFamily="34" charset="-122"/>
                <a:cs typeface="Aptos" pitchFamily="34" charset="-120"/>
              </a:rPr>
              <a:t>No cloud session into plant</a:t>
            </a:r>
            <a:endParaRPr lang="en-US" sz="780" dirty="0"/>
          </a:p>
        </p:txBody>
      </p:sp>
      <p:sp>
        <p:nvSpPr>
          <p:cNvPr id="40" name="Shape 37"/>
          <p:cNvSpPr/>
          <p:nvPr/>
        </p:nvSpPr>
        <p:spPr>
          <a:xfrm>
            <a:off x="3447288" y="4956048"/>
            <a:ext cx="384048" cy="384048"/>
          </a:xfrm>
          <a:prstGeom prst="ellipse">
            <a:avLst/>
          </a:prstGeom>
          <a:solidFill>
            <a:srgbClr val="E3A72F"/>
          </a:solidFill>
          <a:ln w="6350">
            <a:solidFill>
              <a:srgbClr val="E3A72F"/>
            </a:solidFill>
            <a:prstDash val="solid"/>
          </a:ln>
        </p:spPr>
      </p:sp>
      <p:sp>
        <p:nvSpPr>
          <p:cNvPr id="41" name="Text 38"/>
          <p:cNvSpPr/>
          <p:nvPr/>
        </p:nvSpPr>
        <p:spPr>
          <a:xfrm>
            <a:off x="3447288" y="5061204"/>
            <a:ext cx="384048" cy="91440"/>
          </a:xfrm>
          <a:prstGeom prst="rect">
            <a:avLst/>
          </a:prstGeom>
          <a:noFill/>
          <a:ln/>
        </p:spPr>
        <p:txBody>
          <a:bodyPr wrap="square" lIns="0" tIns="0" rIns="0" bIns="0" rtlCol="0" anchor="ctr">
            <a:normAutofit/>
          </a:bodyPr>
          <a:lstStyle/>
          <a:p>
            <a:pPr algn="ctr" indent="0" marL="0">
              <a:buNone/>
            </a:pPr>
            <a:r>
              <a:rPr lang="en-US" sz="730" b="1" dirty="0">
                <a:solidFill>
                  <a:srgbClr val="FFFFFF"/>
                </a:solidFill>
                <a:latin typeface="Aptos" pitchFamily="34" charset="0"/>
                <a:ea typeface="Aptos" pitchFamily="34" charset="-122"/>
                <a:cs typeface="Aptos" pitchFamily="34" charset="-120"/>
              </a:rPr>
              <a:t>2</a:t>
            </a:r>
            <a:endParaRPr lang="en-US" sz="730" dirty="0"/>
          </a:p>
        </p:txBody>
      </p:sp>
      <p:sp>
        <p:nvSpPr>
          <p:cNvPr id="42" name="Text 39"/>
          <p:cNvSpPr/>
          <p:nvPr/>
        </p:nvSpPr>
        <p:spPr>
          <a:xfrm>
            <a:off x="3977640" y="4951476"/>
            <a:ext cx="1965960" cy="155448"/>
          </a:xfrm>
          <a:prstGeom prst="rect">
            <a:avLst/>
          </a:prstGeom>
          <a:noFill/>
          <a:ln/>
        </p:spPr>
        <p:txBody>
          <a:bodyPr wrap="square" lIns="0" tIns="0" rIns="0" bIns="0" rtlCol="0" anchor="ctr">
            <a:normAutofit/>
          </a:bodyPr>
          <a:lstStyle/>
          <a:p>
            <a:pPr algn="l" indent="0" marL="0">
              <a:buNone/>
            </a:pPr>
            <a:r>
              <a:rPr lang="en-US" sz="920" b="1" dirty="0">
                <a:solidFill>
                  <a:srgbClr val="FFFFFF"/>
                </a:solidFill>
                <a:latin typeface="Aptos" pitchFamily="34" charset="0"/>
                <a:ea typeface="Aptos" pitchFamily="34" charset="-122"/>
                <a:cs typeface="Aptos" pitchFamily="34" charset="-120"/>
              </a:rPr>
              <a:t>Entra identity</a:t>
            </a:r>
            <a:endParaRPr lang="en-US" sz="920" dirty="0"/>
          </a:p>
        </p:txBody>
      </p:sp>
      <p:sp>
        <p:nvSpPr>
          <p:cNvPr id="43" name="Text 40"/>
          <p:cNvSpPr/>
          <p:nvPr/>
        </p:nvSpPr>
        <p:spPr>
          <a:xfrm>
            <a:off x="3977640" y="5184648"/>
            <a:ext cx="1965960" cy="256032"/>
          </a:xfrm>
          <a:prstGeom prst="rect">
            <a:avLst/>
          </a:prstGeom>
          <a:noFill/>
          <a:ln/>
        </p:spPr>
        <p:txBody>
          <a:bodyPr wrap="square" lIns="0" tIns="0" rIns="0" bIns="0" rtlCol="0" anchor="t">
            <a:normAutofit/>
          </a:bodyPr>
          <a:lstStyle/>
          <a:p>
            <a:pPr algn="l" indent="0" marL="0">
              <a:buNone/>
            </a:pPr>
            <a:r>
              <a:rPr lang="en-US" sz="780" dirty="0">
                <a:solidFill>
                  <a:srgbClr val="AEB9BA"/>
                </a:solidFill>
                <a:latin typeface="Aptos" pitchFamily="34" charset="0"/>
                <a:ea typeface="Aptos" pitchFamily="34" charset="-122"/>
                <a:cs typeface="Aptos" pitchFamily="34" charset="-120"/>
              </a:rPr>
              <a:t>No SAS / standing app secrets</a:t>
            </a:r>
            <a:endParaRPr lang="en-US" sz="780" dirty="0"/>
          </a:p>
        </p:txBody>
      </p:sp>
      <p:sp>
        <p:nvSpPr>
          <p:cNvPr id="44" name="Shape 41"/>
          <p:cNvSpPr/>
          <p:nvPr/>
        </p:nvSpPr>
        <p:spPr>
          <a:xfrm>
            <a:off x="6236208" y="4956048"/>
            <a:ext cx="384048" cy="384048"/>
          </a:xfrm>
          <a:prstGeom prst="ellipse">
            <a:avLst/>
          </a:prstGeom>
          <a:solidFill>
            <a:srgbClr val="147D74"/>
          </a:solidFill>
          <a:ln w="6350">
            <a:solidFill>
              <a:srgbClr val="147D74"/>
            </a:solidFill>
            <a:prstDash val="solid"/>
          </a:ln>
        </p:spPr>
      </p:sp>
      <p:sp>
        <p:nvSpPr>
          <p:cNvPr id="45" name="Text 42"/>
          <p:cNvSpPr/>
          <p:nvPr/>
        </p:nvSpPr>
        <p:spPr>
          <a:xfrm>
            <a:off x="6236208" y="5061204"/>
            <a:ext cx="384048" cy="91440"/>
          </a:xfrm>
          <a:prstGeom prst="rect">
            <a:avLst/>
          </a:prstGeom>
          <a:noFill/>
          <a:ln/>
        </p:spPr>
        <p:txBody>
          <a:bodyPr wrap="square" lIns="0" tIns="0" rIns="0" bIns="0" rtlCol="0" anchor="ctr">
            <a:normAutofit/>
          </a:bodyPr>
          <a:lstStyle/>
          <a:p>
            <a:pPr algn="ctr" indent="0" marL="0">
              <a:buNone/>
            </a:pPr>
            <a:r>
              <a:rPr lang="en-US" sz="730" b="1" dirty="0">
                <a:solidFill>
                  <a:srgbClr val="FFFFFF"/>
                </a:solidFill>
                <a:latin typeface="Aptos" pitchFamily="34" charset="0"/>
                <a:ea typeface="Aptos" pitchFamily="34" charset="-122"/>
                <a:cs typeface="Aptos" pitchFamily="34" charset="-120"/>
              </a:rPr>
              <a:t>3</a:t>
            </a:r>
            <a:endParaRPr lang="en-US" sz="730" dirty="0"/>
          </a:p>
        </p:txBody>
      </p:sp>
      <p:sp>
        <p:nvSpPr>
          <p:cNvPr id="46" name="Text 43"/>
          <p:cNvSpPr/>
          <p:nvPr/>
        </p:nvSpPr>
        <p:spPr>
          <a:xfrm>
            <a:off x="6766560" y="4951476"/>
            <a:ext cx="1965960" cy="155448"/>
          </a:xfrm>
          <a:prstGeom prst="rect">
            <a:avLst/>
          </a:prstGeom>
          <a:noFill/>
          <a:ln/>
        </p:spPr>
        <p:txBody>
          <a:bodyPr wrap="square" lIns="0" tIns="0" rIns="0" bIns="0" rtlCol="0" anchor="ctr">
            <a:normAutofit/>
          </a:bodyPr>
          <a:lstStyle/>
          <a:p>
            <a:pPr algn="l" indent="0" marL="0">
              <a:buNone/>
            </a:pPr>
            <a:r>
              <a:rPr lang="en-US" sz="920" b="1" dirty="0">
                <a:solidFill>
                  <a:srgbClr val="FFFFFF"/>
                </a:solidFill>
                <a:latin typeface="Aptos" pitchFamily="34" charset="0"/>
                <a:ea typeface="Aptos" pitchFamily="34" charset="-122"/>
                <a:cs typeface="Aptos" pitchFamily="34" charset="-120"/>
              </a:rPr>
              <a:t>Dual stores</a:t>
            </a:r>
            <a:endParaRPr lang="en-US" sz="920" dirty="0"/>
          </a:p>
        </p:txBody>
      </p:sp>
      <p:sp>
        <p:nvSpPr>
          <p:cNvPr id="47" name="Text 44"/>
          <p:cNvSpPr/>
          <p:nvPr/>
        </p:nvSpPr>
        <p:spPr>
          <a:xfrm>
            <a:off x="6766560" y="5184648"/>
            <a:ext cx="1965960" cy="256032"/>
          </a:xfrm>
          <a:prstGeom prst="rect">
            <a:avLst/>
          </a:prstGeom>
          <a:noFill/>
          <a:ln/>
        </p:spPr>
        <p:txBody>
          <a:bodyPr wrap="square" lIns="0" tIns="0" rIns="0" bIns="0" rtlCol="0" anchor="t">
            <a:normAutofit/>
          </a:bodyPr>
          <a:lstStyle/>
          <a:p>
            <a:pPr algn="l" indent="0" marL="0">
              <a:buNone/>
            </a:pPr>
            <a:r>
              <a:rPr lang="en-US" sz="780" dirty="0">
                <a:solidFill>
                  <a:srgbClr val="AEB9BA"/>
                </a:solidFill>
                <a:latin typeface="Aptos" pitchFamily="34" charset="0"/>
                <a:ea typeface="Aptos" pitchFamily="34" charset="-122"/>
                <a:cs typeface="Aptos" pitchFamily="34" charset="-120"/>
              </a:rPr>
              <a:t>Hot KQL + governed Delta</a:t>
            </a:r>
            <a:endParaRPr lang="en-US" sz="780" dirty="0"/>
          </a:p>
        </p:txBody>
      </p:sp>
      <p:sp>
        <p:nvSpPr>
          <p:cNvPr id="48" name="Shape 45"/>
          <p:cNvSpPr/>
          <p:nvPr/>
        </p:nvSpPr>
        <p:spPr>
          <a:xfrm>
            <a:off x="9025128" y="4956048"/>
            <a:ext cx="384048" cy="384048"/>
          </a:xfrm>
          <a:prstGeom prst="ellipse">
            <a:avLst/>
          </a:prstGeom>
          <a:solidFill>
            <a:srgbClr val="6D9A6F"/>
          </a:solidFill>
          <a:ln w="6350">
            <a:solidFill>
              <a:srgbClr val="6D9A6F"/>
            </a:solidFill>
            <a:prstDash val="solid"/>
          </a:ln>
        </p:spPr>
      </p:sp>
      <p:sp>
        <p:nvSpPr>
          <p:cNvPr id="49" name="Text 46"/>
          <p:cNvSpPr/>
          <p:nvPr/>
        </p:nvSpPr>
        <p:spPr>
          <a:xfrm>
            <a:off x="9025128" y="5061204"/>
            <a:ext cx="384048" cy="91440"/>
          </a:xfrm>
          <a:prstGeom prst="rect">
            <a:avLst/>
          </a:prstGeom>
          <a:noFill/>
          <a:ln/>
        </p:spPr>
        <p:txBody>
          <a:bodyPr wrap="square" lIns="0" tIns="0" rIns="0" bIns="0" rtlCol="0" anchor="ctr">
            <a:normAutofit/>
          </a:bodyPr>
          <a:lstStyle/>
          <a:p>
            <a:pPr algn="ctr" indent="0" marL="0">
              <a:buNone/>
            </a:pPr>
            <a:r>
              <a:rPr lang="en-US" sz="730" b="1" dirty="0">
                <a:solidFill>
                  <a:srgbClr val="FFFFFF"/>
                </a:solidFill>
                <a:latin typeface="Aptos" pitchFamily="34" charset="0"/>
                <a:ea typeface="Aptos" pitchFamily="34" charset="-122"/>
                <a:cs typeface="Aptos" pitchFamily="34" charset="-120"/>
              </a:rPr>
              <a:t>4</a:t>
            </a:r>
            <a:endParaRPr lang="en-US" sz="730" dirty="0"/>
          </a:p>
        </p:txBody>
      </p:sp>
      <p:sp>
        <p:nvSpPr>
          <p:cNvPr id="50" name="Text 47"/>
          <p:cNvSpPr/>
          <p:nvPr/>
        </p:nvSpPr>
        <p:spPr>
          <a:xfrm>
            <a:off x="9555480" y="4951476"/>
            <a:ext cx="1965960" cy="155448"/>
          </a:xfrm>
          <a:prstGeom prst="rect">
            <a:avLst/>
          </a:prstGeom>
          <a:noFill/>
          <a:ln/>
        </p:spPr>
        <p:txBody>
          <a:bodyPr wrap="square" lIns="0" tIns="0" rIns="0" bIns="0" rtlCol="0" anchor="ctr">
            <a:normAutofit/>
          </a:bodyPr>
          <a:lstStyle/>
          <a:p>
            <a:pPr algn="l" indent="0" marL="0">
              <a:buNone/>
            </a:pPr>
            <a:r>
              <a:rPr lang="en-US" sz="920" b="1" dirty="0">
                <a:solidFill>
                  <a:srgbClr val="FFFFFF"/>
                </a:solidFill>
                <a:latin typeface="Aptos" pitchFamily="34" charset="0"/>
                <a:ea typeface="Aptos" pitchFamily="34" charset="-122"/>
                <a:cs typeface="Aptos" pitchFamily="34" charset="-120"/>
              </a:rPr>
              <a:t>Human decision</a:t>
            </a:r>
            <a:endParaRPr lang="en-US" sz="920" dirty="0"/>
          </a:p>
        </p:txBody>
      </p:sp>
      <p:sp>
        <p:nvSpPr>
          <p:cNvPr id="51" name="Text 48"/>
          <p:cNvSpPr/>
          <p:nvPr/>
        </p:nvSpPr>
        <p:spPr>
          <a:xfrm>
            <a:off x="9555480" y="5184648"/>
            <a:ext cx="1965960" cy="256032"/>
          </a:xfrm>
          <a:prstGeom prst="rect">
            <a:avLst/>
          </a:prstGeom>
          <a:noFill/>
          <a:ln/>
        </p:spPr>
        <p:txBody>
          <a:bodyPr wrap="square" lIns="0" tIns="0" rIns="0" bIns="0" rtlCol="0" anchor="t">
            <a:normAutofit/>
          </a:bodyPr>
          <a:lstStyle/>
          <a:p>
            <a:pPr algn="l" indent="0" marL="0">
              <a:buNone/>
            </a:pPr>
            <a:r>
              <a:rPr lang="en-US" sz="780" dirty="0">
                <a:solidFill>
                  <a:srgbClr val="AEB9BA"/>
                </a:solidFill>
                <a:latin typeface="Aptos" pitchFamily="34" charset="0"/>
                <a:ea typeface="Aptos" pitchFamily="34" charset="-122"/>
                <a:cs typeface="Aptos" pitchFamily="34" charset="-120"/>
              </a:rPr>
              <a:t>No autonomous actuation</a:t>
            </a:r>
            <a:endParaRPr lang="en-US" sz="780" dirty="0"/>
          </a:p>
        </p:txBody>
      </p:sp>
      <p:sp>
        <p:nvSpPr>
          <p:cNvPr id="52" name="Text 49"/>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AEB9BA"/>
                </a:solidFill>
                <a:latin typeface="Aptos" pitchFamily="34" charset="0"/>
                <a:ea typeface="Aptos" pitchFamily="34" charset="-122"/>
                <a:cs typeface="Aptos" pitchFamily="34" charset="-120"/>
              </a:rPr>
              <a:t>Source cue | solution-architecture.md §3  •  deployment-topology.md §3</a:t>
            </a:r>
            <a:endParaRPr lang="en-US" sz="660" dirty="0"/>
          </a:p>
        </p:txBody>
      </p:sp>
      <p:sp>
        <p:nvSpPr>
          <p:cNvPr id="53" name="Shape 50"/>
          <p:cNvSpPr/>
          <p:nvPr/>
        </p:nvSpPr>
        <p:spPr>
          <a:xfrm>
            <a:off x="0" y="6483096"/>
            <a:ext cx="12191695" cy="374904"/>
          </a:xfrm>
          <a:prstGeom prst="rect">
            <a:avLst/>
          </a:prstGeom>
          <a:solidFill>
            <a:srgbClr val="1F2426"/>
          </a:solidFill>
          <a:ln w="6350">
            <a:solidFill>
              <a:srgbClr val="1F2426"/>
            </a:solidFill>
            <a:prstDash val="solid"/>
          </a:ln>
        </p:spPr>
      </p:sp>
      <p:sp>
        <p:nvSpPr>
          <p:cNvPr id="54" name="Shape 51"/>
          <p:cNvSpPr/>
          <p:nvPr/>
        </p:nvSpPr>
        <p:spPr>
          <a:xfrm>
            <a:off x="384048" y="6547104"/>
            <a:ext cx="3547872" cy="182880"/>
          </a:xfrm>
          <a:prstGeom prst="roundRect">
            <a:avLst/>
          </a:prstGeom>
          <a:solidFill>
            <a:srgbClr val="465057"/>
          </a:solidFill>
          <a:ln w="3175">
            <a:solidFill>
              <a:srgbClr val="465057"/>
            </a:solidFill>
            <a:prstDash val="solid"/>
          </a:ln>
        </p:spPr>
      </p:sp>
      <p:sp>
        <p:nvSpPr>
          <p:cNvPr id="55" name="Text 52"/>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DDE4E1"/>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56" name="Text 53"/>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DDE4E1"/>
                </a:solidFill>
                <a:latin typeface="Aptos" pitchFamily="34" charset="0"/>
                <a:ea typeface="Aptos" pitchFamily="34" charset="-122"/>
                <a:cs typeface="Aptos" pitchFamily="34" charset="-120"/>
              </a:rPr>
              <a:t>ORAL DEFENSE  •  08 / 20</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465057"/>
          </a:solidFill>
          <a:ln w="5080">
            <a:solidFill>
              <a:srgbClr val="465057"/>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09</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ARCHITECTURE DECISION ADR-001/002</a:t>
            </a:r>
            <a:endParaRPr lang="en-US" sz="810" dirty="0"/>
          </a:p>
        </p:txBody>
      </p:sp>
      <p:sp>
        <p:nvSpPr>
          <p:cNvPr id="7" name="Shape 5"/>
          <p:cNvSpPr/>
          <p:nvPr/>
        </p:nvSpPr>
        <p:spPr>
          <a:xfrm>
            <a:off x="10040112" y="274320"/>
            <a:ext cx="1673352" cy="256032"/>
          </a:xfrm>
          <a:prstGeom prst="roundRect">
            <a:avLst/>
          </a:prstGeom>
          <a:solidFill>
            <a:srgbClr val="FFFFFF"/>
          </a:solidFill>
          <a:ln w="6350">
            <a:solidFill>
              <a:srgbClr val="DDE4E1"/>
            </a:solidFill>
            <a:prstDash val="solid"/>
          </a:ln>
        </p:spPr>
      </p:sp>
      <p:sp>
        <p:nvSpPr>
          <p:cNvPr id="8" name="Text 6"/>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687373"/>
                </a:solidFill>
                <a:latin typeface="Aptos" pitchFamily="34" charset="0"/>
                <a:ea typeface="Aptos" pitchFamily="34" charset="-122"/>
                <a:cs typeface="Aptos" pitchFamily="34" charset="-120"/>
              </a:rPr>
              <a:t>11:30–13:30</a:t>
            </a:r>
            <a:endParaRPr lang="en-US" sz="720" dirty="0"/>
          </a:p>
        </p:txBody>
      </p:sp>
      <p:sp>
        <p:nvSpPr>
          <p:cNvPr id="9" name="Text 7"/>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Why Fabric is the center of gravity</a:t>
            </a:r>
            <a:endParaRPr lang="en-US" sz="2550" dirty="0"/>
          </a:p>
        </p:txBody>
      </p:sp>
      <p:sp>
        <p:nvSpPr>
          <p:cNvPr id="10" name="Shape 8"/>
          <p:cNvSpPr/>
          <p:nvPr/>
        </p:nvSpPr>
        <p:spPr>
          <a:xfrm>
            <a:off x="457200" y="1188720"/>
            <a:ext cx="1016813" cy="246888"/>
          </a:xfrm>
          <a:prstGeom prst="roundRect">
            <a:avLst/>
          </a:prstGeom>
          <a:solidFill>
            <a:srgbClr val="465057"/>
          </a:solidFill>
          <a:ln w="5080">
            <a:solidFill>
              <a:srgbClr val="465057"/>
            </a:solidFill>
            <a:prstDash val="solid"/>
          </a:ln>
        </p:spPr>
      </p:sp>
      <p:sp>
        <p:nvSpPr>
          <p:cNvPr id="11" name="Text 9"/>
          <p:cNvSpPr/>
          <p:nvPr/>
        </p:nvSpPr>
        <p:spPr>
          <a:xfrm>
            <a:off x="576072" y="1239012"/>
            <a:ext cx="779069"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FABRIC SPINE</a:t>
            </a:r>
            <a:endParaRPr lang="en-US" sz="720" dirty="0"/>
          </a:p>
        </p:txBody>
      </p:sp>
      <p:sp>
        <p:nvSpPr>
          <p:cNvPr id="12" name="Shape 10"/>
          <p:cNvSpPr/>
          <p:nvPr/>
        </p:nvSpPr>
        <p:spPr>
          <a:xfrm>
            <a:off x="4343400" y="1993392"/>
            <a:ext cx="2852928" cy="2852928"/>
          </a:xfrm>
          <a:prstGeom prst="ellipse">
            <a:avLst/>
          </a:prstGeom>
          <a:solidFill>
            <a:srgbClr val="1F2426"/>
          </a:solidFill>
          <a:ln w="30480">
            <a:solidFill>
              <a:srgbClr val="147D74"/>
            </a:solidFill>
            <a:prstDash val="solid"/>
          </a:ln>
        </p:spPr>
      </p:sp>
      <p:sp>
        <p:nvSpPr>
          <p:cNvPr id="13" name="Shape 11"/>
          <p:cNvSpPr/>
          <p:nvPr/>
        </p:nvSpPr>
        <p:spPr>
          <a:xfrm>
            <a:off x="5047488" y="2697480"/>
            <a:ext cx="1444752" cy="1444752"/>
          </a:xfrm>
          <a:prstGeom prst="ellipse">
            <a:avLst/>
          </a:prstGeom>
          <a:solidFill>
            <a:srgbClr val="147D74"/>
          </a:solidFill>
          <a:ln w="6350">
            <a:solidFill>
              <a:srgbClr val="147D74"/>
            </a:solidFill>
            <a:prstDash val="solid"/>
          </a:ln>
        </p:spPr>
      </p:sp>
      <p:sp>
        <p:nvSpPr>
          <p:cNvPr id="14" name="Text 12"/>
          <p:cNvSpPr/>
          <p:nvPr/>
        </p:nvSpPr>
        <p:spPr>
          <a:xfrm>
            <a:off x="5138928" y="3108960"/>
            <a:ext cx="1261872" cy="23774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Bahnschrift SemiBold" pitchFamily="34" charset="0"/>
                <a:ea typeface="Bahnschrift SemiBold" pitchFamily="34" charset="-122"/>
                <a:cs typeface="Bahnschrift SemiBold" pitchFamily="34" charset="-120"/>
              </a:rPr>
              <a:t>MICROSOFT</a:t>
            </a:r>
            <a:endParaRPr lang="en-US" sz="1200" dirty="0"/>
          </a:p>
          <a:p>
            <a:pPr algn="ctr" indent="0" marL="0">
              <a:buNone/>
            </a:pPr>
            <a:r>
              <a:rPr lang="en-US" sz="1200" b="1" dirty="0">
                <a:solidFill>
                  <a:srgbClr val="FFFFFF"/>
                </a:solidFill>
                <a:latin typeface="Bahnschrift SemiBold" pitchFamily="34" charset="0"/>
                <a:ea typeface="Bahnschrift SemiBold" pitchFamily="34" charset="-122"/>
                <a:cs typeface="Bahnschrift SemiBold" pitchFamily="34" charset="-120"/>
              </a:rPr>
              <a:t>FABRIC</a:t>
            </a:r>
            <a:endParaRPr lang="en-US" sz="1200" dirty="0"/>
          </a:p>
        </p:txBody>
      </p:sp>
      <p:sp>
        <p:nvSpPr>
          <p:cNvPr id="15" name="Shape 13"/>
          <p:cNvSpPr/>
          <p:nvPr/>
        </p:nvSpPr>
        <p:spPr>
          <a:xfrm>
            <a:off x="3136392" y="1883664"/>
            <a:ext cx="1124712" cy="1124712"/>
          </a:xfrm>
          <a:prstGeom prst="ellipse">
            <a:avLst/>
          </a:prstGeom>
          <a:solidFill>
            <a:srgbClr val="FFFFFF"/>
          </a:solidFill>
          <a:ln w="16510">
            <a:solidFill>
              <a:srgbClr val="B64A2D"/>
            </a:solidFill>
            <a:prstDash val="solid"/>
          </a:ln>
        </p:spPr>
      </p:sp>
      <p:sp>
        <p:nvSpPr>
          <p:cNvPr id="16" name="Text 14"/>
          <p:cNvSpPr/>
          <p:nvPr/>
        </p:nvSpPr>
        <p:spPr>
          <a:xfrm>
            <a:off x="3136392" y="2130552"/>
            <a:ext cx="1124712" cy="137160"/>
          </a:xfrm>
          <a:prstGeom prst="rect">
            <a:avLst/>
          </a:prstGeom>
          <a:noFill/>
          <a:ln/>
        </p:spPr>
        <p:txBody>
          <a:bodyPr wrap="square" lIns="0" tIns="0" rIns="0" bIns="0" rtlCol="0" anchor="ctr">
            <a:normAutofit/>
          </a:bodyPr>
          <a:lstStyle/>
          <a:p>
            <a:pPr algn="ctr" indent="0" marL="0">
              <a:buNone/>
            </a:pPr>
            <a:r>
              <a:rPr lang="en-US" sz="1200" b="1" dirty="0">
                <a:solidFill>
                  <a:srgbClr val="B64A2D"/>
                </a:solidFill>
                <a:latin typeface="Bahnschrift SemiBold" pitchFamily="34" charset="0"/>
                <a:ea typeface="Bahnschrift SemiBold" pitchFamily="34" charset="-122"/>
                <a:cs typeface="Bahnschrift SemiBold" pitchFamily="34" charset="-120"/>
              </a:rPr>
              <a:t>RTI</a:t>
            </a:r>
            <a:endParaRPr lang="en-US" sz="1200" dirty="0"/>
          </a:p>
        </p:txBody>
      </p:sp>
      <p:sp>
        <p:nvSpPr>
          <p:cNvPr id="17" name="Text 15"/>
          <p:cNvSpPr/>
          <p:nvPr/>
        </p:nvSpPr>
        <p:spPr>
          <a:xfrm>
            <a:off x="2862072" y="3090672"/>
            <a:ext cx="1673352" cy="228600"/>
          </a:xfrm>
          <a:prstGeom prst="rect">
            <a:avLst/>
          </a:prstGeom>
          <a:noFill/>
          <a:ln/>
        </p:spPr>
        <p:txBody>
          <a:bodyPr wrap="square" lIns="0" tIns="0" rIns="0" bIns="0" rtlCol="0" anchor="ctr">
            <a:normAutofit/>
          </a:bodyPr>
          <a:lstStyle/>
          <a:p>
            <a:pPr algn="ctr" indent="0" marL="0">
              <a:buNone/>
            </a:pPr>
            <a:r>
              <a:rPr lang="en-US" sz="750" b="1" dirty="0">
                <a:solidFill>
                  <a:srgbClr val="687373"/>
                </a:solidFill>
                <a:latin typeface="Aptos" pitchFamily="34" charset="0"/>
                <a:ea typeface="Aptos" pitchFamily="34" charset="-122"/>
                <a:cs typeface="Aptos" pitchFamily="34" charset="-120"/>
              </a:rPr>
              <a:t>Eventstream +</a:t>
            </a:r>
            <a:endParaRPr lang="en-US" sz="750" dirty="0"/>
          </a:p>
          <a:p>
            <a:pPr algn="ctr" indent="0" marL="0">
              <a:buNone/>
            </a:pPr>
            <a:r>
              <a:rPr lang="en-US" sz="750" b="1" dirty="0">
                <a:solidFill>
                  <a:srgbClr val="687373"/>
                </a:solidFill>
                <a:latin typeface="Aptos" pitchFamily="34" charset="0"/>
                <a:ea typeface="Aptos" pitchFamily="34" charset="-122"/>
                <a:cs typeface="Aptos" pitchFamily="34" charset="-120"/>
              </a:rPr>
              <a:t>Eventhouse/KQL</a:t>
            </a:r>
            <a:endParaRPr lang="en-US" sz="750" dirty="0"/>
          </a:p>
        </p:txBody>
      </p:sp>
      <p:sp>
        <p:nvSpPr>
          <p:cNvPr id="18" name="Shape 16"/>
          <p:cNvSpPr/>
          <p:nvPr/>
        </p:nvSpPr>
        <p:spPr>
          <a:xfrm>
            <a:off x="6565392" y="1883664"/>
            <a:ext cx="1124712" cy="1124712"/>
          </a:xfrm>
          <a:prstGeom prst="ellipse">
            <a:avLst/>
          </a:prstGeom>
          <a:solidFill>
            <a:srgbClr val="FFFFFF"/>
          </a:solidFill>
          <a:ln w="16510">
            <a:solidFill>
              <a:srgbClr val="147D74"/>
            </a:solidFill>
            <a:prstDash val="solid"/>
          </a:ln>
        </p:spPr>
      </p:sp>
      <p:sp>
        <p:nvSpPr>
          <p:cNvPr id="19" name="Text 17"/>
          <p:cNvSpPr/>
          <p:nvPr/>
        </p:nvSpPr>
        <p:spPr>
          <a:xfrm>
            <a:off x="6565392" y="2130552"/>
            <a:ext cx="1124712" cy="137160"/>
          </a:xfrm>
          <a:prstGeom prst="rect">
            <a:avLst/>
          </a:prstGeom>
          <a:noFill/>
          <a:ln/>
        </p:spPr>
        <p:txBody>
          <a:bodyPr wrap="square" lIns="0" tIns="0" rIns="0" bIns="0" rtlCol="0" anchor="ctr">
            <a:normAutofit/>
          </a:bodyPr>
          <a:lstStyle/>
          <a:p>
            <a:pPr algn="ctr" indent="0" marL="0">
              <a:buNone/>
            </a:pPr>
            <a:r>
              <a:rPr lang="en-US" sz="1200" b="1" dirty="0">
                <a:solidFill>
                  <a:srgbClr val="147D74"/>
                </a:solidFill>
                <a:latin typeface="Bahnschrift SemiBold" pitchFamily="34" charset="0"/>
                <a:ea typeface="Bahnschrift SemiBold" pitchFamily="34" charset="-122"/>
                <a:cs typeface="Bahnschrift SemiBold" pitchFamily="34" charset="-120"/>
              </a:rPr>
              <a:t>ONE</a:t>
            </a:r>
            <a:endParaRPr lang="en-US" sz="1200" dirty="0"/>
          </a:p>
        </p:txBody>
      </p:sp>
      <p:sp>
        <p:nvSpPr>
          <p:cNvPr id="20" name="Text 18"/>
          <p:cNvSpPr/>
          <p:nvPr/>
        </p:nvSpPr>
        <p:spPr>
          <a:xfrm>
            <a:off x="6291072" y="3090672"/>
            <a:ext cx="1673352" cy="228600"/>
          </a:xfrm>
          <a:prstGeom prst="rect">
            <a:avLst/>
          </a:prstGeom>
          <a:noFill/>
          <a:ln/>
        </p:spPr>
        <p:txBody>
          <a:bodyPr wrap="square" lIns="0" tIns="0" rIns="0" bIns="0" rtlCol="0" anchor="ctr">
            <a:normAutofit/>
          </a:bodyPr>
          <a:lstStyle/>
          <a:p>
            <a:pPr algn="ctr" indent="0" marL="0">
              <a:buNone/>
            </a:pPr>
            <a:r>
              <a:rPr lang="en-US" sz="750" b="1" dirty="0">
                <a:solidFill>
                  <a:srgbClr val="687373"/>
                </a:solidFill>
                <a:latin typeface="Aptos" pitchFamily="34" charset="0"/>
                <a:ea typeface="Aptos" pitchFamily="34" charset="-122"/>
                <a:cs typeface="Aptos" pitchFamily="34" charset="-120"/>
              </a:rPr>
              <a:t>OneLake +</a:t>
            </a:r>
            <a:endParaRPr lang="en-US" sz="750" dirty="0"/>
          </a:p>
          <a:p>
            <a:pPr algn="ctr" indent="0" marL="0">
              <a:buNone/>
            </a:pPr>
            <a:r>
              <a:rPr lang="en-US" sz="750" b="1" dirty="0">
                <a:solidFill>
                  <a:srgbClr val="687373"/>
                </a:solidFill>
                <a:latin typeface="Aptos" pitchFamily="34" charset="0"/>
                <a:ea typeface="Aptos" pitchFamily="34" charset="-122"/>
                <a:cs typeface="Aptos" pitchFamily="34" charset="-120"/>
              </a:rPr>
              <a:t>Lakehouse</a:t>
            </a:r>
            <a:endParaRPr lang="en-US" sz="750" dirty="0"/>
          </a:p>
        </p:txBody>
      </p:sp>
      <p:sp>
        <p:nvSpPr>
          <p:cNvPr id="21" name="Shape 19"/>
          <p:cNvSpPr/>
          <p:nvPr/>
        </p:nvSpPr>
        <p:spPr>
          <a:xfrm>
            <a:off x="3227832" y="4443984"/>
            <a:ext cx="1124712" cy="1124712"/>
          </a:xfrm>
          <a:prstGeom prst="ellipse">
            <a:avLst/>
          </a:prstGeom>
          <a:solidFill>
            <a:srgbClr val="FFFFFF"/>
          </a:solidFill>
          <a:ln w="16510">
            <a:solidFill>
              <a:srgbClr val="E3A72F"/>
            </a:solidFill>
            <a:prstDash val="solid"/>
          </a:ln>
        </p:spPr>
      </p:sp>
      <p:sp>
        <p:nvSpPr>
          <p:cNvPr id="22" name="Text 20"/>
          <p:cNvSpPr/>
          <p:nvPr/>
        </p:nvSpPr>
        <p:spPr>
          <a:xfrm>
            <a:off x="3227832" y="4690872"/>
            <a:ext cx="1124712" cy="137160"/>
          </a:xfrm>
          <a:prstGeom prst="rect">
            <a:avLst/>
          </a:prstGeom>
          <a:noFill/>
          <a:ln/>
        </p:spPr>
        <p:txBody>
          <a:bodyPr wrap="square" lIns="0" tIns="0" rIns="0" bIns="0" rtlCol="0" anchor="ctr">
            <a:normAutofit/>
          </a:bodyPr>
          <a:lstStyle/>
          <a:p>
            <a:pPr algn="ctr" indent="0" marL="0">
              <a:buNone/>
            </a:pPr>
            <a:r>
              <a:rPr lang="en-US" sz="1200" b="1" dirty="0">
                <a:solidFill>
                  <a:srgbClr val="E3A72F"/>
                </a:solidFill>
                <a:latin typeface="Bahnschrift SemiBold" pitchFamily="34" charset="0"/>
                <a:ea typeface="Bahnschrift SemiBold" pitchFamily="34" charset="-122"/>
                <a:cs typeface="Bahnschrift SemiBold" pitchFamily="34" charset="-120"/>
              </a:rPr>
              <a:t>DL</a:t>
            </a:r>
            <a:endParaRPr lang="en-US" sz="1200" dirty="0"/>
          </a:p>
        </p:txBody>
      </p:sp>
      <p:sp>
        <p:nvSpPr>
          <p:cNvPr id="23" name="Text 21"/>
          <p:cNvSpPr/>
          <p:nvPr/>
        </p:nvSpPr>
        <p:spPr>
          <a:xfrm>
            <a:off x="2953512" y="5650992"/>
            <a:ext cx="1673352" cy="228600"/>
          </a:xfrm>
          <a:prstGeom prst="rect">
            <a:avLst/>
          </a:prstGeom>
          <a:noFill/>
          <a:ln/>
        </p:spPr>
        <p:txBody>
          <a:bodyPr wrap="square" lIns="0" tIns="0" rIns="0" bIns="0" rtlCol="0" anchor="ctr">
            <a:normAutofit/>
          </a:bodyPr>
          <a:lstStyle/>
          <a:p>
            <a:pPr algn="ctr" indent="0" marL="0">
              <a:buNone/>
            </a:pPr>
            <a:r>
              <a:rPr lang="en-US" sz="750" b="1" dirty="0">
                <a:solidFill>
                  <a:srgbClr val="687373"/>
                </a:solidFill>
                <a:latin typeface="Aptos" pitchFamily="34" charset="0"/>
                <a:ea typeface="Aptos" pitchFamily="34" charset="-122"/>
                <a:cs typeface="Aptos" pitchFamily="34" charset="-120"/>
              </a:rPr>
              <a:t>Direct Lake</a:t>
            </a:r>
            <a:endParaRPr lang="en-US" sz="750" dirty="0"/>
          </a:p>
          <a:p>
            <a:pPr algn="ctr" indent="0" marL="0">
              <a:buNone/>
            </a:pPr>
            <a:r>
              <a:rPr lang="en-US" sz="750" b="1" dirty="0">
                <a:solidFill>
                  <a:srgbClr val="687373"/>
                </a:solidFill>
                <a:latin typeface="Aptos" pitchFamily="34" charset="0"/>
                <a:ea typeface="Aptos" pitchFamily="34" charset="-122"/>
                <a:cs typeface="Aptos" pitchFamily="34" charset="-120"/>
              </a:rPr>
              <a:t>one semantic truth</a:t>
            </a:r>
            <a:endParaRPr lang="en-US" sz="750" dirty="0"/>
          </a:p>
        </p:txBody>
      </p:sp>
      <p:sp>
        <p:nvSpPr>
          <p:cNvPr id="24" name="Shape 22"/>
          <p:cNvSpPr/>
          <p:nvPr/>
        </p:nvSpPr>
        <p:spPr>
          <a:xfrm>
            <a:off x="6492240" y="4443984"/>
            <a:ext cx="1124712" cy="1124712"/>
          </a:xfrm>
          <a:prstGeom prst="ellipse">
            <a:avLst/>
          </a:prstGeom>
          <a:solidFill>
            <a:srgbClr val="FFFFFF"/>
          </a:solidFill>
          <a:ln w="16510">
            <a:solidFill>
              <a:srgbClr val="6D9A6F"/>
            </a:solidFill>
            <a:prstDash val="solid"/>
          </a:ln>
        </p:spPr>
      </p:sp>
      <p:sp>
        <p:nvSpPr>
          <p:cNvPr id="25" name="Text 23"/>
          <p:cNvSpPr/>
          <p:nvPr/>
        </p:nvSpPr>
        <p:spPr>
          <a:xfrm>
            <a:off x="6492240" y="4690872"/>
            <a:ext cx="1124712" cy="137160"/>
          </a:xfrm>
          <a:prstGeom prst="rect">
            <a:avLst/>
          </a:prstGeom>
          <a:noFill/>
          <a:ln/>
        </p:spPr>
        <p:txBody>
          <a:bodyPr wrap="square" lIns="0" tIns="0" rIns="0" bIns="0" rtlCol="0" anchor="ctr">
            <a:normAutofit/>
          </a:bodyPr>
          <a:lstStyle/>
          <a:p>
            <a:pPr algn="ctr" indent="0" marL="0">
              <a:buNone/>
            </a:pPr>
            <a:r>
              <a:rPr lang="en-US" sz="1200" b="1" dirty="0">
                <a:solidFill>
                  <a:srgbClr val="6D9A6F"/>
                </a:solidFill>
                <a:latin typeface="Bahnschrift SemiBold" pitchFamily="34" charset="0"/>
                <a:ea typeface="Bahnschrift SemiBold" pitchFamily="34" charset="-122"/>
                <a:cs typeface="Bahnschrift SemiBold" pitchFamily="34" charset="-120"/>
              </a:rPr>
              <a:t>BI</a:t>
            </a:r>
            <a:endParaRPr lang="en-US" sz="1200" dirty="0"/>
          </a:p>
        </p:txBody>
      </p:sp>
      <p:sp>
        <p:nvSpPr>
          <p:cNvPr id="26" name="Text 24"/>
          <p:cNvSpPr/>
          <p:nvPr/>
        </p:nvSpPr>
        <p:spPr>
          <a:xfrm>
            <a:off x="6217920" y="5650992"/>
            <a:ext cx="1673352" cy="228600"/>
          </a:xfrm>
          <a:prstGeom prst="rect">
            <a:avLst/>
          </a:prstGeom>
          <a:noFill/>
          <a:ln/>
        </p:spPr>
        <p:txBody>
          <a:bodyPr wrap="square" lIns="0" tIns="0" rIns="0" bIns="0" rtlCol="0" anchor="ctr">
            <a:normAutofit/>
          </a:bodyPr>
          <a:lstStyle/>
          <a:p>
            <a:pPr algn="ctr" indent="0" marL="0">
              <a:buNone/>
            </a:pPr>
            <a:r>
              <a:rPr lang="en-US" sz="750" b="1" dirty="0">
                <a:solidFill>
                  <a:srgbClr val="687373"/>
                </a:solidFill>
                <a:latin typeface="Aptos" pitchFamily="34" charset="0"/>
                <a:ea typeface="Aptos" pitchFamily="34" charset="-122"/>
                <a:cs typeface="Aptos" pitchFamily="34" charset="-120"/>
              </a:rPr>
              <a:t>Power BI +</a:t>
            </a:r>
            <a:endParaRPr lang="en-US" sz="750" dirty="0"/>
          </a:p>
          <a:p>
            <a:pPr algn="ctr" indent="0" marL="0">
              <a:buNone/>
            </a:pPr>
            <a:r>
              <a:rPr lang="en-US" sz="750" b="1" dirty="0">
                <a:solidFill>
                  <a:srgbClr val="687373"/>
                </a:solidFill>
                <a:latin typeface="Aptos" pitchFamily="34" charset="0"/>
                <a:ea typeface="Aptos" pitchFamily="34" charset="-122"/>
                <a:cs typeface="Aptos" pitchFamily="34" charset="-120"/>
              </a:rPr>
              <a:t>notify-only Activator</a:t>
            </a:r>
            <a:endParaRPr lang="en-US" sz="750" dirty="0"/>
          </a:p>
        </p:txBody>
      </p:sp>
      <p:sp>
        <p:nvSpPr>
          <p:cNvPr id="27" name="Shape 25"/>
          <p:cNvSpPr/>
          <p:nvPr/>
        </p:nvSpPr>
        <p:spPr>
          <a:xfrm>
            <a:off x="8732520" y="1719072"/>
            <a:ext cx="2359152" cy="3364992"/>
          </a:xfrm>
          <a:prstGeom prst="roundRect">
            <a:avLst/>
          </a:prstGeom>
          <a:solidFill>
            <a:srgbClr val="FFFFFF"/>
          </a:solidFill>
          <a:ln w="10160">
            <a:solidFill>
              <a:srgbClr val="DDE4E1"/>
            </a:solidFill>
            <a:prstDash val="solid"/>
          </a:ln>
        </p:spPr>
      </p:sp>
      <p:sp>
        <p:nvSpPr>
          <p:cNvPr id="28" name="Text 26"/>
          <p:cNvSpPr/>
          <p:nvPr/>
        </p:nvSpPr>
        <p:spPr>
          <a:xfrm>
            <a:off x="8997696" y="1993392"/>
            <a:ext cx="1737360"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147D74"/>
                </a:solidFill>
                <a:latin typeface="Aptos" pitchFamily="34" charset="0"/>
                <a:ea typeface="Aptos" pitchFamily="34" charset="-122"/>
                <a:cs typeface="Aptos" pitchFamily="34" charset="-120"/>
              </a:rPr>
              <a:t>ONE CORE, MANY CLOCKS</a:t>
            </a:r>
            <a:endParaRPr lang="en-US" sz="720" dirty="0"/>
          </a:p>
        </p:txBody>
      </p:sp>
      <p:sp>
        <p:nvSpPr>
          <p:cNvPr id="29" name="Shape 27"/>
          <p:cNvSpPr/>
          <p:nvPr/>
        </p:nvSpPr>
        <p:spPr>
          <a:xfrm>
            <a:off x="8997696" y="2450592"/>
            <a:ext cx="384048" cy="384048"/>
          </a:xfrm>
          <a:prstGeom prst="ellipse">
            <a:avLst/>
          </a:prstGeom>
          <a:solidFill>
            <a:srgbClr val="B64A2D"/>
          </a:solidFill>
          <a:ln w="6350">
            <a:solidFill>
              <a:srgbClr val="B64A2D"/>
            </a:solidFill>
            <a:prstDash val="solid"/>
          </a:ln>
        </p:spPr>
      </p:sp>
      <p:sp>
        <p:nvSpPr>
          <p:cNvPr id="30" name="Text 28"/>
          <p:cNvSpPr/>
          <p:nvPr/>
        </p:nvSpPr>
        <p:spPr>
          <a:xfrm>
            <a:off x="8997696" y="2555748"/>
            <a:ext cx="384048" cy="91440"/>
          </a:xfrm>
          <a:prstGeom prst="rect">
            <a:avLst/>
          </a:prstGeom>
          <a:noFill/>
          <a:ln/>
        </p:spPr>
        <p:txBody>
          <a:bodyPr wrap="square" lIns="0" tIns="0" rIns="0" bIns="0" rtlCol="0" anchor="ctr">
            <a:normAutofit/>
          </a:bodyPr>
          <a:lstStyle/>
          <a:p>
            <a:pPr algn="ctr" indent="0" marL="0">
              <a:buNone/>
            </a:pPr>
            <a:r>
              <a:rPr lang="en-US" sz="730" b="1" dirty="0">
                <a:solidFill>
                  <a:srgbClr val="FFFFFF"/>
                </a:solidFill>
                <a:latin typeface="Aptos" pitchFamily="34" charset="0"/>
                <a:ea typeface="Aptos" pitchFamily="34" charset="-122"/>
                <a:cs typeface="Aptos" pitchFamily="34" charset="-120"/>
              </a:rPr>
              <a:t>1</a:t>
            </a:r>
            <a:endParaRPr lang="en-US" sz="730" dirty="0"/>
          </a:p>
        </p:txBody>
      </p:sp>
      <p:sp>
        <p:nvSpPr>
          <p:cNvPr id="31" name="Text 29"/>
          <p:cNvSpPr/>
          <p:nvPr/>
        </p:nvSpPr>
        <p:spPr>
          <a:xfrm>
            <a:off x="9528048" y="2446020"/>
            <a:ext cx="1554480" cy="155448"/>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Hot operations</a:t>
            </a:r>
            <a:endParaRPr lang="en-US" sz="920" dirty="0"/>
          </a:p>
        </p:txBody>
      </p:sp>
      <p:sp>
        <p:nvSpPr>
          <p:cNvPr id="32" name="Text 30"/>
          <p:cNvSpPr/>
          <p:nvPr/>
        </p:nvSpPr>
        <p:spPr>
          <a:xfrm>
            <a:off x="9528048" y="2679192"/>
            <a:ext cx="1554480" cy="256032"/>
          </a:xfrm>
          <a:prstGeom prst="rect">
            <a:avLst/>
          </a:prstGeom>
          <a:noFill/>
          <a:ln/>
        </p:spPr>
        <p:txBody>
          <a:bodyPr wrap="square" lIns="0" tIns="0" rIns="0" bIns="0" rtlCol="0" anchor="t">
            <a:normAutofit/>
          </a:bodyPr>
          <a:lstStyle/>
          <a:p>
            <a:pPr algn="l" indent="0" marL="0">
              <a:buNone/>
            </a:pPr>
            <a:r>
              <a:rPr lang="en-US" sz="780" dirty="0">
                <a:solidFill>
                  <a:srgbClr val="687373"/>
                </a:solidFill>
                <a:latin typeface="Aptos" pitchFamily="34" charset="0"/>
                <a:ea typeface="Aptos" pitchFamily="34" charset="-122"/>
                <a:cs typeface="Aptos" pitchFamily="34" charset="-120"/>
              </a:rPr>
              <a:t>freshness, alarms, high-cardinality telemetry</a:t>
            </a:r>
            <a:endParaRPr lang="en-US" sz="780" dirty="0"/>
          </a:p>
        </p:txBody>
      </p:sp>
      <p:sp>
        <p:nvSpPr>
          <p:cNvPr id="33" name="Shape 31"/>
          <p:cNvSpPr/>
          <p:nvPr/>
        </p:nvSpPr>
        <p:spPr>
          <a:xfrm>
            <a:off x="8997696" y="3310128"/>
            <a:ext cx="384048" cy="384048"/>
          </a:xfrm>
          <a:prstGeom prst="ellipse">
            <a:avLst/>
          </a:prstGeom>
          <a:solidFill>
            <a:srgbClr val="147D74"/>
          </a:solidFill>
          <a:ln w="6350">
            <a:solidFill>
              <a:srgbClr val="147D74"/>
            </a:solidFill>
            <a:prstDash val="solid"/>
          </a:ln>
        </p:spPr>
      </p:sp>
      <p:sp>
        <p:nvSpPr>
          <p:cNvPr id="34" name="Text 32"/>
          <p:cNvSpPr/>
          <p:nvPr/>
        </p:nvSpPr>
        <p:spPr>
          <a:xfrm>
            <a:off x="8997696" y="3415284"/>
            <a:ext cx="384048" cy="91440"/>
          </a:xfrm>
          <a:prstGeom prst="rect">
            <a:avLst/>
          </a:prstGeom>
          <a:noFill/>
          <a:ln/>
        </p:spPr>
        <p:txBody>
          <a:bodyPr wrap="square" lIns="0" tIns="0" rIns="0" bIns="0" rtlCol="0" anchor="ctr">
            <a:normAutofit/>
          </a:bodyPr>
          <a:lstStyle/>
          <a:p>
            <a:pPr algn="ctr" indent="0" marL="0">
              <a:buNone/>
            </a:pPr>
            <a:r>
              <a:rPr lang="en-US" sz="730" b="1" dirty="0">
                <a:solidFill>
                  <a:srgbClr val="FFFFFF"/>
                </a:solidFill>
                <a:latin typeface="Aptos" pitchFamily="34" charset="0"/>
                <a:ea typeface="Aptos" pitchFamily="34" charset="-122"/>
                <a:cs typeface="Aptos" pitchFamily="34" charset="-120"/>
              </a:rPr>
              <a:t>2</a:t>
            </a:r>
            <a:endParaRPr lang="en-US" sz="730" dirty="0"/>
          </a:p>
        </p:txBody>
      </p:sp>
      <p:sp>
        <p:nvSpPr>
          <p:cNvPr id="35" name="Text 33"/>
          <p:cNvSpPr/>
          <p:nvPr/>
        </p:nvSpPr>
        <p:spPr>
          <a:xfrm>
            <a:off x="9528048" y="3305556"/>
            <a:ext cx="1554480" cy="155448"/>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Governed history</a:t>
            </a:r>
            <a:endParaRPr lang="en-US" sz="920" dirty="0"/>
          </a:p>
        </p:txBody>
      </p:sp>
      <p:sp>
        <p:nvSpPr>
          <p:cNvPr id="36" name="Text 34"/>
          <p:cNvSpPr/>
          <p:nvPr/>
        </p:nvSpPr>
        <p:spPr>
          <a:xfrm>
            <a:off x="9528048" y="3538728"/>
            <a:ext cx="1554480" cy="256032"/>
          </a:xfrm>
          <a:prstGeom prst="rect">
            <a:avLst/>
          </a:prstGeom>
          <a:noFill/>
          <a:ln/>
        </p:spPr>
        <p:txBody>
          <a:bodyPr wrap="square" lIns="0" tIns="0" rIns="0" bIns="0" rtlCol="0" anchor="t">
            <a:normAutofit/>
          </a:bodyPr>
          <a:lstStyle/>
          <a:p>
            <a:pPr algn="l" indent="0" marL="0">
              <a:buNone/>
            </a:pPr>
            <a:r>
              <a:rPr lang="en-US" sz="780" dirty="0">
                <a:solidFill>
                  <a:srgbClr val="687373"/>
                </a:solidFill>
                <a:latin typeface="Aptos" pitchFamily="34" charset="0"/>
                <a:ea typeface="Aptos" pitchFamily="34" charset="-122"/>
                <a:cs typeface="Aptos" pitchFamily="34" charset="-120"/>
              </a:rPr>
              <a:t>bronze → silver → gold Delta</a:t>
            </a:r>
            <a:endParaRPr lang="en-US" sz="780" dirty="0"/>
          </a:p>
        </p:txBody>
      </p:sp>
      <p:sp>
        <p:nvSpPr>
          <p:cNvPr id="37" name="Shape 35"/>
          <p:cNvSpPr/>
          <p:nvPr/>
        </p:nvSpPr>
        <p:spPr>
          <a:xfrm>
            <a:off x="8997696" y="4169664"/>
            <a:ext cx="384048" cy="384048"/>
          </a:xfrm>
          <a:prstGeom prst="ellipse">
            <a:avLst/>
          </a:prstGeom>
          <a:solidFill>
            <a:srgbClr val="E3A72F"/>
          </a:solidFill>
          <a:ln w="6350">
            <a:solidFill>
              <a:srgbClr val="E3A72F"/>
            </a:solidFill>
            <a:prstDash val="solid"/>
          </a:ln>
        </p:spPr>
      </p:sp>
      <p:sp>
        <p:nvSpPr>
          <p:cNvPr id="38" name="Text 36"/>
          <p:cNvSpPr/>
          <p:nvPr/>
        </p:nvSpPr>
        <p:spPr>
          <a:xfrm>
            <a:off x="8997696" y="4274820"/>
            <a:ext cx="384048" cy="91440"/>
          </a:xfrm>
          <a:prstGeom prst="rect">
            <a:avLst/>
          </a:prstGeom>
          <a:noFill/>
          <a:ln/>
        </p:spPr>
        <p:txBody>
          <a:bodyPr wrap="square" lIns="0" tIns="0" rIns="0" bIns="0" rtlCol="0" anchor="ctr">
            <a:normAutofit/>
          </a:bodyPr>
          <a:lstStyle/>
          <a:p>
            <a:pPr algn="ctr" indent="0" marL="0">
              <a:buNone/>
            </a:pPr>
            <a:r>
              <a:rPr lang="en-US" sz="730" b="1" dirty="0">
                <a:solidFill>
                  <a:srgbClr val="FFFFFF"/>
                </a:solidFill>
                <a:latin typeface="Aptos" pitchFamily="34" charset="0"/>
                <a:ea typeface="Aptos" pitchFamily="34" charset="-122"/>
                <a:cs typeface="Aptos" pitchFamily="34" charset="-120"/>
              </a:rPr>
              <a:t>3</a:t>
            </a:r>
            <a:endParaRPr lang="en-US" sz="730" dirty="0"/>
          </a:p>
        </p:txBody>
      </p:sp>
      <p:sp>
        <p:nvSpPr>
          <p:cNvPr id="39" name="Text 37"/>
          <p:cNvSpPr/>
          <p:nvPr/>
        </p:nvSpPr>
        <p:spPr>
          <a:xfrm>
            <a:off x="9528048" y="4165092"/>
            <a:ext cx="1554480" cy="155448"/>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One KPI meaning</a:t>
            </a:r>
            <a:endParaRPr lang="en-US" sz="920" dirty="0"/>
          </a:p>
        </p:txBody>
      </p:sp>
      <p:sp>
        <p:nvSpPr>
          <p:cNvPr id="40" name="Text 38"/>
          <p:cNvSpPr/>
          <p:nvPr/>
        </p:nvSpPr>
        <p:spPr>
          <a:xfrm>
            <a:off x="9528048" y="4398264"/>
            <a:ext cx="1554480" cy="256032"/>
          </a:xfrm>
          <a:prstGeom prst="rect">
            <a:avLst/>
          </a:prstGeom>
          <a:noFill/>
          <a:ln/>
        </p:spPr>
        <p:txBody>
          <a:bodyPr wrap="square" lIns="0" tIns="0" rIns="0" bIns="0" rtlCol="0" anchor="t">
            <a:normAutofit/>
          </a:bodyPr>
          <a:lstStyle/>
          <a:p>
            <a:pPr algn="l" indent="0" marL="0">
              <a:buNone/>
            </a:pPr>
            <a:r>
              <a:rPr lang="en-US" sz="780" dirty="0">
                <a:solidFill>
                  <a:srgbClr val="687373"/>
                </a:solidFill>
                <a:latin typeface="Aptos" pitchFamily="34" charset="0"/>
                <a:ea typeface="Aptos" pitchFamily="34" charset="-122"/>
                <a:cs typeface="Aptos" pitchFamily="34" charset="-120"/>
              </a:rPr>
              <a:t>no parallel lake or BI store</a:t>
            </a:r>
            <a:endParaRPr lang="en-US" sz="780" dirty="0"/>
          </a:p>
        </p:txBody>
      </p:sp>
      <p:sp>
        <p:nvSpPr>
          <p:cNvPr id="41" name="Shape 39"/>
          <p:cNvSpPr/>
          <p:nvPr/>
        </p:nvSpPr>
        <p:spPr>
          <a:xfrm>
            <a:off x="493776" y="5440680"/>
            <a:ext cx="7589520" cy="484632"/>
          </a:xfrm>
          <a:prstGeom prst="roundRect">
            <a:avLst/>
          </a:prstGeom>
          <a:solidFill>
            <a:srgbClr val="D8ECE7"/>
          </a:solidFill>
          <a:ln w="8890">
            <a:solidFill>
              <a:srgbClr val="147D74"/>
            </a:solidFill>
            <a:prstDash val="solid"/>
          </a:ln>
        </p:spPr>
      </p:sp>
      <p:sp>
        <p:nvSpPr>
          <p:cNvPr id="42" name="Text 40"/>
          <p:cNvSpPr/>
          <p:nvPr/>
        </p:nvSpPr>
        <p:spPr>
          <a:xfrm>
            <a:off x="704088" y="5618988"/>
            <a:ext cx="7132320" cy="91440"/>
          </a:xfrm>
          <a:prstGeom prst="rect">
            <a:avLst/>
          </a:prstGeom>
          <a:noFill/>
          <a:ln/>
        </p:spPr>
        <p:txBody>
          <a:bodyPr wrap="square" lIns="0" tIns="0" rIns="0" bIns="0" rtlCol="0" anchor="ctr">
            <a:normAutofit/>
          </a:bodyPr>
          <a:lstStyle/>
          <a:p>
            <a:pPr algn="ctr" indent="0" marL="0">
              <a:buNone/>
            </a:pPr>
            <a:r>
              <a:rPr lang="en-US" sz="880" b="1" dirty="0">
                <a:solidFill>
                  <a:srgbClr val="202729"/>
                </a:solidFill>
                <a:latin typeface="Aptos" pitchFamily="34" charset="0"/>
                <a:ea typeface="Aptos" pitchFamily="34" charset="-122"/>
                <a:cs typeface="Aptos" pitchFamily="34" charset="-120"/>
              </a:rPr>
              <a:t>ADR-001: no parallel data lake or BI store.  ADR-002: hot KQL is separate from governed Delta.</a:t>
            </a:r>
            <a:endParaRPr lang="en-US" sz="880" dirty="0"/>
          </a:p>
        </p:txBody>
      </p:sp>
      <p:sp>
        <p:nvSpPr>
          <p:cNvPr id="43" name="Text 41"/>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Source cue | solution-architecture.md §3.1, ADR-001, ADR-002  •  fabric-platform.md</a:t>
            </a:r>
            <a:endParaRPr lang="en-US" sz="660" dirty="0"/>
          </a:p>
        </p:txBody>
      </p:sp>
      <p:sp>
        <p:nvSpPr>
          <p:cNvPr id="44" name="Shape 42"/>
          <p:cNvSpPr/>
          <p:nvPr/>
        </p:nvSpPr>
        <p:spPr>
          <a:xfrm>
            <a:off x="0" y="6483096"/>
            <a:ext cx="12191695" cy="374904"/>
          </a:xfrm>
          <a:prstGeom prst="rect">
            <a:avLst/>
          </a:prstGeom>
          <a:solidFill>
            <a:srgbClr val="E9E7E1"/>
          </a:solidFill>
          <a:ln w="6350">
            <a:solidFill>
              <a:srgbClr val="E9E7E1"/>
            </a:solidFill>
            <a:prstDash val="solid"/>
          </a:ln>
        </p:spPr>
      </p:sp>
      <p:sp>
        <p:nvSpPr>
          <p:cNvPr id="45" name="Shape 43"/>
          <p:cNvSpPr/>
          <p:nvPr/>
        </p:nvSpPr>
        <p:spPr>
          <a:xfrm>
            <a:off x="384048" y="6547104"/>
            <a:ext cx="3547872" cy="182880"/>
          </a:xfrm>
          <a:prstGeom prst="roundRect">
            <a:avLst/>
          </a:prstGeom>
          <a:solidFill>
            <a:srgbClr val="FFFFFF"/>
          </a:solidFill>
          <a:ln w="3175">
            <a:solidFill>
              <a:srgbClr val="DDE4E1"/>
            </a:solidFill>
            <a:prstDash val="solid"/>
          </a:ln>
        </p:spPr>
      </p:sp>
      <p:sp>
        <p:nvSpPr>
          <p:cNvPr id="46" name="Text 44"/>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47" name="Text 45"/>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ORAL DEFENSE  •  09 / 20</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465057"/>
          </a:solidFill>
          <a:ln w="5080">
            <a:solidFill>
              <a:srgbClr val="465057"/>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10</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TRUSTWORTHY DATA</a:t>
            </a:r>
            <a:endParaRPr lang="en-US" sz="810" dirty="0"/>
          </a:p>
        </p:txBody>
      </p:sp>
      <p:sp>
        <p:nvSpPr>
          <p:cNvPr id="7" name="Shape 5"/>
          <p:cNvSpPr/>
          <p:nvPr/>
        </p:nvSpPr>
        <p:spPr>
          <a:xfrm>
            <a:off x="10040112" y="274320"/>
            <a:ext cx="1673352" cy="256032"/>
          </a:xfrm>
          <a:prstGeom prst="roundRect">
            <a:avLst/>
          </a:prstGeom>
          <a:solidFill>
            <a:srgbClr val="FFFFFF"/>
          </a:solidFill>
          <a:ln w="6350">
            <a:solidFill>
              <a:srgbClr val="DDE4E1"/>
            </a:solidFill>
            <a:prstDash val="solid"/>
          </a:ln>
        </p:spPr>
      </p:sp>
      <p:sp>
        <p:nvSpPr>
          <p:cNvPr id="8" name="Text 6"/>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687373"/>
                </a:solidFill>
                <a:latin typeface="Aptos" pitchFamily="34" charset="0"/>
                <a:ea typeface="Aptos" pitchFamily="34" charset="-122"/>
                <a:cs typeface="Aptos" pitchFamily="34" charset="-120"/>
              </a:rPr>
              <a:t>13:30–15:15</a:t>
            </a:r>
            <a:endParaRPr lang="en-US" sz="720" dirty="0"/>
          </a:p>
        </p:txBody>
      </p:sp>
      <p:sp>
        <p:nvSpPr>
          <p:cNvPr id="9" name="Text 7"/>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The path from OT signal to governed fact</a:t>
            </a:r>
            <a:endParaRPr lang="en-US" sz="2550" dirty="0"/>
          </a:p>
        </p:txBody>
      </p:sp>
      <p:sp>
        <p:nvSpPr>
          <p:cNvPr id="10" name="Shape 8"/>
          <p:cNvSpPr/>
          <p:nvPr/>
        </p:nvSpPr>
        <p:spPr>
          <a:xfrm>
            <a:off x="457200" y="1188720"/>
            <a:ext cx="1318565" cy="246888"/>
          </a:xfrm>
          <a:prstGeom prst="roundRect">
            <a:avLst/>
          </a:prstGeom>
          <a:solidFill>
            <a:srgbClr val="465057"/>
          </a:solidFill>
          <a:ln w="5080">
            <a:solidFill>
              <a:srgbClr val="465057"/>
            </a:solidFill>
            <a:prstDash val="solid"/>
          </a:ln>
        </p:spPr>
      </p:sp>
      <p:sp>
        <p:nvSpPr>
          <p:cNvPr id="11" name="Text 9"/>
          <p:cNvSpPr/>
          <p:nvPr/>
        </p:nvSpPr>
        <p:spPr>
          <a:xfrm>
            <a:off x="576072" y="1239012"/>
            <a:ext cx="1080821"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ARCHITECTURE FACT</a:t>
            </a:r>
            <a:endParaRPr lang="en-US" sz="720" dirty="0"/>
          </a:p>
        </p:txBody>
      </p:sp>
      <p:sp>
        <p:nvSpPr>
          <p:cNvPr id="12" name="Shape 10"/>
          <p:cNvSpPr/>
          <p:nvPr/>
        </p:nvSpPr>
        <p:spPr>
          <a:xfrm>
            <a:off x="438912" y="1892808"/>
            <a:ext cx="1353312" cy="1078992"/>
          </a:xfrm>
          <a:prstGeom prst="roundRect">
            <a:avLst/>
          </a:prstGeom>
          <a:solidFill>
            <a:srgbClr val="FFFFFF"/>
          </a:solidFill>
          <a:ln w="8890">
            <a:solidFill>
              <a:srgbClr val="B64A2D"/>
            </a:solidFill>
            <a:prstDash val="solid"/>
          </a:ln>
        </p:spPr>
      </p:sp>
      <p:sp>
        <p:nvSpPr>
          <p:cNvPr id="13" name="Shape 11"/>
          <p:cNvSpPr/>
          <p:nvPr/>
        </p:nvSpPr>
        <p:spPr>
          <a:xfrm>
            <a:off x="438912" y="1892808"/>
            <a:ext cx="77724" cy="1078992"/>
          </a:xfrm>
          <a:prstGeom prst="rect">
            <a:avLst/>
          </a:prstGeom>
          <a:solidFill>
            <a:srgbClr val="B64A2D"/>
          </a:solidFill>
          <a:ln w="6350">
            <a:solidFill>
              <a:srgbClr val="B64A2D"/>
            </a:solidFill>
            <a:prstDash val="solid"/>
          </a:ln>
        </p:spPr>
      </p:sp>
      <p:sp>
        <p:nvSpPr>
          <p:cNvPr id="14" name="Text 12"/>
          <p:cNvSpPr/>
          <p:nvPr/>
        </p:nvSpPr>
        <p:spPr>
          <a:xfrm>
            <a:off x="603504" y="2075688"/>
            <a:ext cx="1033272" cy="219456"/>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DMZ</a:t>
            </a:r>
            <a:endParaRPr lang="en-US" sz="920" dirty="0"/>
          </a:p>
          <a:p>
            <a:pPr algn="l" indent="0" marL="0">
              <a:buNone/>
            </a:pPr>
            <a:r>
              <a:rPr lang="en-US" sz="920" b="1" dirty="0">
                <a:solidFill>
                  <a:srgbClr val="202729"/>
                </a:solidFill>
                <a:latin typeface="Aptos" pitchFamily="34" charset="0"/>
                <a:ea typeface="Aptos" pitchFamily="34" charset="-122"/>
                <a:cs typeface="Aptos" pitchFamily="34" charset="-120"/>
              </a:rPr>
              <a:t>GATEWAY</a:t>
            </a:r>
            <a:endParaRPr lang="en-US" sz="920" dirty="0"/>
          </a:p>
        </p:txBody>
      </p:sp>
      <p:sp>
        <p:nvSpPr>
          <p:cNvPr id="15" name="Text 13"/>
          <p:cNvSpPr/>
          <p:nvPr/>
        </p:nvSpPr>
        <p:spPr>
          <a:xfrm>
            <a:off x="603504" y="2377440"/>
            <a:ext cx="1033272" cy="484632"/>
          </a:xfrm>
          <a:prstGeom prst="rect">
            <a:avLst/>
          </a:prstGeom>
          <a:noFill/>
          <a:ln/>
        </p:spPr>
        <p:txBody>
          <a:bodyPr wrap="square" lIns="0" tIns="0" rIns="0" bIns="0" rtlCol="0" anchor="t">
            <a:normAutofit/>
          </a:bodyPr>
          <a:lstStyle/>
          <a:p>
            <a:pPr algn="l" indent="0" marL="0">
              <a:buNone/>
            </a:pPr>
            <a:r>
              <a:rPr lang="en-US" sz="685" dirty="0">
                <a:solidFill>
                  <a:srgbClr val="687373"/>
                </a:solidFill>
                <a:latin typeface="Aptos" pitchFamily="34" charset="0"/>
                <a:ea typeface="Aptos" pitchFamily="34" charset="-122"/>
                <a:cs typeface="Aptos" pitchFamily="34" charset="-120"/>
              </a:rPr>
              <a:t>schema + allow list</a:t>
            </a:r>
            <a:endParaRPr lang="en-US" sz="685" dirty="0"/>
          </a:p>
        </p:txBody>
      </p:sp>
      <p:sp>
        <p:nvSpPr>
          <p:cNvPr id="16" name="Shape 14"/>
          <p:cNvSpPr/>
          <p:nvPr/>
        </p:nvSpPr>
        <p:spPr>
          <a:xfrm>
            <a:off x="1828800" y="2267712"/>
            <a:ext cx="164592" cy="256032"/>
          </a:xfrm>
          <a:prstGeom prst="chevron">
            <a:avLst/>
          </a:prstGeom>
          <a:solidFill>
            <a:srgbClr val="465057"/>
          </a:solidFill>
          <a:ln w="12700">
            <a:solidFill>
              <a:srgbClr val="465057">
                <a:alpha val="0"/>
              </a:srgbClr>
            </a:solidFill>
            <a:prstDash val="solid"/>
          </a:ln>
        </p:spPr>
      </p:sp>
      <p:sp>
        <p:nvSpPr>
          <p:cNvPr id="17" name="Shape 15"/>
          <p:cNvSpPr/>
          <p:nvPr/>
        </p:nvSpPr>
        <p:spPr>
          <a:xfrm>
            <a:off x="2066544" y="1892808"/>
            <a:ext cx="1353312" cy="1078992"/>
          </a:xfrm>
          <a:prstGeom prst="roundRect">
            <a:avLst/>
          </a:prstGeom>
          <a:solidFill>
            <a:srgbClr val="FFFFFF"/>
          </a:solidFill>
          <a:ln w="8890">
            <a:solidFill>
              <a:srgbClr val="E3A72F"/>
            </a:solidFill>
            <a:prstDash val="solid"/>
          </a:ln>
        </p:spPr>
      </p:sp>
      <p:sp>
        <p:nvSpPr>
          <p:cNvPr id="18" name="Shape 16"/>
          <p:cNvSpPr/>
          <p:nvPr/>
        </p:nvSpPr>
        <p:spPr>
          <a:xfrm>
            <a:off x="2066544" y="1892808"/>
            <a:ext cx="77724" cy="1078992"/>
          </a:xfrm>
          <a:prstGeom prst="rect">
            <a:avLst/>
          </a:prstGeom>
          <a:solidFill>
            <a:srgbClr val="E3A72F"/>
          </a:solidFill>
          <a:ln w="6350">
            <a:solidFill>
              <a:srgbClr val="E3A72F"/>
            </a:solidFill>
            <a:prstDash val="solid"/>
          </a:ln>
        </p:spPr>
      </p:sp>
      <p:sp>
        <p:nvSpPr>
          <p:cNvPr id="19" name="Text 17"/>
          <p:cNvSpPr/>
          <p:nvPr/>
        </p:nvSpPr>
        <p:spPr>
          <a:xfrm>
            <a:off x="2231136" y="2075688"/>
            <a:ext cx="1033272" cy="219456"/>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EVENT</a:t>
            </a:r>
            <a:endParaRPr lang="en-US" sz="920" dirty="0"/>
          </a:p>
          <a:p>
            <a:pPr algn="l" indent="0" marL="0">
              <a:buNone/>
            </a:pPr>
            <a:r>
              <a:rPr lang="en-US" sz="920" b="1" dirty="0">
                <a:solidFill>
                  <a:srgbClr val="202729"/>
                </a:solidFill>
                <a:latin typeface="Aptos" pitchFamily="34" charset="0"/>
                <a:ea typeface="Aptos" pitchFamily="34" charset="-122"/>
                <a:cs typeface="Aptos" pitchFamily="34" charset="-120"/>
              </a:rPr>
              <a:t>HUBS</a:t>
            </a:r>
            <a:endParaRPr lang="en-US" sz="920" dirty="0"/>
          </a:p>
        </p:txBody>
      </p:sp>
      <p:sp>
        <p:nvSpPr>
          <p:cNvPr id="20" name="Text 18"/>
          <p:cNvSpPr/>
          <p:nvPr/>
        </p:nvSpPr>
        <p:spPr>
          <a:xfrm>
            <a:off x="2231136" y="2377440"/>
            <a:ext cx="1033272" cy="484632"/>
          </a:xfrm>
          <a:prstGeom prst="rect">
            <a:avLst/>
          </a:prstGeom>
          <a:noFill/>
          <a:ln/>
        </p:spPr>
        <p:txBody>
          <a:bodyPr wrap="square" lIns="0" tIns="0" rIns="0" bIns="0" rtlCol="0" anchor="t">
            <a:normAutofit/>
          </a:bodyPr>
          <a:lstStyle/>
          <a:p>
            <a:pPr algn="l" indent="0" marL="0">
              <a:buNone/>
            </a:pPr>
            <a:r>
              <a:rPr lang="en-US" sz="685" dirty="0">
                <a:solidFill>
                  <a:srgbClr val="687373"/>
                </a:solidFill>
                <a:latin typeface="Aptos" pitchFamily="34" charset="0"/>
                <a:ea typeface="Aptos" pitchFamily="34" charset="-122"/>
                <a:cs typeface="Aptos" pitchFamily="34" charset="-120"/>
              </a:rPr>
              <a:t>buffer + replay</a:t>
            </a:r>
            <a:endParaRPr lang="en-US" sz="685" dirty="0"/>
          </a:p>
        </p:txBody>
      </p:sp>
      <p:sp>
        <p:nvSpPr>
          <p:cNvPr id="21" name="Shape 19"/>
          <p:cNvSpPr/>
          <p:nvPr/>
        </p:nvSpPr>
        <p:spPr>
          <a:xfrm>
            <a:off x="3456432" y="2267712"/>
            <a:ext cx="164592" cy="256032"/>
          </a:xfrm>
          <a:prstGeom prst="chevron">
            <a:avLst/>
          </a:prstGeom>
          <a:solidFill>
            <a:srgbClr val="465057"/>
          </a:solidFill>
          <a:ln w="12700">
            <a:solidFill>
              <a:srgbClr val="465057">
                <a:alpha val="0"/>
              </a:srgbClr>
            </a:solidFill>
            <a:prstDash val="solid"/>
          </a:ln>
        </p:spPr>
      </p:sp>
      <p:sp>
        <p:nvSpPr>
          <p:cNvPr id="22" name="Shape 20"/>
          <p:cNvSpPr/>
          <p:nvPr/>
        </p:nvSpPr>
        <p:spPr>
          <a:xfrm>
            <a:off x="3694176" y="1892808"/>
            <a:ext cx="1353312" cy="1078992"/>
          </a:xfrm>
          <a:prstGeom prst="roundRect">
            <a:avLst/>
          </a:prstGeom>
          <a:solidFill>
            <a:srgbClr val="FFFFFF"/>
          </a:solidFill>
          <a:ln w="8890">
            <a:solidFill>
              <a:srgbClr val="465057"/>
            </a:solidFill>
            <a:prstDash val="solid"/>
          </a:ln>
        </p:spPr>
      </p:sp>
      <p:sp>
        <p:nvSpPr>
          <p:cNvPr id="23" name="Shape 21"/>
          <p:cNvSpPr/>
          <p:nvPr/>
        </p:nvSpPr>
        <p:spPr>
          <a:xfrm>
            <a:off x="3694176" y="1892808"/>
            <a:ext cx="77724" cy="1078992"/>
          </a:xfrm>
          <a:prstGeom prst="rect">
            <a:avLst/>
          </a:prstGeom>
          <a:solidFill>
            <a:srgbClr val="465057"/>
          </a:solidFill>
          <a:ln w="6350">
            <a:solidFill>
              <a:srgbClr val="465057"/>
            </a:solidFill>
            <a:prstDash val="solid"/>
          </a:ln>
        </p:spPr>
      </p:sp>
      <p:sp>
        <p:nvSpPr>
          <p:cNvPr id="24" name="Text 22"/>
          <p:cNvSpPr/>
          <p:nvPr/>
        </p:nvSpPr>
        <p:spPr>
          <a:xfrm>
            <a:off x="3858768" y="2075688"/>
            <a:ext cx="1033272" cy="219456"/>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MI</a:t>
            </a:r>
            <a:endParaRPr lang="en-US" sz="920" dirty="0"/>
          </a:p>
          <a:p>
            <a:pPr algn="l" indent="0" marL="0">
              <a:buNone/>
            </a:pPr>
            <a:r>
              <a:rPr lang="en-US" sz="920" b="1" dirty="0">
                <a:solidFill>
                  <a:srgbClr val="202729"/>
                </a:solidFill>
                <a:latin typeface="Aptos" pitchFamily="34" charset="0"/>
                <a:ea typeface="Aptos" pitchFamily="34" charset="-122"/>
                <a:cs typeface="Aptos" pitchFamily="34" charset="-120"/>
              </a:rPr>
              <a:t>RELAY</a:t>
            </a:r>
            <a:endParaRPr lang="en-US" sz="920" dirty="0"/>
          </a:p>
        </p:txBody>
      </p:sp>
      <p:sp>
        <p:nvSpPr>
          <p:cNvPr id="25" name="Text 23"/>
          <p:cNvSpPr/>
          <p:nvPr/>
        </p:nvSpPr>
        <p:spPr>
          <a:xfrm>
            <a:off x="3858768" y="2377440"/>
            <a:ext cx="1033272" cy="484632"/>
          </a:xfrm>
          <a:prstGeom prst="rect">
            <a:avLst/>
          </a:prstGeom>
          <a:noFill/>
          <a:ln/>
        </p:spPr>
        <p:txBody>
          <a:bodyPr wrap="square" lIns="0" tIns="0" rIns="0" bIns="0" rtlCol="0" anchor="t">
            <a:normAutofit/>
          </a:bodyPr>
          <a:lstStyle/>
          <a:p>
            <a:pPr algn="l" indent="0" marL="0">
              <a:buNone/>
            </a:pPr>
            <a:r>
              <a:rPr lang="en-US" sz="685" dirty="0">
                <a:solidFill>
                  <a:srgbClr val="687373"/>
                </a:solidFill>
                <a:latin typeface="Aptos" pitchFamily="34" charset="0"/>
                <a:ea typeface="Aptos" pitchFamily="34" charset="-122"/>
                <a:cs typeface="Aptos" pitchFamily="34" charset="-120"/>
              </a:rPr>
              <a:t>Entra, no SAS</a:t>
            </a:r>
            <a:endParaRPr lang="en-US" sz="685" dirty="0"/>
          </a:p>
        </p:txBody>
      </p:sp>
      <p:sp>
        <p:nvSpPr>
          <p:cNvPr id="26" name="Shape 24"/>
          <p:cNvSpPr/>
          <p:nvPr/>
        </p:nvSpPr>
        <p:spPr>
          <a:xfrm>
            <a:off x="5084064" y="2267712"/>
            <a:ext cx="164592" cy="256032"/>
          </a:xfrm>
          <a:prstGeom prst="chevron">
            <a:avLst/>
          </a:prstGeom>
          <a:solidFill>
            <a:srgbClr val="465057"/>
          </a:solidFill>
          <a:ln w="12700">
            <a:solidFill>
              <a:srgbClr val="465057">
                <a:alpha val="0"/>
              </a:srgbClr>
            </a:solidFill>
            <a:prstDash val="solid"/>
          </a:ln>
        </p:spPr>
      </p:sp>
      <p:sp>
        <p:nvSpPr>
          <p:cNvPr id="27" name="Shape 25"/>
          <p:cNvSpPr/>
          <p:nvPr/>
        </p:nvSpPr>
        <p:spPr>
          <a:xfrm>
            <a:off x="5321808" y="1892808"/>
            <a:ext cx="1353312" cy="1078992"/>
          </a:xfrm>
          <a:prstGeom prst="roundRect">
            <a:avLst/>
          </a:prstGeom>
          <a:solidFill>
            <a:srgbClr val="FFFFFF"/>
          </a:solidFill>
          <a:ln w="8890">
            <a:solidFill>
              <a:srgbClr val="147D74"/>
            </a:solidFill>
            <a:prstDash val="solid"/>
          </a:ln>
        </p:spPr>
      </p:sp>
      <p:sp>
        <p:nvSpPr>
          <p:cNvPr id="28" name="Shape 26"/>
          <p:cNvSpPr/>
          <p:nvPr/>
        </p:nvSpPr>
        <p:spPr>
          <a:xfrm>
            <a:off x="5321808" y="1892808"/>
            <a:ext cx="77724" cy="1078992"/>
          </a:xfrm>
          <a:prstGeom prst="rect">
            <a:avLst/>
          </a:prstGeom>
          <a:solidFill>
            <a:srgbClr val="147D74"/>
          </a:solidFill>
          <a:ln w="6350">
            <a:solidFill>
              <a:srgbClr val="147D74"/>
            </a:solidFill>
            <a:prstDash val="solid"/>
          </a:ln>
        </p:spPr>
      </p:sp>
      <p:sp>
        <p:nvSpPr>
          <p:cNvPr id="29" name="Text 27"/>
          <p:cNvSpPr/>
          <p:nvPr/>
        </p:nvSpPr>
        <p:spPr>
          <a:xfrm>
            <a:off x="5486400" y="2075688"/>
            <a:ext cx="1033272" cy="219456"/>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EVENT</a:t>
            </a:r>
            <a:endParaRPr lang="en-US" sz="920" dirty="0"/>
          </a:p>
          <a:p>
            <a:pPr algn="l" indent="0" marL="0">
              <a:buNone/>
            </a:pPr>
            <a:r>
              <a:rPr lang="en-US" sz="920" b="1" dirty="0">
                <a:solidFill>
                  <a:srgbClr val="202729"/>
                </a:solidFill>
                <a:latin typeface="Aptos" pitchFamily="34" charset="0"/>
                <a:ea typeface="Aptos" pitchFamily="34" charset="-122"/>
                <a:cs typeface="Aptos" pitchFamily="34" charset="-120"/>
              </a:rPr>
              <a:t>STREAM</a:t>
            </a:r>
            <a:endParaRPr lang="en-US" sz="920" dirty="0"/>
          </a:p>
        </p:txBody>
      </p:sp>
      <p:sp>
        <p:nvSpPr>
          <p:cNvPr id="30" name="Text 28"/>
          <p:cNvSpPr/>
          <p:nvPr/>
        </p:nvSpPr>
        <p:spPr>
          <a:xfrm>
            <a:off x="5486400" y="2377440"/>
            <a:ext cx="1033272" cy="484632"/>
          </a:xfrm>
          <a:prstGeom prst="rect">
            <a:avLst/>
          </a:prstGeom>
          <a:noFill/>
          <a:ln/>
        </p:spPr>
        <p:txBody>
          <a:bodyPr wrap="square" lIns="0" tIns="0" rIns="0" bIns="0" rtlCol="0" anchor="t">
            <a:normAutofit/>
          </a:bodyPr>
          <a:lstStyle/>
          <a:p>
            <a:pPr algn="l" indent="0" marL="0">
              <a:buNone/>
            </a:pPr>
            <a:r>
              <a:rPr lang="en-US" sz="685" dirty="0">
                <a:solidFill>
                  <a:srgbClr val="687373"/>
                </a:solidFill>
                <a:latin typeface="Aptos" pitchFamily="34" charset="0"/>
                <a:ea typeface="Aptos" pitchFamily="34" charset="-122"/>
                <a:cs typeface="Aptos" pitchFamily="34" charset="-120"/>
              </a:rPr>
              <a:t>light route / shape</a:t>
            </a:r>
            <a:endParaRPr lang="en-US" sz="685" dirty="0"/>
          </a:p>
        </p:txBody>
      </p:sp>
      <p:sp>
        <p:nvSpPr>
          <p:cNvPr id="31" name="Shape 29"/>
          <p:cNvSpPr/>
          <p:nvPr/>
        </p:nvSpPr>
        <p:spPr>
          <a:xfrm>
            <a:off x="6711696" y="2267712"/>
            <a:ext cx="164592" cy="256032"/>
          </a:xfrm>
          <a:prstGeom prst="chevron">
            <a:avLst/>
          </a:prstGeom>
          <a:solidFill>
            <a:srgbClr val="465057"/>
          </a:solidFill>
          <a:ln w="12700">
            <a:solidFill>
              <a:srgbClr val="465057">
                <a:alpha val="0"/>
              </a:srgbClr>
            </a:solidFill>
            <a:prstDash val="solid"/>
          </a:ln>
        </p:spPr>
      </p:sp>
      <p:sp>
        <p:nvSpPr>
          <p:cNvPr id="32" name="Shape 30"/>
          <p:cNvSpPr/>
          <p:nvPr/>
        </p:nvSpPr>
        <p:spPr>
          <a:xfrm>
            <a:off x="6949440" y="1892808"/>
            <a:ext cx="1353312" cy="1078992"/>
          </a:xfrm>
          <a:prstGeom prst="roundRect">
            <a:avLst/>
          </a:prstGeom>
          <a:solidFill>
            <a:srgbClr val="FFFFFF"/>
          </a:solidFill>
          <a:ln w="8890">
            <a:solidFill>
              <a:srgbClr val="147D74"/>
            </a:solidFill>
            <a:prstDash val="solid"/>
          </a:ln>
        </p:spPr>
      </p:sp>
      <p:sp>
        <p:nvSpPr>
          <p:cNvPr id="33" name="Shape 31"/>
          <p:cNvSpPr/>
          <p:nvPr/>
        </p:nvSpPr>
        <p:spPr>
          <a:xfrm>
            <a:off x="6949440" y="1892808"/>
            <a:ext cx="77724" cy="1078992"/>
          </a:xfrm>
          <a:prstGeom prst="rect">
            <a:avLst/>
          </a:prstGeom>
          <a:solidFill>
            <a:srgbClr val="147D74"/>
          </a:solidFill>
          <a:ln w="6350">
            <a:solidFill>
              <a:srgbClr val="147D74"/>
            </a:solidFill>
            <a:prstDash val="solid"/>
          </a:ln>
        </p:spPr>
      </p:sp>
      <p:sp>
        <p:nvSpPr>
          <p:cNvPr id="34" name="Text 32"/>
          <p:cNvSpPr/>
          <p:nvPr/>
        </p:nvSpPr>
        <p:spPr>
          <a:xfrm>
            <a:off x="7114032" y="2075688"/>
            <a:ext cx="1033272" cy="219456"/>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BRONZE</a:t>
            </a:r>
            <a:endParaRPr lang="en-US" sz="920" dirty="0"/>
          </a:p>
        </p:txBody>
      </p:sp>
      <p:sp>
        <p:nvSpPr>
          <p:cNvPr id="35" name="Text 33"/>
          <p:cNvSpPr/>
          <p:nvPr/>
        </p:nvSpPr>
        <p:spPr>
          <a:xfrm>
            <a:off x="7114032" y="2377440"/>
            <a:ext cx="1033272" cy="484632"/>
          </a:xfrm>
          <a:prstGeom prst="rect">
            <a:avLst/>
          </a:prstGeom>
          <a:noFill/>
          <a:ln/>
        </p:spPr>
        <p:txBody>
          <a:bodyPr wrap="square" lIns="0" tIns="0" rIns="0" bIns="0" rtlCol="0" anchor="t">
            <a:normAutofit/>
          </a:bodyPr>
          <a:lstStyle/>
          <a:p>
            <a:pPr algn="l" indent="0" marL="0">
              <a:buNone/>
            </a:pPr>
            <a:r>
              <a:rPr lang="en-US" sz="685" dirty="0">
                <a:solidFill>
                  <a:srgbClr val="687373"/>
                </a:solidFill>
                <a:latin typeface="Aptos" pitchFamily="34" charset="0"/>
                <a:ea typeface="Aptos" pitchFamily="34" charset="-122"/>
                <a:cs typeface="Aptos" pitchFamily="34" charset="-120"/>
              </a:rPr>
              <a:t>immutable envelope</a:t>
            </a:r>
            <a:endParaRPr lang="en-US" sz="685" dirty="0"/>
          </a:p>
        </p:txBody>
      </p:sp>
      <p:sp>
        <p:nvSpPr>
          <p:cNvPr id="36" name="Shape 34"/>
          <p:cNvSpPr/>
          <p:nvPr/>
        </p:nvSpPr>
        <p:spPr>
          <a:xfrm>
            <a:off x="8339328" y="2267712"/>
            <a:ext cx="164592" cy="256032"/>
          </a:xfrm>
          <a:prstGeom prst="chevron">
            <a:avLst/>
          </a:prstGeom>
          <a:solidFill>
            <a:srgbClr val="465057"/>
          </a:solidFill>
          <a:ln w="12700">
            <a:solidFill>
              <a:srgbClr val="465057">
                <a:alpha val="0"/>
              </a:srgbClr>
            </a:solidFill>
            <a:prstDash val="solid"/>
          </a:ln>
        </p:spPr>
      </p:sp>
      <p:sp>
        <p:nvSpPr>
          <p:cNvPr id="37" name="Shape 35"/>
          <p:cNvSpPr/>
          <p:nvPr/>
        </p:nvSpPr>
        <p:spPr>
          <a:xfrm>
            <a:off x="8577072" y="1892808"/>
            <a:ext cx="1353312" cy="1078992"/>
          </a:xfrm>
          <a:prstGeom prst="roundRect">
            <a:avLst/>
          </a:prstGeom>
          <a:solidFill>
            <a:srgbClr val="FFFFFF"/>
          </a:solidFill>
          <a:ln w="8890">
            <a:solidFill>
              <a:srgbClr val="6D9A6F"/>
            </a:solidFill>
            <a:prstDash val="solid"/>
          </a:ln>
        </p:spPr>
      </p:sp>
      <p:sp>
        <p:nvSpPr>
          <p:cNvPr id="38" name="Shape 36"/>
          <p:cNvSpPr/>
          <p:nvPr/>
        </p:nvSpPr>
        <p:spPr>
          <a:xfrm>
            <a:off x="8577072" y="1892808"/>
            <a:ext cx="77724" cy="1078992"/>
          </a:xfrm>
          <a:prstGeom prst="rect">
            <a:avLst/>
          </a:prstGeom>
          <a:solidFill>
            <a:srgbClr val="6D9A6F"/>
          </a:solidFill>
          <a:ln w="6350">
            <a:solidFill>
              <a:srgbClr val="6D9A6F"/>
            </a:solidFill>
            <a:prstDash val="solid"/>
          </a:ln>
        </p:spPr>
      </p:sp>
      <p:sp>
        <p:nvSpPr>
          <p:cNvPr id="39" name="Text 37"/>
          <p:cNvSpPr/>
          <p:nvPr/>
        </p:nvSpPr>
        <p:spPr>
          <a:xfrm>
            <a:off x="8741664" y="2075688"/>
            <a:ext cx="1033272" cy="219456"/>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SILVER</a:t>
            </a:r>
            <a:endParaRPr lang="en-US" sz="920" dirty="0"/>
          </a:p>
        </p:txBody>
      </p:sp>
      <p:sp>
        <p:nvSpPr>
          <p:cNvPr id="40" name="Text 38"/>
          <p:cNvSpPr/>
          <p:nvPr/>
        </p:nvSpPr>
        <p:spPr>
          <a:xfrm>
            <a:off x="8741664" y="2377440"/>
            <a:ext cx="1033272" cy="484632"/>
          </a:xfrm>
          <a:prstGeom prst="rect">
            <a:avLst/>
          </a:prstGeom>
          <a:noFill/>
          <a:ln/>
        </p:spPr>
        <p:txBody>
          <a:bodyPr wrap="square" lIns="0" tIns="0" rIns="0" bIns="0" rtlCol="0" anchor="t">
            <a:normAutofit/>
          </a:bodyPr>
          <a:lstStyle/>
          <a:p>
            <a:pPr algn="l" indent="0" marL="0">
              <a:buNone/>
            </a:pPr>
            <a:r>
              <a:rPr lang="en-US" sz="685" dirty="0">
                <a:solidFill>
                  <a:srgbClr val="687373"/>
                </a:solidFill>
                <a:latin typeface="Aptos" pitchFamily="34" charset="0"/>
                <a:ea typeface="Aptos" pitchFamily="34" charset="-122"/>
                <a:cs typeface="Aptos" pitchFamily="34" charset="-120"/>
              </a:rPr>
              <a:t>dedup + normalize</a:t>
            </a:r>
            <a:endParaRPr lang="en-US" sz="685" dirty="0"/>
          </a:p>
        </p:txBody>
      </p:sp>
      <p:sp>
        <p:nvSpPr>
          <p:cNvPr id="41" name="Shape 39"/>
          <p:cNvSpPr/>
          <p:nvPr/>
        </p:nvSpPr>
        <p:spPr>
          <a:xfrm>
            <a:off x="9966960" y="2267712"/>
            <a:ext cx="164592" cy="256032"/>
          </a:xfrm>
          <a:prstGeom prst="chevron">
            <a:avLst/>
          </a:prstGeom>
          <a:solidFill>
            <a:srgbClr val="465057"/>
          </a:solidFill>
          <a:ln w="12700">
            <a:solidFill>
              <a:srgbClr val="465057">
                <a:alpha val="0"/>
              </a:srgbClr>
            </a:solidFill>
            <a:prstDash val="solid"/>
          </a:ln>
        </p:spPr>
      </p:sp>
      <p:sp>
        <p:nvSpPr>
          <p:cNvPr id="42" name="Shape 40"/>
          <p:cNvSpPr/>
          <p:nvPr/>
        </p:nvSpPr>
        <p:spPr>
          <a:xfrm>
            <a:off x="10204704" y="1892808"/>
            <a:ext cx="1353312" cy="1078992"/>
          </a:xfrm>
          <a:prstGeom prst="roundRect">
            <a:avLst/>
          </a:prstGeom>
          <a:solidFill>
            <a:srgbClr val="FFFFFF"/>
          </a:solidFill>
          <a:ln w="8890">
            <a:solidFill>
              <a:srgbClr val="B64A2D"/>
            </a:solidFill>
            <a:prstDash val="solid"/>
          </a:ln>
        </p:spPr>
      </p:sp>
      <p:sp>
        <p:nvSpPr>
          <p:cNvPr id="43" name="Shape 41"/>
          <p:cNvSpPr/>
          <p:nvPr/>
        </p:nvSpPr>
        <p:spPr>
          <a:xfrm>
            <a:off x="10204704" y="1892808"/>
            <a:ext cx="77724" cy="1078992"/>
          </a:xfrm>
          <a:prstGeom prst="rect">
            <a:avLst/>
          </a:prstGeom>
          <a:solidFill>
            <a:srgbClr val="B64A2D"/>
          </a:solidFill>
          <a:ln w="6350">
            <a:solidFill>
              <a:srgbClr val="B64A2D"/>
            </a:solidFill>
            <a:prstDash val="solid"/>
          </a:ln>
        </p:spPr>
      </p:sp>
      <p:sp>
        <p:nvSpPr>
          <p:cNvPr id="44" name="Text 42"/>
          <p:cNvSpPr/>
          <p:nvPr/>
        </p:nvSpPr>
        <p:spPr>
          <a:xfrm>
            <a:off x="10369296" y="2075688"/>
            <a:ext cx="1033272" cy="219456"/>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GOLD</a:t>
            </a:r>
            <a:endParaRPr lang="en-US" sz="920" dirty="0"/>
          </a:p>
        </p:txBody>
      </p:sp>
      <p:sp>
        <p:nvSpPr>
          <p:cNvPr id="45" name="Text 43"/>
          <p:cNvSpPr/>
          <p:nvPr/>
        </p:nvSpPr>
        <p:spPr>
          <a:xfrm>
            <a:off x="10369296" y="2377440"/>
            <a:ext cx="1033272" cy="484632"/>
          </a:xfrm>
          <a:prstGeom prst="rect">
            <a:avLst/>
          </a:prstGeom>
          <a:noFill/>
          <a:ln/>
        </p:spPr>
        <p:txBody>
          <a:bodyPr wrap="square" lIns="0" tIns="0" rIns="0" bIns="0" rtlCol="0" anchor="t">
            <a:normAutofit/>
          </a:bodyPr>
          <a:lstStyle/>
          <a:p>
            <a:pPr algn="l" indent="0" marL="0">
              <a:buNone/>
            </a:pPr>
            <a:r>
              <a:rPr lang="en-US" sz="685" dirty="0">
                <a:solidFill>
                  <a:srgbClr val="687373"/>
                </a:solidFill>
                <a:latin typeface="Aptos" pitchFamily="34" charset="0"/>
                <a:ea typeface="Aptos" pitchFamily="34" charset="-122"/>
                <a:cs typeface="Aptos" pitchFamily="34" charset="-120"/>
              </a:rPr>
              <a:t>facts + audit</a:t>
            </a:r>
            <a:endParaRPr lang="en-US" sz="685" dirty="0"/>
          </a:p>
        </p:txBody>
      </p:sp>
      <p:sp>
        <p:nvSpPr>
          <p:cNvPr id="46" name="Shape 44"/>
          <p:cNvSpPr/>
          <p:nvPr/>
        </p:nvSpPr>
        <p:spPr>
          <a:xfrm>
            <a:off x="7900416" y="3493008"/>
            <a:ext cx="3456432" cy="960120"/>
          </a:xfrm>
          <a:prstGeom prst="roundRect">
            <a:avLst/>
          </a:prstGeom>
          <a:solidFill>
            <a:srgbClr val="F1DDD4"/>
          </a:solidFill>
          <a:ln w="11430">
            <a:solidFill>
              <a:srgbClr val="B64A2D"/>
            </a:solidFill>
            <a:prstDash val="solid"/>
          </a:ln>
        </p:spPr>
      </p:sp>
      <p:sp>
        <p:nvSpPr>
          <p:cNvPr id="47" name="Shape 45"/>
          <p:cNvSpPr/>
          <p:nvPr/>
        </p:nvSpPr>
        <p:spPr>
          <a:xfrm>
            <a:off x="8174736" y="3730752"/>
            <a:ext cx="1378915" cy="246888"/>
          </a:xfrm>
          <a:prstGeom prst="roundRect">
            <a:avLst/>
          </a:prstGeom>
          <a:solidFill>
            <a:srgbClr val="B64A2D"/>
          </a:solidFill>
          <a:ln w="5080">
            <a:solidFill>
              <a:srgbClr val="B64A2D"/>
            </a:solidFill>
            <a:prstDash val="solid"/>
          </a:ln>
        </p:spPr>
      </p:sp>
      <p:sp>
        <p:nvSpPr>
          <p:cNvPr id="48" name="Text 46"/>
          <p:cNvSpPr/>
          <p:nvPr/>
        </p:nvSpPr>
        <p:spPr>
          <a:xfrm>
            <a:off x="8293608" y="3781044"/>
            <a:ext cx="1141171"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VISIBLE QUARANTINE</a:t>
            </a:r>
            <a:endParaRPr lang="en-US" sz="720" dirty="0"/>
          </a:p>
        </p:txBody>
      </p:sp>
      <p:sp>
        <p:nvSpPr>
          <p:cNvPr id="49" name="Text 47"/>
          <p:cNvSpPr/>
          <p:nvPr/>
        </p:nvSpPr>
        <p:spPr>
          <a:xfrm>
            <a:off x="8174736" y="4096512"/>
            <a:ext cx="2788920" cy="228600"/>
          </a:xfrm>
          <a:prstGeom prst="rect">
            <a:avLst/>
          </a:prstGeom>
          <a:noFill/>
          <a:ln/>
        </p:spPr>
        <p:txBody>
          <a:bodyPr wrap="square" lIns="0" tIns="0" rIns="0" bIns="0" rtlCol="0" anchor="ctr">
            <a:normAutofit/>
          </a:bodyPr>
          <a:lstStyle/>
          <a:p>
            <a:pPr algn="ctr" indent="0" marL="0">
              <a:buNone/>
            </a:pPr>
            <a:r>
              <a:rPr lang="en-US" sz="920" b="1" dirty="0">
                <a:solidFill>
                  <a:srgbClr val="202729"/>
                </a:solidFill>
                <a:latin typeface="Aptos" pitchFamily="34" charset="0"/>
                <a:ea typeface="Aptos" pitchFamily="34" charset="-122"/>
                <a:cs typeface="Aptos" pitchFamily="34" charset="-120"/>
              </a:rPr>
              <a:t>Late • duplicate • invalid unit • unknown asset</a:t>
            </a:r>
            <a:endParaRPr lang="en-US" sz="920" dirty="0"/>
          </a:p>
          <a:p>
            <a:pPr algn="ctr" indent="0" marL="0">
              <a:buNone/>
            </a:pPr>
            <a:r>
              <a:rPr lang="en-US" sz="920" b="1" dirty="0">
                <a:solidFill>
                  <a:srgbClr val="202729"/>
                </a:solidFill>
                <a:latin typeface="Aptos" pitchFamily="34" charset="0"/>
                <a:ea typeface="Aptos" pitchFamily="34" charset="-122"/>
                <a:cs typeface="Aptos" pitchFamily="34" charset="-120"/>
              </a:rPr>
              <a:t>are retained with a reason — never silently repaired.</a:t>
            </a:r>
            <a:endParaRPr lang="en-US" sz="920" dirty="0"/>
          </a:p>
        </p:txBody>
      </p:sp>
      <p:sp>
        <p:nvSpPr>
          <p:cNvPr id="50" name="Shape 48"/>
          <p:cNvSpPr/>
          <p:nvPr/>
        </p:nvSpPr>
        <p:spPr>
          <a:xfrm>
            <a:off x="6181344" y="2926080"/>
            <a:ext cx="1856232" cy="777240"/>
          </a:xfrm>
          <a:prstGeom prst="line">
            <a:avLst/>
          </a:prstGeom>
          <a:noFill/>
          <a:ln w="22860">
            <a:solidFill>
              <a:srgbClr val="B64A2D"/>
            </a:solidFill>
            <a:prstDash val="solid"/>
          </a:ln>
        </p:spPr>
      </p:sp>
      <p:sp>
        <p:nvSpPr>
          <p:cNvPr id="51" name="Shape 49"/>
          <p:cNvSpPr/>
          <p:nvPr/>
        </p:nvSpPr>
        <p:spPr>
          <a:xfrm>
            <a:off x="594360" y="4983480"/>
            <a:ext cx="384048" cy="384048"/>
          </a:xfrm>
          <a:prstGeom prst="ellipse">
            <a:avLst/>
          </a:prstGeom>
          <a:solidFill>
            <a:srgbClr val="465057"/>
          </a:solidFill>
          <a:ln w="6350">
            <a:solidFill>
              <a:srgbClr val="465057"/>
            </a:solidFill>
            <a:prstDash val="solid"/>
          </a:ln>
        </p:spPr>
      </p:sp>
      <p:sp>
        <p:nvSpPr>
          <p:cNvPr id="52" name="Text 50"/>
          <p:cNvSpPr/>
          <p:nvPr/>
        </p:nvSpPr>
        <p:spPr>
          <a:xfrm>
            <a:off x="594360" y="5088636"/>
            <a:ext cx="384048" cy="91440"/>
          </a:xfrm>
          <a:prstGeom prst="rect">
            <a:avLst/>
          </a:prstGeom>
          <a:noFill/>
          <a:ln/>
        </p:spPr>
        <p:txBody>
          <a:bodyPr wrap="square" lIns="0" tIns="0" rIns="0" bIns="0" rtlCol="0" anchor="ctr">
            <a:normAutofit/>
          </a:bodyPr>
          <a:lstStyle/>
          <a:p>
            <a:pPr algn="ctr" indent="0" marL="0">
              <a:buNone/>
            </a:pPr>
            <a:r>
              <a:rPr lang="en-US" sz="730" b="1" dirty="0">
                <a:solidFill>
                  <a:srgbClr val="FFFFFF"/>
                </a:solidFill>
                <a:latin typeface="Aptos" pitchFamily="34" charset="0"/>
                <a:ea typeface="Aptos" pitchFamily="34" charset="-122"/>
                <a:cs typeface="Aptos" pitchFamily="34" charset="-120"/>
              </a:rPr>
              <a:t>1</a:t>
            </a:r>
            <a:endParaRPr lang="en-US" sz="730" dirty="0"/>
          </a:p>
        </p:txBody>
      </p:sp>
      <p:sp>
        <p:nvSpPr>
          <p:cNvPr id="53" name="Text 51"/>
          <p:cNvSpPr/>
          <p:nvPr/>
        </p:nvSpPr>
        <p:spPr>
          <a:xfrm>
            <a:off x="1124712" y="4978908"/>
            <a:ext cx="2834640" cy="155448"/>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Envelope</a:t>
            </a:r>
            <a:endParaRPr lang="en-US" sz="920" dirty="0"/>
          </a:p>
        </p:txBody>
      </p:sp>
      <p:sp>
        <p:nvSpPr>
          <p:cNvPr id="54" name="Text 52"/>
          <p:cNvSpPr/>
          <p:nvPr/>
        </p:nvSpPr>
        <p:spPr>
          <a:xfrm>
            <a:off x="1124712" y="5212080"/>
            <a:ext cx="2834640" cy="256032"/>
          </a:xfrm>
          <a:prstGeom prst="rect">
            <a:avLst/>
          </a:prstGeom>
          <a:noFill/>
          <a:ln/>
        </p:spPr>
        <p:txBody>
          <a:bodyPr wrap="square" lIns="0" tIns="0" rIns="0" bIns="0" rtlCol="0" anchor="t">
            <a:normAutofit/>
          </a:bodyPr>
          <a:lstStyle/>
          <a:p>
            <a:pPr algn="l" indent="0" marL="0">
              <a:buNone/>
            </a:pPr>
            <a:r>
              <a:rPr lang="en-US" sz="780" dirty="0">
                <a:solidFill>
                  <a:srgbClr val="687373"/>
                </a:solidFill>
                <a:latin typeface="Aptos" pitchFamily="34" charset="0"/>
                <a:ea typeface="Aptos" pitchFamily="34" charset="-122"/>
                <a:cs typeface="Aptos" pitchFamily="34" charset="-120"/>
              </a:rPr>
              <a:t>UUIDv7, event time, sequence, source, schema, class</a:t>
            </a:r>
            <a:endParaRPr lang="en-US" sz="780" dirty="0"/>
          </a:p>
        </p:txBody>
      </p:sp>
      <p:sp>
        <p:nvSpPr>
          <p:cNvPr id="55" name="Shape 53"/>
          <p:cNvSpPr/>
          <p:nvPr/>
        </p:nvSpPr>
        <p:spPr>
          <a:xfrm>
            <a:off x="4297680" y="4983480"/>
            <a:ext cx="384048" cy="384048"/>
          </a:xfrm>
          <a:prstGeom prst="ellipse">
            <a:avLst/>
          </a:prstGeom>
          <a:solidFill>
            <a:srgbClr val="147D74"/>
          </a:solidFill>
          <a:ln w="6350">
            <a:solidFill>
              <a:srgbClr val="147D74"/>
            </a:solidFill>
            <a:prstDash val="solid"/>
          </a:ln>
        </p:spPr>
      </p:sp>
      <p:sp>
        <p:nvSpPr>
          <p:cNvPr id="56" name="Text 54"/>
          <p:cNvSpPr/>
          <p:nvPr/>
        </p:nvSpPr>
        <p:spPr>
          <a:xfrm>
            <a:off x="4297680" y="5088636"/>
            <a:ext cx="384048" cy="91440"/>
          </a:xfrm>
          <a:prstGeom prst="rect">
            <a:avLst/>
          </a:prstGeom>
          <a:noFill/>
          <a:ln/>
        </p:spPr>
        <p:txBody>
          <a:bodyPr wrap="square" lIns="0" tIns="0" rIns="0" bIns="0" rtlCol="0" anchor="ctr">
            <a:normAutofit/>
          </a:bodyPr>
          <a:lstStyle/>
          <a:p>
            <a:pPr algn="ctr" indent="0" marL="0">
              <a:buNone/>
            </a:pPr>
            <a:r>
              <a:rPr lang="en-US" sz="730" b="1" dirty="0">
                <a:solidFill>
                  <a:srgbClr val="FFFFFF"/>
                </a:solidFill>
                <a:latin typeface="Aptos" pitchFamily="34" charset="0"/>
                <a:ea typeface="Aptos" pitchFamily="34" charset="-122"/>
                <a:cs typeface="Aptos" pitchFamily="34" charset="-120"/>
              </a:rPr>
              <a:t>2</a:t>
            </a:r>
            <a:endParaRPr lang="en-US" sz="730" dirty="0"/>
          </a:p>
        </p:txBody>
      </p:sp>
      <p:sp>
        <p:nvSpPr>
          <p:cNvPr id="57" name="Text 55"/>
          <p:cNvSpPr/>
          <p:nvPr/>
        </p:nvSpPr>
        <p:spPr>
          <a:xfrm>
            <a:off x="4828032" y="4978908"/>
            <a:ext cx="2834640" cy="155448"/>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One contract</a:t>
            </a:r>
            <a:endParaRPr lang="en-US" sz="920" dirty="0"/>
          </a:p>
        </p:txBody>
      </p:sp>
      <p:sp>
        <p:nvSpPr>
          <p:cNvPr id="58" name="Text 56"/>
          <p:cNvSpPr/>
          <p:nvPr/>
        </p:nvSpPr>
        <p:spPr>
          <a:xfrm>
            <a:off x="4828032" y="5212080"/>
            <a:ext cx="2834640" cy="256032"/>
          </a:xfrm>
          <a:prstGeom prst="rect">
            <a:avLst/>
          </a:prstGeom>
          <a:noFill/>
          <a:ln/>
        </p:spPr>
        <p:txBody>
          <a:bodyPr wrap="square" lIns="0" tIns="0" rIns="0" bIns="0" rtlCol="0" anchor="t">
            <a:normAutofit/>
          </a:bodyPr>
          <a:lstStyle/>
          <a:p>
            <a:pPr algn="l" indent="0" marL="0">
              <a:buNone/>
            </a:pPr>
            <a:r>
              <a:rPr lang="en-US" sz="780" dirty="0">
                <a:solidFill>
                  <a:srgbClr val="687373"/>
                </a:solidFill>
                <a:latin typeface="Aptos" pitchFamily="34" charset="0"/>
                <a:ea typeface="Aptos" pitchFamily="34" charset="-122"/>
                <a:cs typeface="Aptos" pitchFamily="34" charset="-120"/>
              </a:rPr>
              <a:t>Streaming + batch converge in silver</a:t>
            </a:r>
            <a:endParaRPr lang="en-US" sz="780" dirty="0"/>
          </a:p>
        </p:txBody>
      </p:sp>
      <p:sp>
        <p:nvSpPr>
          <p:cNvPr id="59" name="Shape 57"/>
          <p:cNvSpPr/>
          <p:nvPr/>
        </p:nvSpPr>
        <p:spPr>
          <a:xfrm>
            <a:off x="8001000" y="4983480"/>
            <a:ext cx="384048" cy="384048"/>
          </a:xfrm>
          <a:prstGeom prst="ellipse">
            <a:avLst/>
          </a:prstGeom>
          <a:solidFill>
            <a:srgbClr val="E3A72F"/>
          </a:solidFill>
          <a:ln w="6350">
            <a:solidFill>
              <a:srgbClr val="E3A72F"/>
            </a:solidFill>
            <a:prstDash val="solid"/>
          </a:ln>
        </p:spPr>
      </p:sp>
      <p:sp>
        <p:nvSpPr>
          <p:cNvPr id="60" name="Text 58"/>
          <p:cNvSpPr/>
          <p:nvPr/>
        </p:nvSpPr>
        <p:spPr>
          <a:xfrm>
            <a:off x="8001000" y="5088636"/>
            <a:ext cx="384048" cy="91440"/>
          </a:xfrm>
          <a:prstGeom prst="rect">
            <a:avLst/>
          </a:prstGeom>
          <a:noFill/>
          <a:ln/>
        </p:spPr>
        <p:txBody>
          <a:bodyPr wrap="square" lIns="0" tIns="0" rIns="0" bIns="0" rtlCol="0" anchor="ctr">
            <a:normAutofit/>
          </a:bodyPr>
          <a:lstStyle/>
          <a:p>
            <a:pPr algn="ctr" indent="0" marL="0">
              <a:buNone/>
            </a:pPr>
            <a:r>
              <a:rPr lang="en-US" sz="730" b="1" dirty="0">
                <a:solidFill>
                  <a:srgbClr val="FFFFFF"/>
                </a:solidFill>
                <a:latin typeface="Aptos" pitchFamily="34" charset="0"/>
                <a:ea typeface="Aptos" pitchFamily="34" charset="-122"/>
                <a:cs typeface="Aptos" pitchFamily="34" charset="-120"/>
              </a:rPr>
              <a:t>3</a:t>
            </a:r>
            <a:endParaRPr lang="en-US" sz="730" dirty="0"/>
          </a:p>
        </p:txBody>
      </p:sp>
      <p:sp>
        <p:nvSpPr>
          <p:cNvPr id="61" name="Text 59"/>
          <p:cNvSpPr/>
          <p:nvPr/>
        </p:nvSpPr>
        <p:spPr>
          <a:xfrm>
            <a:off x="8531352" y="4978908"/>
            <a:ext cx="2834640" cy="155448"/>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Ingress isolation</a:t>
            </a:r>
            <a:endParaRPr lang="en-US" sz="920" dirty="0"/>
          </a:p>
        </p:txBody>
      </p:sp>
      <p:sp>
        <p:nvSpPr>
          <p:cNvPr id="62" name="Text 60"/>
          <p:cNvSpPr/>
          <p:nvPr/>
        </p:nvSpPr>
        <p:spPr>
          <a:xfrm>
            <a:off x="8531352" y="5212080"/>
            <a:ext cx="2834640" cy="256032"/>
          </a:xfrm>
          <a:prstGeom prst="rect">
            <a:avLst/>
          </a:prstGeom>
          <a:noFill/>
          <a:ln/>
        </p:spPr>
        <p:txBody>
          <a:bodyPr wrap="square" lIns="0" tIns="0" rIns="0" bIns="0" rtlCol="0" anchor="t">
            <a:normAutofit/>
          </a:bodyPr>
          <a:lstStyle/>
          <a:p>
            <a:pPr algn="l" indent="0" marL="0">
              <a:buNone/>
            </a:pPr>
            <a:r>
              <a:rPr lang="en-US" sz="780" dirty="0">
                <a:solidFill>
                  <a:srgbClr val="687373"/>
                </a:solidFill>
                <a:latin typeface="Aptos" pitchFamily="34" charset="0"/>
                <a:ea typeface="Aptos" pitchFamily="34" charset="-122"/>
                <a:cs typeface="Aptos" pitchFamily="34" charset="-120"/>
              </a:rPr>
              <a:t>Publisher has a narrow RTI workspace blast radius</a:t>
            </a:r>
            <a:endParaRPr lang="en-US" sz="780" dirty="0"/>
          </a:p>
        </p:txBody>
      </p:sp>
      <p:sp>
        <p:nvSpPr>
          <p:cNvPr id="63" name="Text 61"/>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Source cue | solution-architecture.md §4.1, ADR-005  •  deployment-topology.md §3</a:t>
            </a:r>
            <a:endParaRPr lang="en-US" sz="660" dirty="0"/>
          </a:p>
        </p:txBody>
      </p:sp>
      <p:sp>
        <p:nvSpPr>
          <p:cNvPr id="64" name="Shape 62"/>
          <p:cNvSpPr/>
          <p:nvPr/>
        </p:nvSpPr>
        <p:spPr>
          <a:xfrm>
            <a:off x="0" y="6483096"/>
            <a:ext cx="12191695" cy="374904"/>
          </a:xfrm>
          <a:prstGeom prst="rect">
            <a:avLst/>
          </a:prstGeom>
          <a:solidFill>
            <a:srgbClr val="E9E7E1"/>
          </a:solidFill>
          <a:ln w="6350">
            <a:solidFill>
              <a:srgbClr val="E9E7E1"/>
            </a:solidFill>
            <a:prstDash val="solid"/>
          </a:ln>
        </p:spPr>
      </p:sp>
      <p:sp>
        <p:nvSpPr>
          <p:cNvPr id="65" name="Shape 63"/>
          <p:cNvSpPr/>
          <p:nvPr/>
        </p:nvSpPr>
        <p:spPr>
          <a:xfrm>
            <a:off x="384048" y="6547104"/>
            <a:ext cx="3547872" cy="182880"/>
          </a:xfrm>
          <a:prstGeom prst="roundRect">
            <a:avLst/>
          </a:prstGeom>
          <a:solidFill>
            <a:srgbClr val="FFFFFF"/>
          </a:solidFill>
          <a:ln w="3175">
            <a:solidFill>
              <a:srgbClr val="DDE4E1"/>
            </a:solidFill>
            <a:prstDash val="solid"/>
          </a:ln>
        </p:spPr>
      </p:sp>
      <p:sp>
        <p:nvSpPr>
          <p:cNvPr id="66" name="Text 64"/>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67" name="Text 65"/>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ORAL DEFENSE  •  10 / 20</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719"/>
        </a:solidFill>
      </p:bgPr>
    </p:bg>
    <p:spTree>
      <p:nvGrpSpPr>
        <p:cNvPr id="1" name=""/>
        <p:cNvGrpSpPr/>
        <p:nvPr/>
      </p:nvGrpSpPr>
      <p:grpSpPr>
        <a:xfrm>
          <a:off x="0" y="0"/>
          <a:ext cx="0" cy="0"/>
          <a:chOff x="0" y="0"/>
          <a:chExt cx="0" cy="0"/>
        </a:xfrm>
      </p:grpSpPr>
      <p:pic>
        <p:nvPicPr>
          <p:cNvPr id="2" name="Image 0" descr="D:\work\20260724 - Novasteel 3\tools\presentation\assets\steel-texture.png">    </p:cNvPr>
          <p:cNvPicPr>
            <a:picLocks noChangeAspect="1"/>
          </p:cNvPicPr>
          <p:nvPr/>
        </p:nvPicPr>
        <p:blipFill>
          <a:blip r:embed="rId1">
            <a:alphaModFix amt="34000"/>
          </a:blip>
          <a:stretch>
            <a:fillRect/>
          </a:stretch>
        </p:blipFill>
        <p:spPr>
          <a:xfrm>
            <a:off x="0" y="0"/>
            <a:ext cx="12191695" cy="6858000"/>
          </a:xfrm>
          <a:prstGeom prst="rect">
            <a:avLst/>
          </a:prstGeom>
        </p:spPr>
      </p:pic>
      <p:sp>
        <p:nvSpPr>
          <p:cNvPr id="3" name="Shape 0"/>
          <p:cNvSpPr/>
          <p:nvPr/>
        </p:nvSpPr>
        <p:spPr>
          <a:xfrm>
            <a:off x="457200" y="274320"/>
            <a:ext cx="822960" cy="246888"/>
          </a:xfrm>
          <a:prstGeom prst="roundRect">
            <a:avLst/>
          </a:prstGeom>
          <a:solidFill>
            <a:srgbClr val="465057"/>
          </a:solidFill>
          <a:ln w="5080">
            <a:solidFill>
              <a:srgbClr val="465057"/>
            </a:solidFill>
            <a:prstDash val="solid"/>
          </a:ln>
        </p:spPr>
      </p:sp>
      <p:sp>
        <p:nvSpPr>
          <p:cNvPr id="4" name="Text 1"/>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11</a:t>
            </a:r>
            <a:endParaRPr lang="en-US" sz="720" dirty="0"/>
          </a:p>
        </p:txBody>
      </p:sp>
      <p:sp>
        <p:nvSpPr>
          <p:cNvPr id="5" name="Text 2"/>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AEB9BA"/>
                </a:solidFill>
                <a:latin typeface="Aptos" pitchFamily="34" charset="0"/>
                <a:ea typeface="Aptos" pitchFamily="34" charset="-122"/>
                <a:cs typeface="Aptos" pitchFamily="34" charset="-120"/>
              </a:rPr>
              <a:t>INTELLIGENCE WITH BOUNDARIES</a:t>
            </a:r>
            <a:endParaRPr lang="en-US" sz="810" dirty="0"/>
          </a:p>
        </p:txBody>
      </p:sp>
      <p:sp>
        <p:nvSpPr>
          <p:cNvPr id="6" name="Shape 3"/>
          <p:cNvSpPr/>
          <p:nvPr/>
        </p:nvSpPr>
        <p:spPr>
          <a:xfrm>
            <a:off x="10040112" y="274320"/>
            <a:ext cx="1673352" cy="256032"/>
          </a:xfrm>
          <a:prstGeom prst="roundRect">
            <a:avLst/>
          </a:prstGeom>
          <a:solidFill>
            <a:srgbClr val="1F2426"/>
          </a:solidFill>
          <a:ln w="6350">
            <a:solidFill>
              <a:srgbClr val="465057"/>
            </a:solidFill>
            <a:prstDash val="solid"/>
          </a:ln>
        </p:spPr>
      </p:sp>
      <p:sp>
        <p:nvSpPr>
          <p:cNvPr id="7" name="Text 4"/>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AEB9BA"/>
                </a:solidFill>
                <a:latin typeface="Aptos" pitchFamily="34" charset="0"/>
                <a:ea typeface="Aptos" pitchFamily="34" charset="-122"/>
                <a:cs typeface="Aptos" pitchFamily="34" charset="-120"/>
              </a:rPr>
              <a:t>15:15–16:15</a:t>
            </a:r>
            <a:endParaRPr lang="en-US" sz="720" dirty="0"/>
          </a:p>
        </p:txBody>
      </p:sp>
      <p:sp>
        <p:nvSpPr>
          <p:cNvPr id="8" name="Text 5"/>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FFFFFF"/>
                </a:solidFill>
                <a:latin typeface="Bahnschrift SemiBold" pitchFamily="34" charset="0"/>
                <a:ea typeface="Bahnschrift SemiBold" pitchFamily="34" charset="-122"/>
                <a:cs typeface="Bahnschrift SemiBold" pitchFamily="34" charset="-120"/>
              </a:rPr>
              <a:t>Four AI capabilities — Python decides; Foundry explains</a:t>
            </a:r>
            <a:endParaRPr lang="en-US" sz="2550" dirty="0"/>
          </a:p>
        </p:txBody>
      </p:sp>
      <p:sp>
        <p:nvSpPr>
          <p:cNvPr id="9" name="Shape 6"/>
          <p:cNvSpPr/>
          <p:nvPr/>
        </p:nvSpPr>
        <p:spPr>
          <a:xfrm>
            <a:off x="548640" y="1737360"/>
            <a:ext cx="2468880" cy="2788920"/>
          </a:xfrm>
          <a:prstGeom prst="roundRect">
            <a:avLst/>
          </a:prstGeom>
          <a:solidFill>
            <a:srgbClr val="1F2426"/>
          </a:solidFill>
          <a:ln w="12700">
            <a:solidFill>
              <a:srgbClr val="B64A2D"/>
            </a:solidFill>
            <a:prstDash val="solid"/>
          </a:ln>
        </p:spPr>
      </p:sp>
      <p:sp>
        <p:nvSpPr>
          <p:cNvPr id="10" name="Shape 7"/>
          <p:cNvSpPr/>
          <p:nvPr/>
        </p:nvSpPr>
        <p:spPr>
          <a:xfrm>
            <a:off x="548640" y="1737360"/>
            <a:ext cx="77724" cy="2788920"/>
          </a:xfrm>
          <a:prstGeom prst="rect">
            <a:avLst/>
          </a:prstGeom>
          <a:solidFill>
            <a:srgbClr val="B64A2D"/>
          </a:solidFill>
          <a:ln w="6350">
            <a:solidFill>
              <a:srgbClr val="B64A2D"/>
            </a:solidFill>
            <a:prstDash val="solid"/>
          </a:ln>
        </p:spPr>
      </p:sp>
      <p:sp>
        <p:nvSpPr>
          <p:cNvPr id="11" name="Shape 8"/>
          <p:cNvSpPr/>
          <p:nvPr/>
        </p:nvSpPr>
        <p:spPr>
          <a:xfrm>
            <a:off x="804672" y="2075688"/>
            <a:ext cx="585216" cy="585216"/>
          </a:xfrm>
          <a:prstGeom prst="ellipse">
            <a:avLst/>
          </a:prstGeom>
          <a:solidFill>
            <a:srgbClr val="B64A2D"/>
          </a:solidFill>
          <a:ln w="6350">
            <a:solidFill>
              <a:srgbClr val="B64A2D"/>
            </a:solidFill>
            <a:prstDash val="solid"/>
          </a:ln>
        </p:spPr>
      </p:sp>
      <p:sp>
        <p:nvSpPr>
          <p:cNvPr id="12" name="Text 9"/>
          <p:cNvSpPr/>
          <p:nvPr/>
        </p:nvSpPr>
        <p:spPr>
          <a:xfrm>
            <a:off x="804672" y="2295144"/>
            <a:ext cx="585216" cy="82296"/>
          </a:xfrm>
          <a:prstGeom prst="rect">
            <a:avLst/>
          </a:prstGeom>
          <a:noFill/>
          <a:ln/>
        </p:spPr>
        <p:txBody>
          <a:bodyPr wrap="square" lIns="0" tIns="0" rIns="0" bIns="0" rtlCol="0" anchor="ctr">
            <a:normAutofit/>
          </a:bodyPr>
          <a:lstStyle/>
          <a:p>
            <a:pPr algn="ctr" indent="0" marL="0">
              <a:buNone/>
            </a:pPr>
            <a:r>
              <a:rPr lang="en-US" sz="760" b="1" dirty="0">
                <a:solidFill>
                  <a:srgbClr val="FFFFFF"/>
                </a:solidFill>
                <a:latin typeface="Aptos" pitchFamily="34" charset="0"/>
                <a:ea typeface="Aptos" pitchFamily="34" charset="-122"/>
                <a:cs typeface="Aptos" pitchFamily="34" charset="-120"/>
              </a:rPr>
              <a:t>RUL</a:t>
            </a:r>
            <a:endParaRPr lang="en-US" sz="760" dirty="0"/>
          </a:p>
        </p:txBody>
      </p:sp>
      <p:sp>
        <p:nvSpPr>
          <p:cNvPr id="13" name="Text 10"/>
          <p:cNvSpPr/>
          <p:nvPr/>
        </p:nvSpPr>
        <p:spPr>
          <a:xfrm>
            <a:off x="795528" y="2788920"/>
            <a:ext cx="1975104" cy="182880"/>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Bahnschrift SemiBold" pitchFamily="34" charset="0"/>
                <a:ea typeface="Bahnschrift SemiBold" pitchFamily="34" charset="-122"/>
                <a:cs typeface="Bahnschrift SemiBold" pitchFamily="34" charset="-120"/>
              </a:rPr>
              <a:t>Lining remaining life</a:t>
            </a:r>
            <a:endParaRPr lang="en-US" sz="1250" dirty="0"/>
          </a:p>
        </p:txBody>
      </p:sp>
      <p:sp>
        <p:nvSpPr>
          <p:cNvPr id="14" name="Text 11"/>
          <p:cNvSpPr/>
          <p:nvPr/>
        </p:nvSpPr>
        <p:spPr>
          <a:xfrm>
            <a:off x="795528" y="3291840"/>
            <a:ext cx="1965960" cy="347472"/>
          </a:xfrm>
          <a:prstGeom prst="rect">
            <a:avLst/>
          </a:prstGeom>
          <a:noFill/>
          <a:ln/>
        </p:spPr>
        <p:txBody>
          <a:bodyPr wrap="square" lIns="0" tIns="0" rIns="0" bIns="0" rtlCol="0" anchor="t">
            <a:normAutofit/>
          </a:bodyPr>
          <a:lstStyle/>
          <a:p>
            <a:pPr algn="l" indent="0" marL="0">
              <a:buNone/>
            </a:pPr>
            <a:r>
              <a:rPr lang="en-US" sz="870" dirty="0">
                <a:solidFill>
                  <a:srgbClr val="AEB9BA"/>
                </a:solidFill>
                <a:latin typeface="Aptos" pitchFamily="34" charset="0"/>
                <a:ea typeface="Aptos" pitchFamily="34" charset="-122"/>
                <a:cs typeface="Aptos" pitchFamily="34" charset="-120"/>
              </a:rPr>
              <a:t>physics-informed Python</a:t>
            </a:r>
            <a:endParaRPr lang="en-US" sz="870" dirty="0"/>
          </a:p>
          <a:p>
            <a:pPr algn="l" indent="0" marL="0">
              <a:buNone/>
            </a:pPr>
            <a:r>
              <a:rPr lang="en-US" sz="870" dirty="0">
                <a:solidFill>
                  <a:srgbClr val="AEB9BA"/>
                </a:solidFill>
                <a:latin typeface="Aptos" pitchFamily="34" charset="0"/>
                <a:ea typeface="Aptos" pitchFamily="34" charset="-122"/>
                <a:cs typeface="Aptos" pitchFamily="34" charset="-120"/>
              </a:rPr>
              <a:t>silver thermal features</a:t>
            </a:r>
            <a:endParaRPr lang="en-US" sz="870" dirty="0"/>
          </a:p>
        </p:txBody>
      </p:sp>
      <p:sp>
        <p:nvSpPr>
          <p:cNvPr id="15" name="Text 12"/>
          <p:cNvSpPr/>
          <p:nvPr/>
        </p:nvSpPr>
        <p:spPr>
          <a:xfrm>
            <a:off x="795528" y="4050792"/>
            <a:ext cx="1975104" cy="118872"/>
          </a:xfrm>
          <a:prstGeom prst="rect">
            <a:avLst/>
          </a:prstGeom>
          <a:noFill/>
          <a:ln/>
        </p:spPr>
        <p:txBody>
          <a:bodyPr wrap="square" lIns="0" tIns="0" rIns="0" bIns="0" rtlCol="0" anchor="ctr">
            <a:normAutofit/>
          </a:bodyPr>
          <a:lstStyle/>
          <a:p>
            <a:pPr algn="ctr" indent="0" marL="0">
              <a:buNone/>
            </a:pPr>
            <a:r>
              <a:rPr lang="en-US" sz="690" b="1" dirty="0">
                <a:solidFill>
                  <a:srgbClr val="B64A2D"/>
                </a:solidFill>
                <a:latin typeface="Aptos" pitchFamily="34" charset="0"/>
                <a:ea typeface="Aptos" pitchFamily="34" charset="-122"/>
                <a:cs typeface="Aptos" pitchFamily="34" charset="-120"/>
              </a:rPr>
              <a:t>input  →  compute  →  human review</a:t>
            </a:r>
            <a:endParaRPr lang="en-US" sz="690" dirty="0"/>
          </a:p>
        </p:txBody>
      </p:sp>
      <p:sp>
        <p:nvSpPr>
          <p:cNvPr id="16" name="Shape 13"/>
          <p:cNvSpPr/>
          <p:nvPr/>
        </p:nvSpPr>
        <p:spPr>
          <a:xfrm>
            <a:off x="3383280" y="1737360"/>
            <a:ext cx="2468880" cy="2788920"/>
          </a:xfrm>
          <a:prstGeom prst="roundRect">
            <a:avLst/>
          </a:prstGeom>
          <a:solidFill>
            <a:srgbClr val="1F2426"/>
          </a:solidFill>
          <a:ln w="12700">
            <a:solidFill>
              <a:srgbClr val="E3A72F"/>
            </a:solidFill>
            <a:prstDash val="solid"/>
          </a:ln>
        </p:spPr>
      </p:sp>
      <p:sp>
        <p:nvSpPr>
          <p:cNvPr id="17" name="Shape 14"/>
          <p:cNvSpPr/>
          <p:nvPr/>
        </p:nvSpPr>
        <p:spPr>
          <a:xfrm>
            <a:off x="3383280" y="1737360"/>
            <a:ext cx="77724" cy="2788920"/>
          </a:xfrm>
          <a:prstGeom prst="rect">
            <a:avLst/>
          </a:prstGeom>
          <a:solidFill>
            <a:srgbClr val="E3A72F"/>
          </a:solidFill>
          <a:ln w="6350">
            <a:solidFill>
              <a:srgbClr val="E3A72F"/>
            </a:solidFill>
            <a:prstDash val="solid"/>
          </a:ln>
        </p:spPr>
      </p:sp>
      <p:sp>
        <p:nvSpPr>
          <p:cNvPr id="18" name="Shape 15"/>
          <p:cNvSpPr/>
          <p:nvPr/>
        </p:nvSpPr>
        <p:spPr>
          <a:xfrm>
            <a:off x="3639312" y="2075688"/>
            <a:ext cx="585216" cy="585216"/>
          </a:xfrm>
          <a:prstGeom prst="ellipse">
            <a:avLst/>
          </a:prstGeom>
          <a:solidFill>
            <a:srgbClr val="E3A72F"/>
          </a:solidFill>
          <a:ln w="6350">
            <a:solidFill>
              <a:srgbClr val="E3A72F"/>
            </a:solidFill>
            <a:prstDash val="solid"/>
          </a:ln>
        </p:spPr>
      </p:sp>
      <p:sp>
        <p:nvSpPr>
          <p:cNvPr id="19" name="Text 16"/>
          <p:cNvSpPr/>
          <p:nvPr/>
        </p:nvSpPr>
        <p:spPr>
          <a:xfrm>
            <a:off x="3639312" y="2295144"/>
            <a:ext cx="585216" cy="82296"/>
          </a:xfrm>
          <a:prstGeom prst="rect">
            <a:avLst/>
          </a:prstGeom>
          <a:noFill/>
          <a:ln/>
        </p:spPr>
        <p:txBody>
          <a:bodyPr wrap="square" lIns="0" tIns="0" rIns="0" bIns="0" rtlCol="0" anchor="ctr">
            <a:normAutofit/>
          </a:bodyPr>
          <a:lstStyle/>
          <a:p>
            <a:pPr algn="ctr" indent="0" marL="0">
              <a:buNone/>
            </a:pPr>
            <a:r>
              <a:rPr lang="en-US" sz="760" b="1" dirty="0">
                <a:solidFill>
                  <a:srgbClr val="FFFFFF"/>
                </a:solidFill>
                <a:latin typeface="Aptos" pitchFamily="34" charset="0"/>
                <a:ea typeface="Aptos" pitchFamily="34" charset="-122"/>
                <a:cs typeface="Aptos" pitchFamily="34" charset="-120"/>
              </a:rPr>
              <a:t>ENE</a:t>
            </a:r>
            <a:endParaRPr lang="en-US" sz="760" dirty="0"/>
          </a:p>
        </p:txBody>
      </p:sp>
      <p:sp>
        <p:nvSpPr>
          <p:cNvPr id="20" name="Text 17"/>
          <p:cNvSpPr/>
          <p:nvPr/>
        </p:nvSpPr>
        <p:spPr>
          <a:xfrm>
            <a:off x="3630168" y="2788920"/>
            <a:ext cx="1975104" cy="182880"/>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Bahnschrift SemiBold" pitchFamily="34" charset="0"/>
                <a:ea typeface="Bahnschrift SemiBold" pitchFamily="34" charset="-122"/>
                <a:cs typeface="Bahnschrift SemiBold" pitchFamily="34" charset="-120"/>
              </a:rPr>
              <a:t>Energy dispatch</a:t>
            </a:r>
            <a:endParaRPr lang="en-US" sz="1250" dirty="0"/>
          </a:p>
        </p:txBody>
      </p:sp>
      <p:sp>
        <p:nvSpPr>
          <p:cNvPr id="21" name="Text 18"/>
          <p:cNvSpPr/>
          <p:nvPr/>
        </p:nvSpPr>
        <p:spPr>
          <a:xfrm>
            <a:off x="3630168" y="3291840"/>
            <a:ext cx="1965960" cy="347472"/>
          </a:xfrm>
          <a:prstGeom prst="rect">
            <a:avLst/>
          </a:prstGeom>
          <a:noFill/>
          <a:ln/>
        </p:spPr>
        <p:txBody>
          <a:bodyPr wrap="square" lIns="0" tIns="0" rIns="0" bIns="0" rtlCol="0" anchor="t">
            <a:normAutofit/>
          </a:bodyPr>
          <a:lstStyle/>
          <a:p>
            <a:pPr algn="l" indent="0" marL="0">
              <a:buNone/>
            </a:pPr>
            <a:r>
              <a:rPr lang="en-US" sz="870" dirty="0">
                <a:solidFill>
                  <a:srgbClr val="AEB9BA"/>
                </a:solidFill>
                <a:latin typeface="Aptos" pitchFamily="34" charset="0"/>
                <a:ea typeface="Aptos" pitchFamily="34" charset="-122"/>
                <a:cs typeface="Aptos" pitchFamily="34" charset="-120"/>
              </a:rPr>
              <a:t>deterministic optimizer</a:t>
            </a:r>
            <a:endParaRPr lang="en-US" sz="870" dirty="0"/>
          </a:p>
          <a:p>
            <a:pPr algn="l" indent="0" marL="0">
              <a:buNone/>
            </a:pPr>
            <a:r>
              <a:rPr lang="en-US" sz="870" dirty="0">
                <a:solidFill>
                  <a:srgbClr val="AEB9BA"/>
                </a:solidFill>
                <a:latin typeface="Aptos" pitchFamily="34" charset="0"/>
                <a:ea typeface="Aptos" pitchFamily="34" charset="-122"/>
                <a:cs typeface="Aptos" pitchFamily="34" charset="-120"/>
              </a:rPr>
              <a:t>hard constraints preserved</a:t>
            </a:r>
            <a:endParaRPr lang="en-US" sz="870" dirty="0"/>
          </a:p>
        </p:txBody>
      </p:sp>
      <p:sp>
        <p:nvSpPr>
          <p:cNvPr id="22" name="Text 19"/>
          <p:cNvSpPr/>
          <p:nvPr/>
        </p:nvSpPr>
        <p:spPr>
          <a:xfrm>
            <a:off x="3630168" y="4050792"/>
            <a:ext cx="1975104" cy="118872"/>
          </a:xfrm>
          <a:prstGeom prst="rect">
            <a:avLst/>
          </a:prstGeom>
          <a:noFill/>
          <a:ln/>
        </p:spPr>
        <p:txBody>
          <a:bodyPr wrap="square" lIns="0" tIns="0" rIns="0" bIns="0" rtlCol="0" anchor="ctr">
            <a:normAutofit/>
          </a:bodyPr>
          <a:lstStyle/>
          <a:p>
            <a:pPr algn="ctr" indent="0" marL="0">
              <a:buNone/>
            </a:pPr>
            <a:r>
              <a:rPr lang="en-US" sz="690" b="1" dirty="0">
                <a:solidFill>
                  <a:srgbClr val="E3A72F"/>
                </a:solidFill>
                <a:latin typeface="Aptos" pitchFamily="34" charset="0"/>
                <a:ea typeface="Aptos" pitchFamily="34" charset="-122"/>
                <a:cs typeface="Aptos" pitchFamily="34" charset="-120"/>
              </a:rPr>
              <a:t>input  →  compute  →  human review</a:t>
            </a:r>
            <a:endParaRPr lang="en-US" sz="690" dirty="0"/>
          </a:p>
        </p:txBody>
      </p:sp>
      <p:sp>
        <p:nvSpPr>
          <p:cNvPr id="23" name="Shape 20"/>
          <p:cNvSpPr/>
          <p:nvPr/>
        </p:nvSpPr>
        <p:spPr>
          <a:xfrm>
            <a:off x="6217920" y="1737360"/>
            <a:ext cx="2468880" cy="2788920"/>
          </a:xfrm>
          <a:prstGeom prst="roundRect">
            <a:avLst/>
          </a:prstGeom>
          <a:solidFill>
            <a:srgbClr val="1F2426"/>
          </a:solidFill>
          <a:ln w="12700">
            <a:solidFill>
              <a:srgbClr val="147D74"/>
            </a:solidFill>
            <a:prstDash val="solid"/>
          </a:ln>
        </p:spPr>
      </p:sp>
      <p:sp>
        <p:nvSpPr>
          <p:cNvPr id="24" name="Shape 21"/>
          <p:cNvSpPr/>
          <p:nvPr/>
        </p:nvSpPr>
        <p:spPr>
          <a:xfrm>
            <a:off x="6217920" y="1737360"/>
            <a:ext cx="77724" cy="2788920"/>
          </a:xfrm>
          <a:prstGeom prst="rect">
            <a:avLst/>
          </a:prstGeom>
          <a:solidFill>
            <a:srgbClr val="147D74"/>
          </a:solidFill>
          <a:ln w="6350">
            <a:solidFill>
              <a:srgbClr val="147D74"/>
            </a:solidFill>
            <a:prstDash val="solid"/>
          </a:ln>
        </p:spPr>
      </p:sp>
      <p:sp>
        <p:nvSpPr>
          <p:cNvPr id="25" name="Shape 22"/>
          <p:cNvSpPr/>
          <p:nvPr/>
        </p:nvSpPr>
        <p:spPr>
          <a:xfrm>
            <a:off x="6473952" y="2075688"/>
            <a:ext cx="585216" cy="585216"/>
          </a:xfrm>
          <a:prstGeom prst="ellipse">
            <a:avLst/>
          </a:prstGeom>
          <a:solidFill>
            <a:srgbClr val="147D74"/>
          </a:solidFill>
          <a:ln w="6350">
            <a:solidFill>
              <a:srgbClr val="147D74"/>
            </a:solidFill>
            <a:prstDash val="solid"/>
          </a:ln>
        </p:spPr>
      </p:sp>
      <p:sp>
        <p:nvSpPr>
          <p:cNvPr id="26" name="Text 23"/>
          <p:cNvSpPr/>
          <p:nvPr/>
        </p:nvSpPr>
        <p:spPr>
          <a:xfrm>
            <a:off x="6473952" y="2295144"/>
            <a:ext cx="585216" cy="82296"/>
          </a:xfrm>
          <a:prstGeom prst="rect">
            <a:avLst/>
          </a:prstGeom>
          <a:noFill/>
          <a:ln/>
        </p:spPr>
        <p:txBody>
          <a:bodyPr wrap="square" lIns="0" tIns="0" rIns="0" bIns="0" rtlCol="0" anchor="ctr">
            <a:normAutofit/>
          </a:bodyPr>
          <a:lstStyle/>
          <a:p>
            <a:pPr algn="ctr" indent="0" marL="0">
              <a:buNone/>
            </a:pPr>
            <a:r>
              <a:rPr lang="en-US" sz="760" b="1" dirty="0">
                <a:solidFill>
                  <a:srgbClr val="FFFFFF"/>
                </a:solidFill>
                <a:latin typeface="Aptos" pitchFamily="34" charset="0"/>
                <a:ea typeface="Aptos" pitchFamily="34" charset="-122"/>
                <a:cs typeface="Aptos" pitchFamily="34" charset="-120"/>
              </a:rPr>
              <a:t>QLT</a:t>
            </a:r>
            <a:endParaRPr lang="en-US" sz="760" dirty="0"/>
          </a:p>
        </p:txBody>
      </p:sp>
      <p:sp>
        <p:nvSpPr>
          <p:cNvPr id="27" name="Text 24"/>
          <p:cNvSpPr/>
          <p:nvPr/>
        </p:nvSpPr>
        <p:spPr>
          <a:xfrm>
            <a:off x="6464808" y="2788920"/>
            <a:ext cx="1975104" cy="182880"/>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Bahnschrift SemiBold" pitchFamily="34" charset="0"/>
                <a:ea typeface="Bahnschrift SemiBold" pitchFamily="34" charset="-122"/>
                <a:cs typeface="Bahnschrift SemiBold" pitchFamily="34" charset="-120"/>
              </a:rPr>
              <a:t>Quality risk</a:t>
            </a:r>
            <a:endParaRPr lang="en-US" sz="1250" dirty="0"/>
          </a:p>
        </p:txBody>
      </p:sp>
      <p:sp>
        <p:nvSpPr>
          <p:cNvPr id="28" name="Text 25"/>
          <p:cNvSpPr/>
          <p:nvPr/>
        </p:nvSpPr>
        <p:spPr>
          <a:xfrm>
            <a:off x="6464808" y="3291840"/>
            <a:ext cx="1965960" cy="347472"/>
          </a:xfrm>
          <a:prstGeom prst="rect">
            <a:avLst/>
          </a:prstGeom>
          <a:noFill/>
          <a:ln/>
        </p:spPr>
        <p:txBody>
          <a:bodyPr wrap="square" lIns="0" tIns="0" rIns="0" bIns="0" rtlCol="0" anchor="t">
            <a:normAutofit/>
          </a:bodyPr>
          <a:lstStyle/>
          <a:p>
            <a:pPr algn="l" indent="0" marL="0">
              <a:buNone/>
            </a:pPr>
            <a:r>
              <a:rPr lang="en-US" sz="870" dirty="0">
                <a:solidFill>
                  <a:srgbClr val="AEB9BA"/>
                </a:solidFill>
                <a:latin typeface="Aptos" pitchFamily="34" charset="0"/>
                <a:ea typeface="Aptos" pitchFamily="34" charset="-122"/>
                <a:cs typeface="Aptos" pitchFamily="34" charset="-120"/>
              </a:rPr>
              <a:t>genealogy model</a:t>
            </a:r>
            <a:endParaRPr lang="en-US" sz="870" dirty="0"/>
          </a:p>
          <a:p>
            <a:pPr algn="l" indent="0" marL="0">
              <a:buNone/>
            </a:pPr>
            <a:r>
              <a:rPr lang="en-US" sz="870" dirty="0">
                <a:solidFill>
                  <a:srgbClr val="AEB9BA"/>
                </a:solidFill>
                <a:latin typeface="Aptos" pitchFamily="34" charset="0"/>
                <a:ea typeface="Aptos" pitchFamily="34" charset="-122"/>
                <a:cs typeface="Aptos" pitchFamily="34" charset="-120"/>
              </a:rPr>
              <a:t>bounded what-if</a:t>
            </a:r>
            <a:endParaRPr lang="en-US" sz="870" dirty="0"/>
          </a:p>
        </p:txBody>
      </p:sp>
      <p:sp>
        <p:nvSpPr>
          <p:cNvPr id="29" name="Text 26"/>
          <p:cNvSpPr/>
          <p:nvPr/>
        </p:nvSpPr>
        <p:spPr>
          <a:xfrm>
            <a:off x="6464808" y="4050792"/>
            <a:ext cx="1975104" cy="118872"/>
          </a:xfrm>
          <a:prstGeom prst="rect">
            <a:avLst/>
          </a:prstGeom>
          <a:noFill/>
          <a:ln/>
        </p:spPr>
        <p:txBody>
          <a:bodyPr wrap="square" lIns="0" tIns="0" rIns="0" bIns="0" rtlCol="0" anchor="ctr">
            <a:normAutofit/>
          </a:bodyPr>
          <a:lstStyle/>
          <a:p>
            <a:pPr algn="ctr" indent="0" marL="0">
              <a:buNone/>
            </a:pPr>
            <a:r>
              <a:rPr lang="en-US" sz="690" b="1" dirty="0">
                <a:solidFill>
                  <a:srgbClr val="147D74"/>
                </a:solidFill>
                <a:latin typeface="Aptos" pitchFamily="34" charset="0"/>
                <a:ea typeface="Aptos" pitchFamily="34" charset="-122"/>
                <a:cs typeface="Aptos" pitchFamily="34" charset="-120"/>
              </a:rPr>
              <a:t>input  →  compute  →  human review</a:t>
            </a:r>
            <a:endParaRPr lang="en-US" sz="690" dirty="0"/>
          </a:p>
        </p:txBody>
      </p:sp>
      <p:sp>
        <p:nvSpPr>
          <p:cNvPr id="30" name="Shape 27"/>
          <p:cNvSpPr/>
          <p:nvPr/>
        </p:nvSpPr>
        <p:spPr>
          <a:xfrm>
            <a:off x="9052560" y="1737360"/>
            <a:ext cx="2468880" cy="2788920"/>
          </a:xfrm>
          <a:prstGeom prst="roundRect">
            <a:avLst/>
          </a:prstGeom>
          <a:solidFill>
            <a:srgbClr val="1F2426"/>
          </a:solidFill>
          <a:ln w="12700">
            <a:solidFill>
              <a:srgbClr val="6D9A6F"/>
            </a:solidFill>
            <a:prstDash val="solid"/>
          </a:ln>
        </p:spPr>
      </p:sp>
      <p:sp>
        <p:nvSpPr>
          <p:cNvPr id="31" name="Shape 28"/>
          <p:cNvSpPr/>
          <p:nvPr/>
        </p:nvSpPr>
        <p:spPr>
          <a:xfrm>
            <a:off x="9052560" y="1737360"/>
            <a:ext cx="77724" cy="2788920"/>
          </a:xfrm>
          <a:prstGeom prst="rect">
            <a:avLst/>
          </a:prstGeom>
          <a:solidFill>
            <a:srgbClr val="6D9A6F"/>
          </a:solidFill>
          <a:ln w="6350">
            <a:solidFill>
              <a:srgbClr val="6D9A6F"/>
            </a:solidFill>
            <a:prstDash val="solid"/>
          </a:ln>
        </p:spPr>
      </p:sp>
      <p:sp>
        <p:nvSpPr>
          <p:cNvPr id="32" name="Shape 29"/>
          <p:cNvSpPr/>
          <p:nvPr/>
        </p:nvSpPr>
        <p:spPr>
          <a:xfrm>
            <a:off x="9308592" y="2075688"/>
            <a:ext cx="585216" cy="585216"/>
          </a:xfrm>
          <a:prstGeom prst="ellipse">
            <a:avLst/>
          </a:prstGeom>
          <a:solidFill>
            <a:srgbClr val="6D9A6F"/>
          </a:solidFill>
          <a:ln w="6350">
            <a:solidFill>
              <a:srgbClr val="6D9A6F"/>
            </a:solidFill>
            <a:prstDash val="solid"/>
          </a:ln>
        </p:spPr>
      </p:sp>
      <p:sp>
        <p:nvSpPr>
          <p:cNvPr id="33" name="Text 30"/>
          <p:cNvSpPr/>
          <p:nvPr/>
        </p:nvSpPr>
        <p:spPr>
          <a:xfrm>
            <a:off x="9308592" y="2295144"/>
            <a:ext cx="585216" cy="82296"/>
          </a:xfrm>
          <a:prstGeom prst="rect">
            <a:avLst/>
          </a:prstGeom>
          <a:noFill/>
          <a:ln/>
        </p:spPr>
        <p:txBody>
          <a:bodyPr wrap="square" lIns="0" tIns="0" rIns="0" bIns="0" rtlCol="0" anchor="ctr">
            <a:normAutofit/>
          </a:bodyPr>
          <a:lstStyle/>
          <a:p>
            <a:pPr algn="ctr" indent="0" marL="0">
              <a:buNone/>
            </a:pPr>
            <a:r>
              <a:rPr lang="en-US" sz="760" b="1" dirty="0">
                <a:solidFill>
                  <a:srgbClr val="FFFFFF"/>
                </a:solidFill>
                <a:latin typeface="Aptos" pitchFamily="34" charset="0"/>
                <a:ea typeface="Aptos" pitchFamily="34" charset="-122"/>
                <a:cs typeface="Aptos" pitchFamily="34" charset="-120"/>
              </a:rPr>
              <a:t>KNW</a:t>
            </a:r>
            <a:endParaRPr lang="en-US" sz="760" dirty="0"/>
          </a:p>
        </p:txBody>
      </p:sp>
      <p:sp>
        <p:nvSpPr>
          <p:cNvPr id="34" name="Text 31"/>
          <p:cNvSpPr/>
          <p:nvPr/>
        </p:nvSpPr>
        <p:spPr>
          <a:xfrm>
            <a:off x="9299448" y="2788920"/>
            <a:ext cx="1975104" cy="182880"/>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Bahnschrift SemiBold" pitchFamily="34" charset="0"/>
                <a:ea typeface="Bahnschrift SemiBold" pitchFamily="34" charset="-122"/>
                <a:cs typeface="Bahnschrift SemiBold" pitchFamily="34" charset="-120"/>
              </a:rPr>
              <a:t>Knowledge capture</a:t>
            </a:r>
            <a:endParaRPr lang="en-US" sz="1250" dirty="0"/>
          </a:p>
        </p:txBody>
      </p:sp>
      <p:sp>
        <p:nvSpPr>
          <p:cNvPr id="35" name="Text 32"/>
          <p:cNvSpPr/>
          <p:nvPr/>
        </p:nvSpPr>
        <p:spPr>
          <a:xfrm>
            <a:off x="9299448" y="3291840"/>
            <a:ext cx="1965960" cy="347472"/>
          </a:xfrm>
          <a:prstGeom prst="rect">
            <a:avLst/>
          </a:prstGeom>
          <a:noFill/>
          <a:ln/>
        </p:spPr>
        <p:txBody>
          <a:bodyPr wrap="square" lIns="0" tIns="0" rIns="0" bIns="0" rtlCol="0" anchor="t">
            <a:normAutofit/>
          </a:bodyPr>
          <a:lstStyle/>
          <a:p>
            <a:pPr algn="l" indent="0" marL="0">
              <a:buNone/>
            </a:pPr>
            <a:r>
              <a:rPr lang="en-US" sz="870" dirty="0">
                <a:solidFill>
                  <a:srgbClr val="AEB9BA"/>
                </a:solidFill>
                <a:latin typeface="Aptos" pitchFamily="34" charset="0"/>
                <a:ea typeface="Aptos" pitchFamily="34" charset="-122"/>
                <a:cs typeface="Aptos" pitchFamily="34" charset="-120"/>
              </a:rPr>
              <a:t>Speech + Foundry</a:t>
            </a:r>
            <a:endParaRPr lang="en-US" sz="870" dirty="0"/>
          </a:p>
          <a:p>
            <a:pPr algn="l" indent="0" marL="0">
              <a:buNone/>
            </a:pPr>
            <a:r>
              <a:rPr lang="en-US" sz="870" dirty="0">
                <a:solidFill>
                  <a:srgbClr val="AEB9BA"/>
                </a:solidFill>
                <a:latin typeface="Aptos" pitchFamily="34" charset="0"/>
                <a:ea typeface="Aptos" pitchFamily="34" charset="-122"/>
                <a:cs typeface="Aptos" pitchFamily="34" charset="-120"/>
              </a:rPr>
              <a:t>cited draft workflow</a:t>
            </a:r>
            <a:endParaRPr lang="en-US" sz="870" dirty="0"/>
          </a:p>
        </p:txBody>
      </p:sp>
      <p:sp>
        <p:nvSpPr>
          <p:cNvPr id="36" name="Text 33"/>
          <p:cNvSpPr/>
          <p:nvPr/>
        </p:nvSpPr>
        <p:spPr>
          <a:xfrm>
            <a:off x="9299448" y="4050792"/>
            <a:ext cx="1975104" cy="118872"/>
          </a:xfrm>
          <a:prstGeom prst="rect">
            <a:avLst/>
          </a:prstGeom>
          <a:noFill/>
          <a:ln/>
        </p:spPr>
        <p:txBody>
          <a:bodyPr wrap="square" lIns="0" tIns="0" rIns="0" bIns="0" rtlCol="0" anchor="ctr">
            <a:normAutofit/>
          </a:bodyPr>
          <a:lstStyle/>
          <a:p>
            <a:pPr algn="ctr" indent="0" marL="0">
              <a:buNone/>
            </a:pPr>
            <a:r>
              <a:rPr lang="en-US" sz="690" b="1" dirty="0">
                <a:solidFill>
                  <a:srgbClr val="6D9A6F"/>
                </a:solidFill>
                <a:latin typeface="Aptos" pitchFamily="34" charset="0"/>
                <a:ea typeface="Aptos" pitchFamily="34" charset="-122"/>
                <a:cs typeface="Aptos" pitchFamily="34" charset="-120"/>
              </a:rPr>
              <a:t>input  →  compute  →  human review</a:t>
            </a:r>
            <a:endParaRPr lang="en-US" sz="690" dirty="0"/>
          </a:p>
        </p:txBody>
      </p:sp>
      <p:sp>
        <p:nvSpPr>
          <p:cNvPr id="37" name="Shape 34"/>
          <p:cNvSpPr/>
          <p:nvPr/>
        </p:nvSpPr>
        <p:spPr>
          <a:xfrm>
            <a:off x="548640" y="5138928"/>
            <a:ext cx="11091672" cy="594360"/>
          </a:xfrm>
          <a:prstGeom prst="roundRect">
            <a:avLst/>
          </a:prstGeom>
          <a:solidFill>
            <a:srgbClr val="1F2426"/>
          </a:solidFill>
          <a:ln w="10160">
            <a:solidFill>
              <a:srgbClr val="465057"/>
            </a:solidFill>
            <a:prstDash val="solid"/>
          </a:ln>
        </p:spPr>
      </p:sp>
      <p:sp>
        <p:nvSpPr>
          <p:cNvPr id="38" name="Shape 35"/>
          <p:cNvSpPr/>
          <p:nvPr/>
        </p:nvSpPr>
        <p:spPr>
          <a:xfrm>
            <a:off x="841248" y="5321808"/>
            <a:ext cx="822960" cy="246888"/>
          </a:xfrm>
          <a:prstGeom prst="roundRect">
            <a:avLst/>
          </a:prstGeom>
          <a:solidFill>
            <a:srgbClr val="B64A2D"/>
          </a:solidFill>
          <a:ln w="5080">
            <a:solidFill>
              <a:srgbClr val="B64A2D"/>
            </a:solidFill>
            <a:prstDash val="solid"/>
          </a:ln>
        </p:spPr>
      </p:sp>
      <p:sp>
        <p:nvSpPr>
          <p:cNvPr id="39" name="Text 36"/>
          <p:cNvSpPr/>
          <p:nvPr/>
        </p:nvSpPr>
        <p:spPr>
          <a:xfrm>
            <a:off x="960120" y="5372100"/>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ADR-006</a:t>
            </a:r>
            <a:endParaRPr lang="en-US" sz="720" dirty="0"/>
          </a:p>
        </p:txBody>
      </p:sp>
      <p:sp>
        <p:nvSpPr>
          <p:cNvPr id="40" name="Text 37"/>
          <p:cNvSpPr/>
          <p:nvPr/>
        </p:nvSpPr>
        <p:spPr>
          <a:xfrm>
            <a:off x="2148840" y="5340096"/>
            <a:ext cx="8915400" cy="137160"/>
          </a:xfrm>
          <a:prstGeom prst="rect">
            <a:avLst/>
          </a:prstGeom>
          <a:noFill/>
          <a:ln/>
        </p:spPr>
        <p:txBody>
          <a:bodyPr wrap="square" lIns="0" tIns="0" rIns="0" bIns="0" rtlCol="0" anchor="ctr">
            <a:normAutofit/>
          </a:bodyPr>
          <a:lstStyle/>
          <a:p>
            <a:pPr algn="ctr" indent="0" marL="0">
              <a:buNone/>
            </a:pPr>
            <a:r>
              <a:rPr lang="en-US" sz="1060" b="1" dirty="0">
                <a:solidFill>
                  <a:srgbClr val="FFFFFF"/>
                </a:solidFill>
                <a:latin typeface="Aptos" pitchFamily="34" charset="0"/>
                <a:ea typeface="Aptos" pitchFamily="34" charset="-122"/>
                <a:cs typeface="Aptos" pitchFamily="34" charset="-120"/>
              </a:rPr>
              <a:t>Foundry retrieves, explains, and uses allow-listed tools. It does not calculate the authoritative answer, relax a constraint, or commit a decision.</a:t>
            </a:r>
            <a:endParaRPr lang="en-US" sz="1060" dirty="0"/>
          </a:p>
        </p:txBody>
      </p:sp>
      <p:sp>
        <p:nvSpPr>
          <p:cNvPr id="41" name="Text 38"/>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AEB9BA"/>
                </a:solidFill>
                <a:latin typeface="Aptos" pitchFamily="34" charset="0"/>
                <a:ea typeface="Aptos" pitchFamily="34" charset="-122"/>
                <a:cs typeface="Aptos" pitchFamily="34" charset="-120"/>
              </a:rPr>
              <a:t>Source cue | solution-architecture.md §4.2, ADR-006</a:t>
            </a:r>
            <a:endParaRPr lang="en-US" sz="660" dirty="0"/>
          </a:p>
        </p:txBody>
      </p:sp>
      <p:sp>
        <p:nvSpPr>
          <p:cNvPr id="42" name="Shape 39"/>
          <p:cNvSpPr/>
          <p:nvPr/>
        </p:nvSpPr>
        <p:spPr>
          <a:xfrm>
            <a:off x="0" y="6483096"/>
            <a:ext cx="12191695" cy="374904"/>
          </a:xfrm>
          <a:prstGeom prst="rect">
            <a:avLst/>
          </a:prstGeom>
          <a:solidFill>
            <a:srgbClr val="1F2426"/>
          </a:solidFill>
          <a:ln w="6350">
            <a:solidFill>
              <a:srgbClr val="1F2426"/>
            </a:solidFill>
            <a:prstDash val="solid"/>
          </a:ln>
        </p:spPr>
      </p:sp>
      <p:sp>
        <p:nvSpPr>
          <p:cNvPr id="43" name="Shape 40"/>
          <p:cNvSpPr/>
          <p:nvPr/>
        </p:nvSpPr>
        <p:spPr>
          <a:xfrm>
            <a:off x="384048" y="6547104"/>
            <a:ext cx="3547872" cy="182880"/>
          </a:xfrm>
          <a:prstGeom prst="roundRect">
            <a:avLst/>
          </a:prstGeom>
          <a:solidFill>
            <a:srgbClr val="465057"/>
          </a:solidFill>
          <a:ln w="3175">
            <a:solidFill>
              <a:srgbClr val="465057"/>
            </a:solidFill>
            <a:prstDash val="solid"/>
          </a:ln>
        </p:spPr>
      </p:sp>
      <p:sp>
        <p:nvSpPr>
          <p:cNvPr id="44" name="Text 41"/>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DDE4E1"/>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45" name="Text 42"/>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DDE4E1"/>
                </a:solidFill>
                <a:latin typeface="Aptos" pitchFamily="34" charset="0"/>
                <a:ea typeface="Aptos" pitchFamily="34" charset="-122"/>
                <a:cs typeface="Aptos" pitchFamily="34" charset="-120"/>
              </a:rPr>
              <a:t>ORAL DEFENSE  •  11 / 20</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465057"/>
          </a:solidFill>
          <a:ln w="5080">
            <a:solidFill>
              <a:srgbClr val="465057"/>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12</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AI DEEP DIVE 01</a:t>
            </a:r>
            <a:endParaRPr lang="en-US" sz="810" dirty="0"/>
          </a:p>
        </p:txBody>
      </p:sp>
      <p:sp>
        <p:nvSpPr>
          <p:cNvPr id="7" name="Shape 5"/>
          <p:cNvSpPr/>
          <p:nvPr/>
        </p:nvSpPr>
        <p:spPr>
          <a:xfrm>
            <a:off x="10040112" y="274320"/>
            <a:ext cx="1673352" cy="256032"/>
          </a:xfrm>
          <a:prstGeom prst="roundRect">
            <a:avLst/>
          </a:prstGeom>
          <a:solidFill>
            <a:srgbClr val="FFFFFF"/>
          </a:solidFill>
          <a:ln w="6350">
            <a:solidFill>
              <a:srgbClr val="DDE4E1"/>
            </a:solidFill>
            <a:prstDash val="solid"/>
          </a:ln>
        </p:spPr>
      </p:sp>
      <p:sp>
        <p:nvSpPr>
          <p:cNvPr id="8" name="Text 6"/>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687373"/>
                </a:solidFill>
                <a:latin typeface="Aptos" pitchFamily="34" charset="0"/>
                <a:ea typeface="Aptos" pitchFamily="34" charset="-122"/>
                <a:cs typeface="Aptos" pitchFamily="34" charset="-120"/>
              </a:rPr>
              <a:t>16:15–18:15</a:t>
            </a:r>
            <a:endParaRPr lang="en-US" sz="720" dirty="0"/>
          </a:p>
        </p:txBody>
      </p:sp>
      <p:sp>
        <p:nvSpPr>
          <p:cNvPr id="9" name="Text 7"/>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Furnace lining remaining-useful-life: show uncertainty, retain the human</a:t>
            </a:r>
            <a:endParaRPr lang="en-US" sz="2550" dirty="0"/>
          </a:p>
        </p:txBody>
      </p:sp>
      <p:sp>
        <p:nvSpPr>
          <p:cNvPr id="10" name="Shape 8"/>
          <p:cNvSpPr/>
          <p:nvPr/>
        </p:nvSpPr>
        <p:spPr>
          <a:xfrm>
            <a:off x="457200" y="1188720"/>
            <a:ext cx="1378915" cy="246888"/>
          </a:xfrm>
          <a:prstGeom prst="roundRect">
            <a:avLst/>
          </a:prstGeom>
          <a:solidFill>
            <a:srgbClr val="147D74"/>
          </a:solidFill>
          <a:ln w="5080">
            <a:solidFill>
              <a:srgbClr val="147D74"/>
            </a:solidFill>
            <a:prstDash val="solid"/>
          </a:ln>
        </p:spPr>
      </p:sp>
      <p:sp>
        <p:nvSpPr>
          <p:cNvPr id="11" name="Text 9"/>
          <p:cNvSpPr/>
          <p:nvPr/>
        </p:nvSpPr>
        <p:spPr>
          <a:xfrm>
            <a:off x="576072" y="1239012"/>
            <a:ext cx="1141171"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SYNTHETIC EVIDENCE</a:t>
            </a:r>
            <a:endParaRPr lang="en-US" sz="720" dirty="0"/>
          </a:p>
        </p:txBody>
      </p:sp>
      <p:pic>
        <p:nvPicPr>
          <p:cNvPr id="12" name="Image 0" descr="D:\work\20260724 - Novasteel 3\tools\presentation\assets\thermal-map.png">    </p:cNvPr>
          <p:cNvPicPr>
            <a:picLocks noChangeAspect="1"/>
          </p:cNvPicPr>
          <p:nvPr/>
        </p:nvPicPr>
        <p:blipFill>
          <a:blip r:embed="rId1"/>
          <a:stretch>
            <a:fillRect/>
          </a:stretch>
        </p:blipFill>
        <p:spPr>
          <a:xfrm>
            <a:off x="502920" y="1664208"/>
            <a:ext cx="4919472" cy="2871216"/>
          </a:xfrm>
          <a:prstGeom prst="rect">
            <a:avLst/>
          </a:prstGeom>
        </p:spPr>
      </p:pic>
      <p:sp>
        <p:nvSpPr>
          <p:cNvPr id="13" name="Shape 10"/>
          <p:cNvSpPr/>
          <p:nvPr/>
        </p:nvSpPr>
        <p:spPr>
          <a:xfrm>
            <a:off x="960120" y="4709160"/>
            <a:ext cx="128016" cy="128016"/>
          </a:xfrm>
          <a:prstGeom prst="ellipse">
            <a:avLst/>
          </a:prstGeom>
          <a:solidFill>
            <a:srgbClr val="147D74"/>
          </a:solidFill>
          <a:ln w="6350">
            <a:solidFill>
              <a:srgbClr val="147D74"/>
            </a:solidFill>
            <a:prstDash val="solid"/>
          </a:ln>
        </p:spPr>
      </p:sp>
      <p:sp>
        <p:nvSpPr>
          <p:cNvPr id="14" name="Text 11"/>
          <p:cNvSpPr/>
          <p:nvPr/>
        </p:nvSpPr>
        <p:spPr>
          <a:xfrm>
            <a:off x="1143000" y="4722876"/>
            <a:ext cx="484632" cy="73152"/>
          </a:xfrm>
          <a:prstGeom prst="rect">
            <a:avLst/>
          </a:prstGeom>
          <a:noFill/>
          <a:ln/>
        </p:spPr>
        <p:txBody>
          <a:bodyPr wrap="square" lIns="0" tIns="0" rIns="0" bIns="0" rtlCol="0" anchor="ctr">
            <a:normAutofit/>
          </a:bodyPr>
          <a:lstStyle/>
          <a:p>
            <a:pPr algn="l" indent="0" marL="0">
              <a:buNone/>
            </a:pPr>
            <a:r>
              <a:rPr lang="en-US" sz="640" dirty="0">
                <a:solidFill>
                  <a:srgbClr val="687373"/>
                </a:solidFill>
                <a:latin typeface="Aptos" pitchFamily="34" charset="0"/>
                <a:ea typeface="Aptos" pitchFamily="34" charset="-122"/>
                <a:cs typeface="Aptos" pitchFamily="34" charset="-120"/>
              </a:rPr>
              <a:t>Base</a:t>
            </a:r>
            <a:endParaRPr lang="en-US" sz="640" dirty="0"/>
          </a:p>
        </p:txBody>
      </p:sp>
      <p:sp>
        <p:nvSpPr>
          <p:cNvPr id="15" name="Shape 12"/>
          <p:cNvSpPr/>
          <p:nvPr/>
        </p:nvSpPr>
        <p:spPr>
          <a:xfrm>
            <a:off x="1737360" y="4709160"/>
            <a:ext cx="128016" cy="128016"/>
          </a:xfrm>
          <a:prstGeom prst="ellipse">
            <a:avLst/>
          </a:prstGeom>
          <a:solidFill>
            <a:srgbClr val="E3A72F"/>
          </a:solidFill>
          <a:ln w="6350">
            <a:solidFill>
              <a:srgbClr val="E3A72F"/>
            </a:solidFill>
            <a:prstDash val="solid"/>
          </a:ln>
        </p:spPr>
      </p:sp>
      <p:sp>
        <p:nvSpPr>
          <p:cNvPr id="16" name="Text 13"/>
          <p:cNvSpPr/>
          <p:nvPr/>
        </p:nvSpPr>
        <p:spPr>
          <a:xfrm>
            <a:off x="1920240" y="4722876"/>
            <a:ext cx="484632" cy="73152"/>
          </a:xfrm>
          <a:prstGeom prst="rect">
            <a:avLst/>
          </a:prstGeom>
          <a:noFill/>
          <a:ln/>
        </p:spPr>
        <p:txBody>
          <a:bodyPr wrap="square" lIns="0" tIns="0" rIns="0" bIns="0" rtlCol="0" anchor="ctr">
            <a:normAutofit/>
          </a:bodyPr>
          <a:lstStyle/>
          <a:p>
            <a:pPr algn="l" indent="0" marL="0">
              <a:buNone/>
            </a:pPr>
            <a:r>
              <a:rPr lang="en-US" sz="640" dirty="0">
                <a:solidFill>
                  <a:srgbClr val="687373"/>
                </a:solidFill>
                <a:latin typeface="Aptos" pitchFamily="34" charset="0"/>
                <a:ea typeface="Aptos" pitchFamily="34" charset="-122"/>
                <a:cs typeface="Aptos" pitchFamily="34" charset="-120"/>
              </a:rPr>
              <a:t>Watch</a:t>
            </a:r>
            <a:endParaRPr lang="en-US" sz="640" dirty="0"/>
          </a:p>
        </p:txBody>
      </p:sp>
      <p:sp>
        <p:nvSpPr>
          <p:cNvPr id="17" name="Shape 14"/>
          <p:cNvSpPr/>
          <p:nvPr/>
        </p:nvSpPr>
        <p:spPr>
          <a:xfrm>
            <a:off x="2514600" y="4709160"/>
            <a:ext cx="128016" cy="128016"/>
          </a:xfrm>
          <a:prstGeom prst="ellipse">
            <a:avLst/>
          </a:prstGeom>
          <a:solidFill>
            <a:srgbClr val="B64A2D"/>
          </a:solidFill>
          <a:ln w="6350">
            <a:solidFill>
              <a:srgbClr val="B64A2D"/>
            </a:solidFill>
            <a:prstDash val="solid"/>
          </a:ln>
        </p:spPr>
      </p:sp>
      <p:sp>
        <p:nvSpPr>
          <p:cNvPr id="18" name="Text 15"/>
          <p:cNvSpPr/>
          <p:nvPr/>
        </p:nvSpPr>
        <p:spPr>
          <a:xfrm>
            <a:off x="2697480" y="4722876"/>
            <a:ext cx="484632" cy="73152"/>
          </a:xfrm>
          <a:prstGeom prst="rect">
            <a:avLst/>
          </a:prstGeom>
          <a:noFill/>
          <a:ln/>
        </p:spPr>
        <p:txBody>
          <a:bodyPr wrap="square" lIns="0" tIns="0" rIns="0" bIns="0" rtlCol="0" anchor="ctr">
            <a:normAutofit/>
          </a:bodyPr>
          <a:lstStyle/>
          <a:p>
            <a:pPr algn="l" indent="0" marL="0">
              <a:buNone/>
            </a:pPr>
            <a:r>
              <a:rPr lang="en-US" sz="640" dirty="0">
                <a:solidFill>
                  <a:srgbClr val="687373"/>
                </a:solidFill>
                <a:latin typeface="Aptos" pitchFamily="34" charset="0"/>
                <a:ea typeface="Aptos" pitchFamily="34" charset="-122"/>
                <a:cs typeface="Aptos" pitchFamily="34" charset="-120"/>
              </a:rPr>
              <a:t>Warm</a:t>
            </a:r>
            <a:endParaRPr lang="en-US" sz="640" dirty="0"/>
          </a:p>
        </p:txBody>
      </p:sp>
      <p:sp>
        <p:nvSpPr>
          <p:cNvPr id="19" name="Shape 16"/>
          <p:cNvSpPr/>
          <p:nvPr/>
        </p:nvSpPr>
        <p:spPr>
          <a:xfrm>
            <a:off x="5788152" y="1673352"/>
            <a:ext cx="2560320" cy="2889504"/>
          </a:xfrm>
          <a:prstGeom prst="roundRect">
            <a:avLst/>
          </a:prstGeom>
          <a:solidFill>
            <a:srgbClr val="FFFFFF"/>
          </a:solidFill>
          <a:ln w="10160">
            <a:solidFill>
              <a:srgbClr val="DDE4E1"/>
            </a:solidFill>
            <a:prstDash val="solid"/>
          </a:ln>
        </p:spPr>
      </p:sp>
      <p:sp>
        <p:nvSpPr>
          <p:cNvPr id="20" name="Text 17"/>
          <p:cNvSpPr/>
          <p:nvPr/>
        </p:nvSpPr>
        <p:spPr>
          <a:xfrm>
            <a:off x="6053328" y="1938528"/>
            <a:ext cx="1554480"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147D74"/>
                </a:solidFill>
                <a:latin typeface="Aptos" pitchFamily="34" charset="0"/>
                <a:ea typeface="Aptos" pitchFamily="34" charset="-122"/>
                <a:cs typeface="Aptos" pitchFamily="34" charset="-120"/>
              </a:rPr>
              <a:t>SYNTHETIC RUL BAND</a:t>
            </a:r>
            <a:endParaRPr lang="en-US" sz="720" dirty="0"/>
          </a:p>
        </p:txBody>
      </p:sp>
      <p:sp>
        <p:nvSpPr>
          <p:cNvPr id="21" name="Shape 18"/>
          <p:cNvSpPr/>
          <p:nvPr/>
        </p:nvSpPr>
        <p:spPr>
          <a:xfrm>
            <a:off x="6336792" y="2990088"/>
            <a:ext cx="1481328" cy="137160"/>
          </a:xfrm>
          <a:prstGeom prst="rect">
            <a:avLst/>
          </a:prstGeom>
          <a:solidFill>
            <a:srgbClr val="D8ECE7"/>
          </a:solidFill>
          <a:ln w="6350">
            <a:solidFill>
              <a:srgbClr val="D8ECE7"/>
            </a:solidFill>
            <a:prstDash val="solid"/>
          </a:ln>
        </p:spPr>
      </p:sp>
      <p:sp>
        <p:nvSpPr>
          <p:cNvPr id="22" name="Shape 19"/>
          <p:cNvSpPr/>
          <p:nvPr/>
        </p:nvSpPr>
        <p:spPr>
          <a:xfrm>
            <a:off x="6336792" y="3063240"/>
            <a:ext cx="1481328" cy="0"/>
          </a:xfrm>
          <a:prstGeom prst="line">
            <a:avLst/>
          </a:prstGeom>
          <a:noFill/>
          <a:ln w="38100">
            <a:solidFill>
              <a:srgbClr val="147D74"/>
            </a:solidFill>
            <a:prstDash val="solid"/>
          </a:ln>
        </p:spPr>
      </p:sp>
      <p:sp>
        <p:nvSpPr>
          <p:cNvPr id="23" name="Shape 20"/>
          <p:cNvSpPr/>
          <p:nvPr/>
        </p:nvSpPr>
        <p:spPr>
          <a:xfrm>
            <a:off x="6336792" y="2770632"/>
            <a:ext cx="0" cy="548640"/>
          </a:xfrm>
          <a:prstGeom prst="line">
            <a:avLst/>
          </a:prstGeom>
          <a:noFill/>
          <a:ln w="8890">
            <a:solidFill>
              <a:srgbClr val="465057"/>
            </a:solidFill>
            <a:prstDash val="solid"/>
          </a:ln>
        </p:spPr>
      </p:sp>
      <p:sp>
        <p:nvSpPr>
          <p:cNvPr id="24" name="Shape 21"/>
          <p:cNvSpPr/>
          <p:nvPr/>
        </p:nvSpPr>
        <p:spPr>
          <a:xfrm>
            <a:off x="7077456" y="2770632"/>
            <a:ext cx="0" cy="548640"/>
          </a:xfrm>
          <a:prstGeom prst="line">
            <a:avLst/>
          </a:prstGeom>
          <a:noFill/>
          <a:ln w="8890">
            <a:solidFill>
              <a:srgbClr val="465057"/>
            </a:solidFill>
            <a:prstDash val="solid"/>
          </a:ln>
        </p:spPr>
      </p:sp>
      <p:sp>
        <p:nvSpPr>
          <p:cNvPr id="25" name="Shape 22"/>
          <p:cNvSpPr/>
          <p:nvPr/>
        </p:nvSpPr>
        <p:spPr>
          <a:xfrm>
            <a:off x="7818120" y="2770632"/>
            <a:ext cx="0" cy="548640"/>
          </a:xfrm>
          <a:prstGeom prst="line">
            <a:avLst/>
          </a:prstGeom>
          <a:noFill/>
          <a:ln w="8890">
            <a:solidFill>
              <a:srgbClr val="465057"/>
            </a:solidFill>
            <a:prstDash val="solid"/>
          </a:ln>
        </p:spPr>
      </p:sp>
      <p:sp>
        <p:nvSpPr>
          <p:cNvPr id="26" name="Shape 23"/>
          <p:cNvSpPr/>
          <p:nvPr/>
        </p:nvSpPr>
        <p:spPr>
          <a:xfrm>
            <a:off x="7004304" y="2898648"/>
            <a:ext cx="146304" cy="146304"/>
          </a:xfrm>
          <a:prstGeom prst="ellipse">
            <a:avLst/>
          </a:prstGeom>
          <a:solidFill>
            <a:srgbClr val="B64A2D"/>
          </a:solidFill>
          <a:ln w="6350">
            <a:solidFill>
              <a:srgbClr val="B64A2D"/>
            </a:solidFill>
            <a:prstDash val="solid"/>
          </a:ln>
        </p:spPr>
      </p:sp>
      <p:sp>
        <p:nvSpPr>
          <p:cNvPr id="27" name="Text 24"/>
          <p:cNvSpPr/>
          <p:nvPr/>
        </p:nvSpPr>
        <p:spPr>
          <a:xfrm>
            <a:off x="6263640" y="3410712"/>
            <a:ext cx="411480" cy="100584"/>
          </a:xfrm>
          <a:prstGeom prst="rect">
            <a:avLst/>
          </a:prstGeom>
          <a:noFill/>
          <a:ln/>
        </p:spPr>
        <p:txBody>
          <a:bodyPr wrap="square" lIns="0" tIns="0" rIns="0" bIns="0" rtlCol="0" anchor="ctr">
            <a:normAutofit/>
          </a:bodyPr>
          <a:lstStyle/>
          <a:p>
            <a:pPr algn="ctr" indent="0" marL="0">
              <a:buNone/>
            </a:pPr>
            <a:r>
              <a:rPr lang="en-US" sz="720" dirty="0">
                <a:solidFill>
                  <a:srgbClr val="687373"/>
                </a:solidFill>
                <a:latin typeface="Aptos" pitchFamily="34" charset="0"/>
                <a:ea typeface="Aptos" pitchFamily="34" charset="-122"/>
                <a:cs typeface="Aptos" pitchFamily="34" charset="-120"/>
              </a:rPr>
              <a:t>16.8</a:t>
            </a:r>
            <a:endParaRPr lang="en-US" sz="720" dirty="0"/>
          </a:p>
        </p:txBody>
      </p:sp>
      <p:sp>
        <p:nvSpPr>
          <p:cNvPr id="28" name="Text 25"/>
          <p:cNvSpPr/>
          <p:nvPr/>
        </p:nvSpPr>
        <p:spPr>
          <a:xfrm>
            <a:off x="6848856" y="2487168"/>
            <a:ext cx="457200" cy="109728"/>
          </a:xfrm>
          <a:prstGeom prst="rect">
            <a:avLst/>
          </a:prstGeom>
          <a:noFill/>
          <a:ln/>
        </p:spPr>
        <p:txBody>
          <a:bodyPr wrap="square" lIns="0" tIns="0" rIns="0" bIns="0" rtlCol="0" anchor="ctr">
            <a:normAutofit/>
          </a:bodyPr>
          <a:lstStyle/>
          <a:p>
            <a:pPr algn="ctr" indent="0" marL="0">
              <a:buNone/>
            </a:pPr>
            <a:r>
              <a:rPr lang="en-US" sz="830" b="1" dirty="0">
                <a:solidFill>
                  <a:srgbClr val="B64A2D"/>
                </a:solidFill>
                <a:latin typeface="Aptos" pitchFamily="34" charset="0"/>
                <a:ea typeface="Aptos" pitchFamily="34" charset="-122"/>
                <a:cs typeface="Aptos" pitchFamily="34" charset="-120"/>
              </a:rPr>
              <a:t>21.0</a:t>
            </a:r>
            <a:endParaRPr lang="en-US" sz="830" dirty="0"/>
          </a:p>
        </p:txBody>
      </p:sp>
      <p:sp>
        <p:nvSpPr>
          <p:cNvPr id="29" name="Text 26"/>
          <p:cNvSpPr/>
          <p:nvPr/>
        </p:nvSpPr>
        <p:spPr>
          <a:xfrm>
            <a:off x="7525512" y="3410712"/>
            <a:ext cx="411480" cy="100584"/>
          </a:xfrm>
          <a:prstGeom prst="rect">
            <a:avLst/>
          </a:prstGeom>
          <a:noFill/>
          <a:ln/>
        </p:spPr>
        <p:txBody>
          <a:bodyPr wrap="square" lIns="0" tIns="0" rIns="0" bIns="0" rtlCol="0" anchor="ctr">
            <a:normAutofit/>
          </a:bodyPr>
          <a:lstStyle/>
          <a:p>
            <a:pPr algn="ctr" indent="0" marL="0">
              <a:buNone/>
            </a:pPr>
            <a:r>
              <a:rPr lang="en-US" sz="720" dirty="0">
                <a:solidFill>
                  <a:srgbClr val="687373"/>
                </a:solidFill>
                <a:latin typeface="Aptos" pitchFamily="34" charset="0"/>
                <a:ea typeface="Aptos" pitchFamily="34" charset="-122"/>
                <a:cs typeface="Aptos" pitchFamily="34" charset="-120"/>
              </a:rPr>
              <a:t>27.5</a:t>
            </a:r>
            <a:endParaRPr lang="en-US" sz="720" dirty="0"/>
          </a:p>
        </p:txBody>
      </p:sp>
      <p:sp>
        <p:nvSpPr>
          <p:cNvPr id="30" name="Text 27"/>
          <p:cNvSpPr/>
          <p:nvPr/>
        </p:nvSpPr>
        <p:spPr>
          <a:xfrm>
            <a:off x="6327648" y="3730752"/>
            <a:ext cx="283464" cy="73152"/>
          </a:xfrm>
          <a:prstGeom prst="rect">
            <a:avLst/>
          </a:prstGeom>
          <a:noFill/>
          <a:ln/>
        </p:spPr>
        <p:txBody>
          <a:bodyPr wrap="square" lIns="0" tIns="0" rIns="0" bIns="0" rtlCol="0" anchor="ctr">
            <a:normAutofit/>
          </a:bodyPr>
          <a:lstStyle/>
          <a:p>
            <a:pPr algn="ctr" indent="0" marL="0">
              <a:buNone/>
            </a:pPr>
            <a:r>
              <a:rPr lang="en-US" sz="620" dirty="0">
                <a:solidFill>
                  <a:srgbClr val="687373"/>
                </a:solidFill>
                <a:latin typeface="Aptos" pitchFamily="34" charset="0"/>
                <a:ea typeface="Aptos" pitchFamily="34" charset="-122"/>
                <a:cs typeface="Aptos" pitchFamily="34" charset="-120"/>
              </a:rPr>
              <a:t>P10</a:t>
            </a:r>
            <a:endParaRPr lang="en-US" sz="620" dirty="0"/>
          </a:p>
        </p:txBody>
      </p:sp>
      <p:sp>
        <p:nvSpPr>
          <p:cNvPr id="31" name="Text 28"/>
          <p:cNvSpPr/>
          <p:nvPr/>
        </p:nvSpPr>
        <p:spPr>
          <a:xfrm>
            <a:off x="6903720" y="3730752"/>
            <a:ext cx="283464" cy="73152"/>
          </a:xfrm>
          <a:prstGeom prst="rect">
            <a:avLst/>
          </a:prstGeom>
          <a:noFill/>
          <a:ln/>
        </p:spPr>
        <p:txBody>
          <a:bodyPr wrap="square" lIns="0" tIns="0" rIns="0" bIns="0" rtlCol="0" anchor="ctr">
            <a:normAutofit/>
          </a:bodyPr>
          <a:lstStyle/>
          <a:p>
            <a:pPr algn="ctr" indent="0" marL="0">
              <a:buNone/>
            </a:pPr>
            <a:r>
              <a:rPr lang="en-US" sz="620" dirty="0">
                <a:solidFill>
                  <a:srgbClr val="687373"/>
                </a:solidFill>
                <a:latin typeface="Aptos" pitchFamily="34" charset="0"/>
                <a:ea typeface="Aptos" pitchFamily="34" charset="-122"/>
                <a:cs typeface="Aptos" pitchFamily="34" charset="-120"/>
              </a:rPr>
              <a:t>P50</a:t>
            </a:r>
            <a:endParaRPr lang="en-US" sz="620" dirty="0"/>
          </a:p>
        </p:txBody>
      </p:sp>
      <p:sp>
        <p:nvSpPr>
          <p:cNvPr id="32" name="Text 29"/>
          <p:cNvSpPr/>
          <p:nvPr/>
        </p:nvSpPr>
        <p:spPr>
          <a:xfrm>
            <a:off x="7543800" y="3730752"/>
            <a:ext cx="283464" cy="73152"/>
          </a:xfrm>
          <a:prstGeom prst="rect">
            <a:avLst/>
          </a:prstGeom>
          <a:noFill/>
          <a:ln/>
        </p:spPr>
        <p:txBody>
          <a:bodyPr wrap="square" lIns="0" tIns="0" rIns="0" bIns="0" rtlCol="0" anchor="ctr">
            <a:normAutofit/>
          </a:bodyPr>
          <a:lstStyle/>
          <a:p>
            <a:pPr algn="ctr" indent="0" marL="0">
              <a:buNone/>
            </a:pPr>
            <a:r>
              <a:rPr lang="en-US" sz="620" dirty="0">
                <a:solidFill>
                  <a:srgbClr val="687373"/>
                </a:solidFill>
                <a:latin typeface="Aptos" pitchFamily="34" charset="0"/>
                <a:ea typeface="Aptos" pitchFamily="34" charset="-122"/>
                <a:cs typeface="Aptos" pitchFamily="34" charset="-120"/>
              </a:rPr>
              <a:t>P90</a:t>
            </a:r>
            <a:endParaRPr lang="en-US" sz="620" dirty="0"/>
          </a:p>
        </p:txBody>
      </p:sp>
      <p:sp>
        <p:nvSpPr>
          <p:cNvPr id="33" name="Shape 30"/>
          <p:cNvSpPr/>
          <p:nvPr/>
        </p:nvSpPr>
        <p:spPr>
          <a:xfrm>
            <a:off x="6089904" y="4041648"/>
            <a:ext cx="1258214" cy="246888"/>
          </a:xfrm>
          <a:prstGeom prst="roundRect">
            <a:avLst/>
          </a:prstGeom>
          <a:solidFill>
            <a:srgbClr val="147D74"/>
          </a:solidFill>
          <a:ln w="5080">
            <a:solidFill>
              <a:srgbClr val="147D74"/>
            </a:solidFill>
            <a:prstDash val="solid"/>
          </a:ln>
        </p:spPr>
      </p:sp>
      <p:sp>
        <p:nvSpPr>
          <p:cNvPr id="34" name="Text 31"/>
          <p:cNvSpPr/>
          <p:nvPr/>
        </p:nvSpPr>
        <p:spPr>
          <a:xfrm>
            <a:off x="6208776" y="4091940"/>
            <a:ext cx="1020470"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RISK 0.87 | HIGH</a:t>
            </a:r>
            <a:endParaRPr lang="en-US" sz="720" dirty="0"/>
          </a:p>
        </p:txBody>
      </p:sp>
      <p:sp>
        <p:nvSpPr>
          <p:cNvPr id="35" name="Shape 32"/>
          <p:cNvSpPr/>
          <p:nvPr/>
        </p:nvSpPr>
        <p:spPr>
          <a:xfrm>
            <a:off x="8723376" y="1673352"/>
            <a:ext cx="2752344" cy="2889504"/>
          </a:xfrm>
          <a:prstGeom prst="roundRect">
            <a:avLst/>
          </a:prstGeom>
          <a:solidFill>
            <a:srgbClr val="1F2426"/>
          </a:solidFill>
          <a:ln w="6350">
            <a:solidFill>
              <a:srgbClr val="1F2426"/>
            </a:solidFill>
            <a:prstDash val="solid"/>
          </a:ln>
        </p:spPr>
      </p:sp>
      <p:sp>
        <p:nvSpPr>
          <p:cNvPr id="36" name="Text 33"/>
          <p:cNvSpPr/>
          <p:nvPr/>
        </p:nvSpPr>
        <p:spPr>
          <a:xfrm>
            <a:off x="8997696" y="1947672"/>
            <a:ext cx="1280160"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E3A72F"/>
                </a:solidFill>
                <a:latin typeface="Aptos" pitchFamily="34" charset="0"/>
                <a:ea typeface="Aptos" pitchFamily="34" charset="-122"/>
                <a:cs typeface="Aptos" pitchFamily="34" charset="-120"/>
              </a:rPr>
              <a:t>DRIVERS</a:t>
            </a:r>
            <a:endParaRPr lang="en-US" sz="720" dirty="0"/>
          </a:p>
        </p:txBody>
      </p:sp>
      <p:sp>
        <p:nvSpPr>
          <p:cNvPr id="37" name="Text 34"/>
          <p:cNvSpPr/>
          <p:nvPr/>
        </p:nvSpPr>
        <p:spPr>
          <a:xfrm>
            <a:off x="8997696" y="2505456"/>
            <a:ext cx="1417320" cy="109728"/>
          </a:xfrm>
          <a:prstGeom prst="rect">
            <a:avLst/>
          </a:prstGeom>
          <a:noFill/>
          <a:ln/>
        </p:spPr>
        <p:txBody>
          <a:bodyPr wrap="square" lIns="0" tIns="0" rIns="0" bIns="0" rtlCol="0" anchor="ctr">
            <a:normAutofit/>
          </a:bodyPr>
          <a:lstStyle/>
          <a:p>
            <a:pPr algn="l" indent="0" marL="0">
              <a:buNone/>
            </a:pPr>
            <a:r>
              <a:rPr lang="en-US" sz="740" b="1" dirty="0">
                <a:solidFill>
                  <a:srgbClr val="DDE4E1"/>
                </a:solidFill>
                <a:latin typeface="Aptos" pitchFamily="34" charset="0"/>
                <a:ea typeface="Aptos" pitchFamily="34" charset="-122"/>
                <a:cs typeface="Aptos" pitchFamily="34" charset="-120"/>
              </a:rPr>
              <a:t>Heat-flux 6h slope</a:t>
            </a:r>
            <a:endParaRPr lang="en-US" sz="740" dirty="0"/>
          </a:p>
        </p:txBody>
      </p:sp>
      <p:sp>
        <p:nvSpPr>
          <p:cNvPr id="38" name="Shape 35"/>
          <p:cNvSpPr/>
          <p:nvPr/>
        </p:nvSpPr>
        <p:spPr>
          <a:xfrm>
            <a:off x="8997696" y="2724912"/>
            <a:ext cx="2011680" cy="146304"/>
          </a:xfrm>
          <a:prstGeom prst="roundRect">
            <a:avLst/>
          </a:prstGeom>
          <a:solidFill>
            <a:srgbClr val="465057"/>
          </a:solidFill>
          <a:ln w="6350">
            <a:solidFill>
              <a:srgbClr val="465057"/>
            </a:solidFill>
            <a:prstDash val="solid"/>
          </a:ln>
        </p:spPr>
      </p:sp>
      <p:sp>
        <p:nvSpPr>
          <p:cNvPr id="39" name="Shape 36"/>
          <p:cNvSpPr/>
          <p:nvPr/>
        </p:nvSpPr>
        <p:spPr>
          <a:xfrm>
            <a:off x="8997696" y="2724912"/>
            <a:ext cx="1649578" cy="146304"/>
          </a:xfrm>
          <a:prstGeom prst="roundRect">
            <a:avLst/>
          </a:prstGeom>
          <a:solidFill>
            <a:srgbClr val="B64A2D"/>
          </a:solidFill>
          <a:ln w="6350">
            <a:solidFill>
              <a:srgbClr val="B64A2D"/>
            </a:solidFill>
            <a:prstDash val="solid"/>
          </a:ln>
        </p:spPr>
      </p:sp>
      <p:sp>
        <p:nvSpPr>
          <p:cNvPr id="40" name="Text 37"/>
          <p:cNvSpPr/>
          <p:nvPr/>
        </p:nvSpPr>
        <p:spPr>
          <a:xfrm>
            <a:off x="8997696" y="3081528"/>
            <a:ext cx="1417320" cy="109728"/>
          </a:xfrm>
          <a:prstGeom prst="rect">
            <a:avLst/>
          </a:prstGeom>
          <a:noFill/>
          <a:ln/>
        </p:spPr>
        <p:txBody>
          <a:bodyPr wrap="square" lIns="0" tIns="0" rIns="0" bIns="0" rtlCol="0" anchor="ctr">
            <a:normAutofit/>
          </a:bodyPr>
          <a:lstStyle/>
          <a:p>
            <a:pPr algn="l" indent="0" marL="0">
              <a:buNone/>
            </a:pPr>
            <a:r>
              <a:rPr lang="en-US" sz="740" b="1" dirty="0">
                <a:solidFill>
                  <a:srgbClr val="DDE4E1"/>
                </a:solidFill>
                <a:latin typeface="Aptos" pitchFamily="34" charset="0"/>
                <a:ea typeface="Aptos" pitchFamily="34" charset="-122"/>
                <a:cs typeface="Aptos" pitchFamily="34" charset="-120"/>
              </a:rPr>
              <a:t>Spatial contrast</a:t>
            </a:r>
            <a:endParaRPr lang="en-US" sz="740" dirty="0"/>
          </a:p>
        </p:txBody>
      </p:sp>
      <p:sp>
        <p:nvSpPr>
          <p:cNvPr id="41" name="Shape 38"/>
          <p:cNvSpPr/>
          <p:nvPr/>
        </p:nvSpPr>
        <p:spPr>
          <a:xfrm>
            <a:off x="8997696" y="3300984"/>
            <a:ext cx="2011680" cy="146304"/>
          </a:xfrm>
          <a:prstGeom prst="roundRect">
            <a:avLst/>
          </a:prstGeom>
          <a:solidFill>
            <a:srgbClr val="465057"/>
          </a:solidFill>
          <a:ln w="6350">
            <a:solidFill>
              <a:srgbClr val="465057"/>
            </a:solidFill>
            <a:prstDash val="solid"/>
          </a:ln>
        </p:spPr>
      </p:sp>
      <p:sp>
        <p:nvSpPr>
          <p:cNvPr id="42" name="Shape 39"/>
          <p:cNvSpPr/>
          <p:nvPr/>
        </p:nvSpPr>
        <p:spPr>
          <a:xfrm>
            <a:off x="8997696" y="3300984"/>
            <a:ext cx="1327709" cy="146304"/>
          </a:xfrm>
          <a:prstGeom prst="roundRect">
            <a:avLst/>
          </a:prstGeom>
          <a:solidFill>
            <a:srgbClr val="E3A72F"/>
          </a:solidFill>
          <a:ln w="6350">
            <a:solidFill>
              <a:srgbClr val="E3A72F"/>
            </a:solidFill>
            <a:prstDash val="solid"/>
          </a:ln>
        </p:spPr>
      </p:sp>
      <p:sp>
        <p:nvSpPr>
          <p:cNvPr id="43" name="Text 40"/>
          <p:cNvSpPr/>
          <p:nvPr/>
        </p:nvSpPr>
        <p:spPr>
          <a:xfrm>
            <a:off x="8997696" y="3657600"/>
            <a:ext cx="1417320" cy="109728"/>
          </a:xfrm>
          <a:prstGeom prst="rect">
            <a:avLst/>
          </a:prstGeom>
          <a:noFill/>
          <a:ln/>
        </p:spPr>
        <p:txBody>
          <a:bodyPr wrap="square" lIns="0" tIns="0" rIns="0" bIns="0" rtlCol="0" anchor="ctr">
            <a:normAutofit/>
          </a:bodyPr>
          <a:lstStyle/>
          <a:p>
            <a:pPr algn="l" indent="0" marL="0">
              <a:buNone/>
            </a:pPr>
            <a:r>
              <a:rPr lang="en-US" sz="740" b="1" dirty="0">
                <a:solidFill>
                  <a:srgbClr val="DDE4E1"/>
                </a:solidFill>
                <a:latin typeface="Aptos" pitchFamily="34" charset="0"/>
                <a:ea typeface="Aptos" pitchFamily="34" charset="-122"/>
                <a:cs typeface="Aptos" pitchFamily="34" charset="-120"/>
              </a:rPr>
              <a:t>Cooling residual</a:t>
            </a:r>
            <a:endParaRPr lang="en-US" sz="740" dirty="0"/>
          </a:p>
        </p:txBody>
      </p:sp>
      <p:sp>
        <p:nvSpPr>
          <p:cNvPr id="44" name="Shape 41"/>
          <p:cNvSpPr/>
          <p:nvPr/>
        </p:nvSpPr>
        <p:spPr>
          <a:xfrm>
            <a:off x="8997696" y="3877056"/>
            <a:ext cx="2011680" cy="146304"/>
          </a:xfrm>
          <a:prstGeom prst="roundRect">
            <a:avLst/>
          </a:prstGeom>
          <a:solidFill>
            <a:srgbClr val="465057"/>
          </a:solidFill>
          <a:ln w="6350">
            <a:solidFill>
              <a:srgbClr val="465057"/>
            </a:solidFill>
            <a:prstDash val="solid"/>
          </a:ln>
        </p:spPr>
      </p:sp>
      <p:sp>
        <p:nvSpPr>
          <p:cNvPr id="45" name="Shape 42"/>
          <p:cNvSpPr/>
          <p:nvPr/>
        </p:nvSpPr>
        <p:spPr>
          <a:xfrm>
            <a:off x="8997696" y="3877056"/>
            <a:ext cx="1106424" cy="146304"/>
          </a:xfrm>
          <a:prstGeom prst="roundRect">
            <a:avLst/>
          </a:prstGeom>
          <a:solidFill>
            <a:srgbClr val="147D74"/>
          </a:solidFill>
          <a:ln w="6350">
            <a:solidFill>
              <a:srgbClr val="147D74"/>
            </a:solidFill>
            <a:prstDash val="solid"/>
          </a:ln>
        </p:spPr>
      </p:sp>
      <p:sp>
        <p:nvSpPr>
          <p:cNvPr id="46" name="Shape 43"/>
          <p:cNvSpPr/>
          <p:nvPr/>
        </p:nvSpPr>
        <p:spPr>
          <a:xfrm>
            <a:off x="502920" y="5257800"/>
            <a:ext cx="2670048" cy="310896"/>
          </a:xfrm>
          <a:prstGeom prst="roundRect">
            <a:avLst/>
          </a:prstGeom>
          <a:solidFill>
            <a:srgbClr val="FFFFFF"/>
          </a:solidFill>
          <a:ln w="5080">
            <a:solidFill>
              <a:srgbClr val="DDE4E1"/>
            </a:solidFill>
            <a:prstDash val="solid"/>
          </a:ln>
        </p:spPr>
      </p:sp>
      <p:sp>
        <p:nvSpPr>
          <p:cNvPr id="47" name="Shape 44"/>
          <p:cNvSpPr/>
          <p:nvPr/>
        </p:nvSpPr>
        <p:spPr>
          <a:xfrm>
            <a:off x="502920" y="5257800"/>
            <a:ext cx="54864" cy="310896"/>
          </a:xfrm>
          <a:prstGeom prst="rect">
            <a:avLst/>
          </a:prstGeom>
          <a:solidFill>
            <a:srgbClr val="147D74"/>
          </a:solidFill>
          <a:ln w="6350">
            <a:solidFill>
              <a:srgbClr val="147D74"/>
            </a:solidFill>
            <a:prstDash val="solid"/>
          </a:ln>
        </p:spPr>
      </p:sp>
      <p:sp>
        <p:nvSpPr>
          <p:cNvPr id="48" name="Text 45"/>
          <p:cNvSpPr/>
          <p:nvPr/>
        </p:nvSpPr>
        <p:spPr>
          <a:xfrm>
            <a:off x="621792" y="5353812"/>
            <a:ext cx="2542032" cy="91440"/>
          </a:xfrm>
          <a:prstGeom prst="rect">
            <a:avLst/>
          </a:prstGeom>
          <a:noFill/>
          <a:ln/>
        </p:spPr>
        <p:txBody>
          <a:bodyPr wrap="square" lIns="0" tIns="0" rIns="0" bIns="0" rtlCol="0" anchor="ctr">
            <a:normAutofit/>
          </a:bodyPr>
          <a:lstStyle/>
          <a:p>
            <a:pPr algn="ctr" indent="0" marL="0">
              <a:buNone/>
            </a:pPr>
            <a:r>
              <a:rPr lang="en-US" sz="740" b="1" dirty="0">
                <a:solidFill>
                  <a:srgbClr val="202729"/>
                </a:solidFill>
                <a:latin typeface="Aptos" pitchFamily="34" charset="0"/>
                <a:ea typeface="Aptos" pitchFamily="34" charset="-122"/>
                <a:cs typeface="Aptos" pitchFamily="34" charset="-120"/>
              </a:rPr>
              <a:t>Silver thermal/cooling features</a:t>
            </a:r>
            <a:endParaRPr lang="en-US" sz="740" dirty="0"/>
          </a:p>
        </p:txBody>
      </p:sp>
      <p:sp>
        <p:nvSpPr>
          <p:cNvPr id="49" name="Shape 46"/>
          <p:cNvSpPr/>
          <p:nvPr/>
        </p:nvSpPr>
        <p:spPr>
          <a:xfrm>
            <a:off x="3246120" y="5257800"/>
            <a:ext cx="2670048" cy="310896"/>
          </a:xfrm>
          <a:prstGeom prst="roundRect">
            <a:avLst/>
          </a:prstGeom>
          <a:solidFill>
            <a:srgbClr val="FFFFFF"/>
          </a:solidFill>
          <a:ln w="5080">
            <a:solidFill>
              <a:srgbClr val="DDE4E1"/>
            </a:solidFill>
            <a:prstDash val="solid"/>
          </a:ln>
        </p:spPr>
      </p:sp>
      <p:sp>
        <p:nvSpPr>
          <p:cNvPr id="50" name="Shape 47"/>
          <p:cNvSpPr/>
          <p:nvPr/>
        </p:nvSpPr>
        <p:spPr>
          <a:xfrm>
            <a:off x="3246120" y="5257800"/>
            <a:ext cx="54864" cy="310896"/>
          </a:xfrm>
          <a:prstGeom prst="rect">
            <a:avLst/>
          </a:prstGeom>
          <a:solidFill>
            <a:srgbClr val="B64A2D"/>
          </a:solidFill>
          <a:ln w="6350">
            <a:solidFill>
              <a:srgbClr val="B64A2D"/>
            </a:solidFill>
            <a:prstDash val="solid"/>
          </a:ln>
        </p:spPr>
      </p:sp>
      <p:sp>
        <p:nvSpPr>
          <p:cNvPr id="51" name="Text 48"/>
          <p:cNvSpPr/>
          <p:nvPr/>
        </p:nvSpPr>
        <p:spPr>
          <a:xfrm>
            <a:off x="3364992" y="5353812"/>
            <a:ext cx="2542032" cy="91440"/>
          </a:xfrm>
          <a:prstGeom prst="rect">
            <a:avLst/>
          </a:prstGeom>
          <a:noFill/>
          <a:ln/>
        </p:spPr>
        <p:txBody>
          <a:bodyPr wrap="square" lIns="0" tIns="0" rIns="0" bIns="0" rtlCol="0" anchor="ctr">
            <a:normAutofit/>
          </a:bodyPr>
          <a:lstStyle/>
          <a:p>
            <a:pPr algn="ctr" indent="0" marL="0">
              <a:buNone/>
            </a:pPr>
            <a:r>
              <a:rPr lang="en-US" sz="740" b="1" dirty="0">
                <a:solidFill>
                  <a:srgbClr val="202729"/>
                </a:solidFill>
                <a:latin typeface="Aptos" pitchFamily="34" charset="0"/>
                <a:ea typeface="Aptos" pitchFamily="34" charset="-122"/>
                <a:cs typeface="Aptos" pitchFamily="34" charset="-120"/>
              </a:rPr>
              <a:t>Physics-informed Python scorer</a:t>
            </a:r>
            <a:endParaRPr lang="en-US" sz="740" dirty="0"/>
          </a:p>
        </p:txBody>
      </p:sp>
      <p:sp>
        <p:nvSpPr>
          <p:cNvPr id="52" name="Shape 49"/>
          <p:cNvSpPr/>
          <p:nvPr/>
        </p:nvSpPr>
        <p:spPr>
          <a:xfrm>
            <a:off x="5989320" y="5257800"/>
            <a:ext cx="2670048" cy="310896"/>
          </a:xfrm>
          <a:prstGeom prst="roundRect">
            <a:avLst/>
          </a:prstGeom>
          <a:solidFill>
            <a:srgbClr val="FFFFFF"/>
          </a:solidFill>
          <a:ln w="5080">
            <a:solidFill>
              <a:srgbClr val="DDE4E1"/>
            </a:solidFill>
            <a:prstDash val="solid"/>
          </a:ln>
        </p:spPr>
      </p:sp>
      <p:sp>
        <p:nvSpPr>
          <p:cNvPr id="53" name="Shape 50"/>
          <p:cNvSpPr/>
          <p:nvPr/>
        </p:nvSpPr>
        <p:spPr>
          <a:xfrm>
            <a:off x="5989320" y="5257800"/>
            <a:ext cx="54864" cy="310896"/>
          </a:xfrm>
          <a:prstGeom prst="rect">
            <a:avLst/>
          </a:prstGeom>
          <a:solidFill>
            <a:srgbClr val="E3A72F"/>
          </a:solidFill>
          <a:ln w="6350">
            <a:solidFill>
              <a:srgbClr val="E3A72F"/>
            </a:solidFill>
            <a:prstDash val="solid"/>
          </a:ln>
        </p:spPr>
      </p:sp>
      <p:sp>
        <p:nvSpPr>
          <p:cNvPr id="54" name="Text 51"/>
          <p:cNvSpPr/>
          <p:nvPr/>
        </p:nvSpPr>
        <p:spPr>
          <a:xfrm>
            <a:off x="6108192" y="5353812"/>
            <a:ext cx="2542032" cy="91440"/>
          </a:xfrm>
          <a:prstGeom prst="rect">
            <a:avLst/>
          </a:prstGeom>
          <a:noFill/>
          <a:ln/>
        </p:spPr>
        <p:txBody>
          <a:bodyPr wrap="square" lIns="0" tIns="0" rIns="0" bIns="0" rtlCol="0" anchor="ctr">
            <a:normAutofit/>
          </a:bodyPr>
          <a:lstStyle/>
          <a:p>
            <a:pPr algn="ctr" indent="0" marL="0">
              <a:buNone/>
            </a:pPr>
            <a:r>
              <a:rPr lang="en-US" sz="740" b="1" dirty="0">
                <a:solidFill>
                  <a:srgbClr val="202729"/>
                </a:solidFill>
                <a:latin typeface="Aptos" pitchFamily="34" charset="0"/>
                <a:ea typeface="Aptos" pitchFamily="34" charset="-122"/>
                <a:cs typeface="Aptos" pitchFamily="34" charset="-120"/>
              </a:rPr>
              <a:t>Advisory → human acknowledgement</a:t>
            </a:r>
            <a:endParaRPr lang="en-US" sz="740" dirty="0"/>
          </a:p>
        </p:txBody>
      </p:sp>
      <p:sp>
        <p:nvSpPr>
          <p:cNvPr id="55" name="Shape 52"/>
          <p:cNvSpPr/>
          <p:nvPr/>
        </p:nvSpPr>
        <p:spPr>
          <a:xfrm>
            <a:off x="8732520" y="5257800"/>
            <a:ext cx="2670048" cy="310896"/>
          </a:xfrm>
          <a:prstGeom prst="roundRect">
            <a:avLst/>
          </a:prstGeom>
          <a:solidFill>
            <a:srgbClr val="FFFFFF"/>
          </a:solidFill>
          <a:ln w="5080">
            <a:solidFill>
              <a:srgbClr val="DDE4E1"/>
            </a:solidFill>
            <a:prstDash val="solid"/>
          </a:ln>
        </p:spPr>
      </p:sp>
      <p:sp>
        <p:nvSpPr>
          <p:cNvPr id="56" name="Shape 53"/>
          <p:cNvSpPr/>
          <p:nvPr/>
        </p:nvSpPr>
        <p:spPr>
          <a:xfrm>
            <a:off x="8732520" y="5257800"/>
            <a:ext cx="54864" cy="310896"/>
          </a:xfrm>
          <a:prstGeom prst="rect">
            <a:avLst/>
          </a:prstGeom>
          <a:solidFill>
            <a:srgbClr val="6D9A6F"/>
          </a:solidFill>
          <a:ln w="6350">
            <a:solidFill>
              <a:srgbClr val="6D9A6F"/>
            </a:solidFill>
            <a:prstDash val="solid"/>
          </a:ln>
        </p:spPr>
      </p:sp>
      <p:sp>
        <p:nvSpPr>
          <p:cNvPr id="57" name="Text 54"/>
          <p:cNvSpPr/>
          <p:nvPr/>
        </p:nvSpPr>
        <p:spPr>
          <a:xfrm>
            <a:off x="8851392" y="5353812"/>
            <a:ext cx="2542032" cy="91440"/>
          </a:xfrm>
          <a:prstGeom prst="rect">
            <a:avLst/>
          </a:prstGeom>
          <a:noFill/>
          <a:ln/>
        </p:spPr>
        <p:txBody>
          <a:bodyPr wrap="square" lIns="0" tIns="0" rIns="0" bIns="0" rtlCol="0" anchor="ctr">
            <a:normAutofit/>
          </a:bodyPr>
          <a:lstStyle/>
          <a:p>
            <a:pPr algn="ctr" indent="0" marL="0">
              <a:buNone/>
            </a:pPr>
            <a:r>
              <a:rPr lang="en-US" sz="740" b="1" dirty="0">
                <a:solidFill>
                  <a:srgbClr val="202729"/>
                </a:solidFill>
                <a:latin typeface="Aptos" pitchFamily="34" charset="0"/>
                <a:ea typeface="Aptos" pitchFamily="34" charset="-122"/>
                <a:cs typeface="Aptos" pitchFamily="34" charset="-120"/>
              </a:rPr>
              <a:t>Linked synthetic work order</a:t>
            </a:r>
            <a:endParaRPr lang="en-US" sz="740" dirty="0"/>
          </a:p>
        </p:txBody>
      </p:sp>
      <p:sp>
        <p:nvSpPr>
          <p:cNvPr id="58" name="Text 55"/>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Source cue | demo-runbook.md §5  •  synthetic-data-and-simulators.md §8.1  •  solution-architecture.md §4.2</a:t>
            </a:r>
            <a:endParaRPr lang="en-US" sz="660" dirty="0"/>
          </a:p>
        </p:txBody>
      </p:sp>
      <p:sp>
        <p:nvSpPr>
          <p:cNvPr id="59" name="Shape 56"/>
          <p:cNvSpPr/>
          <p:nvPr/>
        </p:nvSpPr>
        <p:spPr>
          <a:xfrm>
            <a:off x="0" y="6483096"/>
            <a:ext cx="12191695" cy="374904"/>
          </a:xfrm>
          <a:prstGeom prst="rect">
            <a:avLst/>
          </a:prstGeom>
          <a:solidFill>
            <a:srgbClr val="E9E7E1"/>
          </a:solidFill>
          <a:ln w="6350">
            <a:solidFill>
              <a:srgbClr val="E9E7E1"/>
            </a:solidFill>
            <a:prstDash val="solid"/>
          </a:ln>
        </p:spPr>
      </p:sp>
      <p:sp>
        <p:nvSpPr>
          <p:cNvPr id="60" name="Shape 57"/>
          <p:cNvSpPr/>
          <p:nvPr/>
        </p:nvSpPr>
        <p:spPr>
          <a:xfrm>
            <a:off x="384048" y="6547104"/>
            <a:ext cx="3547872" cy="182880"/>
          </a:xfrm>
          <a:prstGeom prst="roundRect">
            <a:avLst/>
          </a:prstGeom>
          <a:solidFill>
            <a:srgbClr val="FFFFFF"/>
          </a:solidFill>
          <a:ln w="3175">
            <a:solidFill>
              <a:srgbClr val="DDE4E1"/>
            </a:solidFill>
            <a:prstDash val="solid"/>
          </a:ln>
        </p:spPr>
      </p:sp>
      <p:sp>
        <p:nvSpPr>
          <p:cNvPr id="61" name="Text 58"/>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62" name="Text 59"/>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ORAL DEFENSE  •  12 / 20</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465057"/>
          </a:solidFill>
          <a:ln w="5080">
            <a:solidFill>
              <a:srgbClr val="465057"/>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13</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AI DEEP DIVE 02</a:t>
            </a:r>
            <a:endParaRPr lang="en-US" sz="810" dirty="0"/>
          </a:p>
        </p:txBody>
      </p:sp>
      <p:sp>
        <p:nvSpPr>
          <p:cNvPr id="7" name="Shape 5"/>
          <p:cNvSpPr/>
          <p:nvPr/>
        </p:nvSpPr>
        <p:spPr>
          <a:xfrm>
            <a:off x="10040112" y="274320"/>
            <a:ext cx="1673352" cy="256032"/>
          </a:xfrm>
          <a:prstGeom prst="roundRect">
            <a:avLst/>
          </a:prstGeom>
          <a:solidFill>
            <a:srgbClr val="FFFFFF"/>
          </a:solidFill>
          <a:ln w="6350">
            <a:solidFill>
              <a:srgbClr val="DDE4E1"/>
            </a:solidFill>
            <a:prstDash val="solid"/>
          </a:ln>
        </p:spPr>
      </p:sp>
      <p:sp>
        <p:nvSpPr>
          <p:cNvPr id="8" name="Text 6"/>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687373"/>
                </a:solidFill>
                <a:latin typeface="Aptos" pitchFamily="34" charset="0"/>
                <a:ea typeface="Aptos" pitchFamily="34" charset="-122"/>
                <a:cs typeface="Aptos" pitchFamily="34" charset="-120"/>
              </a:rPr>
              <a:t>18:15–19:45</a:t>
            </a:r>
            <a:endParaRPr lang="en-US" sz="720" dirty="0"/>
          </a:p>
        </p:txBody>
      </p:sp>
      <p:sp>
        <p:nvSpPr>
          <p:cNvPr id="9" name="Text 7"/>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Energy dispatch: feasible value, bounded by production reality</a:t>
            </a:r>
            <a:endParaRPr lang="en-US" sz="2550" dirty="0"/>
          </a:p>
        </p:txBody>
      </p:sp>
      <p:sp>
        <p:nvSpPr>
          <p:cNvPr id="10" name="Shape 8"/>
          <p:cNvSpPr/>
          <p:nvPr/>
        </p:nvSpPr>
        <p:spPr>
          <a:xfrm>
            <a:off x="457200" y="1188720"/>
            <a:ext cx="1378915" cy="246888"/>
          </a:xfrm>
          <a:prstGeom prst="roundRect">
            <a:avLst/>
          </a:prstGeom>
          <a:solidFill>
            <a:srgbClr val="147D74"/>
          </a:solidFill>
          <a:ln w="5080">
            <a:solidFill>
              <a:srgbClr val="147D74"/>
            </a:solidFill>
            <a:prstDash val="solid"/>
          </a:ln>
        </p:spPr>
      </p:sp>
      <p:sp>
        <p:nvSpPr>
          <p:cNvPr id="11" name="Text 9"/>
          <p:cNvSpPr/>
          <p:nvPr/>
        </p:nvSpPr>
        <p:spPr>
          <a:xfrm>
            <a:off x="576072" y="1239012"/>
            <a:ext cx="1141171"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SYNTHETIC EVIDENCE</a:t>
            </a:r>
            <a:endParaRPr lang="en-US" sz="720" dirty="0"/>
          </a:p>
        </p:txBody>
      </p:sp>
      <p:sp>
        <p:nvSpPr>
          <p:cNvPr id="12" name="Shape 10"/>
          <p:cNvSpPr/>
          <p:nvPr/>
        </p:nvSpPr>
        <p:spPr>
          <a:xfrm>
            <a:off x="457200" y="1691640"/>
            <a:ext cx="5074920" cy="3401568"/>
          </a:xfrm>
          <a:prstGeom prst="roundRect">
            <a:avLst/>
          </a:prstGeom>
          <a:solidFill>
            <a:srgbClr val="FFFFFF"/>
          </a:solidFill>
          <a:ln w="8890">
            <a:solidFill>
              <a:srgbClr val="DDE4E1"/>
            </a:solidFill>
            <a:prstDash val="solid"/>
          </a:ln>
        </p:spPr>
      </p:sp>
      <p:sp>
        <p:nvSpPr>
          <p:cNvPr id="13" name="Shape 11"/>
          <p:cNvSpPr/>
          <p:nvPr/>
        </p:nvSpPr>
        <p:spPr>
          <a:xfrm>
            <a:off x="457200" y="1691640"/>
            <a:ext cx="77724" cy="3401568"/>
          </a:xfrm>
          <a:prstGeom prst="rect">
            <a:avLst/>
          </a:prstGeom>
          <a:solidFill>
            <a:srgbClr val="E3A72F"/>
          </a:solidFill>
          <a:ln w="6350">
            <a:solidFill>
              <a:srgbClr val="E3A72F"/>
            </a:solidFill>
            <a:prstDash val="solid"/>
          </a:ln>
        </p:spPr>
      </p:sp>
      <p:sp>
        <p:nvSpPr>
          <p:cNvPr id="14" name="Text 12"/>
          <p:cNvSpPr/>
          <p:nvPr/>
        </p:nvSpPr>
        <p:spPr>
          <a:xfrm>
            <a:off x="731520" y="1938528"/>
            <a:ext cx="1828800"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E3A72F"/>
                </a:solidFill>
                <a:latin typeface="Aptos" pitchFamily="34" charset="0"/>
                <a:ea typeface="Aptos" pitchFamily="34" charset="-122"/>
                <a:cs typeface="Aptos" pitchFamily="34" charset="-120"/>
              </a:rPr>
              <a:t>DAY-AHEAD PRICE SIGNAL</a:t>
            </a:r>
            <a:endParaRPr lang="en-US" sz="720" dirty="0"/>
          </a:p>
        </p:txBody>
      </p:sp>
      <p:sp>
        <p:nvSpPr>
          <p:cNvPr id="15" name="Shape 13"/>
          <p:cNvSpPr/>
          <p:nvPr/>
        </p:nvSpPr>
        <p:spPr>
          <a:xfrm>
            <a:off x="841248" y="4389120"/>
            <a:ext cx="4160520" cy="0"/>
          </a:xfrm>
          <a:prstGeom prst="line">
            <a:avLst/>
          </a:prstGeom>
          <a:noFill/>
          <a:ln w="10160">
            <a:solidFill>
              <a:srgbClr val="465057"/>
            </a:solidFill>
            <a:prstDash val="solid"/>
          </a:ln>
        </p:spPr>
      </p:sp>
      <p:sp>
        <p:nvSpPr>
          <p:cNvPr id="16" name="Shape 14"/>
          <p:cNvSpPr/>
          <p:nvPr/>
        </p:nvSpPr>
        <p:spPr>
          <a:xfrm>
            <a:off x="841248" y="2542032"/>
            <a:ext cx="0" cy="1847088"/>
          </a:xfrm>
          <a:prstGeom prst="line">
            <a:avLst/>
          </a:prstGeom>
          <a:noFill/>
          <a:ln w="10160">
            <a:solidFill>
              <a:srgbClr val="465057"/>
            </a:solidFill>
            <a:prstDash val="solid"/>
          </a:ln>
        </p:spPr>
      </p:sp>
      <p:sp>
        <p:nvSpPr>
          <p:cNvPr id="17" name="Shape 15"/>
          <p:cNvSpPr/>
          <p:nvPr/>
        </p:nvSpPr>
        <p:spPr>
          <a:xfrm>
            <a:off x="914400" y="3895344"/>
            <a:ext cx="347472" cy="36576"/>
          </a:xfrm>
          <a:prstGeom prst="line">
            <a:avLst/>
          </a:prstGeom>
          <a:noFill/>
          <a:ln w="22860">
            <a:solidFill>
              <a:srgbClr val="E3A72F"/>
            </a:solidFill>
            <a:prstDash val="solid"/>
          </a:ln>
        </p:spPr>
      </p:sp>
      <p:sp>
        <p:nvSpPr>
          <p:cNvPr id="18" name="Shape 16"/>
          <p:cNvSpPr/>
          <p:nvPr/>
        </p:nvSpPr>
        <p:spPr>
          <a:xfrm flipH="1">
            <a:off x="1261872" y="3886200"/>
            <a:ext cx="347472" cy="45720"/>
          </a:xfrm>
          <a:prstGeom prst="line">
            <a:avLst/>
          </a:prstGeom>
          <a:noFill/>
          <a:ln w="22860">
            <a:solidFill>
              <a:srgbClr val="E3A72F"/>
            </a:solidFill>
            <a:prstDash val="solid"/>
          </a:ln>
        </p:spPr>
      </p:sp>
      <p:sp>
        <p:nvSpPr>
          <p:cNvPr id="19" name="Shape 17"/>
          <p:cNvSpPr/>
          <p:nvPr/>
        </p:nvSpPr>
        <p:spPr>
          <a:xfrm flipH="1">
            <a:off x="1609344" y="3776472"/>
            <a:ext cx="347472" cy="109728"/>
          </a:xfrm>
          <a:prstGeom prst="line">
            <a:avLst/>
          </a:prstGeom>
          <a:noFill/>
          <a:ln w="22860">
            <a:solidFill>
              <a:srgbClr val="E3A72F"/>
            </a:solidFill>
            <a:prstDash val="solid"/>
          </a:ln>
        </p:spPr>
      </p:sp>
      <p:sp>
        <p:nvSpPr>
          <p:cNvPr id="20" name="Shape 18"/>
          <p:cNvSpPr/>
          <p:nvPr/>
        </p:nvSpPr>
        <p:spPr>
          <a:xfrm>
            <a:off x="1956816" y="3776472"/>
            <a:ext cx="347472" cy="64008"/>
          </a:xfrm>
          <a:prstGeom prst="line">
            <a:avLst/>
          </a:prstGeom>
          <a:noFill/>
          <a:ln w="22860">
            <a:solidFill>
              <a:srgbClr val="E3A72F"/>
            </a:solidFill>
            <a:prstDash val="solid"/>
          </a:ln>
        </p:spPr>
      </p:sp>
      <p:sp>
        <p:nvSpPr>
          <p:cNvPr id="21" name="Shape 19"/>
          <p:cNvSpPr/>
          <p:nvPr/>
        </p:nvSpPr>
        <p:spPr>
          <a:xfrm flipH="1">
            <a:off x="2304288" y="3703320"/>
            <a:ext cx="347472" cy="137160"/>
          </a:xfrm>
          <a:prstGeom prst="line">
            <a:avLst/>
          </a:prstGeom>
          <a:noFill/>
          <a:ln w="22860">
            <a:solidFill>
              <a:srgbClr val="E3A72F"/>
            </a:solidFill>
            <a:prstDash val="solid"/>
          </a:ln>
        </p:spPr>
      </p:sp>
      <p:sp>
        <p:nvSpPr>
          <p:cNvPr id="22" name="Shape 20"/>
          <p:cNvSpPr/>
          <p:nvPr/>
        </p:nvSpPr>
        <p:spPr>
          <a:xfrm flipH="1">
            <a:off x="2651760" y="3529584"/>
            <a:ext cx="347472" cy="173736"/>
          </a:xfrm>
          <a:prstGeom prst="line">
            <a:avLst/>
          </a:prstGeom>
          <a:noFill/>
          <a:ln w="22860">
            <a:solidFill>
              <a:srgbClr val="E3A72F"/>
            </a:solidFill>
            <a:prstDash val="solid"/>
          </a:ln>
        </p:spPr>
      </p:sp>
      <p:sp>
        <p:nvSpPr>
          <p:cNvPr id="23" name="Shape 21"/>
          <p:cNvSpPr/>
          <p:nvPr/>
        </p:nvSpPr>
        <p:spPr>
          <a:xfrm flipH="1">
            <a:off x="2999232" y="2706624"/>
            <a:ext cx="347472" cy="822960"/>
          </a:xfrm>
          <a:prstGeom prst="line">
            <a:avLst/>
          </a:prstGeom>
          <a:noFill/>
          <a:ln w="22860">
            <a:solidFill>
              <a:srgbClr val="B64A2D"/>
            </a:solidFill>
            <a:prstDash val="solid"/>
          </a:ln>
        </p:spPr>
      </p:sp>
      <p:sp>
        <p:nvSpPr>
          <p:cNvPr id="24" name="Shape 22"/>
          <p:cNvSpPr/>
          <p:nvPr/>
        </p:nvSpPr>
        <p:spPr>
          <a:xfrm>
            <a:off x="3346704" y="2706624"/>
            <a:ext cx="347472" cy="128016"/>
          </a:xfrm>
          <a:prstGeom prst="line">
            <a:avLst/>
          </a:prstGeom>
          <a:noFill/>
          <a:ln w="22860">
            <a:solidFill>
              <a:srgbClr val="E3A72F"/>
            </a:solidFill>
            <a:prstDash val="solid"/>
          </a:ln>
        </p:spPr>
      </p:sp>
      <p:sp>
        <p:nvSpPr>
          <p:cNvPr id="25" name="Shape 23"/>
          <p:cNvSpPr/>
          <p:nvPr/>
        </p:nvSpPr>
        <p:spPr>
          <a:xfrm>
            <a:off x="3694176" y="2834640"/>
            <a:ext cx="347472" cy="612648"/>
          </a:xfrm>
          <a:prstGeom prst="line">
            <a:avLst/>
          </a:prstGeom>
          <a:noFill/>
          <a:ln w="22860">
            <a:solidFill>
              <a:srgbClr val="E3A72F"/>
            </a:solidFill>
            <a:prstDash val="solid"/>
          </a:ln>
        </p:spPr>
      </p:sp>
      <p:sp>
        <p:nvSpPr>
          <p:cNvPr id="26" name="Shape 24"/>
          <p:cNvSpPr/>
          <p:nvPr/>
        </p:nvSpPr>
        <p:spPr>
          <a:xfrm>
            <a:off x="4041648" y="3447288"/>
            <a:ext cx="347472" cy="228600"/>
          </a:xfrm>
          <a:prstGeom prst="line">
            <a:avLst/>
          </a:prstGeom>
          <a:noFill/>
          <a:ln w="22860">
            <a:solidFill>
              <a:srgbClr val="E3A72F"/>
            </a:solidFill>
            <a:prstDash val="solid"/>
          </a:ln>
        </p:spPr>
      </p:sp>
      <p:sp>
        <p:nvSpPr>
          <p:cNvPr id="27" name="Shape 25"/>
          <p:cNvSpPr/>
          <p:nvPr/>
        </p:nvSpPr>
        <p:spPr>
          <a:xfrm>
            <a:off x="4389120" y="3675888"/>
            <a:ext cx="347472" cy="128016"/>
          </a:xfrm>
          <a:prstGeom prst="line">
            <a:avLst/>
          </a:prstGeom>
          <a:noFill/>
          <a:ln w="22860">
            <a:solidFill>
              <a:srgbClr val="E3A72F"/>
            </a:solidFill>
            <a:prstDash val="solid"/>
          </a:ln>
        </p:spPr>
      </p:sp>
      <p:sp>
        <p:nvSpPr>
          <p:cNvPr id="28" name="Shape 26"/>
          <p:cNvSpPr/>
          <p:nvPr/>
        </p:nvSpPr>
        <p:spPr>
          <a:xfrm>
            <a:off x="3282696" y="2724912"/>
            <a:ext cx="502920" cy="1645920"/>
          </a:xfrm>
          <a:prstGeom prst="rect">
            <a:avLst/>
          </a:prstGeom>
          <a:solidFill>
            <a:srgbClr val="F1DDD4"/>
          </a:solidFill>
          <a:ln w="6350">
            <a:solidFill>
              <a:srgbClr val="F1DDD4"/>
            </a:solidFill>
            <a:prstDash val="solid"/>
          </a:ln>
        </p:spPr>
      </p:sp>
      <p:sp>
        <p:nvSpPr>
          <p:cNvPr id="29" name="Text 27"/>
          <p:cNvSpPr/>
          <p:nvPr/>
        </p:nvSpPr>
        <p:spPr>
          <a:xfrm>
            <a:off x="3136392" y="2267712"/>
            <a:ext cx="795528" cy="347472"/>
          </a:xfrm>
          <a:prstGeom prst="rect">
            <a:avLst/>
          </a:prstGeom>
          <a:noFill/>
          <a:ln/>
        </p:spPr>
        <p:txBody>
          <a:bodyPr wrap="square" lIns="0" tIns="0" rIns="0" bIns="0" rtlCol="0" anchor="ctr">
            <a:normAutofit/>
          </a:bodyPr>
          <a:lstStyle/>
          <a:p>
            <a:pPr algn="ctr" indent="0" marL="0">
              <a:buNone/>
            </a:pPr>
            <a:r>
              <a:rPr lang="en-US" sz="710" b="1" dirty="0">
                <a:solidFill>
                  <a:srgbClr val="B64A2D"/>
                </a:solidFill>
                <a:latin typeface="Aptos" pitchFamily="34" charset="0"/>
                <a:ea typeface="Aptos" pitchFamily="34" charset="-122"/>
                <a:cs typeface="Aptos" pitchFamily="34" charset="-120"/>
              </a:rPr>
              <a:t>280</a:t>
            </a:r>
            <a:endParaRPr lang="en-US" sz="710" dirty="0"/>
          </a:p>
          <a:p>
            <a:pPr algn="ctr" indent="0" marL="0">
              <a:buNone/>
            </a:pPr>
            <a:r>
              <a:rPr lang="en-US" sz="710" b="1" dirty="0">
                <a:solidFill>
                  <a:srgbClr val="B64A2D"/>
                </a:solidFill>
                <a:latin typeface="Aptos" pitchFamily="34" charset="0"/>
                <a:ea typeface="Aptos" pitchFamily="34" charset="-122"/>
                <a:cs typeface="Aptos" pitchFamily="34" charset="-120"/>
              </a:rPr>
              <a:t>EUR/MWh</a:t>
            </a:r>
            <a:endParaRPr lang="en-US" sz="710" dirty="0"/>
          </a:p>
          <a:p>
            <a:pPr algn="ctr" indent="0" marL="0">
              <a:buNone/>
            </a:pPr>
            <a:r>
              <a:rPr lang="en-US" sz="710" b="1" dirty="0">
                <a:solidFill>
                  <a:srgbClr val="B64A2D"/>
                </a:solidFill>
                <a:latin typeface="Aptos" pitchFamily="34" charset="0"/>
                <a:ea typeface="Aptos" pitchFamily="34" charset="-122"/>
                <a:cs typeface="Aptos" pitchFamily="34" charset="-120"/>
              </a:rPr>
              <a:t>scarcity peak</a:t>
            </a:r>
            <a:endParaRPr lang="en-US" sz="710" dirty="0"/>
          </a:p>
        </p:txBody>
      </p:sp>
      <p:sp>
        <p:nvSpPr>
          <p:cNvPr id="30" name="Text 28"/>
          <p:cNvSpPr/>
          <p:nvPr/>
        </p:nvSpPr>
        <p:spPr>
          <a:xfrm>
            <a:off x="731520" y="4526280"/>
            <a:ext cx="274320" cy="82296"/>
          </a:xfrm>
          <a:prstGeom prst="rect">
            <a:avLst/>
          </a:prstGeom>
          <a:noFill/>
          <a:ln/>
        </p:spPr>
        <p:txBody>
          <a:bodyPr wrap="square" lIns="0" tIns="0" rIns="0" bIns="0" rtlCol="0" anchor="ctr">
            <a:normAutofit/>
          </a:bodyPr>
          <a:lstStyle/>
          <a:p>
            <a:pPr algn="l" indent="0" marL="0">
              <a:buNone/>
            </a:pPr>
            <a:r>
              <a:rPr lang="en-US" sz="620" dirty="0">
                <a:solidFill>
                  <a:srgbClr val="687373"/>
                </a:solidFill>
                <a:latin typeface="Aptos" pitchFamily="34" charset="0"/>
                <a:ea typeface="Aptos" pitchFamily="34" charset="-122"/>
                <a:cs typeface="Aptos" pitchFamily="34" charset="-120"/>
              </a:rPr>
              <a:t>00</a:t>
            </a:r>
            <a:endParaRPr lang="en-US" sz="620" dirty="0"/>
          </a:p>
        </p:txBody>
      </p:sp>
      <p:sp>
        <p:nvSpPr>
          <p:cNvPr id="31" name="Text 29"/>
          <p:cNvSpPr/>
          <p:nvPr/>
        </p:nvSpPr>
        <p:spPr>
          <a:xfrm>
            <a:off x="2587752" y="4526280"/>
            <a:ext cx="274320" cy="82296"/>
          </a:xfrm>
          <a:prstGeom prst="rect">
            <a:avLst/>
          </a:prstGeom>
          <a:noFill/>
          <a:ln/>
        </p:spPr>
        <p:txBody>
          <a:bodyPr wrap="square" lIns="0" tIns="0" rIns="0" bIns="0" rtlCol="0" anchor="ctr">
            <a:normAutofit/>
          </a:bodyPr>
          <a:lstStyle/>
          <a:p>
            <a:pPr algn="l" indent="0" marL="0">
              <a:buNone/>
            </a:pPr>
            <a:r>
              <a:rPr lang="en-US" sz="620" dirty="0">
                <a:solidFill>
                  <a:srgbClr val="687373"/>
                </a:solidFill>
                <a:latin typeface="Aptos" pitchFamily="34" charset="0"/>
                <a:ea typeface="Aptos" pitchFamily="34" charset="-122"/>
                <a:cs typeface="Aptos" pitchFamily="34" charset="-120"/>
              </a:rPr>
              <a:t>12</a:t>
            </a:r>
            <a:endParaRPr lang="en-US" sz="620" dirty="0"/>
          </a:p>
        </p:txBody>
      </p:sp>
      <p:sp>
        <p:nvSpPr>
          <p:cNvPr id="32" name="Text 30"/>
          <p:cNvSpPr/>
          <p:nvPr/>
        </p:nvSpPr>
        <p:spPr>
          <a:xfrm>
            <a:off x="4800600" y="4526280"/>
            <a:ext cx="274320" cy="82296"/>
          </a:xfrm>
          <a:prstGeom prst="rect">
            <a:avLst/>
          </a:prstGeom>
          <a:noFill/>
          <a:ln/>
        </p:spPr>
        <p:txBody>
          <a:bodyPr wrap="square" lIns="0" tIns="0" rIns="0" bIns="0" rtlCol="0" anchor="ctr">
            <a:normAutofit/>
          </a:bodyPr>
          <a:lstStyle/>
          <a:p>
            <a:pPr algn="l" indent="0" marL="0">
              <a:buNone/>
            </a:pPr>
            <a:r>
              <a:rPr lang="en-US" sz="620" dirty="0">
                <a:solidFill>
                  <a:srgbClr val="687373"/>
                </a:solidFill>
                <a:latin typeface="Aptos" pitchFamily="34" charset="0"/>
                <a:ea typeface="Aptos" pitchFamily="34" charset="-122"/>
                <a:cs typeface="Aptos" pitchFamily="34" charset="-120"/>
              </a:rPr>
              <a:t>24</a:t>
            </a:r>
            <a:endParaRPr lang="en-US" sz="620" dirty="0"/>
          </a:p>
        </p:txBody>
      </p:sp>
      <p:sp>
        <p:nvSpPr>
          <p:cNvPr id="33" name="Shape 31"/>
          <p:cNvSpPr/>
          <p:nvPr/>
        </p:nvSpPr>
        <p:spPr>
          <a:xfrm>
            <a:off x="5852160" y="1691640"/>
            <a:ext cx="5623560" cy="3401568"/>
          </a:xfrm>
          <a:prstGeom prst="roundRect">
            <a:avLst/>
          </a:prstGeom>
          <a:solidFill>
            <a:srgbClr val="1F2426"/>
          </a:solidFill>
          <a:ln w="8890">
            <a:solidFill>
              <a:srgbClr val="1F2426"/>
            </a:solidFill>
            <a:prstDash val="solid"/>
          </a:ln>
        </p:spPr>
      </p:sp>
      <p:sp>
        <p:nvSpPr>
          <p:cNvPr id="34" name="Shape 32"/>
          <p:cNvSpPr/>
          <p:nvPr/>
        </p:nvSpPr>
        <p:spPr>
          <a:xfrm>
            <a:off x="5852160" y="1691640"/>
            <a:ext cx="77724" cy="3401568"/>
          </a:xfrm>
          <a:prstGeom prst="rect">
            <a:avLst/>
          </a:prstGeom>
          <a:solidFill>
            <a:srgbClr val="147D74"/>
          </a:solidFill>
          <a:ln w="6350">
            <a:solidFill>
              <a:srgbClr val="147D74"/>
            </a:solidFill>
            <a:prstDash val="solid"/>
          </a:ln>
        </p:spPr>
      </p:sp>
      <p:sp>
        <p:nvSpPr>
          <p:cNvPr id="35" name="Text 33"/>
          <p:cNvSpPr/>
          <p:nvPr/>
        </p:nvSpPr>
        <p:spPr>
          <a:xfrm>
            <a:off x="6144768" y="1938528"/>
            <a:ext cx="2743200"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147D74"/>
                </a:solidFill>
                <a:latin typeface="Aptos" pitchFamily="34" charset="0"/>
                <a:ea typeface="Aptos" pitchFamily="34" charset="-122"/>
                <a:cs typeface="Aptos" pitchFamily="34" charset="-120"/>
              </a:rPr>
              <a:t>BASELINE VS OPTIMIZED DISPATCH</a:t>
            </a:r>
            <a:endParaRPr lang="en-US" sz="720" dirty="0"/>
          </a:p>
        </p:txBody>
      </p:sp>
      <p:sp>
        <p:nvSpPr>
          <p:cNvPr id="36" name="Text 34"/>
          <p:cNvSpPr/>
          <p:nvPr/>
        </p:nvSpPr>
        <p:spPr>
          <a:xfrm>
            <a:off x="6144768" y="2743200"/>
            <a:ext cx="731520" cy="91440"/>
          </a:xfrm>
          <a:prstGeom prst="rect">
            <a:avLst/>
          </a:prstGeom>
          <a:noFill/>
          <a:ln/>
        </p:spPr>
        <p:txBody>
          <a:bodyPr wrap="square" lIns="0" tIns="0" rIns="0" bIns="0" rtlCol="0" anchor="ctr">
            <a:normAutofit/>
          </a:bodyPr>
          <a:lstStyle/>
          <a:p>
            <a:pPr algn="l" indent="0" marL="0">
              <a:buNone/>
            </a:pPr>
            <a:r>
              <a:rPr lang="en-US" sz="760" b="1" dirty="0">
                <a:solidFill>
                  <a:srgbClr val="DDE4E1"/>
                </a:solidFill>
                <a:latin typeface="Aptos" pitchFamily="34" charset="0"/>
                <a:ea typeface="Aptos" pitchFamily="34" charset="-122"/>
                <a:cs typeface="Aptos" pitchFamily="34" charset="-120"/>
              </a:rPr>
              <a:t>Baseline</a:t>
            </a:r>
            <a:endParaRPr lang="en-US" sz="760" dirty="0"/>
          </a:p>
        </p:txBody>
      </p:sp>
      <p:sp>
        <p:nvSpPr>
          <p:cNvPr id="37" name="Shape 35"/>
          <p:cNvSpPr/>
          <p:nvPr/>
        </p:nvSpPr>
        <p:spPr>
          <a:xfrm>
            <a:off x="7114032" y="2542032"/>
            <a:ext cx="1097280" cy="493776"/>
          </a:xfrm>
          <a:prstGeom prst="roundRect">
            <a:avLst/>
          </a:prstGeom>
          <a:solidFill>
            <a:srgbClr val="465057"/>
          </a:solidFill>
          <a:ln w="6350">
            <a:solidFill>
              <a:srgbClr val="465057"/>
            </a:solidFill>
            <a:prstDash val="solid"/>
          </a:ln>
        </p:spPr>
      </p:sp>
      <p:sp>
        <p:nvSpPr>
          <p:cNvPr id="38" name="Shape 36"/>
          <p:cNvSpPr/>
          <p:nvPr/>
        </p:nvSpPr>
        <p:spPr>
          <a:xfrm>
            <a:off x="8284464" y="2542032"/>
            <a:ext cx="777240" cy="493776"/>
          </a:xfrm>
          <a:prstGeom prst="roundRect">
            <a:avLst/>
          </a:prstGeom>
          <a:solidFill>
            <a:srgbClr val="B64A2D"/>
          </a:solidFill>
          <a:ln w="6350">
            <a:solidFill>
              <a:srgbClr val="B64A2D"/>
            </a:solidFill>
            <a:prstDash val="solid"/>
          </a:ln>
        </p:spPr>
      </p:sp>
      <p:sp>
        <p:nvSpPr>
          <p:cNvPr id="39" name="Shape 37"/>
          <p:cNvSpPr/>
          <p:nvPr/>
        </p:nvSpPr>
        <p:spPr>
          <a:xfrm>
            <a:off x="9144000" y="2542032"/>
            <a:ext cx="1188720" cy="493776"/>
          </a:xfrm>
          <a:prstGeom prst="roundRect">
            <a:avLst/>
          </a:prstGeom>
          <a:solidFill>
            <a:srgbClr val="465057"/>
          </a:solidFill>
          <a:ln w="6350">
            <a:solidFill>
              <a:srgbClr val="465057"/>
            </a:solidFill>
            <a:prstDash val="solid"/>
          </a:ln>
        </p:spPr>
      </p:sp>
      <p:sp>
        <p:nvSpPr>
          <p:cNvPr id="40" name="Shape 38"/>
          <p:cNvSpPr/>
          <p:nvPr/>
        </p:nvSpPr>
        <p:spPr>
          <a:xfrm>
            <a:off x="10405872" y="2542032"/>
            <a:ext cx="804672" cy="493776"/>
          </a:xfrm>
          <a:prstGeom prst="roundRect">
            <a:avLst/>
          </a:prstGeom>
          <a:solidFill>
            <a:srgbClr val="E3A72F"/>
          </a:solidFill>
          <a:ln w="6350">
            <a:solidFill>
              <a:srgbClr val="E3A72F"/>
            </a:solidFill>
            <a:prstDash val="solid"/>
          </a:ln>
        </p:spPr>
      </p:sp>
      <p:sp>
        <p:nvSpPr>
          <p:cNvPr id="41" name="Text 39"/>
          <p:cNvSpPr/>
          <p:nvPr/>
        </p:nvSpPr>
        <p:spPr>
          <a:xfrm>
            <a:off x="6144768" y="3749040"/>
            <a:ext cx="731520" cy="91440"/>
          </a:xfrm>
          <a:prstGeom prst="rect">
            <a:avLst/>
          </a:prstGeom>
          <a:noFill/>
          <a:ln/>
        </p:spPr>
        <p:txBody>
          <a:bodyPr wrap="square" lIns="0" tIns="0" rIns="0" bIns="0" rtlCol="0" anchor="ctr">
            <a:normAutofit/>
          </a:bodyPr>
          <a:lstStyle/>
          <a:p>
            <a:pPr algn="l" indent="0" marL="0">
              <a:buNone/>
            </a:pPr>
            <a:r>
              <a:rPr lang="en-US" sz="760" b="1" dirty="0">
                <a:solidFill>
                  <a:srgbClr val="DDE4E1"/>
                </a:solidFill>
                <a:latin typeface="Aptos" pitchFamily="34" charset="0"/>
                <a:ea typeface="Aptos" pitchFamily="34" charset="-122"/>
                <a:cs typeface="Aptos" pitchFamily="34" charset="-120"/>
              </a:rPr>
              <a:t>Optimized</a:t>
            </a:r>
            <a:endParaRPr lang="en-US" sz="760" dirty="0"/>
          </a:p>
        </p:txBody>
      </p:sp>
      <p:sp>
        <p:nvSpPr>
          <p:cNvPr id="42" name="Shape 40"/>
          <p:cNvSpPr/>
          <p:nvPr/>
        </p:nvSpPr>
        <p:spPr>
          <a:xfrm>
            <a:off x="7114032" y="3547872"/>
            <a:ext cx="1097280" cy="493776"/>
          </a:xfrm>
          <a:prstGeom prst="roundRect">
            <a:avLst/>
          </a:prstGeom>
          <a:solidFill>
            <a:srgbClr val="465057"/>
          </a:solidFill>
          <a:ln w="6350">
            <a:solidFill>
              <a:srgbClr val="465057"/>
            </a:solidFill>
            <a:prstDash val="solid"/>
          </a:ln>
        </p:spPr>
      </p:sp>
      <p:sp>
        <p:nvSpPr>
          <p:cNvPr id="43" name="Shape 41"/>
          <p:cNvSpPr/>
          <p:nvPr/>
        </p:nvSpPr>
        <p:spPr>
          <a:xfrm>
            <a:off x="8284464" y="3547872"/>
            <a:ext cx="1143000" cy="493776"/>
          </a:xfrm>
          <a:prstGeom prst="roundRect">
            <a:avLst/>
          </a:prstGeom>
          <a:solidFill>
            <a:srgbClr val="465057"/>
          </a:solidFill>
          <a:ln w="6350">
            <a:solidFill>
              <a:srgbClr val="465057"/>
            </a:solidFill>
            <a:prstDash val="solid"/>
          </a:ln>
        </p:spPr>
      </p:sp>
      <p:sp>
        <p:nvSpPr>
          <p:cNvPr id="44" name="Shape 42"/>
          <p:cNvSpPr/>
          <p:nvPr/>
        </p:nvSpPr>
        <p:spPr>
          <a:xfrm>
            <a:off x="9518904" y="3547872"/>
            <a:ext cx="1188720" cy="493776"/>
          </a:xfrm>
          <a:prstGeom prst="roundRect">
            <a:avLst/>
          </a:prstGeom>
          <a:solidFill>
            <a:srgbClr val="147D74"/>
          </a:solidFill>
          <a:ln w="6350">
            <a:solidFill>
              <a:srgbClr val="147D74"/>
            </a:solidFill>
            <a:prstDash val="solid"/>
          </a:ln>
        </p:spPr>
      </p:sp>
      <p:sp>
        <p:nvSpPr>
          <p:cNvPr id="45" name="Shape 43"/>
          <p:cNvSpPr/>
          <p:nvPr/>
        </p:nvSpPr>
        <p:spPr>
          <a:xfrm>
            <a:off x="10780776" y="3547872"/>
            <a:ext cx="429768" cy="493776"/>
          </a:xfrm>
          <a:prstGeom prst="roundRect">
            <a:avLst/>
          </a:prstGeom>
          <a:solidFill>
            <a:srgbClr val="465057"/>
          </a:solidFill>
          <a:ln w="6350">
            <a:solidFill>
              <a:srgbClr val="465057"/>
            </a:solidFill>
            <a:prstDash val="solid"/>
          </a:ln>
        </p:spPr>
      </p:sp>
      <p:sp>
        <p:nvSpPr>
          <p:cNvPr id="46" name="Shape 44"/>
          <p:cNvSpPr/>
          <p:nvPr/>
        </p:nvSpPr>
        <p:spPr>
          <a:xfrm>
            <a:off x="6144768" y="4599432"/>
            <a:ext cx="1620317" cy="246888"/>
          </a:xfrm>
          <a:prstGeom prst="roundRect">
            <a:avLst/>
          </a:prstGeom>
          <a:solidFill>
            <a:srgbClr val="147D74"/>
          </a:solidFill>
          <a:ln w="5080">
            <a:solidFill>
              <a:srgbClr val="147D74"/>
            </a:solidFill>
            <a:prstDash val="solid"/>
          </a:ln>
        </p:spPr>
      </p:sp>
      <p:sp>
        <p:nvSpPr>
          <p:cNvPr id="47" name="Text 45"/>
          <p:cNvSpPr/>
          <p:nvPr/>
        </p:nvSpPr>
        <p:spPr>
          <a:xfrm>
            <a:off x="6263640" y="4649724"/>
            <a:ext cx="1382573"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8–13% MODELED COST CUT</a:t>
            </a:r>
            <a:endParaRPr lang="en-US" sz="720" dirty="0"/>
          </a:p>
        </p:txBody>
      </p:sp>
      <p:sp>
        <p:nvSpPr>
          <p:cNvPr id="48" name="Text 46"/>
          <p:cNvSpPr/>
          <p:nvPr/>
        </p:nvSpPr>
        <p:spPr>
          <a:xfrm>
            <a:off x="8339328" y="4663440"/>
            <a:ext cx="2816352" cy="109728"/>
          </a:xfrm>
          <a:prstGeom prst="rect">
            <a:avLst/>
          </a:prstGeom>
          <a:noFill/>
          <a:ln/>
        </p:spPr>
        <p:txBody>
          <a:bodyPr wrap="square" lIns="0" tIns="0" rIns="0" bIns="0" rtlCol="0" anchor="ctr">
            <a:normAutofit/>
          </a:bodyPr>
          <a:lstStyle/>
          <a:p>
            <a:pPr algn="ctr" indent="0" marL="0">
              <a:buNone/>
            </a:pPr>
            <a:r>
              <a:rPr lang="en-US" sz="770" b="1" dirty="0">
                <a:solidFill>
                  <a:srgbClr val="AEB9BA"/>
                </a:solidFill>
                <a:latin typeface="Aptos" pitchFamily="34" charset="0"/>
                <a:ea typeface="Aptos" pitchFamily="34" charset="-122"/>
                <a:cs typeface="Aptos" pitchFamily="34" charset="-120"/>
              </a:rPr>
              <a:t>Equal tonnage  |  zero hard-constraint violations  |  3–7% lower peak</a:t>
            </a:r>
            <a:endParaRPr lang="en-US" sz="770" dirty="0"/>
          </a:p>
        </p:txBody>
      </p:sp>
      <p:sp>
        <p:nvSpPr>
          <p:cNvPr id="49" name="Shape 47"/>
          <p:cNvSpPr/>
          <p:nvPr/>
        </p:nvSpPr>
        <p:spPr>
          <a:xfrm>
            <a:off x="621792" y="5394960"/>
            <a:ext cx="384048" cy="384048"/>
          </a:xfrm>
          <a:prstGeom prst="ellipse">
            <a:avLst/>
          </a:prstGeom>
          <a:solidFill>
            <a:srgbClr val="147D74"/>
          </a:solidFill>
          <a:ln w="6350">
            <a:solidFill>
              <a:srgbClr val="147D74"/>
            </a:solidFill>
            <a:prstDash val="solid"/>
          </a:ln>
        </p:spPr>
      </p:sp>
      <p:sp>
        <p:nvSpPr>
          <p:cNvPr id="50" name="Text 48"/>
          <p:cNvSpPr/>
          <p:nvPr/>
        </p:nvSpPr>
        <p:spPr>
          <a:xfrm>
            <a:off x="621792" y="5500116"/>
            <a:ext cx="384048" cy="91440"/>
          </a:xfrm>
          <a:prstGeom prst="rect">
            <a:avLst/>
          </a:prstGeom>
          <a:noFill/>
          <a:ln/>
        </p:spPr>
        <p:txBody>
          <a:bodyPr wrap="square" lIns="0" tIns="0" rIns="0" bIns="0" rtlCol="0" anchor="ctr">
            <a:normAutofit/>
          </a:bodyPr>
          <a:lstStyle/>
          <a:p>
            <a:pPr algn="ctr" indent="0" marL="0">
              <a:buNone/>
            </a:pPr>
            <a:r>
              <a:rPr lang="en-US" sz="730" b="1" dirty="0">
                <a:solidFill>
                  <a:srgbClr val="FFFFFF"/>
                </a:solidFill>
                <a:latin typeface="Aptos" pitchFamily="34" charset="0"/>
                <a:ea typeface="Aptos" pitchFamily="34" charset="-122"/>
                <a:cs typeface="Aptos" pitchFamily="34" charset="-120"/>
              </a:rPr>
              <a:t>1</a:t>
            </a:r>
            <a:endParaRPr lang="en-US" sz="730" dirty="0"/>
          </a:p>
        </p:txBody>
      </p:sp>
      <p:sp>
        <p:nvSpPr>
          <p:cNvPr id="51" name="Text 49"/>
          <p:cNvSpPr/>
          <p:nvPr/>
        </p:nvSpPr>
        <p:spPr>
          <a:xfrm>
            <a:off x="1152144" y="5390388"/>
            <a:ext cx="2743200" cy="155448"/>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Only eligible flexible loads move</a:t>
            </a:r>
            <a:endParaRPr lang="en-US" sz="920" dirty="0"/>
          </a:p>
        </p:txBody>
      </p:sp>
      <p:sp>
        <p:nvSpPr>
          <p:cNvPr id="52" name="Text 50"/>
          <p:cNvSpPr/>
          <p:nvPr/>
        </p:nvSpPr>
        <p:spPr>
          <a:xfrm>
            <a:off x="1152144" y="5623560"/>
            <a:ext cx="2743200" cy="256032"/>
          </a:xfrm>
          <a:prstGeom prst="rect">
            <a:avLst/>
          </a:prstGeom>
          <a:noFill/>
          <a:ln/>
        </p:spPr>
        <p:txBody>
          <a:bodyPr wrap="square" lIns="0" tIns="0" rIns="0" bIns="0" rtlCol="0" anchor="t">
            <a:normAutofit/>
          </a:bodyPr>
          <a:lstStyle/>
          <a:p>
            <a:pPr algn="l" indent="0" marL="0">
              <a:buNone/>
            </a:pPr>
            <a:endParaRPr lang="en-US" sz="780" dirty="0"/>
          </a:p>
        </p:txBody>
      </p:sp>
      <p:sp>
        <p:nvSpPr>
          <p:cNvPr id="53" name="Shape 51"/>
          <p:cNvSpPr/>
          <p:nvPr/>
        </p:nvSpPr>
        <p:spPr>
          <a:xfrm>
            <a:off x="4352544" y="5394960"/>
            <a:ext cx="384048" cy="384048"/>
          </a:xfrm>
          <a:prstGeom prst="ellipse">
            <a:avLst/>
          </a:prstGeom>
          <a:solidFill>
            <a:srgbClr val="E3A72F"/>
          </a:solidFill>
          <a:ln w="6350">
            <a:solidFill>
              <a:srgbClr val="E3A72F"/>
            </a:solidFill>
            <a:prstDash val="solid"/>
          </a:ln>
        </p:spPr>
      </p:sp>
      <p:sp>
        <p:nvSpPr>
          <p:cNvPr id="54" name="Text 52"/>
          <p:cNvSpPr/>
          <p:nvPr/>
        </p:nvSpPr>
        <p:spPr>
          <a:xfrm>
            <a:off x="4352544" y="5500116"/>
            <a:ext cx="384048" cy="91440"/>
          </a:xfrm>
          <a:prstGeom prst="rect">
            <a:avLst/>
          </a:prstGeom>
          <a:noFill/>
          <a:ln/>
        </p:spPr>
        <p:txBody>
          <a:bodyPr wrap="square" lIns="0" tIns="0" rIns="0" bIns="0" rtlCol="0" anchor="ctr">
            <a:normAutofit/>
          </a:bodyPr>
          <a:lstStyle/>
          <a:p>
            <a:pPr algn="ctr" indent="0" marL="0">
              <a:buNone/>
            </a:pPr>
            <a:r>
              <a:rPr lang="en-US" sz="730" b="1" dirty="0">
                <a:solidFill>
                  <a:srgbClr val="FFFFFF"/>
                </a:solidFill>
                <a:latin typeface="Aptos" pitchFamily="34" charset="0"/>
                <a:ea typeface="Aptos" pitchFamily="34" charset="-122"/>
                <a:cs typeface="Aptos" pitchFamily="34" charset="-120"/>
              </a:rPr>
              <a:t>2</a:t>
            </a:r>
            <a:endParaRPr lang="en-US" sz="730" dirty="0"/>
          </a:p>
        </p:txBody>
      </p:sp>
      <p:sp>
        <p:nvSpPr>
          <p:cNvPr id="55" name="Text 53"/>
          <p:cNvSpPr/>
          <p:nvPr/>
        </p:nvSpPr>
        <p:spPr>
          <a:xfrm>
            <a:off x="4882896" y="5390388"/>
            <a:ext cx="2743200" cy="155448"/>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Soak time, delivery, capacity preserved</a:t>
            </a:r>
            <a:endParaRPr lang="en-US" sz="920" dirty="0"/>
          </a:p>
        </p:txBody>
      </p:sp>
      <p:sp>
        <p:nvSpPr>
          <p:cNvPr id="56" name="Text 54"/>
          <p:cNvSpPr/>
          <p:nvPr/>
        </p:nvSpPr>
        <p:spPr>
          <a:xfrm>
            <a:off x="4882896" y="5623560"/>
            <a:ext cx="2743200" cy="256032"/>
          </a:xfrm>
          <a:prstGeom prst="rect">
            <a:avLst/>
          </a:prstGeom>
          <a:noFill/>
          <a:ln/>
        </p:spPr>
        <p:txBody>
          <a:bodyPr wrap="square" lIns="0" tIns="0" rIns="0" bIns="0" rtlCol="0" anchor="t">
            <a:normAutofit/>
          </a:bodyPr>
          <a:lstStyle/>
          <a:p>
            <a:pPr algn="l" indent="0" marL="0">
              <a:buNone/>
            </a:pPr>
            <a:endParaRPr lang="en-US" sz="780" dirty="0"/>
          </a:p>
        </p:txBody>
      </p:sp>
      <p:sp>
        <p:nvSpPr>
          <p:cNvPr id="57" name="Shape 55"/>
          <p:cNvSpPr/>
          <p:nvPr/>
        </p:nvSpPr>
        <p:spPr>
          <a:xfrm>
            <a:off x="8083296" y="5394960"/>
            <a:ext cx="384048" cy="384048"/>
          </a:xfrm>
          <a:prstGeom prst="ellipse">
            <a:avLst/>
          </a:prstGeom>
          <a:solidFill>
            <a:srgbClr val="B64A2D"/>
          </a:solidFill>
          <a:ln w="6350">
            <a:solidFill>
              <a:srgbClr val="B64A2D"/>
            </a:solidFill>
            <a:prstDash val="solid"/>
          </a:ln>
        </p:spPr>
      </p:sp>
      <p:sp>
        <p:nvSpPr>
          <p:cNvPr id="58" name="Text 56"/>
          <p:cNvSpPr/>
          <p:nvPr/>
        </p:nvSpPr>
        <p:spPr>
          <a:xfrm>
            <a:off x="8083296" y="5500116"/>
            <a:ext cx="384048" cy="91440"/>
          </a:xfrm>
          <a:prstGeom prst="rect">
            <a:avLst/>
          </a:prstGeom>
          <a:noFill/>
          <a:ln/>
        </p:spPr>
        <p:txBody>
          <a:bodyPr wrap="square" lIns="0" tIns="0" rIns="0" bIns="0" rtlCol="0" anchor="ctr">
            <a:normAutofit/>
          </a:bodyPr>
          <a:lstStyle/>
          <a:p>
            <a:pPr algn="ctr" indent="0" marL="0">
              <a:buNone/>
            </a:pPr>
            <a:r>
              <a:rPr lang="en-US" sz="730" b="1" dirty="0">
                <a:solidFill>
                  <a:srgbClr val="FFFFFF"/>
                </a:solidFill>
                <a:latin typeface="Aptos" pitchFamily="34" charset="0"/>
                <a:ea typeface="Aptos" pitchFamily="34" charset="-122"/>
                <a:cs typeface="Aptos" pitchFamily="34" charset="-120"/>
              </a:rPr>
              <a:t>3</a:t>
            </a:r>
            <a:endParaRPr lang="en-US" sz="730" dirty="0"/>
          </a:p>
        </p:txBody>
      </p:sp>
      <p:sp>
        <p:nvSpPr>
          <p:cNvPr id="59" name="Text 57"/>
          <p:cNvSpPr/>
          <p:nvPr/>
        </p:nvSpPr>
        <p:spPr>
          <a:xfrm>
            <a:off x="8613648" y="5390388"/>
            <a:ext cx="2743200" cy="155448"/>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Human accepts / modifies / rejects</a:t>
            </a:r>
            <a:endParaRPr lang="en-US" sz="920" dirty="0"/>
          </a:p>
        </p:txBody>
      </p:sp>
      <p:sp>
        <p:nvSpPr>
          <p:cNvPr id="60" name="Text 58"/>
          <p:cNvSpPr/>
          <p:nvPr/>
        </p:nvSpPr>
        <p:spPr>
          <a:xfrm>
            <a:off x="8613648" y="5623560"/>
            <a:ext cx="2743200" cy="256032"/>
          </a:xfrm>
          <a:prstGeom prst="rect">
            <a:avLst/>
          </a:prstGeom>
          <a:noFill/>
          <a:ln/>
        </p:spPr>
        <p:txBody>
          <a:bodyPr wrap="square" lIns="0" tIns="0" rIns="0" bIns="0" rtlCol="0" anchor="t">
            <a:normAutofit/>
          </a:bodyPr>
          <a:lstStyle/>
          <a:p>
            <a:pPr algn="l" indent="0" marL="0">
              <a:buNone/>
            </a:pPr>
            <a:endParaRPr lang="en-US" sz="780" dirty="0"/>
          </a:p>
        </p:txBody>
      </p:sp>
      <p:sp>
        <p:nvSpPr>
          <p:cNvPr id="61" name="Text 59"/>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Source cue | demo-runbook.md §5  •  synthetic-data-and-simulators.md §8.2  •  solution-architecture.md §4.2</a:t>
            </a:r>
            <a:endParaRPr lang="en-US" sz="660" dirty="0"/>
          </a:p>
        </p:txBody>
      </p:sp>
      <p:sp>
        <p:nvSpPr>
          <p:cNvPr id="62" name="Shape 60"/>
          <p:cNvSpPr/>
          <p:nvPr/>
        </p:nvSpPr>
        <p:spPr>
          <a:xfrm>
            <a:off x="0" y="6483096"/>
            <a:ext cx="12191695" cy="374904"/>
          </a:xfrm>
          <a:prstGeom prst="rect">
            <a:avLst/>
          </a:prstGeom>
          <a:solidFill>
            <a:srgbClr val="E9E7E1"/>
          </a:solidFill>
          <a:ln w="6350">
            <a:solidFill>
              <a:srgbClr val="E9E7E1"/>
            </a:solidFill>
            <a:prstDash val="solid"/>
          </a:ln>
        </p:spPr>
      </p:sp>
      <p:sp>
        <p:nvSpPr>
          <p:cNvPr id="63" name="Shape 61"/>
          <p:cNvSpPr/>
          <p:nvPr/>
        </p:nvSpPr>
        <p:spPr>
          <a:xfrm>
            <a:off x="384048" y="6547104"/>
            <a:ext cx="3547872" cy="182880"/>
          </a:xfrm>
          <a:prstGeom prst="roundRect">
            <a:avLst/>
          </a:prstGeom>
          <a:solidFill>
            <a:srgbClr val="FFFFFF"/>
          </a:solidFill>
          <a:ln w="3175">
            <a:solidFill>
              <a:srgbClr val="DDE4E1"/>
            </a:solidFill>
            <a:prstDash val="solid"/>
          </a:ln>
        </p:spPr>
      </p:sp>
      <p:sp>
        <p:nvSpPr>
          <p:cNvPr id="64" name="Text 62"/>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65" name="Text 63"/>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ORAL DEFENSE  •  13 / 20</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465057"/>
          </a:solidFill>
          <a:ln w="5080">
            <a:solidFill>
              <a:srgbClr val="465057"/>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14</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AI DEEP DIVE 03</a:t>
            </a:r>
            <a:endParaRPr lang="en-US" sz="810" dirty="0"/>
          </a:p>
        </p:txBody>
      </p:sp>
      <p:sp>
        <p:nvSpPr>
          <p:cNvPr id="7" name="Shape 5"/>
          <p:cNvSpPr/>
          <p:nvPr/>
        </p:nvSpPr>
        <p:spPr>
          <a:xfrm>
            <a:off x="10040112" y="274320"/>
            <a:ext cx="1673352" cy="256032"/>
          </a:xfrm>
          <a:prstGeom prst="roundRect">
            <a:avLst/>
          </a:prstGeom>
          <a:solidFill>
            <a:srgbClr val="FFFFFF"/>
          </a:solidFill>
          <a:ln w="6350">
            <a:solidFill>
              <a:srgbClr val="DDE4E1"/>
            </a:solidFill>
            <a:prstDash val="solid"/>
          </a:ln>
        </p:spPr>
      </p:sp>
      <p:sp>
        <p:nvSpPr>
          <p:cNvPr id="8" name="Text 6"/>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687373"/>
                </a:solidFill>
                <a:latin typeface="Aptos" pitchFamily="34" charset="0"/>
                <a:ea typeface="Aptos" pitchFamily="34" charset="-122"/>
                <a:cs typeface="Aptos" pitchFamily="34" charset="-120"/>
              </a:rPr>
              <a:t>19:45–21:00</a:t>
            </a:r>
            <a:endParaRPr lang="en-US" sz="720" dirty="0"/>
          </a:p>
        </p:txBody>
      </p:sp>
      <p:sp>
        <p:nvSpPr>
          <p:cNvPr id="9" name="Text 7"/>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Quality: see drift early, keep the recipe under human control</a:t>
            </a:r>
            <a:endParaRPr lang="en-US" sz="2550" dirty="0"/>
          </a:p>
        </p:txBody>
      </p:sp>
      <p:sp>
        <p:nvSpPr>
          <p:cNvPr id="10" name="Shape 8"/>
          <p:cNvSpPr/>
          <p:nvPr/>
        </p:nvSpPr>
        <p:spPr>
          <a:xfrm>
            <a:off x="457200" y="1188720"/>
            <a:ext cx="1378915" cy="246888"/>
          </a:xfrm>
          <a:prstGeom prst="roundRect">
            <a:avLst/>
          </a:prstGeom>
          <a:solidFill>
            <a:srgbClr val="147D74"/>
          </a:solidFill>
          <a:ln w="5080">
            <a:solidFill>
              <a:srgbClr val="147D74"/>
            </a:solidFill>
            <a:prstDash val="solid"/>
          </a:ln>
        </p:spPr>
      </p:sp>
      <p:sp>
        <p:nvSpPr>
          <p:cNvPr id="11" name="Text 9"/>
          <p:cNvSpPr/>
          <p:nvPr/>
        </p:nvSpPr>
        <p:spPr>
          <a:xfrm>
            <a:off x="576072" y="1239012"/>
            <a:ext cx="1141171"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SYNTHETIC EVIDENCE</a:t>
            </a:r>
            <a:endParaRPr lang="en-US" sz="720" dirty="0"/>
          </a:p>
        </p:txBody>
      </p:sp>
      <p:sp>
        <p:nvSpPr>
          <p:cNvPr id="12" name="Text 10"/>
          <p:cNvSpPr/>
          <p:nvPr/>
        </p:nvSpPr>
        <p:spPr>
          <a:xfrm>
            <a:off x="502920" y="1700784"/>
            <a:ext cx="1828800"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147D74"/>
                </a:solidFill>
                <a:latin typeface="Aptos" pitchFamily="34" charset="0"/>
                <a:ea typeface="Aptos" pitchFamily="34" charset="-122"/>
                <a:cs typeface="Aptos" pitchFamily="34" charset="-120"/>
              </a:rPr>
              <a:t>FULL GENEALOGY</a:t>
            </a:r>
            <a:endParaRPr lang="en-US" sz="720" dirty="0"/>
          </a:p>
        </p:txBody>
      </p:sp>
      <p:sp>
        <p:nvSpPr>
          <p:cNvPr id="13" name="Shape 11"/>
          <p:cNvSpPr/>
          <p:nvPr/>
        </p:nvSpPr>
        <p:spPr>
          <a:xfrm>
            <a:off x="502920" y="2148840"/>
            <a:ext cx="1536192" cy="969264"/>
          </a:xfrm>
          <a:prstGeom prst="roundRect">
            <a:avLst/>
          </a:prstGeom>
          <a:solidFill>
            <a:srgbClr val="FFFFFF"/>
          </a:solidFill>
          <a:ln w="8890">
            <a:solidFill>
              <a:srgbClr val="465057"/>
            </a:solidFill>
            <a:prstDash val="solid"/>
          </a:ln>
        </p:spPr>
      </p:sp>
      <p:sp>
        <p:nvSpPr>
          <p:cNvPr id="14" name="Shape 12"/>
          <p:cNvSpPr/>
          <p:nvPr/>
        </p:nvSpPr>
        <p:spPr>
          <a:xfrm>
            <a:off x="502920" y="2148840"/>
            <a:ext cx="77724" cy="969264"/>
          </a:xfrm>
          <a:prstGeom prst="rect">
            <a:avLst/>
          </a:prstGeom>
          <a:solidFill>
            <a:srgbClr val="465057"/>
          </a:solidFill>
          <a:ln w="6350">
            <a:solidFill>
              <a:srgbClr val="465057"/>
            </a:solidFill>
            <a:prstDash val="solid"/>
          </a:ln>
        </p:spPr>
      </p:sp>
      <p:sp>
        <p:nvSpPr>
          <p:cNvPr id="15" name="Text 13"/>
          <p:cNvSpPr/>
          <p:nvPr/>
        </p:nvSpPr>
        <p:spPr>
          <a:xfrm>
            <a:off x="667512" y="2331720"/>
            <a:ext cx="1216152" cy="219456"/>
          </a:xfrm>
          <a:prstGeom prst="rect">
            <a:avLst/>
          </a:prstGeom>
          <a:noFill/>
          <a:ln/>
        </p:spPr>
        <p:txBody>
          <a:bodyPr wrap="square" lIns="0" tIns="0" rIns="0" bIns="0" rtlCol="0" anchor="ctr">
            <a:normAutofit/>
          </a:bodyPr>
          <a:lstStyle/>
          <a:p>
            <a:pPr algn="l" indent="0" marL="0">
              <a:buNone/>
            </a:pPr>
            <a:r>
              <a:rPr lang="en-US" sz="880" b="1" dirty="0">
                <a:solidFill>
                  <a:srgbClr val="202729"/>
                </a:solidFill>
                <a:latin typeface="Aptos" pitchFamily="34" charset="0"/>
                <a:ea typeface="Aptos" pitchFamily="34" charset="-122"/>
                <a:cs typeface="Aptos" pitchFamily="34" charset="-120"/>
              </a:rPr>
              <a:t>Heat</a:t>
            </a:r>
            <a:endParaRPr lang="en-US" sz="880" dirty="0"/>
          </a:p>
        </p:txBody>
      </p:sp>
      <p:sp>
        <p:nvSpPr>
          <p:cNvPr id="16" name="Text 14"/>
          <p:cNvSpPr/>
          <p:nvPr/>
        </p:nvSpPr>
        <p:spPr>
          <a:xfrm>
            <a:off x="667512" y="2633472"/>
            <a:ext cx="1216152" cy="374904"/>
          </a:xfrm>
          <a:prstGeom prst="rect">
            <a:avLst/>
          </a:prstGeom>
          <a:noFill/>
          <a:ln/>
        </p:spPr>
        <p:txBody>
          <a:bodyPr wrap="square" lIns="0" tIns="0" rIns="0" bIns="0" rtlCol="0" anchor="t">
            <a:normAutofit/>
          </a:bodyPr>
          <a:lstStyle/>
          <a:p>
            <a:pPr algn="l" indent="0" marL="0">
              <a:buNone/>
            </a:pPr>
            <a:r>
              <a:rPr lang="en-US" sz="670" dirty="0">
                <a:solidFill>
                  <a:srgbClr val="687373"/>
                </a:solidFill>
                <a:latin typeface="Aptos" pitchFamily="34" charset="0"/>
                <a:ea typeface="Aptos" pitchFamily="34" charset="-122"/>
                <a:cs typeface="Aptos" pitchFamily="34" charset="-120"/>
              </a:rPr>
              <a:t>H-LUX-260725-0042</a:t>
            </a:r>
            <a:endParaRPr lang="en-US" sz="670" dirty="0"/>
          </a:p>
        </p:txBody>
      </p:sp>
      <p:sp>
        <p:nvSpPr>
          <p:cNvPr id="17" name="Shape 15"/>
          <p:cNvSpPr/>
          <p:nvPr/>
        </p:nvSpPr>
        <p:spPr>
          <a:xfrm>
            <a:off x="2084832" y="2478024"/>
            <a:ext cx="256032" cy="219456"/>
          </a:xfrm>
          <a:prstGeom prst="chevron">
            <a:avLst/>
          </a:prstGeom>
          <a:solidFill>
            <a:srgbClr val="465057"/>
          </a:solidFill>
          <a:ln w="12700">
            <a:solidFill>
              <a:srgbClr val="465057">
                <a:alpha val="0"/>
              </a:srgbClr>
            </a:solidFill>
            <a:prstDash val="solid"/>
          </a:ln>
        </p:spPr>
      </p:sp>
      <p:sp>
        <p:nvSpPr>
          <p:cNvPr id="18" name="Shape 16"/>
          <p:cNvSpPr/>
          <p:nvPr/>
        </p:nvSpPr>
        <p:spPr>
          <a:xfrm>
            <a:off x="2523744" y="2148840"/>
            <a:ext cx="1536192" cy="969264"/>
          </a:xfrm>
          <a:prstGeom prst="roundRect">
            <a:avLst/>
          </a:prstGeom>
          <a:solidFill>
            <a:srgbClr val="FFFFFF"/>
          </a:solidFill>
          <a:ln w="8890">
            <a:solidFill>
              <a:srgbClr val="147D74"/>
            </a:solidFill>
            <a:prstDash val="solid"/>
          </a:ln>
        </p:spPr>
      </p:sp>
      <p:sp>
        <p:nvSpPr>
          <p:cNvPr id="19" name="Shape 17"/>
          <p:cNvSpPr/>
          <p:nvPr/>
        </p:nvSpPr>
        <p:spPr>
          <a:xfrm>
            <a:off x="2523744" y="2148840"/>
            <a:ext cx="77724" cy="969264"/>
          </a:xfrm>
          <a:prstGeom prst="rect">
            <a:avLst/>
          </a:prstGeom>
          <a:solidFill>
            <a:srgbClr val="147D74"/>
          </a:solidFill>
          <a:ln w="6350">
            <a:solidFill>
              <a:srgbClr val="147D74"/>
            </a:solidFill>
            <a:prstDash val="solid"/>
          </a:ln>
        </p:spPr>
      </p:sp>
      <p:sp>
        <p:nvSpPr>
          <p:cNvPr id="20" name="Text 18"/>
          <p:cNvSpPr/>
          <p:nvPr/>
        </p:nvSpPr>
        <p:spPr>
          <a:xfrm>
            <a:off x="2688336" y="2331720"/>
            <a:ext cx="1216152" cy="219456"/>
          </a:xfrm>
          <a:prstGeom prst="rect">
            <a:avLst/>
          </a:prstGeom>
          <a:noFill/>
          <a:ln/>
        </p:spPr>
        <p:txBody>
          <a:bodyPr wrap="square" lIns="0" tIns="0" rIns="0" bIns="0" rtlCol="0" anchor="ctr">
            <a:normAutofit/>
          </a:bodyPr>
          <a:lstStyle/>
          <a:p>
            <a:pPr algn="l" indent="0" marL="0">
              <a:buNone/>
            </a:pPr>
            <a:r>
              <a:rPr lang="en-US" sz="880" b="1" dirty="0">
                <a:solidFill>
                  <a:srgbClr val="202729"/>
                </a:solidFill>
                <a:latin typeface="Aptos" pitchFamily="34" charset="0"/>
                <a:ea typeface="Aptos" pitchFamily="34" charset="-122"/>
                <a:cs typeface="Aptos" pitchFamily="34" charset="-120"/>
              </a:rPr>
              <a:t>Slab</a:t>
            </a:r>
            <a:endParaRPr lang="en-US" sz="880" dirty="0"/>
          </a:p>
        </p:txBody>
      </p:sp>
      <p:sp>
        <p:nvSpPr>
          <p:cNvPr id="21" name="Text 19"/>
          <p:cNvSpPr/>
          <p:nvPr/>
        </p:nvSpPr>
        <p:spPr>
          <a:xfrm>
            <a:off x="2688336" y="2633472"/>
            <a:ext cx="1216152" cy="374904"/>
          </a:xfrm>
          <a:prstGeom prst="rect">
            <a:avLst/>
          </a:prstGeom>
          <a:noFill/>
          <a:ln/>
        </p:spPr>
        <p:txBody>
          <a:bodyPr wrap="square" lIns="0" tIns="0" rIns="0" bIns="0" rtlCol="0" anchor="t">
            <a:normAutofit/>
          </a:bodyPr>
          <a:lstStyle/>
          <a:p>
            <a:pPr algn="l" indent="0" marL="0">
              <a:buNone/>
            </a:pPr>
            <a:r>
              <a:rPr lang="en-US" sz="670" dirty="0">
                <a:solidFill>
                  <a:srgbClr val="687373"/>
                </a:solidFill>
                <a:latin typeface="Aptos" pitchFamily="34" charset="0"/>
                <a:ea typeface="Aptos" pitchFamily="34" charset="-122"/>
                <a:cs typeface="Aptos" pitchFamily="34" charset="-120"/>
              </a:rPr>
              <a:t>SLAB-042</a:t>
            </a:r>
            <a:endParaRPr lang="en-US" sz="670" dirty="0"/>
          </a:p>
        </p:txBody>
      </p:sp>
      <p:sp>
        <p:nvSpPr>
          <p:cNvPr id="22" name="Shape 20"/>
          <p:cNvSpPr/>
          <p:nvPr/>
        </p:nvSpPr>
        <p:spPr>
          <a:xfrm>
            <a:off x="4105656" y="2478024"/>
            <a:ext cx="256032" cy="219456"/>
          </a:xfrm>
          <a:prstGeom prst="chevron">
            <a:avLst/>
          </a:prstGeom>
          <a:solidFill>
            <a:srgbClr val="465057"/>
          </a:solidFill>
          <a:ln w="12700">
            <a:solidFill>
              <a:srgbClr val="465057">
                <a:alpha val="0"/>
              </a:srgbClr>
            </a:solidFill>
            <a:prstDash val="solid"/>
          </a:ln>
        </p:spPr>
      </p:sp>
      <p:sp>
        <p:nvSpPr>
          <p:cNvPr id="23" name="Shape 21"/>
          <p:cNvSpPr/>
          <p:nvPr/>
        </p:nvSpPr>
        <p:spPr>
          <a:xfrm>
            <a:off x="4544568" y="2148840"/>
            <a:ext cx="1536192" cy="969264"/>
          </a:xfrm>
          <a:prstGeom prst="roundRect">
            <a:avLst/>
          </a:prstGeom>
          <a:solidFill>
            <a:srgbClr val="FFFFFF"/>
          </a:solidFill>
          <a:ln w="8890">
            <a:solidFill>
              <a:srgbClr val="E3A72F"/>
            </a:solidFill>
            <a:prstDash val="solid"/>
          </a:ln>
        </p:spPr>
      </p:sp>
      <p:sp>
        <p:nvSpPr>
          <p:cNvPr id="24" name="Shape 22"/>
          <p:cNvSpPr/>
          <p:nvPr/>
        </p:nvSpPr>
        <p:spPr>
          <a:xfrm>
            <a:off x="4544568" y="2148840"/>
            <a:ext cx="77724" cy="969264"/>
          </a:xfrm>
          <a:prstGeom prst="rect">
            <a:avLst/>
          </a:prstGeom>
          <a:solidFill>
            <a:srgbClr val="E3A72F"/>
          </a:solidFill>
          <a:ln w="6350">
            <a:solidFill>
              <a:srgbClr val="E3A72F"/>
            </a:solidFill>
            <a:prstDash val="solid"/>
          </a:ln>
        </p:spPr>
      </p:sp>
      <p:sp>
        <p:nvSpPr>
          <p:cNvPr id="25" name="Text 23"/>
          <p:cNvSpPr/>
          <p:nvPr/>
        </p:nvSpPr>
        <p:spPr>
          <a:xfrm>
            <a:off x="4709160" y="2331720"/>
            <a:ext cx="1216152" cy="219456"/>
          </a:xfrm>
          <a:prstGeom prst="rect">
            <a:avLst/>
          </a:prstGeom>
          <a:noFill/>
          <a:ln/>
        </p:spPr>
        <p:txBody>
          <a:bodyPr wrap="square" lIns="0" tIns="0" rIns="0" bIns="0" rtlCol="0" anchor="ctr">
            <a:normAutofit/>
          </a:bodyPr>
          <a:lstStyle/>
          <a:p>
            <a:pPr algn="l" indent="0" marL="0">
              <a:buNone/>
            </a:pPr>
            <a:r>
              <a:rPr lang="en-US" sz="880" b="1" dirty="0">
                <a:solidFill>
                  <a:srgbClr val="202729"/>
                </a:solidFill>
                <a:latin typeface="Aptos" pitchFamily="34" charset="0"/>
                <a:ea typeface="Aptos" pitchFamily="34" charset="-122"/>
                <a:cs typeface="Aptos" pitchFamily="34" charset="-120"/>
              </a:rPr>
              <a:t>Coil</a:t>
            </a:r>
            <a:endParaRPr lang="en-US" sz="880" dirty="0"/>
          </a:p>
        </p:txBody>
      </p:sp>
      <p:sp>
        <p:nvSpPr>
          <p:cNvPr id="26" name="Text 24"/>
          <p:cNvSpPr/>
          <p:nvPr/>
        </p:nvSpPr>
        <p:spPr>
          <a:xfrm>
            <a:off x="4709160" y="2633472"/>
            <a:ext cx="1216152" cy="374904"/>
          </a:xfrm>
          <a:prstGeom prst="rect">
            <a:avLst/>
          </a:prstGeom>
          <a:noFill/>
          <a:ln/>
        </p:spPr>
        <p:txBody>
          <a:bodyPr wrap="square" lIns="0" tIns="0" rIns="0" bIns="0" rtlCol="0" anchor="t">
            <a:normAutofit/>
          </a:bodyPr>
          <a:lstStyle/>
          <a:p>
            <a:pPr algn="l" indent="0" marL="0">
              <a:buNone/>
            </a:pPr>
            <a:r>
              <a:rPr lang="en-US" sz="670" dirty="0">
                <a:solidFill>
                  <a:srgbClr val="687373"/>
                </a:solidFill>
                <a:latin typeface="Aptos" pitchFamily="34" charset="0"/>
                <a:ea typeface="Aptos" pitchFamily="34" charset="-122"/>
                <a:cs typeface="Aptos" pitchFamily="34" charset="-120"/>
              </a:rPr>
              <a:t>COIL-LUX-260725-017</a:t>
            </a:r>
            <a:endParaRPr lang="en-US" sz="670" dirty="0"/>
          </a:p>
        </p:txBody>
      </p:sp>
      <p:sp>
        <p:nvSpPr>
          <p:cNvPr id="27" name="Shape 25"/>
          <p:cNvSpPr/>
          <p:nvPr/>
        </p:nvSpPr>
        <p:spPr>
          <a:xfrm>
            <a:off x="6126480" y="2478024"/>
            <a:ext cx="256032" cy="219456"/>
          </a:xfrm>
          <a:prstGeom prst="chevron">
            <a:avLst/>
          </a:prstGeom>
          <a:solidFill>
            <a:srgbClr val="465057"/>
          </a:solidFill>
          <a:ln w="12700">
            <a:solidFill>
              <a:srgbClr val="465057">
                <a:alpha val="0"/>
              </a:srgbClr>
            </a:solidFill>
            <a:prstDash val="solid"/>
          </a:ln>
        </p:spPr>
      </p:sp>
      <p:sp>
        <p:nvSpPr>
          <p:cNvPr id="28" name="Shape 26"/>
          <p:cNvSpPr/>
          <p:nvPr/>
        </p:nvSpPr>
        <p:spPr>
          <a:xfrm>
            <a:off x="6565392" y="2148840"/>
            <a:ext cx="1536192" cy="969264"/>
          </a:xfrm>
          <a:prstGeom prst="roundRect">
            <a:avLst/>
          </a:prstGeom>
          <a:solidFill>
            <a:srgbClr val="FFFFFF"/>
          </a:solidFill>
          <a:ln w="8890">
            <a:solidFill>
              <a:srgbClr val="B64A2D"/>
            </a:solidFill>
            <a:prstDash val="solid"/>
          </a:ln>
        </p:spPr>
      </p:sp>
      <p:sp>
        <p:nvSpPr>
          <p:cNvPr id="29" name="Shape 27"/>
          <p:cNvSpPr/>
          <p:nvPr/>
        </p:nvSpPr>
        <p:spPr>
          <a:xfrm>
            <a:off x="6565392" y="2148840"/>
            <a:ext cx="77724" cy="969264"/>
          </a:xfrm>
          <a:prstGeom prst="rect">
            <a:avLst/>
          </a:prstGeom>
          <a:solidFill>
            <a:srgbClr val="B64A2D"/>
          </a:solidFill>
          <a:ln w="6350">
            <a:solidFill>
              <a:srgbClr val="B64A2D"/>
            </a:solidFill>
            <a:prstDash val="solid"/>
          </a:ln>
        </p:spPr>
      </p:sp>
      <p:sp>
        <p:nvSpPr>
          <p:cNvPr id="30" name="Text 28"/>
          <p:cNvSpPr/>
          <p:nvPr/>
        </p:nvSpPr>
        <p:spPr>
          <a:xfrm>
            <a:off x="6729984" y="2331720"/>
            <a:ext cx="1216152" cy="219456"/>
          </a:xfrm>
          <a:prstGeom prst="rect">
            <a:avLst/>
          </a:prstGeom>
          <a:noFill/>
          <a:ln/>
        </p:spPr>
        <p:txBody>
          <a:bodyPr wrap="square" lIns="0" tIns="0" rIns="0" bIns="0" rtlCol="0" anchor="ctr">
            <a:normAutofit/>
          </a:bodyPr>
          <a:lstStyle/>
          <a:p>
            <a:pPr algn="l" indent="0" marL="0">
              <a:buNone/>
            </a:pPr>
            <a:r>
              <a:rPr lang="en-US" sz="880" b="1" dirty="0">
                <a:solidFill>
                  <a:srgbClr val="202729"/>
                </a:solidFill>
                <a:latin typeface="Aptos" pitchFamily="34" charset="0"/>
                <a:ea typeface="Aptos" pitchFamily="34" charset="-122"/>
                <a:cs typeface="Aptos" pitchFamily="34" charset="-120"/>
              </a:rPr>
              <a:t>Sample</a:t>
            </a:r>
            <a:endParaRPr lang="en-US" sz="880" dirty="0"/>
          </a:p>
        </p:txBody>
      </p:sp>
      <p:sp>
        <p:nvSpPr>
          <p:cNvPr id="31" name="Text 29"/>
          <p:cNvSpPr/>
          <p:nvPr/>
        </p:nvSpPr>
        <p:spPr>
          <a:xfrm>
            <a:off x="6729984" y="2633472"/>
            <a:ext cx="1216152" cy="374904"/>
          </a:xfrm>
          <a:prstGeom prst="rect">
            <a:avLst/>
          </a:prstGeom>
          <a:noFill/>
          <a:ln/>
        </p:spPr>
        <p:txBody>
          <a:bodyPr wrap="square" lIns="0" tIns="0" rIns="0" bIns="0" rtlCol="0" anchor="t">
            <a:normAutofit/>
          </a:bodyPr>
          <a:lstStyle/>
          <a:p>
            <a:pPr algn="l" indent="0" marL="0">
              <a:buNone/>
            </a:pPr>
            <a:r>
              <a:rPr lang="en-US" sz="670" dirty="0">
                <a:solidFill>
                  <a:srgbClr val="687373"/>
                </a:solidFill>
                <a:latin typeface="Aptos" pitchFamily="34" charset="0"/>
                <a:ea typeface="Aptos" pitchFamily="34" charset="-122"/>
                <a:cs typeface="Aptos" pitchFamily="34" charset="-120"/>
              </a:rPr>
              <a:t>S-017-4</a:t>
            </a:r>
            <a:endParaRPr lang="en-US" sz="670" dirty="0"/>
          </a:p>
        </p:txBody>
      </p:sp>
      <p:sp>
        <p:nvSpPr>
          <p:cNvPr id="32" name="Shape 30"/>
          <p:cNvSpPr/>
          <p:nvPr/>
        </p:nvSpPr>
        <p:spPr>
          <a:xfrm>
            <a:off x="8147304" y="2478024"/>
            <a:ext cx="256032" cy="219456"/>
          </a:xfrm>
          <a:prstGeom prst="chevron">
            <a:avLst/>
          </a:prstGeom>
          <a:solidFill>
            <a:srgbClr val="465057"/>
          </a:solidFill>
          <a:ln w="12700">
            <a:solidFill>
              <a:srgbClr val="465057">
                <a:alpha val="0"/>
              </a:srgbClr>
            </a:solidFill>
            <a:prstDash val="solid"/>
          </a:ln>
        </p:spPr>
      </p:sp>
      <p:sp>
        <p:nvSpPr>
          <p:cNvPr id="33" name="Shape 31"/>
          <p:cNvSpPr/>
          <p:nvPr/>
        </p:nvSpPr>
        <p:spPr>
          <a:xfrm>
            <a:off x="8586216" y="2148840"/>
            <a:ext cx="1536192" cy="969264"/>
          </a:xfrm>
          <a:prstGeom prst="roundRect">
            <a:avLst/>
          </a:prstGeom>
          <a:solidFill>
            <a:srgbClr val="FFFFFF"/>
          </a:solidFill>
          <a:ln w="8890">
            <a:solidFill>
              <a:srgbClr val="6D9A6F"/>
            </a:solidFill>
            <a:prstDash val="solid"/>
          </a:ln>
        </p:spPr>
      </p:sp>
      <p:sp>
        <p:nvSpPr>
          <p:cNvPr id="34" name="Shape 32"/>
          <p:cNvSpPr/>
          <p:nvPr/>
        </p:nvSpPr>
        <p:spPr>
          <a:xfrm>
            <a:off x="8586216" y="2148840"/>
            <a:ext cx="77724" cy="969264"/>
          </a:xfrm>
          <a:prstGeom prst="rect">
            <a:avLst/>
          </a:prstGeom>
          <a:solidFill>
            <a:srgbClr val="6D9A6F"/>
          </a:solidFill>
          <a:ln w="6350">
            <a:solidFill>
              <a:srgbClr val="6D9A6F"/>
            </a:solidFill>
            <a:prstDash val="solid"/>
          </a:ln>
        </p:spPr>
      </p:sp>
      <p:sp>
        <p:nvSpPr>
          <p:cNvPr id="35" name="Text 33"/>
          <p:cNvSpPr/>
          <p:nvPr/>
        </p:nvSpPr>
        <p:spPr>
          <a:xfrm>
            <a:off x="8750808" y="2331720"/>
            <a:ext cx="1216152" cy="219456"/>
          </a:xfrm>
          <a:prstGeom prst="rect">
            <a:avLst/>
          </a:prstGeom>
          <a:noFill/>
          <a:ln/>
        </p:spPr>
        <p:txBody>
          <a:bodyPr wrap="square" lIns="0" tIns="0" rIns="0" bIns="0" rtlCol="0" anchor="ctr">
            <a:normAutofit/>
          </a:bodyPr>
          <a:lstStyle/>
          <a:p>
            <a:pPr algn="l" indent="0" marL="0">
              <a:buNone/>
            </a:pPr>
            <a:r>
              <a:rPr lang="en-US" sz="880" b="1" dirty="0">
                <a:solidFill>
                  <a:srgbClr val="202729"/>
                </a:solidFill>
                <a:latin typeface="Aptos" pitchFamily="34" charset="0"/>
                <a:ea typeface="Aptos" pitchFamily="34" charset="-122"/>
                <a:cs typeface="Aptos" pitchFamily="34" charset="-120"/>
              </a:rPr>
              <a:t>Shipment</a:t>
            </a:r>
            <a:endParaRPr lang="en-US" sz="880" dirty="0"/>
          </a:p>
        </p:txBody>
      </p:sp>
      <p:sp>
        <p:nvSpPr>
          <p:cNvPr id="36" name="Text 34"/>
          <p:cNvSpPr/>
          <p:nvPr/>
        </p:nvSpPr>
        <p:spPr>
          <a:xfrm>
            <a:off x="8750808" y="2633472"/>
            <a:ext cx="1216152" cy="374904"/>
          </a:xfrm>
          <a:prstGeom prst="rect">
            <a:avLst/>
          </a:prstGeom>
          <a:noFill/>
          <a:ln/>
        </p:spPr>
        <p:txBody>
          <a:bodyPr wrap="square" lIns="0" tIns="0" rIns="0" bIns="0" rtlCol="0" anchor="t">
            <a:normAutofit/>
          </a:bodyPr>
          <a:lstStyle/>
          <a:p>
            <a:pPr algn="l" indent="0" marL="0">
              <a:buNone/>
            </a:pPr>
            <a:r>
              <a:rPr lang="en-US" sz="670" dirty="0">
                <a:solidFill>
                  <a:srgbClr val="687373"/>
                </a:solidFill>
                <a:latin typeface="Aptos" pitchFamily="34" charset="0"/>
                <a:ea typeface="Aptos" pitchFamily="34" charset="-122"/>
                <a:cs typeface="Aptos" pitchFamily="34" charset="-120"/>
              </a:rPr>
              <a:t>OEM traceability</a:t>
            </a:r>
            <a:endParaRPr lang="en-US" sz="670" dirty="0"/>
          </a:p>
        </p:txBody>
      </p:sp>
      <p:sp>
        <p:nvSpPr>
          <p:cNvPr id="37" name="Shape 35"/>
          <p:cNvSpPr/>
          <p:nvPr/>
        </p:nvSpPr>
        <p:spPr>
          <a:xfrm>
            <a:off x="502920" y="3767328"/>
            <a:ext cx="5074920" cy="1600200"/>
          </a:xfrm>
          <a:prstGeom prst="roundRect">
            <a:avLst/>
          </a:prstGeom>
          <a:solidFill>
            <a:srgbClr val="FFFFFF"/>
          </a:solidFill>
          <a:ln w="8890">
            <a:solidFill>
              <a:srgbClr val="DDE4E1"/>
            </a:solidFill>
            <a:prstDash val="solid"/>
          </a:ln>
        </p:spPr>
      </p:sp>
      <p:sp>
        <p:nvSpPr>
          <p:cNvPr id="38" name="Shape 36"/>
          <p:cNvSpPr/>
          <p:nvPr/>
        </p:nvSpPr>
        <p:spPr>
          <a:xfrm>
            <a:off x="502920" y="3767328"/>
            <a:ext cx="77724" cy="1600200"/>
          </a:xfrm>
          <a:prstGeom prst="rect">
            <a:avLst/>
          </a:prstGeom>
          <a:solidFill>
            <a:srgbClr val="B64A2D"/>
          </a:solidFill>
          <a:ln w="6350">
            <a:solidFill>
              <a:srgbClr val="B64A2D"/>
            </a:solidFill>
            <a:prstDash val="solid"/>
          </a:ln>
        </p:spPr>
      </p:sp>
      <p:sp>
        <p:nvSpPr>
          <p:cNvPr id="39" name="Text 37"/>
          <p:cNvSpPr/>
          <p:nvPr/>
        </p:nvSpPr>
        <p:spPr>
          <a:xfrm>
            <a:off x="749808" y="3986784"/>
            <a:ext cx="2468880"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B64A2D"/>
                </a:solidFill>
                <a:latin typeface="Aptos" pitchFamily="34" charset="0"/>
                <a:ea typeface="Aptos" pitchFamily="34" charset="-122"/>
                <a:cs typeface="Aptos" pitchFamily="34" charset="-120"/>
              </a:rPr>
              <a:t>MULTIVARIATE DRIFT BEFORE LAB FAIL</a:t>
            </a:r>
            <a:endParaRPr lang="en-US" sz="720" dirty="0"/>
          </a:p>
        </p:txBody>
      </p:sp>
      <p:sp>
        <p:nvSpPr>
          <p:cNvPr id="40" name="Shape 38"/>
          <p:cNvSpPr/>
          <p:nvPr/>
        </p:nvSpPr>
        <p:spPr>
          <a:xfrm flipH="1">
            <a:off x="969264" y="4782312"/>
            <a:ext cx="475488" cy="73152"/>
          </a:xfrm>
          <a:prstGeom prst="line">
            <a:avLst/>
          </a:prstGeom>
          <a:noFill/>
          <a:ln w="25400">
            <a:solidFill>
              <a:srgbClr val="B64A2D"/>
            </a:solidFill>
            <a:prstDash val="solid"/>
          </a:ln>
        </p:spPr>
      </p:sp>
      <p:sp>
        <p:nvSpPr>
          <p:cNvPr id="41" name="Shape 39"/>
          <p:cNvSpPr/>
          <p:nvPr/>
        </p:nvSpPr>
        <p:spPr>
          <a:xfrm flipH="1">
            <a:off x="1444752" y="4736592"/>
            <a:ext cx="475488" cy="45720"/>
          </a:xfrm>
          <a:prstGeom prst="line">
            <a:avLst/>
          </a:prstGeom>
          <a:noFill/>
          <a:ln w="25400">
            <a:solidFill>
              <a:srgbClr val="B64A2D"/>
            </a:solidFill>
            <a:prstDash val="solid"/>
          </a:ln>
        </p:spPr>
      </p:sp>
      <p:sp>
        <p:nvSpPr>
          <p:cNvPr id="42" name="Shape 40"/>
          <p:cNvSpPr/>
          <p:nvPr/>
        </p:nvSpPr>
        <p:spPr>
          <a:xfrm flipH="1">
            <a:off x="1920240" y="4700016"/>
            <a:ext cx="475488" cy="36576"/>
          </a:xfrm>
          <a:prstGeom prst="line">
            <a:avLst/>
          </a:prstGeom>
          <a:noFill/>
          <a:ln w="25400">
            <a:solidFill>
              <a:srgbClr val="B64A2D"/>
            </a:solidFill>
            <a:prstDash val="solid"/>
          </a:ln>
        </p:spPr>
      </p:sp>
      <p:sp>
        <p:nvSpPr>
          <p:cNvPr id="43" name="Shape 41"/>
          <p:cNvSpPr/>
          <p:nvPr/>
        </p:nvSpPr>
        <p:spPr>
          <a:xfrm flipH="1">
            <a:off x="2395728" y="4590288"/>
            <a:ext cx="475488" cy="109728"/>
          </a:xfrm>
          <a:prstGeom prst="line">
            <a:avLst/>
          </a:prstGeom>
          <a:noFill/>
          <a:ln w="25400">
            <a:solidFill>
              <a:srgbClr val="B64A2D"/>
            </a:solidFill>
            <a:prstDash val="solid"/>
          </a:ln>
        </p:spPr>
      </p:sp>
      <p:sp>
        <p:nvSpPr>
          <p:cNvPr id="44" name="Shape 42"/>
          <p:cNvSpPr/>
          <p:nvPr/>
        </p:nvSpPr>
        <p:spPr>
          <a:xfrm flipH="1">
            <a:off x="2871216" y="4517136"/>
            <a:ext cx="475488" cy="73152"/>
          </a:xfrm>
          <a:prstGeom prst="line">
            <a:avLst/>
          </a:prstGeom>
          <a:noFill/>
          <a:ln w="25400">
            <a:solidFill>
              <a:srgbClr val="B64A2D"/>
            </a:solidFill>
            <a:prstDash val="solid"/>
          </a:ln>
        </p:spPr>
      </p:sp>
      <p:sp>
        <p:nvSpPr>
          <p:cNvPr id="45" name="Shape 43"/>
          <p:cNvSpPr/>
          <p:nvPr/>
        </p:nvSpPr>
        <p:spPr>
          <a:xfrm flipH="1">
            <a:off x="3346704" y="4398264"/>
            <a:ext cx="475488" cy="118872"/>
          </a:xfrm>
          <a:prstGeom prst="line">
            <a:avLst/>
          </a:prstGeom>
          <a:noFill/>
          <a:ln w="25400">
            <a:solidFill>
              <a:srgbClr val="B64A2D"/>
            </a:solidFill>
            <a:prstDash val="solid"/>
          </a:ln>
        </p:spPr>
      </p:sp>
      <p:sp>
        <p:nvSpPr>
          <p:cNvPr id="46" name="Shape 44"/>
          <p:cNvSpPr/>
          <p:nvPr/>
        </p:nvSpPr>
        <p:spPr>
          <a:xfrm flipH="1">
            <a:off x="3822192" y="4242816"/>
            <a:ext cx="475488" cy="155448"/>
          </a:xfrm>
          <a:prstGeom prst="line">
            <a:avLst/>
          </a:prstGeom>
          <a:noFill/>
          <a:ln w="25400">
            <a:solidFill>
              <a:srgbClr val="B64A2D"/>
            </a:solidFill>
            <a:prstDash val="solid"/>
          </a:ln>
        </p:spPr>
      </p:sp>
      <p:sp>
        <p:nvSpPr>
          <p:cNvPr id="47" name="Shape 45"/>
          <p:cNvSpPr/>
          <p:nvPr/>
        </p:nvSpPr>
        <p:spPr>
          <a:xfrm>
            <a:off x="914400" y="5074920"/>
            <a:ext cx="3977640" cy="0"/>
          </a:xfrm>
          <a:prstGeom prst="line">
            <a:avLst/>
          </a:prstGeom>
          <a:noFill/>
          <a:ln w="7620">
            <a:solidFill>
              <a:srgbClr val="465057"/>
            </a:solidFill>
            <a:prstDash val="solid"/>
          </a:ln>
        </p:spPr>
      </p:sp>
      <p:sp>
        <p:nvSpPr>
          <p:cNvPr id="48" name="Text 46"/>
          <p:cNvSpPr/>
          <p:nvPr/>
        </p:nvSpPr>
        <p:spPr>
          <a:xfrm>
            <a:off x="960120" y="4352544"/>
            <a:ext cx="3977640" cy="118872"/>
          </a:xfrm>
          <a:prstGeom prst="rect">
            <a:avLst/>
          </a:prstGeom>
          <a:noFill/>
          <a:ln/>
        </p:spPr>
        <p:txBody>
          <a:bodyPr wrap="square" lIns="0" tIns="0" rIns="0" bIns="0" rtlCol="0" anchor="ctr">
            <a:normAutofit/>
          </a:bodyPr>
          <a:lstStyle/>
          <a:p>
            <a:pPr algn="ctr" indent="0" marL="0">
              <a:buNone/>
            </a:pPr>
            <a:r>
              <a:rPr lang="en-US" sz="730" b="1" dirty="0">
                <a:solidFill>
                  <a:srgbClr val="687373"/>
                </a:solidFill>
                <a:latin typeface="Aptos" pitchFamily="34" charset="0"/>
                <a:ea typeface="Aptos" pitchFamily="34" charset="-122"/>
                <a:cs typeface="Aptos" pitchFamily="34" charset="-120"/>
              </a:rPr>
              <a:t>coiling temperature + force balance drift together</a:t>
            </a:r>
            <a:endParaRPr lang="en-US" sz="730" dirty="0"/>
          </a:p>
        </p:txBody>
      </p:sp>
      <p:sp>
        <p:nvSpPr>
          <p:cNvPr id="49" name="Shape 47"/>
          <p:cNvSpPr/>
          <p:nvPr/>
        </p:nvSpPr>
        <p:spPr>
          <a:xfrm>
            <a:off x="5897880" y="3767328"/>
            <a:ext cx="5184648" cy="1600200"/>
          </a:xfrm>
          <a:prstGeom prst="roundRect">
            <a:avLst/>
          </a:prstGeom>
          <a:solidFill>
            <a:srgbClr val="1F2426"/>
          </a:solidFill>
          <a:ln w="8890">
            <a:solidFill>
              <a:srgbClr val="1F2426"/>
            </a:solidFill>
            <a:prstDash val="solid"/>
          </a:ln>
        </p:spPr>
      </p:sp>
      <p:sp>
        <p:nvSpPr>
          <p:cNvPr id="50" name="Shape 48"/>
          <p:cNvSpPr/>
          <p:nvPr/>
        </p:nvSpPr>
        <p:spPr>
          <a:xfrm>
            <a:off x="5897880" y="3767328"/>
            <a:ext cx="77724" cy="1600200"/>
          </a:xfrm>
          <a:prstGeom prst="rect">
            <a:avLst/>
          </a:prstGeom>
          <a:solidFill>
            <a:srgbClr val="E3A72F"/>
          </a:solidFill>
          <a:ln w="6350">
            <a:solidFill>
              <a:srgbClr val="E3A72F"/>
            </a:solidFill>
            <a:prstDash val="solid"/>
          </a:ln>
        </p:spPr>
      </p:sp>
      <p:sp>
        <p:nvSpPr>
          <p:cNvPr id="51" name="Shape 49"/>
          <p:cNvSpPr/>
          <p:nvPr/>
        </p:nvSpPr>
        <p:spPr>
          <a:xfrm>
            <a:off x="6181344" y="4005072"/>
            <a:ext cx="1197864" cy="246888"/>
          </a:xfrm>
          <a:prstGeom prst="roundRect">
            <a:avLst/>
          </a:prstGeom>
          <a:solidFill>
            <a:srgbClr val="147D74"/>
          </a:solidFill>
          <a:ln w="5080">
            <a:solidFill>
              <a:srgbClr val="147D74"/>
            </a:solidFill>
            <a:prstDash val="solid"/>
          </a:ln>
        </p:spPr>
      </p:sp>
      <p:sp>
        <p:nvSpPr>
          <p:cNvPr id="52" name="Text 50"/>
          <p:cNvSpPr/>
          <p:nvPr/>
        </p:nvSpPr>
        <p:spPr>
          <a:xfrm>
            <a:off x="6300216" y="4055364"/>
            <a:ext cx="960120"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BOUNDED WHAT-IF</a:t>
            </a:r>
            <a:endParaRPr lang="en-US" sz="720" dirty="0"/>
          </a:p>
        </p:txBody>
      </p:sp>
      <p:sp>
        <p:nvSpPr>
          <p:cNvPr id="53" name="Text 51"/>
          <p:cNvSpPr/>
          <p:nvPr/>
        </p:nvSpPr>
        <p:spPr>
          <a:xfrm>
            <a:off x="6199632" y="4462272"/>
            <a:ext cx="1920240" cy="128016"/>
          </a:xfrm>
          <a:prstGeom prst="rect">
            <a:avLst/>
          </a:prstGeom>
          <a:noFill/>
          <a:ln/>
        </p:spPr>
        <p:txBody>
          <a:bodyPr wrap="square" lIns="0" tIns="0" rIns="0" bIns="0" rtlCol="0" anchor="ctr">
            <a:normAutofit/>
          </a:bodyPr>
          <a:lstStyle/>
          <a:p>
            <a:pPr algn="l" indent="0" marL="0">
              <a:buNone/>
            </a:pPr>
            <a:r>
              <a:rPr lang="en-US" sz="800" b="1" dirty="0">
                <a:solidFill>
                  <a:srgbClr val="AEB9BA"/>
                </a:solidFill>
                <a:latin typeface="Aptos" pitchFamily="34" charset="0"/>
                <a:ea typeface="Aptos" pitchFamily="34" charset="-122"/>
                <a:cs typeface="Aptos" pitchFamily="34" charset="-120"/>
              </a:rPr>
              <a:t>Predicted first-pass yield</a:t>
            </a:r>
            <a:endParaRPr lang="en-US" sz="800" dirty="0"/>
          </a:p>
        </p:txBody>
      </p:sp>
      <p:sp>
        <p:nvSpPr>
          <p:cNvPr id="54" name="Text 52"/>
          <p:cNvSpPr/>
          <p:nvPr/>
        </p:nvSpPr>
        <p:spPr>
          <a:xfrm>
            <a:off x="6199632" y="4736592"/>
            <a:ext cx="960120" cy="310896"/>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Bahnschrift SemiBold" pitchFamily="34" charset="0"/>
                <a:ea typeface="Bahnschrift SemiBold" pitchFamily="34" charset="-122"/>
                <a:cs typeface="Bahnschrift SemiBold" pitchFamily="34" charset="-120"/>
              </a:rPr>
              <a:t>88%</a:t>
            </a:r>
            <a:endParaRPr lang="en-US" sz="2200" dirty="0"/>
          </a:p>
        </p:txBody>
      </p:sp>
      <p:sp>
        <p:nvSpPr>
          <p:cNvPr id="55" name="Shape 53"/>
          <p:cNvSpPr/>
          <p:nvPr/>
        </p:nvSpPr>
        <p:spPr>
          <a:xfrm>
            <a:off x="7351776" y="4791456"/>
            <a:ext cx="393192" cy="219456"/>
          </a:xfrm>
          <a:prstGeom prst="chevron">
            <a:avLst/>
          </a:prstGeom>
          <a:solidFill>
            <a:srgbClr val="E3A72F"/>
          </a:solidFill>
          <a:ln w="12700">
            <a:solidFill>
              <a:srgbClr val="E3A72F">
                <a:alpha val="0"/>
              </a:srgbClr>
            </a:solidFill>
            <a:prstDash val="solid"/>
          </a:ln>
        </p:spPr>
      </p:sp>
      <p:sp>
        <p:nvSpPr>
          <p:cNvPr id="56" name="Text 54"/>
          <p:cNvSpPr/>
          <p:nvPr/>
        </p:nvSpPr>
        <p:spPr>
          <a:xfrm>
            <a:off x="7973568" y="4736592"/>
            <a:ext cx="960120" cy="310896"/>
          </a:xfrm>
          <a:prstGeom prst="rect">
            <a:avLst/>
          </a:prstGeom>
          <a:noFill/>
          <a:ln/>
        </p:spPr>
        <p:txBody>
          <a:bodyPr wrap="square" lIns="0" tIns="0" rIns="0" bIns="0" rtlCol="0" anchor="ctr">
            <a:normAutofit/>
          </a:bodyPr>
          <a:lstStyle/>
          <a:p>
            <a:pPr algn="ctr" indent="0" marL="0">
              <a:buNone/>
            </a:pPr>
            <a:r>
              <a:rPr lang="en-US" sz="2200" b="1" dirty="0">
                <a:solidFill>
                  <a:srgbClr val="E3A72F"/>
                </a:solidFill>
                <a:latin typeface="Bahnschrift SemiBold" pitchFamily="34" charset="0"/>
                <a:ea typeface="Bahnschrift SemiBold" pitchFamily="34" charset="-122"/>
                <a:cs typeface="Bahnschrift SemiBold" pitchFamily="34" charset="-120"/>
              </a:rPr>
              <a:t>95%</a:t>
            </a:r>
            <a:endParaRPr lang="en-US" sz="2200" dirty="0"/>
          </a:p>
        </p:txBody>
      </p:sp>
      <p:sp>
        <p:nvSpPr>
          <p:cNvPr id="57" name="Text 55"/>
          <p:cNvSpPr/>
          <p:nvPr/>
        </p:nvSpPr>
        <p:spPr>
          <a:xfrm>
            <a:off x="8961120" y="4663440"/>
            <a:ext cx="1691640" cy="228600"/>
          </a:xfrm>
          <a:prstGeom prst="rect">
            <a:avLst/>
          </a:prstGeom>
          <a:noFill/>
          <a:ln/>
        </p:spPr>
        <p:txBody>
          <a:bodyPr wrap="square" lIns="0" tIns="0" rIns="0" bIns="0" rtlCol="0" anchor="ctr">
            <a:normAutofit/>
          </a:bodyPr>
          <a:lstStyle/>
          <a:p>
            <a:pPr algn="ctr" indent="0" marL="0">
              <a:buNone/>
            </a:pPr>
            <a:r>
              <a:rPr lang="en-US" sz="760" b="1" dirty="0">
                <a:solidFill>
                  <a:srgbClr val="AEB9BA"/>
                </a:solidFill>
                <a:latin typeface="Aptos" pitchFamily="34" charset="0"/>
                <a:ea typeface="Aptos" pitchFamily="34" charset="-122"/>
                <a:cs typeface="Aptos" pitchFamily="34" charset="-120"/>
              </a:rPr>
              <a:t>Predicted—not measured. No automatic recipe or setpoint write.</a:t>
            </a:r>
            <a:endParaRPr lang="en-US" sz="760" dirty="0"/>
          </a:p>
        </p:txBody>
      </p:sp>
      <p:sp>
        <p:nvSpPr>
          <p:cNvPr id="58" name="Text 56"/>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Source cue | demo-runbook.md §5  •  synthetic-data-and-simulators.md §8.3  •  solution-architecture.md §4.2</a:t>
            </a:r>
            <a:endParaRPr lang="en-US" sz="660" dirty="0"/>
          </a:p>
        </p:txBody>
      </p:sp>
      <p:sp>
        <p:nvSpPr>
          <p:cNvPr id="59" name="Shape 57"/>
          <p:cNvSpPr/>
          <p:nvPr/>
        </p:nvSpPr>
        <p:spPr>
          <a:xfrm>
            <a:off x="0" y="6483096"/>
            <a:ext cx="12191695" cy="374904"/>
          </a:xfrm>
          <a:prstGeom prst="rect">
            <a:avLst/>
          </a:prstGeom>
          <a:solidFill>
            <a:srgbClr val="E9E7E1"/>
          </a:solidFill>
          <a:ln w="6350">
            <a:solidFill>
              <a:srgbClr val="E9E7E1"/>
            </a:solidFill>
            <a:prstDash val="solid"/>
          </a:ln>
        </p:spPr>
      </p:sp>
      <p:sp>
        <p:nvSpPr>
          <p:cNvPr id="60" name="Shape 58"/>
          <p:cNvSpPr/>
          <p:nvPr/>
        </p:nvSpPr>
        <p:spPr>
          <a:xfrm>
            <a:off x="384048" y="6547104"/>
            <a:ext cx="3547872" cy="182880"/>
          </a:xfrm>
          <a:prstGeom prst="roundRect">
            <a:avLst/>
          </a:prstGeom>
          <a:solidFill>
            <a:srgbClr val="FFFFFF"/>
          </a:solidFill>
          <a:ln w="3175">
            <a:solidFill>
              <a:srgbClr val="DDE4E1"/>
            </a:solidFill>
            <a:prstDash val="solid"/>
          </a:ln>
        </p:spPr>
      </p:sp>
      <p:sp>
        <p:nvSpPr>
          <p:cNvPr id="61" name="Text 59"/>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62" name="Text 60"/>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ORAL DEFENSE  •  14 / 20</a:t>
            </a:r>
            <a:endParaRPr lang="en-US" sz="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719"/>
        </a:solidFill>
      </p:bgPr>
    </p:bg>
    <p:spTree>
      <p:nvGrpSpPr>
        <p:cNvPr id="1" name=""/>
        <p:cNvGrpSpPr/>
        <p:nvPr/>
      </p:nvGrpSpPr>
      <p:grpSpPr>
        <a:xfrm>
          <a:off x="0" y="0"/>
          <a:ext cx="0" cy="0"/>
          <a:chOff x="0" y="0"/>
          <a:chExt cx="0" cy="0"/>
        </a:xfrm>
      </p:grpSpPr>
      <p:pic>
        <p:nvPicPr>
          <p:cNvPr id="2" name="Image 0" descr="D:\work\20260724 - Novasteel 3\tools\presentation\assets\steel-texture.png">    </p:cNvPr>
          <p:cNvPicPr>
            <a:picLocks noChangeAspect="1"/>
          </p:cNvPicPr>
          <p:nvPr/>
        </p:nvPicPr>
        <p:blipFill>
          <a:blip r:embed="rId1">
            <a:alphaModFix amt="34000"/>
          </a:blip>
          <a:stretch>
            <a:fillRect/>
          </a:stretch>
        </p:blipFill>
        <p:spPr>
          <a:xfrm>
            <a:off x="0" y="0"/>
            <a:ext cx="12191695" cy="6858000"/>
          </a:xfrm>
          <a:prstGeom prst="rect">
            <a:avLst/>
          </a:prstGeom>
        </p:spPr>
      </p:pic>
      <p:sp>
        <p:nvSpPr>
          <p:cNvPr id="3" name="Shape 0"/>
          <p:cNvSpPr/>
          <p:nvPr/>
        </p:nvSpPr>
        <p:spPr>
          <a:xfrm>
            <a:off x="457200" y="274320"/>
            <a:ext cx="822960" cy="246888"/>
          </a:xfrm>
          <a:prstGeom prst="roundRect">
            <a:avLst/>
          </a:prstGeom>
          <a:solidFill>
            <a:srgbClr val="465057"/>
          </a:solidFill>
          <a:ln w="5080">
            <a:solidFill>
              <a:srgbClr val="465057"/>
            </a:solidFill>
            <a:prstDash val="solid"/>
          </a:ln>
        </p:spPr>
      </p:sp>
      <p:sp>
        <p:nvSpPr>
          <p:cNvPr id="4" name="Text 1"/>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15</a:t>
            </a:r>
            <a:endParaRPr lang="en-US" sz="720" dirty="0"/>
          </a:p>
        </p:txBody>
      </p:sp>
      <p:sp>
        <p:nvSpPr>
          <p:cNvPr id="5" name="Text 2"/>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AEB9BA"/>
                </a:solidFill>
                <a:latin typeface="Aptos" pitchFamily="34" charset="0"/>
                <a:ea typeface="Aptos" pitchFamily="34" charset="-122"/>
                <a:cs typeface="Aptos" pitchFamily="34" charset="-120"/>
              </a:rPr>
              <a:t>AI DEEP DIVE 04</a:t>
            </a:r>
            <a:endParaRPr lang="en-US" sz="810" dirty="0"/>
          </a:p>
        </p:txBody>
      </p:sp>
      <p:sp>
        <p:nvSpPr>
          <p:cNvPr id="6" name="Shape 3"/>
          <p:cNvSpPr/>
          <p:nvPr/>
        </p:nvSpPr>
        <p:spPr>
          <a:xfrm>
            <a:off x="10040112" y="274320"/>
            <a:ext cx="1673352" cy="256032"/>
          </a:xfrm>
          <a:prstGeom prst="roundRect">
            <a:avLst/>
          </a:prstGeom>
          <a:solidFill>
            <a:srgbClr val="1F2426"/>
          </a:solidFill>
          <a:ln w="6350">
            <a:solidFill>
              <a:srgbClr val="465057"/>
            </a:solidFill>
            <a:prstDash val="solid"/>
          </a:ln>
        </p:spPr>
      </p:sp>
      <p:sp>
        <p:nvSpPr>
          <p:cNvPr id="7" name="Text 4"/>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AEB9BA"/>
                </a:solidFill>
                <a:latin typeface="Aptos" pitchFamily="34" charset="0"/>
                <a:ea typeface="Aptos" pitchFamily="34" charset="-122"/>
                <a:cs typeface="Aptos" pitchFamily="34" charset="-120"/>
              </a:rPr>
              <a:t>21:00–22:30</a:t>
            </a:r>
            <a:endParaRPr lang="en-US" sz="720" dirty="0"/>
          </a:p>
        </p:txBody>
      </p:sp>
      <p:sp>
        <p:nvSpPr>
          <p:cNvPr id="8" name="Text 5"/>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FFFFFF"/>
                </a:solidFill>
                <a:latin typeface="Bahnschrift SemiBold" pitchFamily="34" charset="0"/>
                <a:ea typeface="Bahnschrift SemiBold" pitchFamily="34" charset="-122"/>
                <a:cs typeface="Bahnschrift SemiBold" pitchFamily="34" charset="-120"/>
              </a:rPr>
              <a:t>Knowledge capture: preserve expertise without publishing a hallucination</a:t>
            </a:r>
            <a:endParaRPr lang="en-US" sz="2550" dirty="0"/>
          </a:p>
        </p:txBody>
      </p:sp>
      <p:sp>
        <p:nvSpPr>
          <p:cNvPr id="9" name="Shape 6"/>
          <p:cNvSpPr/>
          <p:nvPr/>
        </p:nvSpPr>
        <p:spPr>
          <a:xfrm>
            <a:off x="457200" y="1188720"/>
            <a:ext cx="1620317" cy="246888"/>
          </a:xfrm>
          <a:prstGeom prst="roundRect">
            <a:avLst/>
          </a:prstGeom>
          <a:solidFill>
            <a:srgbClr val="B64A2D"/>
          </a:solidFill>
          <a:ln w="5080">
            <a:solidFill>
              <a:srgbClr val="B64A2D"/>
            </a:solidFill>
            <a:prstDash val="solid"/>
          </a:ln>
        </p:spPr>
      </p:sp>
      <p:sp>
        <p:nvSpPr>
          <p:cNvPr id="10" name="Text 7"/>
          <p:cNvSpPr/>
          <p:nvPr/>
        </p:nvSpPr>
        <p:spPr>
          <a:xfrm>
            <a:off x="576072" y="1239012"/>
            <a:ext cx="1382573"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CONSENT-AWARE WORKFLOW</a:t>
            </a:r>
            <a:endParaRPr lang="en-US" sz="720" dirty="0"/>
          </a:p>
        </p:txBody>
      </p:sp>
      <p:sp>
        <p:nvSpPr>
          <p:cNvPr id="11" name="Shape 8"/>
          <p:cNvSpPr/>
          <p:nvPr/>
        </p:nvSpPr>
        <p:spPr>
          <a:xfrm>
            <a:off x="640080" y="1874520"/>
            <a:ext cx="2350008" cy="2651760"/>
          </a:xfrm>
          <a:prstGeom prst="roundRect">
            <a:avLst/>
          </a:prstGeom>
          <a:solidFill>
            <a:srgbClr val="1F2426"/>
          </a:solidFill>
          <a:ln w="11430">
            <a:solidFill>
              <a:srgbClr val="B64A2D"/>
            </a:solidFill>
            <a:prstDash val="solid"/>
          </a:ln>
        </p:spPr>
      </p:sp>
      <p:sp>
        <p:nvSpPr>
          <p:cNvPr id="12" name="Shape 9"/>
          <p:cNvSpPr/>
          <p:nvPr/>
        </p:nvSpPr>
        <p:spPr>
          <a:xfrm>
            <a:off x="640080" y="1874520"/>
            <a:ext cx="77724" cy="2651760"/>
          </a:xfrm>
          <a:prstGeom prst="rect">
            <a:avLst/>
          </a:prstGeom>
          <a:solidFill>
            <a:srgbClr val="B64A2D"/>
          </a:solidFill>
          <a:ln w="6350">
            <a:solidFill>
              <a:srgbClr val="B64A2D"/>
            </a:solidFill>
            <a:prstDash val="solid"/>
          </a:ln>
        </p:spPr>
      </p:sp>
      <p:sp>
        <p:nvSpPr>
          <p:cNvPr id="13" name="Shape 10"/>
          <p:cNvSpPr/>
          <p:nvPr/>
        </p:nvSpPr>
        <p:spPr>
          <a:xfrm>
            <a:off x="1389888" y="2240280"/>
            <a:ext cx="822960" cy="822960"/>
          </a:xfrm>
          <a:prstGeom prst="ellipse">
            <a:avLst/>
          </a:prstGeom>
          <a:solidFill>
            <a:srgbClr val="B64A2D"/>
          </a:solidFill>
          <a:ln w="6350">
            <a:solidFill>
              <a:srgbClr val="B64A2D"/>
            </a:solidFill>
            <a:prstDash val="solid"/>
          </a:ln>
        </p:spPr>
      </p:sp>
      <p:sp>
        <p:nvSpPr>
          <p:cNvPr id="14" name="Text 11"/>
          <p:cNvSpPr/>
          <p:nvPr/>
        </p:nvSpPr>
        <p:spPr>
          <a:xfrm>
            <a:off x="1389888" y="2542032"/>
            <a:ext cx="822960" cy="11887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Bahnschrift SemiBold" pitchFamily="34" charset="0"/>
                <a:ea typeface="Bahnschrift SemiBold" pitchFamily="34" charset="-122"/>
                <a:cs typeface="Bahnschrift SemiBold" pitchFamily="34" charset="-120"/>
              </a:rPr>
              <a:t>1</a:t>
            </a:r>
            <a:endParaRPr lang="en-US" sz="1500" dirty="0"/>
          </a:p>
        </p:txBody>
      </p:sp>
      <p:sp>
        <p:nvSpPr>
          <p:cNvPr id="15" name="Text 12"/>
          <p:cNvSpPr/>
          <p:nvPr/>
        </p:nvSpPr>
        <p:spPr>
          <a:xfrm>
            <a:off x="841248" y="3337560"/>
            <a:ext cx="1920240"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Bahnschrift SemiBold" pitchFamily="34" charset="0"/>
                <a:ea typeface="Bahnschrift SemiBold" pitchFamily="34" charset="-122"/>
                <a:cs typeface="Bahnschrift SemiBold" pitchFamily="34" charset="-120"/>
              </a:rPr>
              <a:t>CONSENT</a:t>
            </a:r>
            <a:endParaRPr lang="en-US" sz="1200" dirty="0"/>
          </a:p>
        </p:txBody>
      </p:sp>
      <p:sp>
        <p:nvSpPr>
          <p:cNvPr id="16" name="Text 13"/>
          <p:cNvSpPr/>
          <p:nvPr/>
        </p:nvSpPr>
        <p:spPr>
          <a:xfrm>
            <a:off x="859536" y="3794760"/>
            <a:ext cx="1901952" cy="301752"/>
          </a:xfrm>
          <a:prstGeom prst="rect">
            <a:avLst/>
          </a:prstGeom>
          <a:noFill/>
          <a:ln/>
        </p:spPr>
        <p:txBody>
          <a:bodyPr wrap="square" lIns="0" tIns="0" rIns="0" bIns="0" rtlCol="0" anchor="ctr">
            <a:normAutofit/>
          </a:bodyPr>
          <a:lstStyle/>
          <a:p>
            <a:pPr algn="ctr" indent="0" marL="0">
              <a:buNone/>
            </a:pPr>
            <a:r>
              <a:rPr lang="en-US" sz="860" b="1" dirty="0">
                <a:solidFill>
                  <a:srgbClr val="AEB9BA"/>
                </a:solidFill>
                <a:latin typeface="Aptos" pitchFamily="34" charset="0"/>
                <a:ea typeface="Aptos" pitchFamily="34" charset="-122"/>
                <a:cs typeface="Aptos" pitchFamily="34" charset="-120"/>
              </a:rPr>
              <a:t>fictional / consented</a:t>
            </a:r>
            <a:endParaRPr lang="en-US" sz="860" dirty="0"/>
          </a:p>
          <a:p>
            <a:pPr algn="ctr" indent="0" marL="0">
              <a:buNone/>
            </a:pPr>
            <a:r>
              <a:rPr lang="en-US" sz="860" b="1" dirty="0">
                <a:solidFill>
                  <a:srgbClr val="AEB9BA"/>
                </a:solidFill>
                <a:latin typeface="Aptos" pitchFamily="34" charset="0"/>
                <a:ea typeface="Aptos" pitchFamily="34" charset="-122"/>
                <a:cs typeface="Aptos" pitchFamily="34" charset="-120"/>
              </a:rPr>
              <a:t>synthetic persona</a:t>
            </a:r>
            <a:endParaRPr lang="en-US" sz="860" dirty="0"/>
          </a:p>
        </p:txBody>
      </p:sp>
      <p:sp>
        <p:nvSpPr>
          <p:cNvPr id="17" name="Shape 14"/>
          <p:cNvSpPr/>
          <p:nvPr/>
        </p:nvSpPr>
        <p:spPr>
          <a:xfrm>
            <a:off x="3081528" y="2980944"/>
            <a:ext cx="246888" cy="292608"/>
          </a:xfrm>
          <a:prstGeom prst="chevron">
            <a:avLst/>
          </a:prstGeom>
          <a:solidFill>
            <a:srgbClr val="465057"/>
          </a:solidFill>
          <a:ln w="12700">
            <a:solidFill>
              <a:srgbClr val="465057">
                <a:alpha val="0"/>
              </a:srgbClr>
            </a:solidFill>
            <a:prstDash val="solid"/>
          </a:ln>
        </p:spPr>
      </p:sp>
      <p:sp>
        <p:nvSpPr>
          <p:cNvPr id="18" name="Shape 15"/>
          <p:cNvSpPr/>
          <p:nvPr/>
        </p:nvSpPr>
        <p:spPr>
          <a:xfrm>
            <a:off x="3493008" y="1874520"/>
            <a:ext cx="2350008" cy="2651760"/>
          </a:xfrm>
          <a:prstGeom prst="roundRect">
            <a:avLst/>
          </a:prstGeom>
          <a:solidFill>
            <a:srgbClr val="1F2426"/>
          </a:solidFill>
          <a:ln w="11430">
            <a:solidFill>
              <a:srgbClr val="E3A72F"/>
            </a:solidFill>
            <a:prstDash val="solid"/>
          </a:ln>
        </p:spPr>
      </p:sp>
      <p:sp>
        <p:nvSpPr>
          <p:cNvPr id="19" name="Shape 16"/>
          <p:cNvSpPr/>
          <p:nvPr/>
        </p:nvSpPr>
        <p:spPr>
          <a:xfrm>
            <a:off x="3493008" y="1874520"/>
            <a:ext cx="77724" cy="2651760"/>
          </a:xfrm>
          <a:prstGeom prst="rect">
            <a:avLst/>
          </a:prstGeom>
          <a:solidFill>
            <a:srgbClr val="E3A72F"/>
          </a:solidFill>
          <a:ln w="6350">
            <a:solidFill>
              <a:srgbClr val="E3A72F"/>
            </a:solidFill>
            <a:prstDash val="solid"/>
          </a:ln>
        </p:spPr>
      </p:sp>
      <p:sp>
        <p:nvSpPr>
          <p:cNvPr id="20" name="Shape 17"/>
          <p:cNvSpPr/>
          <p:nvPr/>
        </p:nvSpPr>
        <p:spPr>
          <a:xfrm>
            <a:off x="4242816" y="2240280"/>
            <a:ext cx="822960" cy="822960"/>
          </a:xfrm>
          <a:prstGeom prst="ellipse">
            <a:avLst/>
          </a:prstGeom>
          <a:solidFill>
            <a:srgbClr val="E3A72F"/>
          </a:solidFill>
          <a:ln w="6350">
            <a:solidFill>
              <a:srgbClr val="E3A72F"/>
            </a:solidFill>
            <a:prstDash val="solid"/>
          </a:ln>
        </p:spPr>
      </p:sp>
      <p:sp>
        <p:nvSpPr>
          <p:cNvPr id="21" name="Text 18"/>
          <p:cNvSpPr/>
          <p:nvPr/>
        </p:nvSpPr>
        <p:spPr>
          <a:xfrm>
            <a:off x="4242816" y="2542032"/>
            <a:ext cx="822960" cy="11887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Bahnschrift SemiBold" pitchFamily="34" charset="0"/>
                <a:ea typeface="Bahnschrift SemiBold" pitchFamily="34" charset="-122"/>
                <a:cs typeface="Bahnschrift SemiBold" pitchFamily="34" charset="-120"/>
              </a:rPr>
              <a:t>2</a:t>
            </a:r>
            <a:endParaRPr lang="en-US" sz="1500" dirty="0"/>
          </a:p>
        </p:txBody>
      </p:sp>
      <p:sp>
        <p:nvSpPr>
          <p:cNvPr id="22" name="Text 19"/>
          <p:cNvSpPr/>
          <p:nvPr/>
        </p:nvSpPr>
        <p:spPr>
          <a:xfrm>
            <a:off x="3694176" y="3337560"/>
            <a:ext cx="1920240"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Bahnschrift SemiBold" pitchFamily="34" charset="0"/>
                <a:ea typeface="Bahnschrift SemiBold" pitchFamily="34" charset="-122"/>
                <a:cs typeface="Bahnschrift SemiBold" pitchFamily="34" charset="-120"/>
              </a:rPr>
              <a:t>SPEECH</a:t>
            </a:r>
            <a:endParaRPr lang="en-US" sz="1200" dirty="0"/>
          </a:p>
        </p:txBody>
      </p:sp>
      <p:sp>
        <p:nvSpPr>
          <p:cNvPr id="23" name="Text 20"/>
          <p:cNvSpPr/>
          <p:nvPr/>
        </p:nvSpPr>
        <p:spPr>
          <a:xfrm>
            <a:off x="3712464" y="3794760"/>
            <a:ext cx="1901952" cy="301752"/>
          </a:xfrm>
          <a:prstGeom prst="rect">
            <a:avLst/>
          </a:prstGeom>
          <a:noFill/>
          <a:ln/>
        </p:spPr>
        <p:txBody>
          <a:bodyPr wrap="square" lIns="0" tIns="0" rIns="0" bIns="0" rtlCol="0" anchor="ctr">
            <a:normAutofit/>
          </a:bodyPr>
          <a:lstStyle/>
          <a:p>
            <a:pPr algn="ctr" indent="0" marL="0">
              <a:buNone/>
            </a:pPr>
            <a:r>
              <a:rPr lang="en-US" sz="860" b="1" dirty="0">
                <a:solidFill>
                  <a:srgbClr val="AEB9BA"/>
                </a:solidFill>
                <a:latin typeface="Aptos" pitchFamily="34" charset="0"/>
                <a:ea typeface="Aptos" pitchFamily="34" charset="-122"/>
                <a:cs typeface="Aptos" pitchFamily="34" charset="-120"/>
              </a:rPr>
              <a:t>Fast Transcription</a:t>
            </a:r>
            <a:endParaRPr lang="en-US" sz="860" dirty="0"/>
          </a:p>
          <a:p>
            <a:pPr algn="ctr" indent="0" marL="0">
              <a:buNone/>
            </a:pPr>
            <a:r>
              <a:rPr lang="en-US" sz="860" b="1" dirty="0">
                <a:solidFill>
                  <a:srgbClr val="AEB9BA"/>
                </a:solidFill>
                <a:latin typeface="Aptos" pitchFamily="34" charset="0"/>
                <a:ea typeface="Aptos" pitchFamily="34" charset="-122"/>
                <a:cs typeface="Aptos" pitchFamily="34" charset="-120"/>
              </a:rPr>
              <a:t>speaker + confidence</a:t>
            </a:r>
            <a:endParaRPr lang="en-US" sz="860" dirty="0"/>
          </a:p>
        </p:txBody>
      </p:sp>
      <p:sp>
        <p:nvSpPr>
          <p:cNvPr id="24" name="Shape 21"/>
          <p:cNvSpPr/>
          <p:nvPr/>
        </p:nvSpPr>
        <p:spPr>
          <a:xfrm>
            <a:off x="5934456" y="2980944"/>
            <a:ext cx="246888" cy="292608"/>
          </a:xfrm>
          <a:prstGeom prst="chevron">
            <a:avLst/>
          </a:prstGeom>
          <a:solidFill>
            <a:srgbClr val="465057"/>
          </a:solidFill>
          <a:ln w="12700">
            <a:solidFill>
              <a:srgbClr val="465057">
                <a:alpha val="0"/>
              </a:srgbClr>
            </a:solidFill>
            <a:prstDash val="solid"/>
          </a:ln>
        </p:spPr>
      </p:sp>
      <p:sp>
        <p:nvSpPr>
          <p:cNvPr id="25" name="Shape 22"/>
          <p:cNvSpPr/>
          <p:nvPr/>
        </p:nvSpPr>
        <p:spPr>
          <a:xfrm>
            <a:off x="6345936" y="1874520"/>
            <a:ext cx="2350008" cy="2651760"/>
          </a:xfrm>
          <a:prstGeom prst="roundRect">
            <a:avLst/>
          </a:prstGeom>
          <a:solidFill>
            <a:srgbClr val="1F2426"/>
          </a:solidFill>
          <a:ln w="11430">
            <a:solidFill>
              <a:srgbClr val="147D74"/>
            </a:solidFill>
            <a:prstDash val="solid"/>
          </a:ln>
        </p:spPr>
      </p:sp>
      <p:sp>
        <p:nvSpPr>
          <p:cNvPr id="26" name="Shape 23"/>
          <p:cNvSpPr/>
          <p:nvPr/>
        </p:nvSpPr>
        <p:spPr>
          <a:xfrm>
            <a:off x="6345936" y="1874520"/>
            <a:ext cx="77724" cy="2651760"/>
          </a:xfrm>
          <a:prstGeom prst="rect">
            <a:avLst/>
          </a:prstGeom>
          <a:solidFill>
            <a:srgbClr val="147D74"/>
          </a:solidFill>
          <a:ln w="6350">
            <a:solidFill>
              <a:srgbClr val="147D74"/>
            </a:solidFill>
            <a:prstDash val="solid"/>
          </a:ln>
        </p:spPr>
      </p:sp>
      <p:sp>
        <p:nvSpPr>
          <p:cNvPr id="27" name="Shape 24"/>
          <p:cNvSpPr/>
          <p:nvPr/>
        </p:nvSpPr>
        <p:spPr>
          <a:xfrm>
            <a:off x="7095744" y="2240280"/>
            <a:ext cx="822960" cy="822960"/>
          </a:xfrm>
          <a:prstGeom prst="ellipse">
            <a:avLst/>
          </a:prstGeom>
          <a:solidFill>
            <a:srgbClr val="147D74"/>
          </a:solidFill>
          <a:ln w="6350">
            <a:solidFill>
              <a:srgbClr val="147D74"/>
            </a:solidFill>
            <a:prstDash val="solid"/>
          </a:ln>
        </p:spPr>
      </p:sp>
      <p:sp>
        <p:nvSpPr>
          <p:cNvPr id="28" name="Text 25"/>
          <p:cNvSpPr/>
          <p:nvPr/>
        </p:nvSpPr>
        <p:spPr>
          <a:xfrm>
            <a:off x="7095744" y="2542032"/>
            <a:ext cx="822960" cy="11887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Bahnschrift SemiBold" pitchFamily="34" charset="0"/>
                <a:ea typeface="Bahnschrift SemiBold" pitchFamily="34" charset="-122"/>
                <a:cs typeface="Bahnschrift SemiBold" pitchFamily="34" charset="-120"/>
              </a:rPr>
              <a:t>3</a:t>
            </a:r>
            <a:endParaRPr lang="en-US" sz="1500" dirty="0"/>
          </a:p>
        </p:txBody>
      </p:sp>
      <p:sp>
        <p:nvSpPr>
          <p:cNvPr id="29" name="Text 26"/>
          <p:cNvSpPr/>
          <p:nvPr/>
        </p:nvSpPr>
        <p:spPr>
          <a:xfrm>
            <a:off x="6547104" y="3337560"/>
            <a:ext cx="1920240"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Bahnschrift SemiBold" pitchFamily="34" charset="0"/>
                <a:ea typeface="Bahnschrift SemiBold" pitchFamily="34" charset="-122"/>
                <a:cs typeface="Bahnschrift SemiBold" pitchFamily="34" charset="-120"/>
              </a:rPr>
              <a:t>EXTRACT</a:t>
            </a:r>
            <a:endParaRPr lang="en-US" sz="1200" dirty="0"/>
          </a:p>
        </p:txBody>
      </p:sp>
      <p:sp>
        <p:nvSpPr>
          <p:cNvPr id="30" name="Text 27"/>
          <p:cNvSpPr/>
          <p:nvPr/>
        </p:nvSpPr>
        <p:spPr>
          <a:xfrm>
            <a:off x="6565392" y="3794760"/>
            <a:ext cx="1901952" cy="301752"/>
          </a:xfrm>
          <a:prstGeom prst="rect">
            <a:avLst/>
          </a:prstGeom>
          <a:noFill/>
          <a:ln/>
        </p:spPr>
        <p:txBody>
          <a:bodyPr wrap="square" lIns="0" tIns="0" rIns="0" bIns="0" rtlCol="0" anchor="ctr">
            <a:normAutofit/>
          </a:bodyPr>
          <a:lstStyle/>
          <a:p>
            <a:pPr algn="ctr" indent="0" marL="0">
              <a:buNone/>
            </a:pPr>
            <a:r>
              <a:rPr lang="en-US" sz="860" b="1" dirty="0">
                <a:solidFill>
                  <a:srgbClr val="AEB9BA"/>
                </a:solidFill>
                <a:latin typeface="Aptos" pitchFamily="34" charset="0"/>
                <a:ea typeface="Aptos" pitchFamily="34" charset="-122"/>
                <a:cs typeface="Aptos" pitchFamily="34" charset="-120"/>
              </a:rPr>
              <a:t>trigger • check • rationale</a:t>
            </a:r>
            <a:endParaRPr lang="en-US" sz="860" dirty="0"/>
          </a:p>
          <a:p>
            <a:pPr algn="ctr" indent="0" marL="0">
              <a:buNone/>
            </a:pPr>
            <a:r>
              <a:rPr lang="en-US" sz="860" b="1" dirty="0">
                <a:solidFill>
                  <a:srgbClr val="AEB9BA"/>
                </a:solidFill>
                <a:latin typeface="Aptos" pitchFamily="34" charset="0"/>
                <a:ea typeface="Aptos" pitchFamily="34" charset="-122"/>
                <a:cs typeface="Aptos" pitchFamily="34" charset="-120"/>
              </a:rPr>
              <a:t>safety boundary • citations</a:t>
            </a:r>
            <a:endParaRPr lang="en-US" sz="860" dirty="0"/>
          </a:p>
        </p:txBody>
      </p:sp>
      <p:sp>
        <p:nvSpPr>
          <p:cNvPr id="31" name="Shape 28"/>
          <p:cNvSpPr/>
          <p:nvPr/>
        </p:nvSpPr>
        <p:spPr>
          <a:xfrm>
            <a:off x="8787384" y="2980944"/>
            <a:ext cx="246888" cy="292608"/>
          </a:xfrm>
          <a:prstGeom prst="chevron">
            <a:avLst/>
          </a:prstGeom>
          <a:solidFill>
            <a:srgbClr val="465057"/>
          </a:solidFill>
          <a:ln w="12700">
            <a:solidFill>
              <a:srgbClr val="465057">
                <a:alpha val="0"/>
              </a:srgbClr>
            </a:solidFill>
            <a:prstDash val="solid"/>
          </a:ln>
        </p:spPr>
      </p:sp>
      <p:sp>
        <p:nvSpPr>
          <p:cNvPr id="32" name="Shape 29"/>
          <p:cNvSpPr/>
          <p:nvPr/>
        </p:nvSpPr>
        <p:spPr>
          <a:xfrm>
            <a:off x="9198864" y="1874520"/>
            <a:ext cx="2350008" cy="2651760"/>
          </a:xfrm>
          <a:prstGeom prst="roundRect">
            <a:avLst/>
          </a:prstGeom>
          <a:solidFill>
            <a:srgbClr val="1F2426"/>
          </a:solidFill>
          <a:ln w="11430">
            <a:solidFill>
              <a:srgbClr val="6D9A6F"/>
            </a:solidFill>
            <a:prstDash val="solid"/>
          </a:ln>
        </p:spPr>
      </p:sp>
      <p:sp>
        <p:nvSpPr>
          <p:cNvPr id="33" name="Shape 30"/>
          <p:cNvSpPr/>
          <p:nvPr/>
        </p:nvSpPr>
        <p:spPr>
          <a:xfrm>
            <a:off x="9198864" y="1874520"/>
            <a:ext cx="77724" cy="2651760"/>
          </a:xfrm>
          <a:prstGeom prst="rect">
            <a:avLst/>
          </a:prstGeom>
          <a:solidFill>
            <a:srgbClr val="6D9A6F"/>
          </a:solidFill>
          <a:ln w="6350">
            <a:solidFill>
              <a:srgbClr val="6D9A6F"/>
            </a:solidFill>
            <a:prstDash val="solid"/>
          </a:ln>
        </p:spPr>
      </p:sp>
      <p:sp>
        <p:nvSpPr>
          <p:cNvPr id="34" name="Shape 31"/>
          <p:cNvSpPr/>
          <p:nvPr/>
        </p:nvSpPr>
        <p:spPr>
          <a:xfrm>
            <a:off x="9948672" y="2240280"/>
            <a:ext cx="822960" cy="822960"/>
          </a:xfrm>
          <a:prstGeom prst="ellipse">
            <a:avLst/>
          </a:prstGeom>
          <a:solidFill>
            <a:srgbClr val="6D9A6F"/>
          </a:solidFill>
          <a:ln w="6350">
            <a:solidFill>
              <a:srgbClr val="6D9A6F"/>
            </a:solidFill>
            <a:prstDash val="solid"/>
          </a:ln>
        </p:spPr>
      </p:sp>
      <p:sp>
        <p:nvSpPr>
          <p:cNvPr id="35" name="Text 32"/>
          <p:cNvSpPr/>
          <p:nvPr/>
        </p:nvSpPr>
        <p:spPr>
          <a:xfrm>
            <a:off x="9948672" y="2542032"/>
            <a:ext cx="822960" cy="11887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Bahnschrift SemiBold" pitchFamily="34" charset="0"/>
                <a:ea typeface="Bahnschrift SemiBold" pitchFamily="34" charset="-122"/>
                <a:cs typeface="Bahnschrift SemiBold" pitchFamily="34" charset="-120"/>
              </a:rPr>
              <a:t>4</a:t>
            </a:r>
            <a:endParaRPr lang="en-US" sz="1500" dirty="0"/>
          </a:p>
        </p:txBody>
      </p:sp>
      <p:sp>
        <p:nvSpPr>
          <p:cNvPr id="36" name="Text 33"/>
          <p:cNvSpPr/>
          <p:nvPr/>
        </p:nvSpPr>
        <p:spPr>
          <a:xfrm>
            <a:off x="9400032" y="3337560"/>
            <a:ext cx="1920240"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Bahnschrift SemiBold" pitchFamily="34" charset="0"/>
                <a:ea typeface="Bahnschrift SemiBold" pitchFamily="34" charset="-122"/>
                <a:cs typeface="Bahnschrift SemiBold" pitchFamily="34" charset="-120"/>
              </a:rPr>
              <a:t>DRAFT</a:t>
            </a:r>
            <a:endParaRPr lang="en-US" sz="1200" dirty="0"/>
          </a:p>
        </p:txBody>
      </p:sp>
      <p:sp>
        <p:nvSpPr>
          <p:cNvPr id="37" name="Text 34"/>
          <p:cNvSpPr/>
          <p:nvPr/>
        </p:nvSpPr>
        <p:spPr>
          <a:xfrm>
            <a:off x="9418320" y="3794760"/>
            <a:ext cx="1901952" cy="301752"/>
          </a:xfrm>
          <a:prstGeom prst="rect">
            <a:avLst/>
          </a:prstGeom>
          <a:noFill/>
          <a:ln/>
        </p:spPr>
        <p:txBody>
          <a:bodyPr wrap="square" lIns="0" tIns="0" rIns="0" bIns="0" rtlCol="0" anchor="ctr">
            <a:normAutofit/>
          </a:bodyPr>
          <a:lstStyle/>
          <a:p>
            <a:pPr algn="ctr" indent="0" marL="0">
              <a:buNone/>
            </a:pPr>
            <a:r>
              <a:rPr lang="en-US" sz="860" b="1" dirty="0">
                <a:solidFill>
                  <a:srgbClr val="AEB9BA"/>
                </a:solidFill>
                <a:latin typeface="Aptos" pitchFamily="34" charset="0"/>
                <a:ea typeface="Aptos" pitchFamily="34" charset="-122"/>
                <a:cs typeface="Aptos" pitchFamily="34" charset="-120"/>
              </a:rPr>
              <a:t>expert review required</a:t>
            </a:r>
            <a:endParaRPr lang="en-US" sz="860" dirty="0"/>
          </a:p>
          <a:p>
            <a:pPr algn="ctr" indent="0" marL="0">
              <a:buNone/>
            </a:pPr>
            <a:r>
              <a:rPr lang="en-US" sz="860" b="1" dirty="0">
                <a:solidFill>
                  <a:srgbClr val="AEB9BA"/>
                </a:solidFill>
                <a:latin typeface="Aptos" pitchFamily="34" charset="0"/>
                <a:ea typeface="Aptos" pitchFamily="34" charset="-122"/>
                <a:cs typeface="Aptos" pitchFamily="34" charset="-120"/>
              </a:rPr>
              <a:t>not operational instruction</a:t>
            </a:r>
            <a:endParaRPr lang="en-US" sz="860" dirty="0"/>
          </a:p>
        </p:txBody>
      </p:sp>
      <p:sp>
        <p:nvSpPr>
          <p:cNvPr id="38" name="Shape 35"/>
          <p:cNvSpPr/>
          <p:nvPr/>
        </p:nvSpPr>
        <p:spPr>
          <a:xfrm>
            <a:off x="640080" y="5157216"/>
            <a:ext cx="10972800" cy="566928"/>
          </a:xfrm>
          <a:prstGeom prst="roundRect">
            <a:avLst/>
          </a:prstGeom>
          <a:solidFill>
            <a:srgbClr val="1F2426"/>
          </a:solidFill>
          <a:ln w="8890">
            <a:solidFill>
              <a:srgbClr val="465057"/>
            </a:solidFill>
            <a:prstDash val="solid"/>
          </a:ln>
        </p:spPr>
      </p:sp>
      <p:sp>
        <p:nvSpPr>
          <p:cNvPr id="39" name="Text 36"/>
          <p:cNvSpPr/>
          <p:nvPr/>
        </p:nvSpPr>
        <p:spPr>
          <a:xfrm>
            <a:off x="914400" y="5358384"/>
            <a:ext cx="10387584" cy="128016"/>
          </a:xfrm>
          <a:prstGeom prst="rect">
            <a:avLst/>
          </a:prstGeom>
          <a:noFill/>
          <a:ln/>
        </p:spPr>
        <p:txBody>
          <a:bodyPr wrap="square" lIns="0" tIns="0" rIns="0" bIns="0" rtlCol="0" anchor="ctr">
            <a:normAutofit/>
          </a:bodyPr>
          <a:lstStyle/>
          <a:p>
            <a:pPr algn="ctr" indent="0" marL="0">
              <a:buNone/>
            </a:pPr>
            <a:r>
              <a:rPr lang="en-US" sz="1060" b="1" dirty="0">
                <a:solidFill>
                  <a:srgbClr val="FFFFFF"/>
                </a:solidFill>
                <a:latin typeface="Aptos" pitchFamily="34" charset="0"/>
                <a:ea typeface="Aptos" pitchFamily="34" charset="-122"/>
                <a:cs typeface="Aptos" pitchFamily="34" charset="-120"/>
              </a:rPr>
              <a:t>The draft cannot publish. A Knowledge Engineer edits, approves, and versions it before it enters general retrieval.</a:t>
            </a:r>
            <a:endParaRPr lang="en-US" sz="1060" dirty="0"/>
          </a:p>
        </p:txBody>
      </p:sp>
      <p:sp>
        <p:nvSpPr>
          <p:cNvPr id="40" name="Text 37"/>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AEB9BA"/>
                </a:solidFill>
                <a:latin typeface="Aptos" pitchFamily="34" charset="0"/>
                <a:ea typeface="Aptos" pitchFamily="34" charset="-122"/>
                <a:cs typeface="Aptos" pitchFamily="34" charset="-120"/>
              </a:rPr>
              <a:t>Source cue | solution-architecture.md §4.3  •  demo-runbook.md §7  •  security-governance-and-threat-model.md §13</a:t>
            </a:r>
            <a:endParaRPr lang="en-US" sz="660" dirty="0"/>
          </a:p>
        </p:txBody>
      </p:sp>
      <p:sp>
        <p:nvSpPr>
          <p:cNvPr id="41" name="Shape 38"/>
          <p:cNvSpPr/>
          <p:nvPr/>
        </p:nvSpPr>
        <p:spPr>
          <a:xfrm>
            <a:off x="0" y="6483096"/>
            <a:ext cx="12191695" cy="374904"/>
          </a:xfrm>
          <a:prstGeom prst="rect">
            <a:avLst/>
          </a:prstGeom>
          <a:solidFill>
            <a:srgbClr val="1F2426"/>
          </a:solidFill>
          <a:ln w="6350">
            <a:solidFill>
              <a:srgbClr val="1F2426"/>
            </a:solidFill>
            <a:prstDash val="solid"/>
          </a:ln>
        </p:spPr>
      </p:sp>
      <p:sp>
        <p:nvSpPr>
          <p:cNvPr id="42" name="Shape 39"/>
          <p:cNvSpPr/>
          <p:nvPr/>
        </p:nvSpPr>
        <p:spPr>
          <a:xfrm>
            <a:off x="384048" y="6547104"/>
            <a:ext cx="3547872" cy="182880"/>
          </a:xfrm>
          <a:prstGeom prst="roundRect">
            <a:avLst/>
          </a:prstGeom>
          <a:solidFill>
            <a:srgbClr val="465057"/>
          </a:solidFill>
          <a:ln w="3175">
            <a:solidFill>
              <a:srgbClr val="465057"/>
            </a:solidFill>
            <a:prstDash val="solid"/>
          </a:ln>
        </p:spPr>
      </p:sp>
      <p:sp>
        <p:nvSpPr>
          <p:cNvPr id="43" name="Text 40"/>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DDE4E1"/>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44" name="Text 41"/>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DDE4E1"/>
                </a:solidFill>
                <a:latin typeface="Aptos" pitchFamily="34" charset="0"/>
                <a:ea typeface="Aptos" pitchFamily="34" charset="-122"/>
                <a:cs typeface="Aptos" pitchFamily="34" charset="-120"/>
              </a:rPr>
              <a:t>ORAL DEFENSE  •  15 / 20</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465057"/>
          </a:solidFill>
          <a:ln w="5080">
            <a:solidFill>
              <a:srgbClr val="465057"/>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16</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GOVERNANCE BY DESIGN</a:t>
            </a:r>
            <a:endParaRPr lang="en-US" sz="810" dirty="0"/>
          </a:p>
        </p:txBody>
      </p:sp>
      <p:sp>
        <p:nvSpPr>
          <p:cNvPr id="7" name="Shape 5"/>
          <p:cNvSpPr/>
          <p:nvPr/>
        </p:nvSpPr>
        <p:spPr>
          <a:xfrm>
            <a:off x="10040112" y="274320"/>
            <a:ext cx="1673352" cy="256032"/>
          </a:xfrm>
          <a:prstGeom prst="roundRect">
            <a:avLst/>
          </a:prstGeom>
          <a:solidFill>
            <a:srgbClr val="FFFFFF"/>
          </a:solidFill>
          <a:ln w="6350">
            <a:solidFill>
              <a:srgbClr val="DDE4E1"/>
            </a:solidFill>
            <a:prstDash val="solid"/>
          </a:ln>
        </p:spPr>
      </p:sp>
      <p:sp>
        <p:nvSpPr>
          <p:cNvPr id="8" name="Text 6"/>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687373"/>
                </a:solidFill>
                <a:latin typeface="Aptos" pitchFamily="34" charset="0"/>
                <a:ea typeface="Aptos" pitchFamily="34" charset="-122"/>
                <a:cs typeface="Aptos" pitchFamily="34" charset="-120"/>
              </a:rPr>
              <a:t>22:30–24:30</a:t>
            </a:r>
            <a:endParaRPr lang="en-US" sz="720" dirty="0"/>
          </a:p>
        </p:txBody>
      </p:sp>
      <p:sp>
        <p:nvSpPr>
          <p:cNvPr id="9" name="Text 7"/>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Responsible AI: enforceable controls, not a policy poster</a:t>
            </a:r>
            <a:endParaRPr lang="en-US" sz="2550" dirty="0"/>
          </a:p>
        </p:txBody>
      </p:sp>
      <p:sp>
        <p:nvSpPr>
          <p:cNvPr id="10" name="Shape 8"/>
          <p:cNvSpPr/>
          <p:nvPr/>
        </p:nvSpPr>
        <p:spPr>
          <a:xfrm>
            <a:off x="457200" y="1188720"/>
            <a:ext cx="1861718" cy="246888"/>
          </a:xfrm>
          <a:prstGeom prst="roundRect">
            <a:avLst/>
          </a:prstGeom>
          <a:solidFill>
            <a:srgbClr val="B64A2D"/>
          </a:solidFill>
          <a:ln w="5080">
            <a:solidFill>
              <a:srgbClr val="B64A2D"/>
            </a:solidFill>
            <a:prstDash val="solid"/>
          </a:ln>
        </p:spPr>
      </p:sp>
      <p:sp>
        <p:nvSpPr>
          <p:cNvPr id="11" name="Text 9"/>
          <p:cNvSpPr/>
          <p:nvPr/>
        </p:nvSpPr>
        <p:spPr>
          <a:xfrm>
            <a:off x="576072" y="1239012"/>
            <a:ext cx="1623974"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HIGH-RISK-ADJACENT POSTURE</a:t>
            </a:r>
            <a:endParaRPr lang="en-US" sz="720" dirty="0"/>
          </a:p>
        </p:txBody>
      </p:sp>
      <p:sp>
        <p:nvSpPr>
          <p:cNvPr id="12" name="Shape 10"/>
          <p:cNvSpPr/>
          <p:nvPr/>
        </p:nvSpPr>
        <p:spPr>
          <a:xfrm>
            <a:off x="502920" y="2807208"/>
            <a:ext cx="2331720" cy="2286000"/>
          </a:xfrm>
          <a:prstGeom prst="roundRect">
            <a:avLst/>
          </a:prstGeom>
          <a:solidFill>
            <a:srgbClr val="FFFFFF"/>
          </a:solidFill>
          <a:ln w="13970">
            <a:solidFill>
              <a:srgbClr val="B64A2D"/>
            </a:solidFill>
            <a:prstDash val="solid"/>
          </a:ln>
        </p:spPr>
      </p:sp>
      <p:sp>
        <p:nvSpPr>
          <p:cNvPr id="13" name="Shape 11"/>
          <p:cNvSpPr/>
          <p:nvPr/>
        </p:nvSpPr>
        <p:spPr>
          <a:xfrm>
            <a:off x="502920" y="2807208"/>
            <a:ext cx="2331720" cy="109728"/>
          </a:xfrm>
          <a:prstGeom prst="rect">
            <a:avLst/>
          </a:prstGeom>
          <a:solidFill>
            <a:srgbClr val="B64A2D"/>
          </a:solidFill>
          <a:ln w="6350">
            <a:solidFill>
              <a:srgbClr val="B64A2D"/>
            </a:solidFill>
            <a:prstDash val="solid"/>
          </a:ln>
        </p:spPr>
      </p:sp>
      <p:sp>
        <p:nvSpPr>
          <p:cNvPr id="14" name="Text 12"/>
          <p:cNvSpPr/>
          <p:nvPr/>
        </p:nvSpPr>
        <p:spPr>
          <a:xfrm>
            <a:off x="685800" y="3200400"/>
            <a:ext cx="1965960" cy="219456"/>
          </a:xfrm>
          <a:prstGeom prst="rect">
            <a:avLst/>
          </a:prstGeom>
          <a:noFill/>
          <a:ln/>
        </p:spPr>
        <p:txBody>
          <a:bodyPr wrap="square" lIns="0" tIns="0" rIns="0" bIns="0" rtlCol="0" anchor="ctr">
            <a:normAutofit/>
          </a:bodyPr>
          <a:lstStyle/>
          <a:p>
            <a:pPr algn="ctr" indent="0" marL="0">
              <a:buNone/>
            </a:pPr>
            <a:r>
              <a:rPr lang="en-US" sz="1140" b="1" dirty="0">
                <a:solidFill>
                  <a:srgbClr val="202729"/>
                </a:solidFill>
                <a:latin typeface="Bahnschrift SemiBold" pitchFamily="34" charset="0"/>
                <a:ea typeface="Bahnschrift SemiBold" pitchFamily="34" charset="-122"/>
                <a:cs typeface="Bahnschrift SemiBold" pitchFamily="34" charset="-120"/>
              </a:rPr>
              <a:t>Legal classification</a:t>
            </a:r>
            <a:endParaRPr lang="en-US" sz="1140" dirty="0"/>
          </a:p>
        </p:txBody>
      </p:sp>
      <p:sp>
        <p:nvSpPr>
          <p:cNvPr id="15" name="Text 13"/>
          <p:cNvSpPr/>
          <p:nvPr/>
        </p:nvSpPr>
        <p:spPr>
          <a:xfrm>
            <a:off x="685800" y="3840480"/>
            <a:ext cx="1965960" cy="420624"/>
          </a:xfrm>
          <a:prstGeom prst="rect">
            <a:avLst/>
          </a:prstGeom>
          <a:noFill/>
          <a:ln/>
        </p:spPr>
        <p:txBody>
          <a:bodyPr wrap="square" lIns="0" tIns="0" rIns="0" bIns="0" rtlCol="0" anchor="ctr">
            <a:normAutofit/>
          </a:bodyPr>
          <a:lstStyle/>
          <a:p>
            <a:pPr algn="ctr" indent="0" marL="0">
              <a:buNone/>
            </a:pPr>
            <a:r>
              <a:rPr lang="en-US" sz="830" dirty="0">
                <a:solidFill>
                  <a:srgbClr val="687373"/>
                </a:solidFill>
                <a:latin typeface="Aptos" pitchFamily="34" charset="0"/>
                <a:ea typeface="Aptos" pitchFamily="34" charset="-122"/>
                <a:cs typeface="Aptos" pitchFamily="34" charset="-120"/>
              </a:rPr>
              <a:t>EU AI Act gate before non-synthetic processing</a:t>
            </a:r>
            <a:endParaRPr lang="en-US" sz="830" dirty="0"/>
          </a:p>
        </p:txBody>
      </p:sp>
      <p:sp>
        <p:nvSpPr>
          <p:cNvPr id="16" name="Shape 14"/>
          <p:cNvSpPr/>
          <p:nvPr/>
        </p:nvSpPr>
        <p:spPr>
          <a:xfrm>
            <a:off x="3182112" y="2496312"/>
            <a:ext cx="2331720" cy="2075688"/>
          </a:xfrm>
          <a:prstGeom prst="roundRect">
            <a:avLst/>
          </a:prstGeom>
          <a:solidFill>
            <a:srgbClr val="FFFFFF"/>
          </a:solidFill>
          <a:ln w="13970">
            <a:solidFill>
              <a:srgbClr val="E3A72F"/>
            </a:solidFill>
            <a:prstDash val="solid"/>
          </a:ln>
        </p:spPr>
      </p:sp>
      <p:sp>
        <p:nvSpPr>
          <p:cNvPr id="17" name="Shape 15"/>
          <p:cNvSpPr/>
          <p:nvPr/>
        </p:nvSpPr>
        <p:spPr>
          <a:xfrm>
            <a:off x="3182112" y="2496312"/>
            <a:ext cx="2331720" cy="109728"/>
          </a:xfrm>
          <a:prstGeom prst="rect">
            <a:avLst/>
          </a:prstGeom>
          <a:solidFill>
            <a:srgbClr val="E3A72F"/>
          </a:solidFill>
          <a:ln w="6350">
            <a:solidFill>
              <a:srgbClr val="E3A72F"/>
            </a:solidFill>
            <a:prstDash val="solid"/>
          </a:ln>
        </p:spPr>
      </p:sp>
      <p:sp>
        <p:nvSpPr>
          <p:cNvPr id="18" name="Text 16"/>
          <p:cNvSpPr/>
          <p:nvPr/>
        </p:nvSpPr>
        <p:spPr>
          <a:xfrm>
            <a:off x="3364992" y="2889504"/>
            <a:ext cx="1965960" cy="219456"/>
          </a:xfrm>
          <a:prstGeom prst="rect">
            <a:avLst/>
          </a:prstGeom>
          <a:noFill/>
          <a:ln/>
        </p:spPr>
        <p:txBody>
          <a:bodyPr wrap="square" lIns="0" tIns="0" rIns="0" bIns="0" rtlCol="0" anchor="ctr">
            <a:normAutofit/>
          </a:bodyPr>
          <a:lstStyle/>
          <a:p>
            <a:pPr algn="ctr" indent="0" marL="0">
              <a:buNone/>
            </a:pPr>
            <a:r>
              <a:rPr lang="en-US" sz="1140" b="1" dirty="0">
                <a:solidFill>
                  <a:srgbClr val="202729"/>
                </a:solidFill>
                <a:latin typeface="Bahnschrift SemiBold" pitchFamily="34" charset="0"/>
                <a:ea typeface="Bahnschrift SemiBold" pitchFamily="34" charset="-122"/>
                <a:cs typeface="Bahnschrift SemiBold" pitchFamily="34" charset="-120"/>
              </a:rPr>
              <a:t>RAI review board</a:t>
            </a:r>
            <a:endParaRPr lang="en-US" sz="1140" dirty="0"/>
          </a:p>
        </p:txBody>
      </p:sp>
      <p:sp>
        <p:nvSpPr>
          <p:cNvPr id="19" name="Text 17"/>
          <p:cNvSpPr/>
          <p:nvPr/>
        </p:nvSpPr>
        <p:spPr>
          <a:xfrm>
            <a:off x="3364992" y="3529584"/>
            <a:ext cx="1965960" cy="420624"/>
          </a:xfrm>
          <a:prstGeom prst="rect">
            <a:avLst/>
          </a:prstGeom>
          <a:noFill/>
          <a:ln/>
        </p:spPr>
        <p:txBody>
          <a:bodyPr wrap="square" lIns="0" tIns="0" rIns="0" bIns="0" rtlCol="0" anchor="ctr">
            <a:normAutofit/>
          </a:bodyPr>
          <a:lstStyle/>
          <a:p>
            <a:pPr algn="ctr" indent="0" marL="0">
              <a:buNone/>
            </a:pPr>
            <a:r>
              <a:rPr lang="en-US" sz="830" dirty="0">
                <a:solidFill>
                  <a:srgbClr val="687373"/>
                </a:solidFill>
                <a:latin typeface="Aptos" pitchFamily="34" charset="0"/>
                <a:ea typeface="Aptos" pitchFamily="34" charset="-122"/>
                <a:cs typeface="Aptos" pitchFamily="34" charset="-120"/>
              </a:rPr>
              <a:t>Data Science • DPO/Compliance • OT/ICS • Maintenance</a:t>
            </a:r>
            <a:endParaRPr lang="en-US" sz="830" dirty="0"/>
          </a:p>
        </p:txBody>
      </p:sp>
      <p:sp>
        <p:nvSpPr>
          <p:cNvPr id="20" name="Shape 18"/>
          <p:cNvSpPr/>
          <p:nvPr/>
        </p:nvSpPr>
        <p:spPr>
          <a:xfrm>
            <a:off x="5861304" y="2185416"/>
            <a:ext cx="2331720" cy="1865376"/>
          </a:xfrm>
          <a:prstGeom prst="roundRect">
            <a:avLst/>
          </a:prstGeom>
          <a:solidFill>
            <a:srgbClr val="FFFFFF"/>
          </a:solidFill>
          <a:ln w="13970">
            <a:solidFill>
              <a:srgbClr val="147D74"/>
            </a:solidFill>
            <a:prstDash val="solid"/>
          </a:ln>
        </p:spPr>
      </p:sp>
      <p:sp>
        <p:nvSpPr>
          <p:cNvPr id="21" name="Shape 19"/>
          <p:cNvSpPr/>
          <p:nvPr/>
        </p:nvSpPr>
        <p:spPr>
          <a:xfrm>
            <a:off x="5861304" y="2185416"/>
            <a:ext cx="2331720" cy="109728"/>
          </a:xfrm>
          <a:prstGeom prst="rect">
            <a:avLst/>
          </a:prstGeom>
          <a:solidFill>
            <a:srgbClr val="147D74"/>
          </a:solidFill>
          <a:ln w="6350">
            <a:solidFill>
              <a:srgbClr val="147D74"/>
            </a:solidFill>
            <a:prstDash val="solid"/>
          </a:ln>
        </p:spPr>
      </p:sp>
      <p:sp>
        <p:nvSpPr>
          <p:cNvPr id="22" name="Text 20"/>
          <p:cNvSpPr/>
          <p:nvPr/>
        </p:nvSpPr>
        <p:spPr>
          <a:xfrm>
            <a:off x="6044184" y="2578608"/>
            <a:ext cx="1965960" cy="219456"/>
          </a:xfrm>
          <a:prstGeom prst="rect">
            <a:avLst/>
          </a:prstGeom>
          <a:noFill/>
          <a:ln/>
        </p:spPr>
        <p:txBody>
          <a:bodyPr wrap="square" lIns="0" tIns="0" rIns="0" bIns="0" rtlCol="0" anchor="ctr">
            <a:normAutofit/>
          </a:bodyPr>
          <a:lstStyle/>
          <a:p>
            <a:pPr algn="ctr" indent="0" marL="0">
              <a:buNone/>
            </a:pPr>
            <a:r>
              <a:rPr lang="en-US" sz="1140" b="1" dirty="0">
                <a:solidFill>
                  <a:srgbClr val="202729"/>
                </a:solidFill>
                <a:latin typeface="Bahnschrift SemiBold" pitchFamily="34" charset="0"/>
                <a:ea typeface="Bahnschrift SemiBold" pitchFamily="34" charset="-122"/>
                <a:cs typeface="Bahnschrift SemiBold" pitchFamily="34" charset="-120"/>
              </a:rPr>
              <a:t>Human oversight</a:t>
            </a:r>
            <a:endParaRPr lang="en-US" sz="1140" dirty="0"/>
          </a:p>
        </p:txBody>
      </p:sp>
      <p:sp>
        <p:nvSpPr>
          <p:cNvPr id="23" name="Text 21"/>
          <p:cNvSpPr/>
          <p:nvPr/>
        </p:nvSpPr>
        <p:spPr>
          <a:xfrm>
            <a:off x="6044184" y="3218688"/>
            <a:ext cx="1965960" cy="420624"/>
          </a:xfrm>
          <a:prstGeom prst="rect">
            <a:avLst/>
          </a:prstGeom>
          <a:noFill/>
          <a:ln/>
        </p:spPr>
        <p:txBody>
          <a:bodyPr wrap="square" lIns="0" tIns="0" rIns="0" bIns="0" rtlCol="0" anchor="ctr">
            <a:normAutofit/>
          </a:bodyPr>
          <a:lstStyle/>
          <a:p>
            <a:pPr algn="ctr" indent="0" marL="0">
              <a:buNone/>
            </a:pPr>
            <a:r>
              <a:rPr lang="en-US" sz="830" dirty="0">
                <a:solidFill>
                  <a:srgbClr val="687373"/>
                </a:solidFill>
                <a:latin typeface="Aptos" pitchFamily="34" charset="0"/>
                <a:ea typeface="Aptos" pitchFamily="34" charset="-122"/>
                <a:cs typeface="Aptos" pitchFamily="34" charset="-120"/>
              </a:rPr>
              <a:t>approval event is independent of the model response</a:t>
            </a:r>
            <a:endParaRPr lang="en-US" sz="830" dirty="0"/>
          </a:p>
        </p:txBody>
      </p:sp>
      <p:sp>
        <p:nvSpPr>
          <p:cNvPr id="24" name="Shape 22"/>
          <p:cNvSpPr/>
          <p:nvPr/>
        </p:nvSpPr>
        <p:spPr>
          <a:xfrm>
            <a:off x="8540496" y="1874520"/>
            <a:ext cx="2331720" cy="1655064"/>
          </a:xfrm>
          <a:prstGeom prst="roundRect">
            <a:avLst/>
          </a:prstGeom>
          <a:solidFill>
            <a:srgbClr val="FFFFFF"/>
          </a:solidFill>
          <a:ln w="13970">
            <a:solidFill>
              <a:srgbClr val="6D9A6F"/>
            </a:solidFill>
            <a:prstDash val="solid"/>
          </a:ln>
        </p:spPr>
      </p:sp>
      <p:sp>
        <p:nvSpPr>
          <p:cNvPr id="25" name="Shape 23"/>
          <p:cNvSpPr/>
          <p:nvPr/>
        </p:nvSpPr>
        <p:spPr>
          <a:xfrm>
            <a:off x="8540496" y="1874520"/>
            <a:ext cx="2331720" cy="109728"/>
          </a:xfrm>
          <a:prstGeom prst="rect">
            <a:avLst/>
          </a:prstGeom>
          <a:solidFill>
            <a:srgbClr val="6D9A6F"/>
          </a:solidFill>
          <a:ln w="6350">
            <a:solidFill>
              <a:srgbClr val="6D9A6F"/>
            </a:solidFill>
            <a:prstDash val="solid"/>
          </a:ln>
        </p:spPr>
      </p:sp>
      <p:sp>
        <p:nvSpPr>
          <p:cNvPr id="26" name="Text 24"/>
          <p:cNvSpPr/>
          <p:nvPr/>
        </p:nvSpPr>
        <p:spPr>
          <a:xfrm>
            <a:off x="8723376" y="2267712"/>
            <a:ext cx="1965960" cy="219456"/>
          </a:xfrm>
          <a:prstGeom prst="rect">
            <a:avLst/>
          </a:prstGeom>
          <a:noFill/>
          <a:ln/>
        </p:spPr>
        <p:txBody>
          <a:bodyPr wrap="square" lIns="0" tIns="0" rIns="0" bIns="0" rtlCol="0" anchor="ctr">
            <a:normAutofit/>
          </a:bodyPr>
          <a:lstStyle/>
          <a:p>
            <a:pPr algn="ctr" indent="0" marL="0">
              <a:buNone/>
            </a:pPr>
            <a:r>
              <a:rPr lang="en-US" sz="1140" b="1" dirty="0">
                <a:solidFill>
                  <a:srgbClr val="202729"/>
                </a:solidFill>
                <a:latin typeface="Bahnschrift SemiBold" pitchFamily="34" charset="0"/>
                <a:ea typeface="Bahnschrift SemiBold" pitchFamily="34" charset="-122"/>
                <a:cs typeface="Bahnschrift SemiBold" pitchFamily="34" charset="-120"/>
              </a:rPr>
              <a:t>Evidence &amp; audit</a:t>
            </a:r>
            <a:endParaRPr lang="en-US" sz="1140" dirty="0"/>
          </a:p>
        </p:txBody>
      </p:sp>
      <p:sp>
        <p:nvSpPr>
          <p:cNvPr id="27" name="Text 25"/>
          <p:cNvSpPr/>
          <p:nvPr/>
        </p:nvSpPr>
        <p:spPr>
          <a:xfrm>
            <a:off x="8723376" y="2907792"/>
            <a:ext cx="1965960" cy="420624"/>
          </a:xfrm>
          <a:prstGeom prst="rect">
            <a:avLst/>
          </a:prstGeom>
          <a:noFill/>
          <a:ln/>
        </p:spPr>
        <p:txBody>
          <a:bodyPr wrap="square" lIns="0" tIns="0" rIns="0" bIns="0" rtlCol="0" anchor="ctr">
            <a:normAutofit/>
          </a:bodyPr>
          <a:lstStyle/>
          <a:p>
            <a:pPr algn="ctr" indent="0" marL="0">
              <a:buNone/>
            </a:pPr>
            <a:r>
              <a:rPr lang="en-US" sz="830" dirty="0">
                <a:solidFill>
                  <a:srgbClr val="687373"/>
                </a:solidFill>
                <a:latin typeface="Aptos" pitchFamily="34" charset="0"/>
                <a:ea typeface="Aptos" pitchFamily="34" charset="-122"/>
                <a:cs typeface="Aptos" pitchFamily="34" charset="-120"/>
              </a:rPr>
              <a:t>input • version • confidence • rationale • outcome</a:t>
            </a:r>
            <a:endParaRPr lang="en-US" sz="830" dirty="0"/>
          </a:p>
        </p:txBody>
      </p:sp>
      <p:sp>
        <p:nvSpPr>
          <p:cNvPr id="28" name="Shape 26"/>
          <p:cNvSpPr/>
          <p:nvPr/>
        </p:nvSpPr>
        <p:spPr>
          <a:xfrm>
            <a:off x="1664208" y="5074920"/>
            <a:ext cx="8394192" cy="0"/>
          </a:xfrm>
          <a:prstGeom prst="line">
            <a:avLst/>
          </a:prstGeom>
          <a:noFill/>
          <a:ln w="15240">
            <a:solidFill>
              <a:srgbClr val="465057"/>
            </a:solidFill>
            <a:prstDash val="solid"/>
          </a:ln>
        </p:spPr>
      </p:sp>
      <p:sp>
        <p:nvSpPr>
          <p:cNvPr id="29" name="Text 27"/>
          <p:cNvSpPr/>
          <p:nvPr/>
        </p:nvSpPr>
        <p:spPr>
          <a:xfrm>
            <a:off x="1828800" y="5257800"/>
            <a:ext cx="8138160" cy="137160"/>
          </a:xfrm>
          <a:prstGeom prst="rect">
            <a:avLst/>
          </a:prstGeom>
          <a:noFill/>
          <a:ln/>
        </p:spPr>
        <p:txBody>
          <a:bodyPr wrap="square" lIns="0" tIns="0" rIns="0" bIns="0" rtlCol="0" anchor="ctr">
            <a:normAutofit/>
          </a:bodyPr>
          <a:lstStyle/>
          <a:p>
            <a:pPr algn="ctr" indent="0" marL="0">
              <a:buNone/>
            </a:pPr>
            <a:r>
              <a:rPr lang="en-US" sz="1000" b="1" dirty="0">
                <a:solidFill>
                  <a:srgbClr val="202729"/>
                </a:solidFill>
                <a:latin typeface="Aptos" pitchFamily="34" charset="0"/>
                <a:ea typeface="Aptos" pitchFamily="34" charset="-122"/>
                <a:cs typeface="Aptos" pitchFamily="34" charset="-120"/>
              </a:rPr>
              <a:t>AI governance is continuous — from design classification through an auditable outcome.</a:t>
            </a:r>
            <a:endParaRPr lang="en-US" sz="1000" dirty="0"/>
          </a:p>
        </p:txBody>
      </p:sp>
      <p:sp>
        <p:nvSpPr>
          <p:cNvPr id="30" name="Shape 28"/>
          <p:cNvSpPr/>
          <p:nvPr/>
        </p:nvSpPr>
        <p:spPr>
          <a:xfrm>
            <a:off x="9052560" y="1719072"/>
            <a:ext cx="2423160" cy="3035808"/>
          </a:xfrm>
          <a:prstGeom prst="roundRect">
            <a:avLst/>
          </a:prstGeom>
          <a:solidFill>
            <a:srgbClr val="1F2426"/>
          </a:solidFill>
          <a:ln w="6350">
            <a:solidFill>
              <a:srgbClr val="1F2426"/>
            </a:solidFill>
            <a:prstDash val="solid"/>
          </a:ln>
        </p:spPr>
      </p:sp>
      <p:sp>
        <p:nvSpPr>
          <p:cNvPr id="31" name="Text 29"/>
          <p:cNvSpPr/>
          <p:nvPr/>
        </p:nvSpPr>
        <p:spPr>
          <a:xfrm>
            <a:off x="9308592" y="1975104"/>
            <a:ext cx="1755648"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E3A72F"/>
                </a:solidFill>
                <a:latin typeface="Aptos" pitchFamily="34" charset="0"/>
                <a:ea typeface="Aptos" pitchFamily="34" charset="-122"/>
                <a:cs typeface="Aptos" pitchFamily="34" charset="-120"/>
              </a:rPr>
              <a:t>PROMPT-INJECTION DEFENSE</a:t>
            </a:r>
            <a:endParaRPr lang="en-US" sz="720" dirty="0"/>
          </a:p>
        </p:txBody>
      </p:sp>
      <p:sp>
        <p:nvSpPr>
          <p:cNvPr id="32" name="Shape 30"/>
          <p:cNvSpPr/>
          <p:nvPr/>
        </p:nvSpPr>
        <p:spPr>
          <a:xfrm>
            <a:off x="9326880" y="2487168"/>
            <a:ext cx="228600" cy="228600"/>
          </a:xfrm>
          <a:prstGeom prst="ellipse">
            <a:avLst/>
          </a:prstGeom>
          <a:solidFill>
            <a:srgbClr val="B64A2D"/>
          </a:solidFill>
          <a:ln w="6350">
            <a:solidFill>
              <a:srgbClr val="B64A2D"/>
            </a:solidFill>
            <a:prstDash val="solid"/>
          </a:ln>
        </p:spPr>
      </p:sp>
      <p:sp>
        <p:nvSpPr>
          <p:cNvPr id="33" name="Text 31"/>
          <p:cNvSpPr/>
          <p:nvPr/>
        </p:nvSpPr>
        <p:spPr>
          <a:xfrm>
            <a:off x="9326880" y="2560320"/>
            <a:ext cx="228600" cy="54864"/>
          </a:xfrm>
          <a:prstGeom prst="rect">
            <a:avLst/>
          </a:prstGeom>
          <a:noFill/>
          <a:ln/>
        </p:spPr>
        <p:txBody>
          <a:bodyPr wrap="square" lIns="0" tIns="0" rIns="0" bIns="0" rtlCol="0" anchor="ctr">
            <a:normAutofit/>
          </a:bodyPr>
          <a:lstStyle/>
          <a:p>
            <a:pPr algn="ctr" indent="0" marL="0">
              <a:buNone/>
            </a:pPr>
            <a:r>
              <a:rPr lang="en-US" sz="610" b="1" dirty="0">
                <a:solidFill>
                  <a:srgbClr val="FFFFFF"/>
                </a:solidFill>
                <a:latin typeface="Aptos" pitchFamily="34" charset="0"/>
                <a:ea typeface="Aptos" pitchFamily="34" charset="-122"/>
                <a:cs typeface="Aptos" pitchFamily="34" charset="-120"/>
              </a:rPr>
              <a:t>✓</a:t>
            </a:r>
            <a:endParaRPr lang="en-US" sz="610" dirty="0"/>
          </a:p>
        </p:txBody>
      </p:sp>
      <p:sp>
        <p:nvSpPr>
          <p:cNvPr id="34" name="Text 32"/>
          <p:cNvSpPr/>
          <p:nvPr/>
        </p:nvSpPr>
        <p:spPr>
          <a:xfrm>
            <a:off x="9674352" y="2505456"/>
            <a:ext cx="1508760" cy="146304"/>
          </a:xfrm>
          <a:prstGeom prst="rect">
            <a:avLst/>
          </a:prstGeom>
          <a:noFill/>
          <a:ln/>
        </p:spPr>
        <p:txBody>
          <a:bodyPr wrap="square" lIns="0" tIns="0" rIns="0" bIns="0" rtlCol="0" anchor="ctr">
            <a:normAutofit/>
          </a:bodyPr>
          <a:lstStyle/>
          <a:p>
            <a:pPr algn="l" indent="0" marL="0">
              <a:buNone/>
            </a:pPr>
            <a:r>
              <a:rPr lang="en-US" sz="710" b="1" dirty="0">
                <a:solidFill>
                  <a:srgbClr val="DDE4E1"/>
                </a:solidFill>
                <a:latin typeface="Aptos" pitchFamily="34" charset="0"/>
                <a:ea typeface="Aptos" pitchFamily="34" charset="-122"/>
                <a:cs typeface="Aptos" pitchFamily="34" charset="-120"/>
              </a:rPr>
              <a:t>Treat payloads as untrusted</a:t>
            </a:r>
            <a:endParaRPr lang="en-US" sz="710" dirty="0"/>
          </a:p>
        </p:txBody>
      </p:sp>
      <p:sp>
        <p:nvSpPr>
          <p:cNvPr id="35" name="Shape 33"/>
          <p:cNvSpPr/>
          <p:nvPr/>
        </p:nvSpPr>
        <p:spPr>
          <a:xfrm>
            <a:off x="9326880" y="2962656"/>
            <a:ext cx="228600" cy="228600"/>
          </a:xfrm>
          <a:prstGeom prst="ellipse">
            <a:avLst/>
          </a:prstGeom>
          <a:solidFill>
            <a:srgbClr val="E3A72F"/>
          </a:solidFill>
          <a:ln w="6350">
            <a:solidFill>
              <a:srgbClr val="E3A72F"/>
            </a:solidFill>
            <a:prstDash val="solid"/>
          </a:ln>
        </p:spPr>
      </p:sp>
      <p:sp>
        <p:nvSpPr>
          <p:cNvPr id="36" name="Text 34"/>
          <p:cNvSpPr/>
          <p:nvPr/>
        </p:nvSpPr>
        <p:spPr>
          <a:xfrm>
            <a:off x="9326880" y="3035808"/>
            <a:ext cx="228600" cy="54864"/>
          </a:xfrm>
          <a:prstGeom prst="rect">
            <a:avLst/>
          </a:prstGeom>
          <a:noFill/>
          <a:ln/>
        </p:spPr>
        <p:txBody>
          <a:bodyPr wrap="square" lIns="0" tIns="0" rIns="0" bIns="0" rtlCol="0" anchor="ctr">
            <a:normAutofit/>
          </a:bodyPr>
          <a:lstStyle/>
          <a:p>
            <a:pPr algn="ctr" indent="0" marL="0">
              <a:buNone/>
            </a:pPr>
            <a:r>
              <a:rPr lang="en-US" sz="610" b="1" dirty="0">
                <a:solidFill>
                  <a:srgbClr val="FFFFFF"/>
                </a:solidFill>
                <a:latin typeface="Aptos" pitchFamily="34" charset="0"/>
                <a:ea typeface="Aptos" pitchFamily="34" charset="-122"/>
                <a:cs typeface="Aptos" pitchFamily="34" charset="-120"/>
              </a:rPr>
              <a:t>✓</a:t>
            </a:r>
            <a:endParaRPr lang="en-US" sz="610" dirty="0"/>
          </a:p>
        </p:txBody>
      </p:sp>
      <p:sp>
        <p:nvSpPr>
          <p:cNvPr id="37" name="Text 35"/>
          <p:cNvSpPr/>
          <p:nvPr/>
        </p:nvSpPr>
        <p:spPr>
          <a:xfrm>
            <a:off x="9674352" y="2980944"/>
            <a:ext cx="1508760" cy="146304"/>
          </a:xfrm>
          <a:prstGeom prst="rect">
            <a:avLst/>
          </a:prstGeom>
          <a:noFill/>
          <a:ln/>
        </p:spPr>
        <p:txBody>
          <a:bodyPr wrap="square" lIns="0" tIns="0" rIns="0" bIns="0" rtlCol="0" anchor="ctr">
            <a:normAutofit/>
          </a:bodyPr>
          <a:lstStyle/>
          <a:p>
            <a:pPr algn="l" indent="0" marL="0">
              <a:buNone/>
            </a:pPr>
            <a:r>
              <a:rPr lang="en-US" sz="710" b="1" dirty="0">
                <a:solidFill>
                  <a:srgbClr val="DDE4E1"/>
                </a:solidFill>
                <a:latin typeface="Aptos" pitchFamily="34" charset="0"/>
                <a:ea typeface="Aptos" pitchFamily="34" charset="-122"/>
                <a:cs typeface="Aptos" pitchFamily="34" charset="-120"/>
              </a:rPr>
              <a:t>Prompt Shields: direct + indirect</a:t>
            </a:r>
            <a:endParaRPr lang="en-US" sz="710" dirty="0"/>
          </a:p>
        </p:txBody>
      </p:sp>
      <p:sp>
        <p:nvSpPr>
          <p:cNvPr id="38" name="Shape 36"/>
          <p:cNvSpPr/>
          <p:nvPr/>
        </p:nvSpPr>
        <p:spPr>
          <a:xfrm>
            <a:off x="9326880" y="3438144"/>
            <a:ext cx="228600" cy="228600"/>
          </a:xfrm>
          <a:prstGeom prst="ellipse">
            <a:avLst/>
          </a:prstGeom>
          <a:solidFill>
            <a:srgbClr val="147D74"/>
          </a:solidFill>
          <a:ln w="6350">
            <a:solidFill>
              <a:srgbClr val="147D74"/>
            </a:solidFill>
            <a:prstDash val="solid"/>
          </a:ln>
        </p:spPr>
      </p:sp>
      <p:sp>
        <p:nvSpPr>
          <p:cNvPr id="39" name="Text 37"/>
          <p:cNvSpPr/>
          <p:nvPr/>
        </p:nvSpPr>
        <p:spPr>
          <a:xfrm>
            <a:off x="9326880" y="3511296"/>
            <a:ext cx="228600" cy="54864"/>
          </a:xfrm>
          <a:prstGeom prst="rect">
            <a:avLst/>
          </a:prstGeom>
          <a:noFill/>
          <a:ln/>
        </p:spPr>
        <p:txBody>
          <a:bodyPr wrap="square" lIns="0" tIns="0" rIns="0" bIns="0" rtlCol="0" anchor="ctr">
            <a:normAutofit/>
          </a:bodyPr>
          <a:lstStyle/>
          <a:p>
            <a:pPr algn="ctr" indent="0" marL="0">
              <a:buNone/>
            </a:pPr>
            <a:r>
              <a:rPr lang="en-US" sz="610" b="1" dirty="0">
                <a:solidFill>
                  <a:srgbClr val="FFFFFF"/>
                </a:solidFill>
                <a:latin typeface="Aptos" pitchFamily="34" charset="0"/>
                <a:ea typeface="Aptos" pitchFamily="34" charset="-122"/>
                <a:cs typeface="Aptos" pitchFamily="34" charset="-120"/>
              </a:rPr>
              <a:t>✓</a:t>
            </a:r>
            <a:endParaRPr lang="en-US" sz="610" dirty="0"/>
          </a:p>
        </p:txBody>
      </p:sp>
      <p:sp>
        <p:nvSpPr>
          <p:cNvPr id="40" name="Text 38"/>
          <p:cNvSpPr/>
          <p:nvPr/>
        </p:nvSpPr>
        <p:spPr>
          <a:xfrm>
            <a:off x="9674352" y="3456432"/>
            <a:ext cx="1508760" cy="146304"/>
          </a:xfrm>
          <a:prstGeom prst="rect">
            <a:avLst/>
          </a:prstGeom>
          <a:noFill/>
          <a:ln/>
        </p:spPr>
        <p:txBody>
          <a:bodyPr wrap="square" lIns="0" tIns="0" rIns="0" bIns="0" rtlCol="0" anchor="ctr">
            <a:normAutofit/>
          </a:bodyPr>
          <a:lstStyle/>
          <a:p>
            <a:pPr algn="l" indent="0" marL="0">
              <a:buNone/>
            </a:pPr>
            <a:r>
              <a:rPr lang="en-US" sz="710" b="1" dirty="0">
                <a:solidFill>
                  <a:srgbClr val="DDE4E1"/>
                </a:solidFill>
                <a:latin typeface="Aptos" pitchFamily="34" charset="0"/>
                <a:ea typeface="Aptos" pitchFamily="34" charset="-122"/>
                <a:cs typeface="Aptos" pitchFamily="34" charset="-120"/>
              </a:rPr>
              <a:t>Instruction / data separation</a:t>
            </a:r>
            <a:endParaRPr lang="en-US" sz="710" dirty="0"/>
          </a:p>
        </p:txBody>
      </p:sp>
      <p:sp>
        <p:nvSpPr>
          <p:cNvPr id="41" name="Shape 39"/>
          <p:cNvSpPr/>
          <p:nvPr/>
        </p:nvSpPr>
        <p:spPr>
          <a:xfrm>
            <a:off x="9326880" y="3913632"/>
            <a:ext cx="228600" cy="228600"/>
          </a:xfrm>
          <a:prstGeom prst="ellipse">
            <a:avLst/>
          </a:prstGeom>
          <a:solidFill>
            <a:srgbClr val="6D9A6F"/>
          </a:solidFill>
          <a:ln w="6350">
            <a:solidFill>
              <a:srgbClr val="6D9A6F"/>
            </a:solidFill>
            <a:prstDash val="solid"/>
          </a:ln>
        </p:spPr>
      </p:sp>
      <p:sp>
        <p:nvSpPr>
          <p:cNvPr id="42" name="Text 40"/>
          <p:cNvSpPr/>
          <p:nvPr/>
        </p:nvSpPr>
        <p:spPr>
          <a:xfrm>
            <a:off x="9326880" y="3986784"/>
            <a:ext cx="228600" cy="54864"/>
          </a:xfrm>
          <a:prstGeom prst="rect">
            <a:avLst/>
          </a:prstGeom>
          <a:noFill/>
          <a:ln/>
        </p:spPr>
        <p:txBody>
          <a:bodyPr wrap="square" lIns="0" tIns="0" rIns="0" bIns="0" rtlCol="0" anchor="ctr">
            <a:normAutofit/>
          </a:bodyPr>
          <a:lstStyle/>
          <a:p>
            <a:pPr algn="ctr" indent="0" marL="0">
              <a:buNone/>
            </a:pPr>
            <a:r>
              <a:rPr lang="en-US" sz="610" b="1" dirty="0">
                <a:solidFill>
                  <a:srgbClr val="FFFFFF"/>
                </a:solidFill>
                <a:latin typeface="Aptos" pitchFamily="34" charset="0"/>
                <a:ea typeface="Aptos" pitchFamily="34" charset="-122"/>
                <a:cs typeface="Aptos" pitchFamily="34" charset="-120"/>
              </a:rPr>
              <a:t>✓</a:t>
            </a:r>
            <a:endParaRPr lang="en-US" sz="610" dirty="0"/>
          </a:p>
        </p:txBody>
      </p:sp>
      <p:sp>
        <p:nvSpPr>
          <p:cNvPr id="43" name="Text 41"/>
          <p:cNvSpPr/>
          <p:nvPr/>
        </p:nvSpPr>
        <p:spPr>
          <a:xfrm>
            <a:off x="9674352" y="3931920"/>
            <a:ext cx="1508760" cy="146304"/>
          </a:xfrm>
          <a:prstGeom prst="rect">
            <a:avLst/>
          </a:prstGeom>
          <a:noFill/>
          <a:ln/>
        </p:spPr>
        <p:txBody>
          <a:bodyPr wrap="square" lIns="0" tIns="0" rIns="0" bIns="0" rtlCol="0" anchor="ctr">
            <a:normAutofit/>
          </a:bodyPr>
          <a:lstStyle/>
          <a:p>
            <a:pPr algn="l" indent="0" marL="0">
              <a:buNone/>
            </a:pPr>
            <a:r>
              <a:rPr lang="en-US" sz="710" b="1" dirty="0">
                <a:solidFill>
                  <a:srgbClr val="DDE4E1"/>
                </a:solidFill>
                <a:latin typeface="Aptos" pitchFamily="34" charset="0"/>
                <a:ea typeface="Aptos" pitchFamily="34" charset="-122"/>
                <a:cs typeface="Aptos" pitchFamily="34" charset="-120"/>
              </a:rPr>
              <a:t>Narrow tool allow-lists + audit</a:t>
            </a:r>
            <a:endParaRPr lang="en-US" sz="710" dirty="0"/>
          </a:p>
        </p:txBody>
      </p:sp>
      <p:sp>
        <p:nvSpPr>
          <p:cNvPr id="44" name="Text 42"/>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Source cue | security-governance-and-threat-model.md §12, §15–16  •  solution-architecture.md ADR-006/007</a:t>
            </a:r>
            <a:endParaRPr lang="en-US" sz="660" dirty="0"/>
          </a:p>
        </p:txBody>
      </p:sp>
      <p:sp>
        <p:nvSpPr>
          <p:cNvPr id="45" name="Shape 43"/>
          <p:cNvSpPr/>
          <p:nvPr/>
        </p:nvSpPr>
        <p:spPr>
          <a:xfrm>
            <a:off x="0" y="6483096"/>
            <a:ext cx="12191695" cy="374904"/>
          </a:xfrm>
          <a:prstGeom prst="rect">
            <a:avLst/>
          </a:prstGeom>
          <a:solidFill>
            <a:srgbClr val="E9E7E1"/>
          </a:solidFill>
          <a:ln w="6350">
            <a:solidFill>
              <a:srgbClr val="E9E7E1"/>
            </a:solidFill>
            <a:prstDash val="solid"/>
          </a:ln>
        </p:spPr>
      </p:sp>
      <p:sp>
        <p:nvSpPr>
          <p:cNvPr id="46" name="Shape 44"/>
          <p:cNvSpPr/>
          <p:nvPr/>
        </p:nvSpPr>
        <p:spPr>
          <a:xfrm>
            <a:off x="384048" y="6547104"/>
            <a:ext cx="3547872" cy="182880"/>
          </a:xfrm>
          <a:prstGeom prst="roundRect">
            <a:avLst/>
          </a:prstGeom>
          <a:solidFill>
            <a:srgbClr val="FFFFFF"/>
          </a:solidFill>
          <a:ln w="3175">
            <a:solidFill>
              <a:srgbClr val="DDE4E1"/>
            </a:solidFill>
            <a:prstDash val="solid"/>
          </a:ln>
        </p:spPr>
      </p:sp>
      <p:sp>
        <p:nvSpPr>
          <p:cNvPr id="47" name="Text 45"/>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48" name="Text 46"/>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ORAL DEFENSE  •  16 / 20</a:t>
            </a:r>
            <a:endParaRPr lang="en-US" sz="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719"/>
        </a:solidFill>
      </p:bgPr>
    </p:bg>
    <p:spTree>
      <p:nvGrpSpPr>
        <p:cNvPr id="1" name=""/>
        <p:cNvGrpSpPr/>
        <p:nvPr/>
      </p:nvGrpSpPr>
      <p:grpSpPr>
        <a:xfrm>
          <a:off x="0" y="0"/>
          <a:ext cx="0" cy="0"/>
          <a:chOff x="0" y="0"/>
          <a:chExt cx="0" cy="0"/>
        </a:xfrm>
      </p:grpSpPr>
      <p:pic>
        <p:nvPicPr>
          <p:cNvPr id="2" name="Image 0" descr="D:\work\20260724 - Novasteel 3\tools\presentation\assets\steel-texture.png">    </p:cNvPr>
          <p:cNvPicPr>
            <a:picLocks noChangeAspect="1"/>
          </p:cNvPicPr>
          <p:nvPr/>
        </p:nvPicPr>
        <p:blipFill>
          <a:blip r:embed="rId1">
            <a:alphaModFix amt="34000"/>
          </a:blip>
          <a:stretch>
            <a:fillRect/>
          </a:stretch>
        </p:blipFill>
        <p:spPr>
          <a:xfrm>
            <a:off x="0" y="0"/>
            <a:ext cx="12191695" cy="6858000"/>
          </a:xfrm>
          <a:prstGeom prst="rect">
            <a:avLst/>
          </a:prstGeom>
        </p:spPr>
      </p:pic>
      <p:sp>
        <p:nvSpPr>
          <p:cNvPr id="3" name="Shape 0"/>
          <p:cNvSpPr/>
          <p:nvPr/>
        </p:nvSpPr>
        <p:spPr>
          <a:xfrm>
            <a:off x="457200" y="274320"/>
            <a:ext cx="822960" cy="246888"/>
          </a:xfrm>
          <a:prstGeom prst="roundRect">
            <a:avLst/>
          </a:prstGeom>
          <a:solidFill>
            <a:srgbClr val="465057"/>
          </a:solidFill>
          <a:ln w="5080">
            <a:solidFill>
              <a:srgbClr val="465057"/>
            </a:solidFill>
            <a:prstDash val="solid"/>
          </a:ln>
        </p:spPr>
      </p:sp>
      <p:sp>
        <p:nvSpPr>
          <p:cNvPr id="4" name="Text 1"/>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17</a:t>
            </a:r>
            <a:endParaRPr lang="en-US" sz="720" dirty="0"/>
          </a:p>
        </p:txBody>
      </p:sp>
      <p:sp>
        <p:nvSpPr>
          <p:cNvPr id="5" name="Text 2"/>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AEB9BA"/>
                </a:solidFill>
                <a:latin typeface="Aptos" pitchFamily="34" charset="0"/>
                <a:ea typeface="Aptos" pitchFamily="34" charset="-122"/>
                <a:cs typeface="Aptos" pitchFamily="34" charset="-120"/>
              </a:rPr>
              <a:t>SECURITY AND RESIDENCY</a:t>
            </a:r>
            <a:endParaRPr lang="en-US" sz="810" dirty="0"/>
          </a:p>
        </p:txBody>
      </p:sp>
      <p:sp>
        <p:nvSpPr>
          <p:cNvPr id="6" name="Shape 3"/>
          <p:cNvSpPr/>
          <p:nvPr/>
        </p:nvSpPr>
        <p:spPr>
          <a:xfrm>
            <a:off x="10040112" y="274320"/>
            <a:ext cx="1673352" cy="256032"/>
          </a:xfrm>
          <a:prstGeom prst="roundRect">
            <a:avLst/>
          </a:prstGeom>
          <a:solidFill>
            <a:srgbClr val="1F2426"/>
          </a:solidFill>
          <a:ln w="6350">
            <a:solidFill>
              <a:srgbClr val="465057"/>
            </a:solidFill>
            <a:prstDash val="solid"/>
          </a:ln>
        </p:spPr>
      </p:sp>
      <p:sp>
        <p:nvSpPr>
          <p:cNvPr id="7" name="Text 4"/>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AEB9BA"/>
                </a:solidFill>
                <a:latin typeface="Aptos" pitchFamily="34" charset="0"/>
                <a:ea typeface="Aptos" pitchFamily="34" charset="-122"/>
                <a:cs typeface="Aptos" pitchFamily="34" charset="-120"/>
              </a:rPr>
              <a:t>24:30–26:15</a:t>
            </a:r>
            <a:endParaRPr lang="en-US" sz="720" dirty="0"/>
          </a:p>
        </p:txBody>
      </p:sp>
      <p:sp>
        <p:nvSpPr>
          <p:cNvPr id="8" name="Text 5"/>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FFFFFF"/>
                </a:solidFill>
                <a:latin typeface="Bahnschrift SemiBold" pitchFamily="34" charset="0"/>
                <a:ea typeface="Bahnschrift SemiBold" pitchFamily="34" charset="-122"/>
                <a:cs typeface="Bahnschrift SemiBold" pitchFamily="34" charset="-120"/>
              </a:rPr>
              <a:t>Zero Trust across identities, data classes, and EU placement</a:t>
            </a:r>
            <a:endParaRPr lang="en-US" sz="2550" dirty="0"/>
          </a:p>
        </p:txBody>
      </p:sp>
      <p:sp>
        <p:nvSpPr>
          <p:cNvPr id="9" name="Shape 6"/>
          <p:cNvSpPr/>
          <p:nvPr/>
        </p:nvSpPr>
        <p:spPr>
          <a:xfrm>
            <a:off x="457200" y="1188720"/>
            <a:ext cx="1439266" cy="246888"/>
          </a:xfrm>
          <a:prstGeom prst="roundRect">
            <a:avLst/>
          </a:prstGeom>
          <a:solidFill>
            <a:srgbClr val="B64A2D"/>
          </a:solidFill>
          <a:ln w="5080">
            <a:solidFill>
              <a:srgbClr val="B64A2D"/>
            </a:solidFill>
            <a:prstDash val="solid"/>
          </a:ln>
        </p:spPr>
      </p:sp>
      <p:sp>
        <p:nvSpPr>
          <p:cNvPr id="10" name="Text 7"/>
          <p:cNvSpPr/>
          <p:nvPr/>
        </p:nvSpPr>
        <p:spPr>
          <a:xfrm>
            <a:off x="576072" y="1239012"/>
            <a:ext cx="1201522"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NO STANDING SECRETS</a:t>
            </a:r>
            <a:endParaRPr lang="en-US" sz="720" dirty="0"/>
          </a:p>
        </p:txBody>
      </p:sp>
      <p:sp>
        <p:nvSpPr>
          <p:cNvPr id="11" name="Shape 8"/>
          <p:cNvSpPr/>
          <p:nvPr/>
        </p:nvSpPr>
        <p:spPr>
          <a:xfrm>
            <a:off x="4389120" y="2176272"/>
            <a:ext cx="2066544" cy="2066544"/>
          </a:xfrm>
          <a:prstGeom prst="ellipse">
            <a:avLst/>
          </a:prstGeom>
          <a:solidFill>
            <a:srgbClr val="1F2426"/>
          </a:solidFill>
          <a:ln w="29210">
            <a:solidFill>
              <a:srgbClr val="147D74"/>
            </a:solidFill>
            <a:prstDash val="solid"/>
          </a:ln>
        </p:spPr>
      </p:sp>
      <p:sp>
        <p:nvSpPr>
          <p:cNvPr id="12" name="Shape 9"/>
          <p:cNvSpPr/>
          <p:nvPr/>
        </p:nvSpPr>
        <p:spPr>
          <a:xfrm>
            <a:off x="4956048" y="2743200"/>
            <a:ext cx="932688" cy="932688"/>
          </a:xfrm>
          <a:prstGeom prst="ellipse">
            <a:avLst/>
          </a:prstGeom>
          <a:solidFill>
            <a:srgbClr val="147D74"/>
          </a:solidFill>
          <a:ln w="6350">
            <a:solidFill>
              <a:srgbClr val="147D74"/>
            </a:solidFill>
            <a:prstDash val="solid"/>
          </a:ln>
        </p:spPr>
      </p:sp>
      <p:sp>
        <p:nvSpPr>
          <p:cNvPr id="13" name="Text 10"/>
          <p:cNvSpPr/>
          <p:nvPr/>
        </p:nvSpPr>
        <p:spPr>
          <a:xfrm>
            <a:off x="5029200" y="3017520"/>
            <a:ext cx="786384" cy="182880"/>
          </a:xfrm>
          <a:prstGeom prst="rect">
            <a:avLst/>
          </a:prstGeom>
          <a:noFill/>
          <a:ln/>
        </p:spPr>
        <p:txBody>
          <a:bodyPr wrap="square" lIns="0" tIns="0" rIns="0" bIns="0" rtlCol="0" anchor="ctr">
            <a:normAutofit/>
          </a:bodyPr>
          <a:lstStyle/>
          <a:p>
            <a:pPr algn="ctr" indent="0" marL="0">
              <a:buNone/>
            </a:pPr>
            <a:r>
              <a:rPr lang="en-US" sz="940" b="1" dirty="0">
                <a:solidFill>
                  <a:srgbClr val="FFFFFF"/>
                </a:solidFill>
                <a:latin typeface="Bahnschrift SemiBold" pitchFamily="34" charset="0"/>
                <a:ea typeface="Bahnschrift SemiBold" pitchFamily="34" charset="-122"/>
                <a:cs typeface="Bahnschrift SemiBold" pitchFamily="34" charset="-120"/>
              </a:rPr>
              <a:t>ENTRA</a:t>
            </a:r>
            <a:endParaRPr lang="en-US" sz="940" dirty="0"/>
          </a:p>
          <a:p>
            <a:pPr algn="ctr" indent="0" marL="0">
              <a:buNone/>
            </a:pPr>
            <a:r>
              <a:rPr lang="en-US" sz="940" b="1" dirty="0">
                <a:solidFill>
                  <a:srgbClr val="FFFFFF"/>
                </a:solidFill>
                <a:latin typeface="Bahnschrift SemiBold" pitchFamily="34" charset="0"/>
                <a:ea typeface="Bahnschrift SemiBold" pitchFamily="34" charset="-122"/>
                <a:cs typeface="Bahnschrift SemiBold" pitchFamily="34" charset="-120"/>
              </a:rPr>
              <a:t>ZERO TRUST</a:t>
            </a:r>
            <a:endParaRPr lang="en-US" sz="940" dirty="0"/>
          </a:p>
        </p:txBody>
      </p:sp>
      <p:sp>
        <p:nvSpPr>
          <p:cNvPr id="14" name="Shape 11"/>
          <p:cNvSpPr/>
          <p:nvPr/>
        </p:nvSpPr>
        <p:spPr>
          <a:xfrm>
            <a:off x="2724912" y="2057400"/>
            <a:ext cx="914400" cy="914400"/>
          </a:xfrm>
          <a:prstGeom prst="ellipse">
            <a:avLst/>
          </a:prstGeom>
          <a:solidFill>
            <a:srgbClr val="1F2426"/>
          </a:solidFill>
          <a:ln w="17780">
            <a:solidFill>
              <a:srgbClr val="B64A2D"/>
            </a:solidFill>
            <a:prstDash val="solid"/>
          </a:ln>
        </p:spPr>
      </p:sp>
      <p:sp>
        <p:nvSpPr>
          <p:cNvPr id="15" name="Text 12"/>
          <p:cNvSpPr/>
          <p:nvPr/>
        </p:nvSpPr>
        <p:spPr>
          <a:xfrm>
            <a:off x="2798064" y="2377440"/>
            <a:ext cx="768096" cy="182880"/>
          </a:xfrm>
          <a:prstGeom prst="rect">
            <a:avLst/>
          </a:prstGeom>
          <a:noFill/>
          <a:ln/>
        </p:spPr>
        <p:txBody>
          <a:bodyPr wrap="square" lIns="0" tIns="0" rIns="0" bIns="0"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Human</a:t>
            </a:r>
            <a:endParaRPr lang="en-US" sz="720" dirty="0"/>
          </a:p>
          <a:p>
            <a:pPr algn="ctr" indent="0" marL="0">
              <a:buNone/>
            </a:pPr>
            <a:r>
              <a:rPr lang="en-US" sz="720" b="1" dirty="0">
                <a:solidFill>
                  <a:srgbClr val="FFFFFF"/>
                </a:solidFill>
                <a:latin typeface="Aptos" pitchFamily="34" charset="0"/>
                <a:ea typeface="Aptos" pitchFamily="34" charset="-122"/>
                <a:cs typeface="Aptos" pitchFamily="34" charset="-120"/>
              </a:rPr>
              <a:t>persona</a:t>
            </a:r>
            <a:endParaRPr lang="en-US" sz="720" dirty="0"/>
          </a:p>
        </p:txBody>
      </p:sp>
      <p:sp>
        <p:nvSpPr>
          <p:cNvPr id="16" name="Shape 13"/>
          <p:cNvSpPr/>
          <p:nvPr/>
        </p:nvSpPr>
        <p:spPr>
          <a:xfrm>
            <a:off x="3703320" y="2688336"/>
            <a:ext cx="594360" cy="292608"/>
          </a:xfrm>
          <a:prstGeom prst="line">
            <a:avLst/>
          </a:prstGeom>
          <a:noFill/>
          <a:ln w="12700">
            <a:solidFill>
              <a:srgbClr val="465057"/>
            </a:solidFill>
            <a:prstDash val="solid"/>
          </a:ln>
        </p:spPr>
      </p:sp>
      <p:sp>
        <p:nvSpPr>
          <p:cNvPr id="17" name="Shape 14"/>
          <p:cNvSpPr/>
          <p:nvPr/>
        </p:nvSpPr>
        <p:spPr>
          <a:xfrm>
            <a:off x="6400800" y="2029968"/>
            <a:ext cx="914400" cy="914400"/>
          </a:xfrm>
          <a:prstGeom prst="ellipse">
            <a:avLst/>
          </a:prstGeom>
          <a:solidFill>
            <a:srgbClr val="1F2426"/>
          </a:solidFill>
          <a:ln w="17780">
            <a:solidFill>
              <a:srgbClr val="E3A72F"/>
            </a:solidFill>
            <a:prstDash val="solid"/>
          </a:ln>
        </p:spPr>
      </p:sp>
      <p:sp>
        <p:nvSpPr>
          <p:cNvPr id="18" name="Text 15"/>
          <p:cNvSpPr/>
          <p:nvPr/>
        </p:nvSpPr>
        <p:spPr>
          <a:xfrm>
            <a:off x="6473952" y="2350008"/>
            <a:ext cx="768096" cy="182880"/>
          </a:xfrm>
          <a:prstGeom prst="rect">
            <a:avLst/>
          </a:prstGeom>
          <a:noFill/>
          <a:ln/>
        </p:spPr>
        <p:txBody>
          <a:bodyPr wrap="square" lIns="0" tIns="0" rIns="0" bIns="0"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OT</a:t>
            </a:r>
            <a:endParaRPr lang="en-US" sz="720" dirty="0"/>
          </a:p>
          <a:p>
            <a:pPr algn="ctr" indent="0" marL="0">
              <a:buNone/>
            </a:pPr>
            <a:r>
              <a:rPr lang="en-US" sz="720" b="1" dirty="0">
                <a:solidFill>
                  <a:srgbClr val="FFFFFF"/>
                </a:solidFill>
                <a:latin typeface="Aptos" pitchFamily="34" charset="0"/>
                <a:ea typeface="Aptos" pitchFamily="34" charset="-122"/>
                <a:cs typeface="Aptos" pitchFamily="34" charset="-120"/>
              </a:rPr>
              <a:t>Gateway MI</a:t>
            </a:r>
            <a:endParaRPr lang="en-US" sz="720" dirty="0"/>
          </a:p>
        </p:txBody>
      </p:sp>
      <p:sp>
        <p:nvSpPr>
          <p:cNvPr id="19" name="Shape 16"/>
          <p:cNvSpPr/>
          <p:nvPr/>
        </p:nvSpPr>
        <p:spPr>
          <a:xfrm flipH="1">
            <a:off x="4873752" y="2688336"/>
            <a:ext cx="594360" cy="292608"/>
          </a:xfrm>
          <a:prstGeom prst="line">
            <a:avLst/>
          </a:prstGeom>
          <a:noFill/>
          <a:ln w="12700">
            <a:solidFill>
              <a:srgbClr val="465057"/>
            </a:solidFill>
            <a:prstDash val="solid"/>
          </a:ln>
        </p:spPr>
      </p:sp>
      <p:sp>
        <p:nvSpPr>
          <p:cNvPr id="20" name="Shape 17"/>
          <p:cNvSpPr/>
          <p:nvPr/>
        </p:nvSpPr>
        <p:spPr>
          <a:xfrm>
            <a:off x="2724912" y="4407408"/>
            <a:ext cx="914400" cy="914400"/>
          </a:xfrm>
          <a:prstGeom prst="ellipse">
            <a:avLst/>
          </a:prstGeom>
          <a:solidFill>
            <a:srgbClr val="1F2426"/>
          </a:solidFill>
          <a:ln w="17780">
            <a:solidFill>
              <a:srgbClr val="147D74"/>
            </a:solidFill>
            <a:prstDash val="solid"/>
          </a:ln>
        </p:spPr>
      </p:sp>
      <p:sp>
        <p:nvSpPr>
          <p:cNvPr id="21" name="Text 18"/>
          <p:cNvSpPr/>
          <p:nvPr/>
        </p:nvSpPr>
        <p:spPr>
          <a:xfrm>
            <a:off x="2798064" y="4727448"/>
            <a:ext cx="768096" cy="182880"/>
          </a:xfrm>
          <a:prstGeom prst="rect">
            <a:avLst/>
          </a:prstGeom>
          <a:noFill/>
          <a:ln/>
        </p:spPr>
        <p:txBody>
          <a:bodyPr wrap="square" lIns="0" tIns="0" rIns="0" bIns="0"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Relay</a:t>
            </a:r>
            <a:endParaRPr lang="en-US" sz="720" dirty="0"/>
          </a:p>
          <a:p>
            <a:pPr algn="ctr" indent="0" marL="0">
              <a:buNone/>
            </a:pPr>
            <a:r>
              <a:rPr lang="en-US" sz="720" b="1" dirty="0">
                <a:solidFill>
                  <a:srgbClr val="FFFFFF"/>
                </a:solidFill>
                <a:latin typeface="Aptos" pitchFamily="34" charset="0"/>
                <a:ea typeface="Aptos" pitchFamily="34" charset="-122"/>
                <a:cs typeface="Aptos" pitchFamily="34" charset="-120"/>
              </a:rPr>
              <a:t>MI</a:t>
            </a:r>
            <a:endParaRPr lang="en-US" sz="720" dirty="0"/>
          </a:p>
        </p:txBody>
      </p:sp>
      <p:sp>
        <p:nvSpPr>
          <p:cNvPr id="22" name="Shape 19"/>
          <p:cNvSpPr/>
          <p:nvPr/>
        </p:nvSpPr>
        <p:spPr>
          <a:xfrm flipH="1">
            <a:off x="3703320" y="3364992"/>
            <a:ext cx="594360" cy="292608"/>
          </a:xfrm>
          <a:prstGeom prst="line">
            <a:avLst/>
          </a:prstGeom>
          <a:noFill/>
          <a:ln w="12700">
            <a:solidFill>
              <a:srgbClr val="465057"/>
            </a:solidFill>
            <a:prstDash val="solid"/>
          </a:ln>
        </p:spPr>
      </p:sp>
      <p:sp>
        <p:nvSpPr>
          <p:cNvPr id="23" name="Shape 20"/>
          <p:cNvSpPr/>
          <p:nvPr/>
        </p:nvSpPr>
        <p:spPr>
          <a:xfrm>
            <a:off x="6400800" y="4407408"/>
            <a:ext cx="914400" cy="914400"/>
          </a:xfrm>
          <a:prstGeom prst="ellipse">
            <a:avLst/>
          </a:prstGeom>
          <a:solidFill>
            <a:srgbClr val="1F2426"/>
          </a:solidFill>
          <a:ln w="17780">
            <a:solidFill>
              <a:srgbClr val="6D9A6F"/>
            </a:solidFill>
            <a:prstDash val="solid"/>
          </a:ln>
        </p:spPr>
      </p:sp>
      <p:sp>
        <p:nvSpPr>
          <p:cNvPr id="24" name="Text 21"/>
          <p:cNvSpPr/>
          <p:nvPr/>
        </p:nvSpPr>
        <p:spPr>
          <a:xfrm>
            <a:off x="6473952" y="4727448"/>
            <a:ext cx="768096" cy="182880"/>
          </a:xfrm>
          <a:prstGeom prst="rect">
            <a:avLst/>
          </a:prstGeom>
          <a:noFill/>
          <a:ln/>
        </p:spPr>
        <p:txBody>
          <a:bodyPr wrap="square" lIns="0" tIns="0" rIns="0" bIns="0"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BFF / Worker</a:t>
            </a:r>
            <a:endParaRPr lang="en-US" sz="720" dirty="0"/>
          </a:p>
          <a:p>
            <a:pPr algn="ctr" indent="0" marL="0">
              <a:buNone/>
            </a:pPr>
            <a:r>
              <a:rPr lang="en-US" sz="720" b="1" dirty="0">
                <a:solidFill>
                  <a:srgbClr val="FFFFFF"/>
                </a:solidFill>
                <a:latin typeface="Aptos" pitchFamily="34" charset="0"/>
                <a:ea typeface="Aptos" pitchFamily="34" charset="-122"/>
                <a:cs typeface="Aptos" pitchFamily="34" charset="-120"/>
              </a:rPr>
              <a:t>MIs</a:t>
            </a:r>
            <a:endParaRPr lang="en-US" sz="720" dirty="0"/>
          </a:p>
        </p:txBody>
      </p:sp>
      <p:sp>
        <p:nvSpPr>
          <p:cNvPr id="25" name="Shape 22"/>
          <p:cNvSpPr/>
          <p:nvPr/>
        </p:nvSpPr>
        <p:spPr>
          <a:xfrm>
            <a:off x="4873752" y="3364992"/>
            <a:ext cx="594360" cy="292608"/>
          </a:xfrm>
          <a:prstGeom prst="line">
            <a:avLst/>
          </a:prstGeom>
          <a:noFill/>
          <a:ln w="12700">
            <a:solidFill>
              <a:srgbClr val="465057"/>
            </a:solidFill>
            <a:prstDash val="solid"/>
          </a:ln>
        </p:spPr>
      </p:sp>
      <p:sp>
        <p:nvSpPr>
          <p:cNvPr id="26" name="Shape 23"/>
          <p:cNvSpPr/>
          <p:nvPr/>
        </p:nvSpPr>
        <p:spPr>
          <a:xfrm>
            <a:off x="8732520" y="1700784"/>
            <a:ext cx="2514600" cy="3364992"/>
          </a:xfrm>
          <a:prstGeom prst="roundRect">
            <a:avLst/>
          </a:prstGeom>
          <a:solidFill>
            <a:srgbClr val="1F2426"/>
          </a:solidFill>
          <a:ln w="8890">
            <a:solidFill>
              <a:srgbClr val="465057"/>
            </a:solidFill>
            <a:prstDash val="solid"/>
          </a:ln>
        </p:spPr>
      </p:sp>
      <p:sp>
        <p:nvSpPr>
          <p:cNvPr id="27" name="Shape 24"/>
          <p:cNvSpPr/>
          <p:nvPr/>
        </p:nvSpPr>
        <p:spPr>
          <a:xfrm>
            <a:off x="8732520" y="1700784"/>
            <a:ext cx="77724" cy="3364992"/>
          </a:xfrm>
          <a:prstGeom prst="rect">
            <a:avLst/>
          </a:prstGeom>
          <a:solidFill>
            <a:srgbClr val="E3A72F"/>
          </a:solidFill>
          <a:ln w="6350">
            <a:solidFill>
              <a:srgbClr val="E3A72F"/>
            </a:solidFill>
            <a:prstDash val="solid"/>
          </a:ln>
        </p:spPr>
      </p:sp>
      <p:sp>
        <p:nvSpPr>
          <p:cNvPr id="28" name="Text 25"/>
          <p:cNvSpPr/>
          <p:nvPr/>
        </p:nvSpPr>
        <p:spPr>
          <a:xfrm>
            <a:off x="8997696" y="1993392"/>
            <a:ext cx="1691640"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E3A72F"/>
                </a:solidFill>
                <a:latin typeface="Aptos" pitchFamily="34" charset="0"/>
                <a:ea typeface="Aptos" pitchFamily="34" charset="-122"/>
                <a:cs typeface="Aptos" pitchFamily="34" charset="-120"/>
              </a:rPr>
              <a:t>EU RESIDENCY POSTURE</a:t>
            </a:r>
            <a:endParaRPr lang="en-US" sz="720" dirty="0"/>
          </a:p>
        </p:txBody>
      </p:sp>
      <p:sp>
        <p:nvSpPr>
          <p:cNvPr id="29" name="Text 26"/>
          <p:cNvSpPr/>
          <p:nvPr/>
        </p:nvSpPr>
        <p:spPr>
          <a:xfrm>
            <a:off x="8997696" y="2487168"/>
            <a:ext cx="1920240" cy="393192"/>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Bahnschrift SemiBold" pitchFamily="34" charset="0"/>
                <a:ea typeface="Bahnschrift SemiBold" pitchFamily="34" charset="-122"/>
                <a:cs typeface="Bahnschrift SemiBold" pitchFamily="34" charset="-120"/>
              </a:rPr>
              <a:t>SWEDEN</a:t>
            </a:r>
            <a:endParaRPr lang="en-US" sz="1900" dirty="0"/>
          </a:p>
          <a:p>
            <a:pPr algn="ctr" indent="0" marL="0">
              <a:buNone/>
            </a:pPr>
            <a:r>
              <a:rPr lang="en-US" sz="1900" b="1" dirty="0">
                <a:solidFill>
                  <a:srgbClr val="FFFFFF"/>
                </a:solidFill>
                <a:latin typeface="Bahnschrift SemiBold" pitchFamily="34" charset="0"/>
                <a:ea typeface="Bahnschrift SemiBold" pitchFamily="34" charset="-122"/>
                <a:cs typeface="Bahnschrift SemiBold" pitchFamily="34" charset="-120"/>
              </a:rPr>
              <a:t>CENTRAL</a:t>
            </a:r>
            <a:endParaRPr lang="en-US" sz="1900" dirty="0"/>
          </a:p>
        </p:txBody>
      </p:sp>
      <p:sp>
        <p:nvSpPr>
          <p:cNvPr id="30" name="Text 27"/>
          <p:cNvSpPr/>
          <p:nvPr/>
        </p:nvSpPr>
        <p:spPr>
          <a:xfrm>
            <a:off x="8997696" y="3072384"/>
            <a:ext cx="1920240" cy="246888"/>
          </a:xfrm>
          <a:prstGeom prst="rect">
            <a:avLst/>
          </a:prstGeom>
          <a:noFill/>
          <a:ln/>
        </p:spPr>
        <p:txBody>
          <a:bodyPr wrap="square" lIns="0" tIns="0" rIns="0" bIns="0" rtlCol="0" anchor="ctr">
            <a:normAutofit/>
          </a:bodyPr>
          <a:lstStyle/>
          <a:p>
            <a:pPr algn="ctr" indent="0" marL="0">
              <a:buNone/>
            </a:pPr>
            <a:r>
              <a:rPr lang="en-US" sz="830" b="1" dirty="0">
                <a:solidFill>
                  <a:srgbClr val="AEB9BA"/>
                </a:solidFill>
                <a:latin typeface="Aptos" pitchFamily="34" charset="0"/>
                <a:ea typeface="Aptos" pitchFamily="34" charset="-122"/>
                <a:cs typeface="Aptos" pitchFamily="34" charset="-120"/>
              </a:rPr>
              <a:t>Fabric • Event Hubs • apps</a:t>
            </a:r>
            <a:endParaRPr lang="en-US" sz="830" dirty="0"/>
          </a:p>
          <a:p>
            <a:pPr algn="ctr" indent="0" marL="0">
              <a:buNone/>
            </a:pPr>
            <a:r>
              <a:rPr lang="en-US" sz="830" b="1" dirty="0">
                <a:solidFill>
                  <a:srgbClr val="AEB9BA"/>
                </a:solidFill>
                <a:latin typeface="Aptos" pitchFamily="34" charset="0"/>
                <a:ea typeface="Aptos" pitchFamily="34" charset="-122"/>
                <a:cs typeface="Aptos" pitchFamily="34" charset="-120"/>
              </a:rPr>
              <a:t>Foundry project • Speech</a:t>
            </a:r>
            <a:endParaRPr lang="en-US" sz="830" dirty="0"/>
          </a:p>
        </p:txBody>
      </p:sp>
      <p:sp>
        <p:nvSpPr>
          <p:cNvPr id="31" name="Shape 28"/>
          <p:cNvSpPr/>
          <p:nvPr/>
        </p:nvSpPr>
        <p:spPr>
          <a:xfrm>
            <a:off x="9107424" y="3685032"/>
            <a:ext cx="1137514" cy="246888"/>
          </a:xfrm>
          <a:prstGeom prst="roundRect">
            <a:avLst/>
          </a:prstGeom>
          <a:solidFill>
            <a:srgbClr val="147D74"/>
          </a:solidFill>
          <a:ln w="5080">
            <a:solidFill>
              <a:srgbClr val="147D74"/>
            </a:solidFill>
            <a:prstDash val="solid"/>
          </a:ln>
        </p:spPr>
      </p:sp>
      <p:sp>
        <p:nvSpPr>
          <p:cNvPr id="32" name="Text 29"/>
          <p:cNvSpPr/>
          <p:nvPr/>
        </p:nvSpPr>
        <p:spPr>
          <a:xfrm>
            <a:off x="9226296" y="3735324"/>
            <a:ext cx="899770"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DATA ZONE (EU)</a:t>
            </a:r>
            <a:endParaRPr lang="en-US" sz="720" dirty="0"/>
          </a:p>
        </p:txBody>
      </p:sp>
      <p:sp>
        <p:nvSpPr>
          <p:cNvPr id="33" name="Text 30"/>
          <p:cNvSpPr/>
          <p:nvPr/>
        </p:nvSpPr>
        <p:spPr>
          <a:xfrm>
            <a:off x="8997696" y="4142232"/>
            <a:ext cx="1920240" cy="393192"/>
          </a:xfrm>
          <a:prstGeom prst="rect">
            <a:avLst/>
          </a:prstGeom>
          <a:noFill/>
          <a:ln/>
        </p:spPr>
        <p:txBody>
          <a:bodyPr wrap="square" lIns="0" tIns="0" rIns="0" bIns="0" rtlCol="0" anchor="ctr">
            <a:normAutofit/>
          </a:bodyPr>
          <a:lstStyle/>
          <a:p>
            <a:pPr algn="ctr" indent="0" marL="0">
              <a:buNone/>
            </a:pPr>
            <a:r>
              <a:rPr lang="en-US" sz="720" dirty="0">
                <a:solidFill>
                  <a:srgbClr val="AEB9BA"/>
                </a:solidFill>
                <a:latin typeface="Aptos" pitchFamily="34" charset="0"/>
                <a:ea typeface="Aptos" pitchFamily="34" charset="-122"/>
                <a:cs typeface="Aptos" pitchFamily="34" charset="-120"/>
              </a:rPr>
              <a:t>EU-zone does not imply Sweden-only inference.</a:t>
            </a:r>
            <a:endParaRPr lang="en-US" sz="720" dirty="0"/>
          </a:p>
          <a:p>
            <a:pPr algn="ctr" indent="0" marL="0">
              <a:buNone/>
            </a:pPr>
            <a:r>
              <a:rPr lang="en-US" sz="720" dirty="0">
                <a:solidFill>
                  <a:srgbClr val="AEB9BA"/>
                </a:solidFill>
                <a:latin typeface="Aptos" pitchFamily="34" charset="0"/>
                <a:ea typeface="Aptos" pitchFamily="34" charset="-122"/>
                <a:cs typeface="Aptos" pitchFamily="34" charset="-120"/>
              </a:rPr>
              <a:t>Single-region policy needs regional deployment validation.</a:t>
            </a:r>
            <a:endParaRPr lang="en-US" sz="720" dirty="0"/>
          </a:p>
        </p:txBody>
      </p:sp>
      <p:sp>
        <p:nvSpPr>
          <p:cNvPr id="34" name="Shape 31"/>
          <p:cNvSpPr/>
          <p:nvPr/>
        </p:nvSpPr>
        <p:spPr>
          <a:xfrm>
            <a:off x="640080" y="5404104"/>
            <a:ext cx="1778508" cy="310896"/>
          </a:xfrm>
          <a:prstGeom prst="roundRect">
            <a:avLst/>
          </a:prstGeom>
          <a:solidFill>
            <a:srgbClr val="FFFFFF"/>
          </a:solidFill>
          <a:ln w="5080">
            <a:solidFill>
              <a:srgbClr val="DDE4E1"/>
            </a:solidFill>
            <a:prstDash val="solid"/>
          </a:ln>
        </p:spPr>
      </p:sp>
      <p:sp>
        <p:nvSpPr>
          <p:cNvPr id="35" name="Shape 32"/>
          <p:cNvSpPr/>
          <p:nvPr/>
        </p:nvSpPr>
        <p:spPr>
          <a:xfrm>
            <a:off x="640080" y="5404104"/>
            <a:ext cx="54864" cy="310896"/>
          </a:xfrm>
          <a:prstGeom prst="rect">
            <a:avLst/>
          </a:prstGeom>
          <a:solidFill>
            <a:srgbClr val="B64A2D"/>
          </a:solidFill>
          <a:ln w="6350">
            <a:solidFill>
              <a:srgbClr val="B64A2D"/>
            </a:solidFill>
            <a:prstDash val="solid"/>
          </a:ln>
        </p:spPr>
      </p:sp>
      <p:sp>
        <p:nvSpPr>
          <p:cNvPr id="36" name="Text 33"/>
          <p:cNvSpPr/>
          <p:nvPr/>
        </p:nvSpPr>
        <p:spPr>
          <a:xfrm>
            <a:off x="758952" y="5500116"/>
            <a:ext cx="1650492" cy="91440"/>
          </a:xfrm>
          <a:prstGeom prst="rect">
            <a:avLst/>
          </a:prstGeom>
          <a:noFill/>
          <a:ln/>
        </p:spPr>
        <p:txBody>
          <a:bodyPr wrap="square" lIns="0" tIns="0" rIns="0" bIns="0" rtlCol="0" anchor="ctr">
            <a:normAutofit/>
          </a:bodyPr>
          <a:lstStyle/>
          <a:p>
            <a:pPr algn="ctr" indent="0" marL="0">
              <a:buNone/>
            </a:pPr>
            <a:r>
              <a:rPr lang="en-US" sz="740" b="1" dirty="0">
                <a:solidFill>
                  <a:srgbClr val="202729"/>
                </a:solidFill>
                <a:latin typeface="Aptos" pitchFamily="34" charset="0"/>
                <a:ea typeface="Aptos" pitchFamily="34" charset="-122"/>
                <a:cs typeface="Aptos" pitchFamily="34" charset="-120"/>
              </a:rPr>
              <a:t>Azure RBAC</a:t>
            </a:r>
            <a:endParaRPr lang="en-US" sz="740" dirty="0"/>
          </a:p>
        </p:txBody>
      </p:sp>
      <p:sp>
        <p:nvSpPr>
          <p:cNvPr id="37" name="Shape 34"/>
          <p:cNvSpPr/>
          <p:nvPr/>
        </p:nvSpPr>
        <p:spPr>
          <a:xfrm>
            <a:off x="2491740" y="5404104"/>
            <a:ext cx="1778508" cy="310896"/>
          </a:xfrm>
          <a:prstGeom prst="roundRect">
            <a:avLst/>
          </a:prstGeom>
          <a:solidFill>
            <a:srgbClr val="FFFFFF"/>
          </a:solidFill>
          <a:ln w="5080">
            <a:solidFill>
              <a:srgbClr val="DDE4E1"/>
            </a:solidFill>
            <a:prstDash val="solid"/>
          </a:ln>
        </p:spPr>
      </p:sp>
      <p:sp>
        <p:nvSpPr>
          <p:cNvPr id="38" name="Shape 35"/>
          <p:cNvSpPr/>
          <p:nvPr/>
        </p:nvSpPr>
        <p:spPr>
          <a:xfrm>
            <a:off x="2491740" y="5404104"/>
            <a:ext cx="54864" cy="310896"/>
          </a:xfrm>
          <a:prstGeom prst="rect">
            <a:avLst/>
          </a:prstGeom>
          <a:solidFill>
            <a:srgbClr val="147D74"/>
          </a:solidFill>
          <a:ln w="6350">
            <a:solidFill>
              <a:srgbClr val="147D74"/>
            </a:solidFill>
            <a:prstDash val="solid"/>
          </a:ln>
        </p:spPr>
      </p:sp>
      <p:sp>
        <p:nvSpPr>
          <p:cNvPr id="39" name="Text 36"/>
          <p:cNvSpPr/>
          <p:nvPr/>
        </p:nvSpPr>
        <p:spPr>
          <a:xfrm>
            <a:off x="2610612" y="5500116"/>
            <a:ext cx="1650492" cy="91440"/>
          </a:xfrm>
          <a:prstGeom prst="rect">
            <a:avLst/>
          </a:prstGeom>
          <a:noFill/>
          <a:ln/>
        </p:spPr>
        <p:txBody>
          <a:bodyPr wrap="square" lIns="0" tIns="0" rIns="0" bIns="0" rtlCol="0" anchor="ctr">
            <a:normAutofit/>
          </a:bodyPr>
          <a:lstStyle/>
          <a:p>
            <a:pPr algn="ctr" indent="0" marL="0">
              <a:buNone/>
            </a:pPr>
            <a:r>
              <a:rPr lang="en-US" sz="740" b="1" dirty="0">
                <a:solidFill>
                  <a:srgbClr val="202729"/>
                </a:solidFill>
                <a:latin typeface="Aptos" pitchFamily="34" charset="0"/>
                <a:ea typeface="Aptos" pitchFamily="34" charset="-122"/>
                <a:cs typeface="Aptos" pitchFamily="34" charset="-120"/>
              </a:rPr>
              <a:t>Fabric + OneLake roles</a:t>
            </a:r>
            <a:endParaRPr lang="en-US" sz="740" dirty="0"/>
          </a:p>
        </p:txBody>
      </p:sp>
      <p:sp>
        <p:nvSpPr>
          <p:cNvPr id="40" name="Shape 37"/>
          <p:cNvSpPr/>
          <p:nvPr/>
        </p:nvSpPr>
        <p:spPr>
          <a:xfrm>
            <a:off x="4343400" y="5404104"/>
            <a:ext cx="1778508" cy="310896"/>
          </a:xfrm>
          <a:prstGeom prst="roundRect">
            <a:avLst/>
          </a:prstGeom>
          <a:solidFill>
            <a:srgbClr val="FFFFFF"/>
          </a:solidFill>
          <a:ln w="5080">
            <a:solidFill>
              <a:srgbClr val="DDE4E1"/>
            </a:solidFill>
            <a:prstDash val="solid"/>
          </a:ln>
        </p:spPr>
      </p:sp>
      <p:sp>
        <p:nvSpPr>
          <p:cNvPr id="41" name="Shape 38"/>
          <p:cNvSpPr/>
          <p:nvPr/>
        </p:nvSpPr>
        <p:spPr>
          <a:xfrm>
            <a:off x="4343400" y="5404104"/>
            <a:ext cx="54864" cy="310896"/>
          </a:xfrm>
          <a:prstGeom prst="rect">
            <a:avLst/>
          </a:prstGeom>
          <a:solidFill>
            <a:srgbClr val="E3A72F"/>
          </a:solidFill>
          <a:ln w="6350">
            <a:solidFill>
              <a:srgbClr val="E3A72F"/>
            </a:solidFill>
            <a:prstDash val="solid"/>
          </a:ln>
        </p:spPr>
      </p:sp>
      <p:sp>
        <p:nvSpPr>
          <p:cNvPr id="42" name="Text 39"/>
          <p:cNvSpPr/>
          <p:nvPr/>
        </p:nvSpPr>
        <p:spPr>
          <a:xfrm>
            <a:off x="4462272" y="5500116"/>
            <a:ext cx="1650492" cy="91440"/>
          </a:xfrm>
          <a:prstGeom prst="rect">
            <a:avLst/>
          </a:prstGeom>
          <a:noFill/>
          <a:ln/>
        </p:spPr>
        <p:txBody>
          <a:bodyPr wrap="square" lIns="0" tIns="0" rIns="0" bIns="0" rtlCol="0" anchor="ctr">
            <a:normAutofit/>
          </a:bodyPr>
          <a:lstStyle/>
          <a:p>
            <a:pPr algn="ctr" indent="0" marL="0">
              <a:buNone/>
            </a:pPr>
            <a:r>
              <a:rPr lang="en-US" sz="740" b="1" dirty="0">
                <a:solidFill>
                  <a:srgbClr val="202729"/>
                </a:solidFill>
                <a:latin typeface="Aptos" pitchFamily="34" charset="0"/>
                <a:ea typeface="Aptos" pitchFamily="34" charset="-122"/>
                <a:cs typeface="Aptos" pitchFamily="34" charset="-120"/>
              </a:rPr>
              <a:t>Foundry RBAC</a:t>
            </a:r>
            <a:endParaRPr lang="en-US" sz="740" dirty="0"/>
          </a:p>
        </p:txBody>
      </p:sp>
      <p:sp>
        <p:nvSpPr>
          <p:cNvPr id="43" name="Shape 40"/>
          <p:cNvSpPr/>
          <p:nvPr/>
        </p:nvSpPr>
        <p:spPr>
          <a:xfrm>
            <a:off x="6195060" y="5404104"/>
            <a:ext cx="1778508" cy="310896"/>
          </a:xfrm>
          <a:prstGeom prst="roundRect">
            <a:avLst/>
          </a:prstGeom>
          <a:solidFill>
            <a:srgbClr val="FFFFFF"/>
          </a:solidFill>
          <a:ln w="5080">
            <a:solidFill>
              <a:srgbClr val="DDE4E1"/>
            </a:solidFill>
            <a:prstDash val="solid"/>
          </a:ln>
        </p:spPr>
      </p:sp>
      <p:sp>
        <p:nvSpPr>
          <p:cNvPr id="44" name="Shape 41"/>
          <p:cNvSpPr/>
          <p:nvPr/>
        </p:nvSpPr>
        <p:spPr>
          <a:xfrm>
            <a:off x="6195060" y="5404104"/>
            <a:ext cx="54864" cy="310896"/>
          </a:xfrm>
          <a:prstGeom prst="rect">
            <a:avLst/>
          </a:prstGeom>
          <a:solidFill>
            <a:srgbClr val="6D9A6F"/>
          </a:solidFill>
          <a:ln w="6350">
            <a:solidFill>
              <a:srgbClr val="6D9A6F"/>
            </a:solidFill>
            <a:prstDash val="solid"/>
          </a:ln>
        </p:spPr>
      </p:sp>
      <p:sp>
        <p:nvSpPr>
          <p:cNvPr id="45" name="Text 42"/>
          <p:cNvSpPr/>
          <p:nvPr/>
        </p:nvSpPr>
        <p:spPr>
          <a:xfrm>
            <a:off x="6313932" y="5500116"/>
            <a:ext cx="1650492" cy="91440"/>
          </a:xfrm>
          <a:prstGeom prst="rect">
            <a:avLst/>
          </a:prstGeom>
          <a:noFill/>
          <a:ln/>
        </p:spPr>
        <p:txBody>
          <a:bodyPr wrap="square" lIns="0" tIns="0" rIns="0" bIns="0" rtlCol="0" anchor="ctr">
            <a:normAutofit/>
          </a:bodyPr>
          <a:lstStyle/>
          <a:p>
            <a:pPr algn="ctr" indent="0" marL="0">
              <a:buNone/>
            </a:pPr>
            <a:r>
              <a:rPr lang="en-US" sz="740" b="1" dirty="0">
                <a:solidFill>
                  <a:srgbClr val="202729"/>
                </a:solidFill>
                <a:latin typeface="Aptos" pitchFamily="34" charset="0"/>
                <a:ea typeface="Aptos" pitchFamily="34" charset="-122"/>
                <a:cs typeface="Aptos" pitchFamily="34" charset="-120"/>
              </a:rPr>
              <a:t>App roles</a:t>
            </a:r>
            <a:endParaRPr lang="en-US" sz="740" dirty="0"/>
          </a:p>
        </p:txBody>
      </p:sp>
      <p:sp>
        <p:nvSpPr>
          <p:cNvPr id="46" name="Text 43"/>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AEB9BA"/>
                </a:solidFill>
                <a:latin typeface="Aptos" pitchFamily="34" charset="0"/>
                <a:ea typeface="Aptos" pitchFamily="34" charset="-122"/>
                <a:cs typeface="Aptos" pitchFamily="34" charset="-120"/>
              </a:rPr>
              <a:t>Source cue | solution-architecture.md §8  •  deployment-topology.md §2  •  security-governance-and-threat-model.md</a:t>
            </a:r>
            <a:endParaRPr lang="en-US" sz="660" dirty="0"/>
          </a:p>
        </p:txBody>
      </p:sp>
      <p:sp>
        <p:nvSpPr>
          <p:cNvPr id="47" name="Shape 44"/>
          <p:cNvSpPr/>
          <p:nvPr/>
        </p:nvSpPr>
        <p:spPr>
          <a:xfrm>
            <a:off x="0" y="6483096"/>
            <a:ext cx="12191695" cy="374904"/>
          </a:xfrm>
          <a:prstGeom prst="rect">
            <a:avLst/>
          </a:prstGeom>
          <a:solidFill>
            <a:srgbClr val="1F2426"/>
          </a:solidFill>
          <a:ln w="6350">
            <a:solidFill>
              <a:srgbClr val="1F2426"/>
            </a:solidFill>
            <a:prstDash val="solid"/>
          </a:ln>
        </p:spPr>
      </p:sp>
      <p:sp>
        <p:nvSpPr>
          <p:cNvPr id="48" name="Shape 45"/>
          <p:cNvSpPr/>
          <p:nvPr/>
        </p:nvSpPr>
        <p:spPr>
          <a:xfrm>
            <a:off x="384048" y="6547104"/>
            <a:ext cx="3547872" cy="182880"/>
          </a:xfrm>
          <a:prstGeom prst="roundRect">
            <a:avLst/>
          </a:prstGeom>
          <a:solidFill>
            <a:srgbClr val="465057"/>
          </a:solidFill>
          <a:ln w="3175">
            <a:solidFill>
              <a:srgbClr val="465057"/>
            </a:solidFill>
            <a:prstDash val="solid"/>
          </a:ln>
        </p:spPr>
      </p:sp>
      <p:sp>
        <p:nvSpPr>
          <p:cNvPr id="49" name="Text 46"/>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DDE4E1"/>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50" name="Text 47"/>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DDE4E1"/>
                </a:solidFill>
                <a:latin typeface="Aptos" pitchFamily="34" charset="0"/>
                <a:ea typeface="Aptos" pitchFamily="34" charset="-122"/>
                <a:cs typeface="Aptos" pitchFamily="34" charset="-120"/>
              </a:rPr>
              <a:t>ORAL DEFENSE  •  17 / 20</a:t>
            </a:r>
            <a:endParaRPr lang="en-US" sz="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465057"/>
          </a:solidFill>
          <a:ln w="5080">
            <a:solidFill>
              <a:srgbClr val="465057"/>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18</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EVIDENCE DISCIPLINE</a:t>
            </a:r>
            <a:endParaRPr lang="en-US" sz="810" dirty="0"/>
          </a:p>
        </p:txBody>
      </p:sp>
      <p:sp>
        <p:nvSpPr>
          <p:cNvPr id="7" name="Shape 5"/>
          <p:cNvSpPr/>
          <p:nvPr/>
        </p:nvSpPr>
        <p:spPr>
          <a:xfrm>
            <a:off x="10040112" y="274320"/>
            <a:ext cx="1673352" cy="256032"/>
          </a:xfrm>
          <a:prstGeom prst="roundRect">
            <a:avLst/>
          </a:prstGeom>
          <a:solidFill>
            <a:srgbClr val="FFFFFF"/>
          </a:solidFill>
          <a:ln w="6350">
            <a:solidFill>
              <a:srgbClr val="DDE4E1"/>
            </a:solidFill>
            <a:prstDash val="solid"/>
          </a:ln>
        </p:spPr>
      </p:sp>
      <p:sp>
        <p:nvSpPr>
          <p:cNvPr id="8" name="Text 6"/>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687373"/>
                </a:solidFill>
                <a:latin typeface="Aptos" pitchFamily="34" charset="0"/>
                <a:ea typeface="Aptos" pitchFamily="34" charset="-122"/>
                <a:cs typeface="Aptos" pitchFamily="34" charset="-120"/>
              </a:rPr>
              <a:t>26:15–27:45</a:t>
            </a:r>
            <a:endParaRPr lang="en-US" sz="720" dirty="0"/>
          </a:p>
        </p:txBody>
      </p:sp>
      <p:sp>
        <p:nvSpPr>
          <p:cNvPr id="9" name="Text 7"/>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Synthetic data: deterministic, physics-first, visibly labeled</a:t>
            </a:r>
            <a:endParaRPr lang="en-US" sz="2550" dirty="0"/>
          </a:p>
        </p:txBody>
      </p:sp>
      <p:sp>
        <p:nvSpPr>
          <p:cNvPr id="10" name="Shape 8"/>
          <p:cNvSpPr/>
          <p:nvPr/>
        </p:nvSpPr>
        <p:spPr>
          <a:xfrm>
            <a:off x="457200" y="1188720"/>
            <a:ext cx="1378915" cy="246888"/>
          </a:xfrm>
          <a:prstGeom prst="roundRect">
            <a:avLst/>
          </a:prstGeom>
          <a:solidFill>
            <a:srgbClr val="147D74"/>
          </a:solidFill>
          <a:ln w="5080">
            <a:solidFill>
              <a:srgbClr val="147D74"/>
            </a:solidFill>
            <a:prstDash val="solid"/>
          </a:ln>
        </p:spPr>
      </p:sp>
      <p:sp>
        <p:nvSpPr>
          <p:cNvPr id="11" name="Text 9"/>
          <p:cNvSpPr/>
          <p:nvPr/>
        </p:nvSpPr>
        <p:spPr>
          <a:xfrm>
            <a:off x="576072" y="1239012"/>
            <a:ext cx="1141171"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SYNTHETIC EVIDENCE</a:t>
            </a:r>
            <a:endParaRPr lang="en-US" sz="720" dirty="0"/>
          </a:p>
        </p:txBody>
      </p:sp>
      <p:sp>
        <p:nvSpPr>
          <p:cNvPr id="12" name="Shape 10"/>
          <p:cNvSpPr/>
          <p:nvPr/>
        </p:nvSpPr>
        <p:spPr>
          <a:xfrm>
            <a:off x="512064" y="1865376"/>
            <a:ext cx="2386584" cy="1417320"/>
          </a:xfrm>
          <a:prstGeom prst="roundRect">
            <a:avLst/>
          </a:prstGeom>
          <a:solidFill>
            <a:srgbClr val="FFFFFF"/>
          </a:solidFill>
          <a:ln w="8890">
            <a:solidFill>
              <a:srgbClr val="465057"/>
            </a:solidFill>
            <a:prstDash val="solid"/>
          </a:ln>
        </p:spPr>
      </p:sp>
      <p:sp>
        <p:nvSpPr>
          <p:cNvPr id="13" name="Shape 11"/>
          <p:cNvSpPr/>
          <p:nvPr/>
        </p:nvSpPr>
        <p:spPr>
          <a:xfrm>
            <a:off x="512064" y="1865376"/>
            <a:ext cx="77724" cy="1417320"/>
          </a:xfrm>
          <a:prstGeom prst="rect">
            <a:avLst/>
          </a:prstGeom>
          <a:solidFill>
            <a:srgbClr val="465057"/>
          </a:solidFill>
          <a:ln w="6350">
            <a:solidFill>
              <a:srgbClr val="465057"/>
            </a:solidFill>
            <a:prstDash val="solid"/>
          </a:ln>
        </p:spPr>
      </p:sp>
      <p:sp>
        <p:nvSpPr>
          <p:cNvPr id="14" name="Text 12"/>
          <p:cNvSpPr/>
          <p:nvPr/>
        </p:nvSpPr>
        <p:spPr>
          <a:xfrm>
            <a:off x="676656" y="2048256"/>
            <a:ext cx="2066544" cy="219456"/>
          </a:xfrm>
          <a:prstGeom prst="rect">
            <a:avLst/>
          </a:prstGeom>
          <a:noFill/>
          <a:ln/>
        </p:spPr>
        <p:txBody>
          <a:bodyPr wrap="square" lIns="0" tIns="0" rIns="0" bIns="0" rtlCol="0" anchor="ctr">
            <a:normAutofit/>
          </a:bodyPr>
          <a:lstStyle/>
          <a:p>
            <a:pPr algn="l" indent="0" marL="0">
              <a:buNone/>
            </a:pPr>
            <a:r>
              <a:rPr lang="en-US" sz="1140" b="1" dirty="0">
                <a:solidFill>
                  <a:srgbClr val="202729"/>
                </a:solidFill>
                <a:latin typeface="Aptos" pitchFamily="34" charset="0"/>
                <a:ea typeface="Aptos" pitchFamily="34" charset="-122"/>
                <a:cs typeface="Aptos" pitchFamily="34" charset="-120"/>
              </a:rPr>
              <a:t>SIGNED</a:t>
            </a:r>
            <a:endParaRPr lang="en-US" sz="1140" dirty="0"/>
          </a:p>
          <a:p>
            <a:pPr algn="l" indent="0" marL="0">
              <a:buNone/>
            </a:pPr>
            <a:r>
              <a:rPr lang="en-US" sz="1140" b="1" dirty="0">
                <a:solidFill>
                  <a:srgbClr val="202729"/>
                </a:solidFill>
                <a:latin typeface="Aptos" pitchFamily="34" charset="0"/>
                <a:ea typeface="Aptos" pitchFamily="34" charset="-122"/>
                <a:cs typeface="Aptos" pitchFamily="34" charset="-120"/>
              </a:rPr>
              <a:t>MANIFEST</a:t>
            </a:r>
            <a:endParaRPr lang="en-US" sz="1140" dirty="0"/>
          </a:p>
        </p:txBody>
      </p:sp>
      <p:sp>
        <p:nvSpPr>
          <p:cNvPr id="15" name="Text 13"/>
          <p:cNvSpPr/>
          <p:nvPr/>
        </p:nvSpPr>
        <p:spPr>
          <a:xfrm>
            <a:off x="676656" y="2350008"/>
            <a:ext cx="2066544" cy="822960"/>
          </a:xfrm>
          <a:prstGeom prst="rect">
            <a:avLst/>
          </a:prstGeom>
          <a:noFill/>
          <a:ln/>
        </p:spPr>
        <p:txBody>
          <a:bodyPr wrap="square" lIns="0" tIns="0" rIns="0" bIns="0" rtlCol="0" anchor="t">
            <a:normAutofit/>
          </a:bodyPr>
          <a:lstStyle/>
          <a:p>
            <a:pPr algn="l" indent="0" marL="0">
              <a:buNone/>
            </a:pPr>
            <a:r>
              <a:rPr lang="en-US" sz="830" dirty="0">
                <a:solidFill>
                  <a:srgbClr val="687373"/>
                </a:solidFill>
                <a:latin typeface="Aptos" pitchFamily="34" charset="0"/>
                <a:ea typeface="Aptos" pitchFamily="34" charset="-122"/>
                <a:cs typeface="Aptos" pitchFamily="34" charset="-120"/>
              </a:rPr>
              <a:t>root seed 240725</a:t>
            </a:r>
            <a:endParaRPr lang="en-US" sz="830" dirty="0"/>
          </a:p>
          <a:p>
            <a:pPr algn="l" indent="0" marL="0">
              <a:buNone/>
            </a:pPr>
            <a:r>
              <a:rPr lang="en-US" sz="830" dirty="0">
                <a:solidFill>
                  <a:srgbClr val="687373"/>
                </a:solidFill>
                <a:latin typeface="Aptos" pitchFamily="34" charset="0"/>
                <a:ea typeface="Aptos" pitchFamily="34" charset="-122"/>
                <a:cs typeface="Aptos" pitchFamily="34" charset="-120"/>
              </a:rPr>
              <a:t>checksum</a:t>
            </a:r>
            <a:endParaRPr lang="en-US" sz="830" dirty="0"/>
          </a:p>
        </p:txBody>
      </p:sp>
      <p:sp>
        <p:nvSpPr>
          <p:cNvPr id="16" name="Shape 14"/>
          <p:cNvSpPr/>
          <p:nvPr/>
        </p:nvSpPr>
        <p:spPr>
          <a:xfrm>
            <a:off x="2971800" y="2350008"/>
            <a:ext cx="256032" cy="320040"/>
          </a:xfrm>
          <a:prstGeom prst="chevron">
            <a:avLst/>
          </a:prstGeom>
          <a:solidFill>
            <a:srgbClr val="465057"/>
          </a:solidFill>
          <a:ln w="12700">
            <a:solidFill>
              <a:srgbClr val="465057">
                <a:alpha val="0"/>
              </a:srgbClr>
            </a:solidFill>
            <a:prstDash val="solid"/>
          </a:ln>
        </p:spPr>
      </p:sp>
      <p:sp>
        <p:nvSpPr>
          <p:cNvPr id="17" name="Shape 15"/>
          <p:cNvSpPr/>
          <p:nvPr/>
        </p:nvSpPr>
        <p:spPr>
          <a:xfrm>
            <a:off x="3374136" y="1865376"/>
            <a:ext cx="2386584" cy="1417320"/>
          </a:xfrm>
          <a:prstGeom prst="roundRect">
            <a:avLst/>
          </a:prstGeom>
          <a:solidFill>
            <a:srgbClr val="FFFFFF"/>
          </a:solidFill>
          <a:ln w="8890">
            <a:solidFill>
              <a:srgbClr val="B64A2D"/>
            </a:solidFill>
            <a:prstDash val="solid"/>
          </a:ln>
        </p:spPr>
      </p:sp>
      <p:sp>
        <p:nvSpPr>
          <p:cNvPr id="18" name="Shape 16"/>
          <p:cNvSpPr/>
          <p:nvPr/>
        </p:nvSpPr>
        <p:spPr>
          <a:xfrm>
            <a:off x="3374136" y="1865376"/>
            <a:ext cx="77724" cy="1417320"/>
          </a:xfrm>
          <a:prstGeom prst="rect">
            <a:avLst/>
          </a:prstGeom>
          <a:solidFill>
            <a:srgbClr val="B64A2D"/>
          </a:solidFill>
          <a:ln w="6350">
            <a:solidFill>
              <a:srgbClr val="B64A2D"/>
            </a:solidFill>
            <a:prstDash val="solid"/>
          </a:ln>
        </p:spPr>
      </p:sp>
      <p:sp>
        <p:nvSpPr>
          <p:cNvPr id="19" name="Text 17"/>
          <p:cNvSpPr/>
          <p:nvPr/>
        </p:nvSpPr>
        <p:spPr>
          <a:xfrm>
            <a:off x="3538728" y="2048256"/>
            <a:ext cx="2066544" cy="219456"/>
          </a:xfrm>
          <a:prstGeom prst="rect">
            <a:avLst/>
          </a:prstGeom>
          <a:noFill/>
          <a:ln/>
        </p:spPr>
        <p:txBody>
          <a:bodyPr wrap="square" lIns="0" tIns="0" rIns="0" bIns="0" rtlCol="0" anchor="ctr">
            <a:normAutofit/>
          </a:bodyPr>
          <a:lstStyle/>
          <a:p>
            <a:pPr algn="l" indent="0" marL="0">
              <a:buNone/>
            </a:pPr>
            <a:r>
              <a:rPr lang="en-US" sz="1140" b="1" dirty="0">
                <a:solidFill>
                  <a:srgbClr val="202729"/>
                </a:solidFill>
                <a:latin typeface="Aptos" pitchFamily="34" charset="0"/>
                <a:ea typeface="Aptos" pitchFamily="34" charset="-122"/>
                <a:cs typeface="Aptos" pitchFamily="34" charset="-120"/>
              </a:rPr>
              <a:t>PROCESS +</a:t>
            </a:r>
            <a:endParaRPr lang="en-US" sz="1140" dirty="0"/>
          </a:p>
          <a:p>
            <a:pPr algn="l" indent="0" marL="0">
              <a:buNone/>
            </a:pPr>
            <a:r>
              <a:rPr lang="en-US" sz="1140" b="1" dirty="0">
                <a:solidFill>
                  <a:srgbClr val="202729"/>
                </a:solidFill>
                <a:latin typeface="Aptos" pitchFamily="34" charset="0"/>
                <a:ea typeface="Aptos" pitchFamily="34" charset="-122"/>
                <a:cs typeface="Aptos" pitchFamily="34" charset="-120"/>
              </a:rPr>
              <a:t>TRUTH LEDGER</a:t>
            </a:r>
            <a:endParaRPr lang="en-US" sz="1140" dirty="0"/>
          </a:p>
        </p:txBody>
      </p:sp>
      <p:sp>
        <p:nvSpPr>
          <p:cNvPr id="20" name="Text 18"/>
          <p:cNvSpPr/>
          <p:nvPr/>
        </p:nvSpPr>
        <p:spPr>
          <a:xfrm>
            <a:off x="3538728" y="2350008"/>
            <a:ext cx="2066544" cy="822960"/>
          </a:xfrm>
          <a:prstGeom prst="rect">
            <a:avLst/>
          </a:prstGeom>
          <a:noFill/>
          <a:ln/>
        </p:spPr>
        <p:txBody>
          <a:bodyPr wrap="square" lIns="0" tIns="0" rIns="0" bIns="0" rtlCol="0" anchor="t">
            <a:normAutofit/>
          </a:bodyPr>
          <a:lstStyle/>
          <a:p>
            <a:pPr algn="l" indent="0" marL="0">
              <a:buNone/>
            </a:pPr>
            <a:r>
              <a:rPr lang="en-US" sz="830" dirty="0">
                <a:solidFill>
                  <a:srgbClr val="687373"/>
                </a:solidFill>
                <a:latin typeface="Aptos" pitchFamily="34" charset="0"/>
                <a:ea typeface="Aptos" pitchFamily="34" charset="-122"/>
                <a:cs typeface="Aptos" pitchFamily="34" charset="-120"/>
              </a:rPr>
              <a:t>hidden state</a:t>
            </a:r>
            <a:endParaRPr lang="en-US" sz="830" dirty="0"/>
          </a:p>
          <a:p>
            <a:pPr algn="l" indent="0" marL="0">
              <a:buNone/>
            </a:pPr>
            <a:r>
              <a:rPr lang="en-US" sz="830" dirty="0">
                <a:solidFill>
                  <a:srgbClr val="687373"/>
                </a:solidFill>
                <a:latin typeface="Aptos" pitchFamily="34" charset="0"/>
                <a:ea typeface="Aptos" pitchFamily="34" charset="-122"/>
                <a:cs typeface="Aptos" pitchFamily="34" charset="-120"/>
              </a:rPr>
              <a:t>injected anomalies</a:t>
            </a:r>
            <a:endParaRPr lang="en-US" sz="830" dirty="0"/>
          </a:p>
        </p:txBody>
      </p:sp>
      <p:sp>
        <p:nvSpPr>
          <p:cNvPr id="21" name="Shape 19"/>
          <p:cNvSpPr/>
          <p:nvPr/>
        </p:nvSpPr>
        <p:spPr>
          <a:xfrm>
            <a:off x="5833872" y="2350008"/>
            <a:ext cx="256032" cy="320040"/>
          </a:xfrm>
          <a:prstGeom prst="chevron">
            <a:avLst/>
          </a:prstGeom>
          <a:solidFill>
            <a:srgbClr val="465057"/>
          </a:solidFill>
          <a:ln w="12700">
            <a:solidFill>
              <a:srgbClr val="465057">
                <a:alpha val="0"/>
              </a:srgbClr>
            </a:solidFill>
            <a:prstDash val="solid"/>
          </a:ln>
        </p:spPr>
      </p:sp>
      <p:sp>
        <p:nvSpPr>
          <p:cNvPr id="22" name="Shape 20"/>
          <p:cNvSpPr/>
          <p:nvPr/>
        </p:nvSpPr>
        <p:spPr>
          <a:xfrm>
            <a:off x="6236208" y="1865376"/>
            <a:ext cx="2386584" cy="1417320"/>
          </a:xfrm>
          <a:prstGeom prst="roundRect">
            <a:avLst/>
          </a:prstGeom>
          <a:solidFill>
            <a:srgbClr val="FFFFFF"/>
          </a:solidFill>
          <a:ln w="8890">
            <a:solidFill>
              <a:srgbClr val="E3A72F"/>
            </a:solidFill>
            <a:prstDash val="solid"/>
          </a:ln>
        </p:spPr>
      </p:sp>
      <p:sp>
        <p:nvSpPr>
          <p:cNvPr id="23" name="Shape 21"/>
          <p:cNvSpPr/>
          <p:nvPr/>
        </p:nvSpPr>
        <p:spPr>
          <a:xfrm>
            <a:off x="6236208" y="1865376"/>
            <a:ext cx="77724" cy="1417320"/>
          </a:xfrm>
          <a:prstGeom prst="rect">
            <a:avLst/>
          </a:prstGeom>
          <a:solidFill>
            <a:srgbClr val="E3A72F"/>
          </a:solidFill>
          <a:ln w="6350">
            <a:solidFill>
              <a:srgbClr val="E3A72F"/>
            </a:solidFill>
            <a:prstDash val="solid"/>
          </a:ln>
        </p:spPr>
      </p:sp>
      <p:sp>
        <p:nvSpPr>
          <p:cNvPr id="24" name="Text 22"/>
          <p:cNvSpPr/>
          <p:nvPr/>
        </p:nvSpPr>
        <p:spPr>
          <a:xfrm>
            <a:off x="6400800" y="2048256"/>
            <a:ext cx="2066544" cy="219456"/>
          </a:xfrm>
          <a:prstGeom prst="rect">
            <a:avLst/>
          </a:prstGeom>
          <a:noFill/>
          <a:ln/>
        </p:spPr>
        <p:txBody>
          <a:bodyPr wrap="square" lIns="0" tIns="0" rIns="0" bIns="0" rtlCol="0" anchor="ctr">
            <a:normAutofit/>
          </a:bodyPr>
          <a:lstStyle/>
          <a:p>
            <a:pPr algn="l" indent="0" marL="0">
              <a:buNone/>
            </a:pPr>
            <a:r>
              <a:rPr lang="en-US" sz="1140" b="1" dirty="0">
                <a:solidFill>
                  <a:srgbClr val="202729"/>
                </a:solidFill>
                <a:latin typeface="Aptos" pitchFamily="34" charset="0"/>
                <a:ea typeface="Aptos" pitchFamily="34" charset="-122"/>
                <a:cs typeface="Aptos" pitchFamily="34" charset="-120"/>
              </a:rPr>
              <a:t>CONTRACT +</a:t>
            </a:r>
            <a:endParaRPr lang="en-US" sz="1140" dirty="0"/>
          </a:p>
          <a:p>
            <a:pPr algn="l" indent="0" marL="0">
              <a:buNone/>
            </a:pPr>
            <a:r>
              <a:rPr lang="en-US" sz="1140" b="1" dirty="0">
                <a:solidFill>
                  <a:srgbClr val="202729"/>
                </a:solidFill>
                <a:latin typeface="Aptos" pitchFamily="34" charset="0"/>
                <a:ea typeface="Aptos" pitchFamily="34" charset="-122"/>
                <a:cs typeface="Aptos" pitchFamily="34" charset="-120"/>
              </a:rPr>
              <a:t>PHYSICS VALIDATOR</a:t>
            </a:r>
            <a:endParaRPr lang="en-US" sz="1140" dirty="0"/>
          </a:p>
        </p:txBody>
      </p:sp>
      <p:sp>
        <p:nvSpPr>
          <p:cNvPr id="25" name="Text 23"/>
          <p:cNvSpPr/>
          <p:nvPr/>
        </p:nvSpPr>
        <p:spPr>
          <a:xfrm>
            <a:off x="6400800" y="2350008"/>
            <a:ext cx="2066544" cy="822960"/>
          </a:xfrm>
          <a:prstGeom prst="rect">
            <a:avLst/>
          </a:prstGeom>
          <a:noFill/>
          <a:ln/>
        </p:spPr>
        <p:txBody>
          <a:bodyPr wrap="square" lIns="0" tIns="0" rIns="0" bIns="0" rtlCol="0" anchor="t">
            <a:normAutofit/>
          </a:bodyPr>
          <a:lstStyle/>
          <a:p>
            <a:pPr algn="l" indent="0" marL="0">
              <a:buNone/>
            </a:pPr>
            <a:r>
              <a:rPr lang="en-US" sz="830" dirty="0">
                <a:solidFill>
                  <a:srgbClr val="687373"/>
                </a:solidFill>
                <a:latin typeface="Aptos" pitchFamily="34" charset="0"/>
                <a:ea typeface="Aptos" pitchFamily="34" charset="-122"/>
                <a:cs typeface="Aptos" pitchFamily="34" charset="-120"/>
              </a:rPr>
              <a:t>units, ordering,</a:t>
            </a:r>
            <a:endParaRPr lang="en-US" sz="830" dirty="0"/>
          </a:p>
          <a:p>
            <a:pPr algn="l" indent="0" marL="0">
              <a:buNone/>
            </a:pPr>
            <a:r>
              <a:rPr lang="en-US" sz="830" dirty="0">
                <a:solidFill>
                  <a:srgbClr val="687373"/>
                </a:solidFill>
                <a:latin typeface="Aptos" pitchFamily="34" charset="0"/>
                <a:ea typeface="Aptos" pitchFamily="34" charset="-122"/>
                <a:cs typeface="Aptos" pitchFamily="34" charset="-120"/>
              </a:rPr>
              <a:t>mass/energy</a:t>
            </a:r>
            <a:endParaRPr lang="en-US" sz="830" dirty="0"/>
          </a:p>
        </p:txBody>
      </p:sp>
      <p:sp>
        <p:nvSpPr>
          <p:cNvPr id="26" name="Shape 24"/>
          <p:cNvSpPr/>
          <p:nvPr/>
        </p:nvSpPr>
        <p:spPr>
          <a:xfrm>
            <a:off x="8695944" y="2350008"/>
            <a:ext cx="256032" cy="320040"/>
          </a:xfrm>
          <a:prstGeom prst="chevron">
            <a:avLst/>
          </a:prstGeom>
          <a:solidFill>
            <a:srgbClr val="465057"/>
          </a:solidFill>
          <a:ln w="12700">
            <a:solidFill>
              <a:srgbClr val="465057">
                <a:alpha val="0"/>
              </a:srgbClr>
            </a:solidFill>
            <a:prstDash val="solid"/>
          </a:ln>
        </p:spPr>
      </p:sp>
      <p:sp>
        <p:nvSpPr>
          <p:cNvPr id="27" name="Shape 25"/>
          <p:cNvSpPr/>
          <p:nvPr/>
        </p:nvSpPr>
        <p:spPr>
          <a:xfrm>
            <a:off x="9098280" y="1865376"/>
            <a:ext cx="2386584" cy="1417320"/>
          </a:xfrm>
          <a:prstGeom prst="roundRect">
            <a:avLst/>
          </a:prstGeom>
          <a:solidFill>
            <a:srgbClr val="FFFFFF"/>
          </a:solidFill>
          <a:ln w="8890">
            <a:solidFill>
              <a:srgbClr val="147D74"/>
            </a:solidFill>
            <a:prstDash val="solid"/>
          </a:ln>
        </p:spPr>
      </p:sp>
      <p:sp>
        <p:nvSpPr>
          <p:cNvPr id="28" name="Shape 26"/>
          <p:cNvSpPr/>
          <p:nvPr/>
        </p:nvSpPr>
        <p:spPr>
          <a:xfrm>
            <a:off x="9098280" y="1865376"/>
            <a:ext cx="77724" cy="1417320"/>
          </a:xfrm>
          <a:prstGeom prst="rect">
            <a:avLst/>
          </a:prstGeom>
          <a:solidFill>
            <a:srgbClr val="147D74"/>
          </a:solidFill>
          <a:ln w="6350">
            <a:solidFill>
              <a:srgbClr val="147D74"/>
            </a:solidFill>
            <a:prstDash val="solid"/>
          </a:ln>
        </p:spPr>
      </p:sp>
      <p:sp>
        <p:nvSpPr>
          <p:cNvPr id="29" name="Text 27"/>
          <p:cNvSpPr/>
          <p:nvPr/>
        </p:nvSpPr>
        <p:spPr>
          <a:xfrm>
            <a:off x="9262872" y="2048256"/>
            <a:ext cx="2066544" cy="219456"/>
          </a:xfrm>
          <a:prstGeom prst="rect">
            <a:avLst/>
          </a:prstGeom>
          <a:noFill/>
          <a:ln/>
        </p:spPr>
        <p:txBody>
          <a:bodyPr wrap="square" lIns="0" tIns="0" rIns="0" bIns="0" rtlCol="0" anchor="ctr">
            <a:normAutofit/>
          </a:bodyPr>
          <a:lstStyle/>
          <a:p>
            <a:pPr algn="l" indent="0" marL="0">
              <a:buNone/>
            </a:pPr>
            <a:r>
              <a:rPr lang="en-US" sz="1140" b="1" dirty="0">
                <a:solidFill>
                  <a:srgbClr val="202729"/>
                </a:solidFill>
                <a:latin typeface="Aptos" pitchFamily="34" charset="0"/>
                <a:ea typeface="Aptos" pitchFamily="34" charset="-122"/>
                <a:cs typeface="Aptos" pitchFamily="34" charset="-120"/>
              </a:rPr>
              <a:t>PUBLISH /</a:t>
            </a:r>
            <a:endParaRPr lang="en-US" sz="1140" dirty="0"/>
          </a:p>
          <a:p>
            <a:pPr algn="l" indent="0" marL="0">
              <a:buNone/>
            </a:pPr>
            <a:r>
              <a:rPr lang="en-US" sz="1140" b="1" dirty="0">
                <a:solidFill>
                  <a:srgbClr val="202729"/>
                </a:solidFill>
                <a:latin typeface="Aptos" pitchFamily="34" charset="0"/>
                <a:ea typeface="Aptos" pitchFamily="34" charset="-122"/>
                <a:cs typeface="Aptos" pitchFamily="34" charset="-120"/>
              </a:rPr>
              <a:t>REPLAY</a:t>
            </a:r>
            <a:endParaRPr lang="en-US" sz="1140" dirty="0"/>
          </a:p>
        </p:txBody>
      </p:sp>
      <p:sp>
        <p:nvSpPr>
          <p:cNvPr id="30" name="Text 28"/>
          <p:cNvSpPr/>
          <p:nvPr/>
        </p:nvSpPr>
        <p:spPr>
          <a:xfrm>
            <a:off x="9262872" y="2350008"/>
            <a:ext cx="2066544" cy="822960"/>
          </a:xfrm>
          <a:prstGeom prst="rect">
            <a:avLst/>
          </a:prstGeom>
          <a:noFill/>
          <a:ln/>
        </p:spPr>
        <p:txBody>
          <a:bodyPr wrap="square" lIns="0" tIns="0" rIns="0" bIns="0" rtlCol="0" anchor="t">
            <a:normAutofit/>
          </a:bodyPr>
          <a:lstStyle/>
          <a:p>
            <a:pPr algn="l" indent="0" marL="0">
              <a:buNone/>
            </a:pPr>
            <a:r>
              <a:rPr lang="en-US" sz="830" dirty="0">
                <a:solidFill>
                  <a:srgbClr val="687373"/>
                </a:solidFill>
                <a:latin typeface="Aptos" pitchFamily="34" charset="0"/>
                <a:ea typeface="Aptos" pitchFamily="34" charset="-122"/>
                <a:cs typeface="Aptos" pitchFamily="34" charset="-120"/>
              </a:rPr>
              <a:t>same event envelope</a:t>
            </a:r>
            <a:endParaRPr lang="en-US" sz="830" dirty="0"/>
          </a:p>
          <a:p>
            <a:pPr algn="l" indent="0" marL="0">
              <a:buNone/>
            </a:pPr>
            <a:r>
              <a:rPr lang="en-US" sz="830" dirty="0">
                <a:solidFill>
                  <a:srgbClr val="687373"/>
                </a:solidFill>
                <a:latin typeface="Aptos" pitchFamily="34" charset="0"/>
                <a:ea typeface="Aptos" pitchFamily="34" charset="-122"/>
                <a:cs typeface="Aptos" pitchFamily="34" charset="-120"/>
              </a:rPr>
              <a:t>fallback pack</a:t>
            </a:r>
            <a:endParaRPr lang="en-US" sz="830" dirty="0"/>
          </a:p>
        </p:txBody>
      </p:sp>
      <p:sp>
        <p:nvSpPr>
          <p:cNvPr id="31" name="Shape 29"/>
          <p:cNvSpPr/>
          <p:nvPr/>
        </p:nvSpPr>
        <p:spPr>
          <a:xfrm>
            <a:off x="512064" y="3986784"/>
            <a:ext cx="3410712" cy="1152144"/>
          </a:xfrm>
          <a:prstGeom prst="roundRect">
            <a:avLst/>
          </a:prstGeom>
          <a:solidFill>
            <a:srgbClr val="FFFFFF"/>
          </a:solidFill>
          <a:ln w="8890">
            <a:solidFill>
              <a:srgbClr val="DDE4E1"/>
            </a:solidFill>
            <a:prstDash val="solid"/>
          </a:ln>
        </p:spPr>
      </p:sp>
      <p:sp>
        <p:nvSpPr>
          <p:cNvPr id="32" name="Shape 30"/>
          <p:cNvSpPr/>
          <p:nvPr/>
        </p:nvSpPr>
        <p:spPr>
          <a:xfrm>
            <a:off x="512064" y="3986784"/>
            <a:ext cx="77724" cy="1152144"/>
          </a:xfrm>
          <a:prstGeom prst="rect">
            <a:avLst/>
          </a:prstGeom>
          <a:solidFill>
            <a:srgbClr val="B64A2D"/>
          </a:solidFill>
          <a:ln w="6350">
            <a:solidFill>
              <a:srgbClr val="B64A2D"/>
            </a:solidFill>
            <a:prstDash val="solid"/>
          </a:ln>
        </p:spPr>
      </p:sp>
      <p:sp>
        <p:nvSpPr>
          <p:cNvPr id="33" name="Text 31"/>
          <p:cNvSpPr/>
          <p:nvPr/>
        </p:nvSpPr>
        <p:spPr>
          <a:xfrm>
            <a:off x="694944" y="4242816"/>
            <a:ext cx="2926080" cy="128016"/>
          </a:xfrm>
          <a:prstGeom prst="rect">
            <a:avLst/>
          </a:prstGeom>
          <a:noFill/>
          <a:ln/>
        </p:spPr>
        <p:txBody>
          <a:bodyPr wrap="square" lIns="0" tIns="0" rIns="0" bIns="0" rtlCol="0" anchor="ctr">
            <a:normAutofit/>
          </a:bodyPr>
          <a:lstStyle/>
          <a:p>
            <a:pPr algn="l" indent="0" marL="0">
              <a:buNone/>
            </a:pPr>
            <a:r>
              <a:rPr lang="en-US" sz="800" b="1" spc="80" kern="0" dirty="0">
                <a:solidFill>
                  <a:srgbClr val="B64A2D"/>
                </a:solidFill>
                <a:latin typeface="Aptos" pitchFamily="34" charset="0"/>
                <a:ea typeface="Aptos" pitchFamily="34" charset="-122"/>
                <a:cs typeface="Aptos" pitchFamily="34" charset="-120"/>
              </a:rPr>
              <a:t>PHYSICS FIRST</a:t>
            </a:r>
            <a:endParaRPr lang="en-US" sz="800" dirty="0"/>
          </a:p>
        </p:txBody>
      </p:sp>
      <p:sp>
        <p:nvSpPr>
          <p:cNvPr id="34" name="Text 32"/>
          <p:cNvSpPr/>
          <p:nvPr/>
        </p:nvSpPr>
        <p:spPr>
          <a:xfrm>
            <a:off x="694944" y="4572000"/>
            <a:ext cx="2907792" cy="256032"/>
          </a:xfrm>
          <a:prstGeom prst="rect">
            <a:avLst/>
          </a:prstGeom>
          <a:noFill/>
          <a:ln/>
        </p:spPr>
        <p:txBody>
          <a:bodyPr wrap="square" lIns="0" tIns="0" rIns="0" bIns="0" rtlCol="0" anchor="ctr">
            <a:normAutofit/>
          </a:bodyPr>
          <a:lstStyle/>
          <a:p>
            <a:pPr algn="l" indent="0" marL="0">
              <a:buNone/>
            </a:pPr>
            <a:r>
              <a:rPr lang="en-US" sz="820" b="1" dirty="0">
                <a:solidFill>
                  <a:srgbClr val="202729"/>
                </a:solidFill>
                <a:latin typeface="Aptos" pitchFamily="34" charset="0"/>
                <a:ea typeface="Aptos" pitchFamily="34" charset="-122"/>
                <a:cs typeface="Aptos" pitchFamily="34" charset="-120"/>
              </a:rPr>
              <a:t>Process state is simulated before modeled sensors observe it.</a:t>
            </a:r>
            <a:endParaRPr lang="en-US" sz="820" dirty="0"/>
          </a:p>
        </p:txBody>
      </p:sp>
      <p:sp>
        <p:nvSpPr>
          <p:cNvPr id="35" name="Shape 33"/>
          <p:cNvSpPr/>
          <p:nvPr/>
        </p:nvSpPr>
        <p:spPr>
          <a:xfrm>
            <a:off x="4261104" y="3986784"/>
            <a:ext cx="3410712" cy="1152144"/>
          </a:xfrm>
          <a:prstGeom prst="roundRect">
            <a:avLst/>
          </a:prstGeom>
          <a:solidFill>
            <a:srgbClr val="FFFFFF"/>
          </a:solidFill>
          <a:ln w="8890">
            <a:solidFill>
              <a:srgbClr val="DDE4E1"/>
            </a:solidFill>
            <a:prstDash val="solid"/>
          </a:ln>
        </p:spPr>
      </p:sp>
      <p:sp>
        <p:nvSpPr>
          <p:cNvPr id="36" name="Shape 34"/>
          <p:cNvSpPr/>
          <p:nvPr/>
        </p:nvSpPr>
        <p:spPr>
          <a:xfrm>
            <a:off x="4261104" y="3986784"/>
            <a:ext cx="77724" cy="1152144"/>
          </a:xfrm>
          <a:prstGeom prst="rect">
            <a:avLst/>
          </a:prstGeom>
          <a:solidFill>
            <a:srgbClr val="147D74"/>
          </a:solidFill>
          <a:ln w="6350">
            <a:solidFill>
              <a:srgbClr val="147D74"/>
            </a:solidFill>
            <a:prstDash val="solid"/>
          </a:ln>
        </p:spPr>
      </p:sp>
      <p:sp>
        <p:nvSpPr>
          <p:cNvPr id="37" name="Text 35"/>
          <p:cNvSpPr/>
          <p:nvPr/>
        </p:nvSpPr>
        <p:spPr>
          <a:xfrm>
            <a:off x="4443984" y="4242816"/>
            <a:ext cx="2926080" cy="128016"/>
          </a:xfrm>
          <a:prstGeom prst="rect">
            <a:avLst/>
          </a:prstGeom>
          <a:noFill/>
          <a:ln/>
        </p:spPr>
        <p:txBody>
          <a:bodyPr wrap="square" lIns="0" tIns="0" rIns="0" bIns="0" rtlCol="0" anchor="ctr">
            <a:normAutofit/>
          </a:bodyPr>
          <a:lstStyle/>
          <a:p>
            <a:pPr algn="l" indent="0" marL="0">
              <a:buNone/>
            </a:pPr>
            <a:r>
              <a:rPr lang="en-US" sz="800" b="1" spc="80" kern="0" dirty="0">
                <a:solidFill>
                  <a:srgbClr val="147D74"/>
                </a:solidFill>
                <a:latin typeface="Aptos" pitchFamily="34" charset="0"/>
                <a:ea typeface="Aptos" pitchFamily="34" charset="-122"/>
                <a:cs typeface="Aptos" pitchFamily="34" charset="-120"/>
              </a:rPr>
              <a:t>REPRODUCIBLE</a:t>
            </a:r>
            <a:endParaRPr lang="en-US" sz="800" dirty="0"/>
          </a:p>
        </p:txBody>
      </p:sp>
      <p:sp>
        <p:nvSpPr>
          <p:cNvPr id="38" name="Text 36"/>
          <p:cNvSpPr/>
          <p:nvPr/>
        </p:nvSpPr>
        <p:spPr>
          <a:xfrm>
            <a:off x="4443984" y="4572000"/>
            <a:ext cx="2907792" cy="256032"/>
          </a:xfrm>
          <a:prstGeom prst="rect">
            <a:avLst/>
          </a:prstGeom>
          <a:noFill/>
          <a:ln/>
        </p:spPr>
        <p:txBody>
          <a:bodyPr wrap="square" lIns="0" tIns="0" rIns="0" bIns="0" rtlCol="0" anchor="ctr">
            <a:normAutofit/>
          </a:bodyPr>
          <a:lstStyle/>
          <a:p>
            <a:pPr algn="l" indent="0" marL="0">
              <a:buNone/>
            </a:pPr>
            <a:r>
              <a:rPr lang="en-US" sz="820" b="1" dirty="0">
                <a:solidFill>
                  <a:srgbClr val="202729"/>
                </a:solidFill>
                <a:latin typeface="Aptos" pitchFamily="34" charset="0"/>
                <a:ea typeface="Aptos" pitchFamily="34" charset="-122"/>
                <a:cs typeface="Aptos" pitchFamily="34" charset="-120"/>
              </a:rPr>
              <a:t>Child seed = SHA-256(root | scenario | plant | asset | signal).</a:t>
            </a:r>
            <a:endParaRPr lang="en-US" sz="820" dirty="0"/>
          </a:p>
        </p:txBody>
      </p:sp>
      <p:sp>
        <p:nvSpPr>
          <p:cNvPr id="39" name="Shape 37"/>
          <p:cNvSpPr/>
          <p:nvPr/>
        </p:nvSpPr>
        <p:spPr>
          <a:xfrm>
            <a:off x="8010144" y="3986784"/>
            <a:ext cx="3410712" cy="1152144"/>
          </a:xfrm>
          <a:prstGeom prst="roundRect">
            <a:avLst/>
          </a:prstGeom>
          <a:solidFill>
            <a:srgbClr val="FFFFFF"/>
          </a:solidFill>
          <a:ln w="8890">
            <a:solidFill>
              <a:srgbClr val="DDE4E1"/>
            </a:solidFill>
            <a:prstDash val="solid"/>
          </a:ln>
        </p:spPr>
      </p:sp>
      <p:sp>
        <p:nvSpPr>
          <p:cNvPr id="40" name="Shape 38"/>
          <p:cNvSpPr/>
          <p:nvPr/>
        </p:nvSpPr>
        <p:spPr>
          <a:xfrm>
            <a:off x="8010144" y="3986784"/>
            <a:ext cx="77724" cy="1152144"/>
          </a:xfrm>
          <a:prstGeom prst="rect">
            <a:avLst/>
          </a:prstGeom>
          <a:solidFill>
            <a:srgbClr val="E3A72F"/>
          </a:solidFill>
          <a:ln w="6350">
            <a:solidFill>
              <a:srgbClr val="E3A72F"/>
            </a:solidFill>
            <a:prstDash val="solid"/>
          </a:ln>
        </p:spPr>
      </p:sp>
      <p:sp>
        <p:nvSpPr>
          <p:cNvPr id="41" name="Text 39"/>
          <p:cNvSpPr/>
          <p:nvPr/>
        </p:nvSpPr>
        <p:spPr>
          <a:xfrm>
            <a:off x="8193024" y="4242816"/>
            <a:ext cx="2926080" cy="128016"/>
          </a:xfrm>
          <a:prstGeom prst="rect">
            <a:avLst/>
          </a:prstGeom>
          <a:noFill/>
          <a:ln/>
        </p:spPr>
        <p:txBody>
          <a:bodyPr wrap="square" lIns="0" tIns="0" rIns="0" bIns="0" rtlCol="0" anchor="ctr">
            <a:normAutofit/>
          </a:bodyPr>
          <a:lstStyle/>
          <a:p>
            <a:pPr algn="l" indent="0" marL="0">
              <a:buNone/>
            </a:pPr>
            <a:r>
              <a:rPr lang="en-US" sz="800" b="1" spc="80" kern="0" dirty="0">
                <a:solidFill>
                  <a:srgbClr val="E3A72F"/>
                </a:solidFill>
                <a:latin typeface="Aptos" pitchFamily="34" charset="0"/>
                <a:ea typeface="Aptos" pitchFamily="34" charset="-122"/>
                <a:cs typeface="Aptos" pitchFamily="34" charset="-120"/>
              </a:rPr>
              <a:t>VISIBLE BOUNDARY</a:t>
            </a:r>
            <a:endParaRPr lang="en-US" sz="800" dirty="0"/>
          </a:p>
        </p:txBody>
      </p:sp>
      <p:sp>
        <p:nvSpPr>
          <p:cNvPr id="42" name="Text 40"/>
          <p:cNvSpPr/>
          <p:nvPr/>
        </p:nvSpPr>
        <p:spPr>
          <a:xfrm>
            <a:off x="8193024" y="4572000"/>
            <a:ext cx="2907792" cy="256032"/>
          </a:xfrm>
          <a:prstGeom prst="rect">
            <a:avLst/>
          </a:prstGeom>
          <a:noFill/>
          <a:ln/>
        </p:spPr>
        <p:txBody>
          <a:bodyPr wrap="square" lIns="0" tIns="0" rIns="0" bIns="0" rtlCol="0" anchor="ctr">
            <a:normAutofit/>
          </a:bodyPr>
          <a:lstStyle/>
          <a:p>
            <a:pPr algn="l" indent="0" marL="0">
              <a:buNone/>
            </a:pPr>
            <a:r>
              <a:rPr lang="en-US" sz="820" b="1" dirty="0">
                <a:solidFill>
                  <a:srgbClr val="202729"/>
                </a:solidFill>
                <a:latin typeface="Aptos" pitchFamily="34" charset="0"/>
                <a:ea typeface="Aptos" pitchFamily="34" charset="-122"/>
                <a:cs typeface="Aptos" pitchFamily="34" charset="-120"/>
              </a:rPr>
              <a:t>Every record: SYNTHETIC / DEMO-NONPERSONAL.</a:t>
            </a:r>
            <a:endParaRPr lang="en-US" sz="820" dirty="0"/>
          </a:p>
        </p:txBody>
      </p:sp>
      <p:sp>
        <p:nvSpPr>
          <p:cNvPr id="43" name="Shape 41"/>
          <p:cNvSpPr/>
          <p:nvPr/>
        </p:nvSpPr>
        <p:spPr>
          <a:xfrm>
            <a:off x="512064" y="5559552"/>
            <a:ext cx="2670048" cy="310896"/>
          </a:xfrm>
          <a:prstGeom prst="roundRect">
            <a:avLst/>
          </a:prstGeom>
          <a:solidFill>
            <a:srgbClr val="FFFFFF"/>
          </a:solidFill>
          <a:ln w="5080">
            <a:solidFill>
              <a:srgbClr val="DDE4E1"/>
            </a:solidFill>
            <a:prstDash val="solid"/>
          </a:ln>
        </p:spPr>
      </p:sp>
      <p:sp>
        <p:nvSpPr>
          <p:cNvPr id="44" name="Shape 42"/>
          <p:cNvSpPr/>
          <p:nvPr/>
        </p:nvSpPr>
        <p:spPr>
          <a:xfrm>
            <a:off x="512064" y="5559552"/>
            <a:ext cx="54864" cy="310896"/>
          </a:xfrm>
          <a:prstGeom prst="rect">
            <a:avLst/>
          </a:prstGeom>
          <a:solidFill>
            <a:srgbClr val="B64A2D"/>
          </a:solidFill>
          <a:ln w="6350">
            <a:solidFill>
              <a:srgbClr val="B64A2D"/>
            </a:solidFill>
            <a:prstDash val="solid"/>
          </a:ln>
        </p:spPr>
      </p:sp>
      <p:sp>
        <p:nvSpPr>
          <p:cNvPr id="45" name="Text 43"/>
          <p:cNvSpPr/>
          <p:nvPr/>
        </p:nvSpPr>
        <p:spPr>
          <a:xfrm>
            <a:off x="630936" y="5655564"/>
            <a:ext cx="2542032" cy="91440"/>
          </a:xfrm>
          <a:prstGeom prst="rect">
            <a:avLst/>
          </a:prstGeom>
          <a:noFill/>
          <a:ln/>
        </p:spPr>
        <p:txBody>
          <a:bodyPr wrap="square" lIns="0" tIns="0" rIns="0" bIns="0" rtlCol="0" anchor="ctr">
            <a:normAutofit/>
          </a:bodyPr>
          <a:lstStyle/>
          <a:p>
            <a:pPr algn="ctr" indent="0" marL="0">
              <a:buNone/>
            </a:pPr>
            <a:r>
              <a:rPr lang="en-US" sz="740" b="1" dirty="0">
                <a:solidFill>
                  <a:srgbClr val="202729"/>
                </a:solidFill>
                <a:latin typeface="Aptos" pitchFamily="34" charset="0"/>
                <a:ea typeface="Aptos" pitchFamily="34" charset="-122"/>
                <a:cs typeface="Aptos" pitchFamily="34" charset="-120"/>
              </a:rPr>
              <a:t>21-day warning | seed 240726</a:t>
            </a:r>
            <a:endParaRPr lang="en-US" sz="740" dirty="0"/>
          </a:p>
        </p:txBody>
      </p:sp>
      <p:sp>
        <p:nvSpPr>
          <p:cNvPr id="46" name="Shape 44"/>
          <p:cNvSpPr/>
          <p:nvPr/>
        </p:nvSpPr>
        <p:spPr>
          <a:xfrm>
            <a:off x="3255264" y="5559552"/>
            <a:ext cx="2670048" cy="310896"/>
          </a:xfrm>
          <a:prstGeom prst="roundRect">
            <a:avLst/>
          </a:prstGeom>
          <a:solidFill>
            <a:srgbClr val="FFFFFF"/>
          </a:solidFill>
          <a:ln w="5080">
            <a:solidFill>
              <a:srgbClr val="DDE4E1"/>
            </a:solidFill>
            <a:prstDash val="solid"/>
          </a:ln>
        </p:spPr>
      </p:sp>
      <p:sp>
        <p:nvSpPr>
          <p:cNvPr id="47" name="Shape 45"/>
          <p:cNvSpPr/>
          <p:nvPr/>
        </p:nvSpPr>
        <p:spPr>
          <a:xfrm>
            <a:off x="3255264" y="5559552"/>
            <a:ext cx="54864" cy="310896"/>
          </a:xfrm>
          <a:prstGeom prst="rect">
            <a:avLst/>
          </a:prstGeom>
          <a:solidFill>
            <a:srgbClr val="E3A72F"/>
          </a:solidFill>
          <a:ln w="6350">
            <a:solidFill>
              <a:srgbClr val="E3A72F"/>
            </a:solidFill>
            <a:prstDash val="solid"/>
          </a:ln>
        </p:spPr>
      </p:sp>
      <p:sp>
        <p:nvSpPr>
          <p:cNvPr id="48" name="Text 46"/>
          <p:cNvSpPr/>
          <p:nvPr/>
        </p:nvSpPr>
        <p:spPr>
          <a:xfrm>
            <a:off x="3374136" y="5655564"/>
            <a:ext cx="2542032" cy="91440"/>
          </a:xfrm>
          <a:prstGeom prst="rect">
            <a:avLst/>
          </a:prstGeom>
          <a:noFill/>
          <a:ln/>
        </p:spPr>
        <p:txBody>
          <a:bodyPr wrap="square" lIns="0" tIns="0" rIns="0" bIns="0" rtlCol="0" anchor="ctr">
            <a:normAutofit/>
          </a:bodyPr>
          <a:lstStyle/>
          <a:p>
            <a:pPr algn="ctr" indent="0" marL="0">
              <a:buNone/>
            </a:pPr>
            <a:r>
              <a:rPr lang="en-US" sz="740" b="1" dirty="0">
                <a:solidFill>
                  <a:srgbClr val="202729"/>
                </a:solidFill>
                <a:latin typeface="Aptos" pitchFamily="34" charset="0"/>
                <a:ea typeface="Aptos" pitchFamily="34" charset="-122"/>
                <a:cs typeface="Aptos" pitchFamily="34" charset="-120"/>
              </a:rPr>
              <a:t>Evening energy spike | seed 240727</a:t>
            </a:r>
            <a:endParaRPr lang="en-US" sz="740" dirty="0"/>
          </a:p>
        </p:txBody>
      </p:sp>
      <p:sp>
        <p:nvSpPr>
          <p:cNvPr id="49" name="Shape 47"/>
          <p:cNvSpPr/>
          <p:nvPr/>
        </p:nvSpPr>
        <p:spPr>
          <a:xfrm>
            <a:off x="5998464" y="5559552"/>
            <a:ext cx="2670048" cy="310896"/>
          </a:xfrm>
          <a:prstGeom prst="roundRect">
            <a:avLst/>
          </a:prstGeom>
          <a:solidFill>
            <a:srgbClr val="FFFFFF"/>
          </a:solidFill>
          <a:ln w="5080">
            <a:solidFill>
              <a:srgbClr val="DDE4E1"/>
            </a:solidFill>
            <a:prstDash val="solid"/>
          </a:ln>
        </p:spPr>
      </p:sp>
      <p:sp>
        <p:nvSpPr>
          <p:cNvPr id="50" name="Shape 48"/>
          <p:cNvSpPr/>
          <p:nvPr/>
        </p:nvSpPr>
        <p:spPr>
          <a:xfrm>
            <a:off x="5998464" y="5559552"/>
            <a:ext cx="54864" cy="310896"/>
          </a:xfrm>
          <a:prstGeom prst="rect">
            <a:avLst/>
          </a:prstGeom>
          <a:solidFill>
            <a:srgbClr val="147D74"/>
          </a:solidFill>
          <a:ln w="6350">
            <a:solidFill>
              <a:srgbClr val="147D74"/>
            </a:solidFill>
            <a:prstDash val="solid"/>
          </a:ln>
        </p:spPr>
      </p:sp>
      <p:sp>
        <p:nvSpPr>
          <p:cNvPr id="51" name="Text 49"/>
          <p:cNvSpPr/>
          <p:nvPr/>
        </p:nvSpPr>
        <p:spPr>
          <a:xfrm>
            <a:off x="6117336" y="5655564"/>
            <a:ext cx="2542032" cy="91440"/>
          </a:xfrm>
          <a:prstGeom prst="rect">
            <a:avLst/>
          </a:prstGeom>
          <a:noFill/>
          <a:ln/>
        </p:spPr>
        <p:txBody>
          <a:bodyPr wrap="square" lIns="0" tIns="0" rIns="0" bIns="0" rtlCol="0" anchor="ctr">
            <a:normAutofit/>
          </a:bodyPr>
          <a:lstStyle/>
          <a:p>
            <a:pPr algn="ctr" indent="0" marL="0">
              <a:buNone/>
            </a:pPr>
            <a:r>
              <a:rPr lang="en-US" sz="740" b="1" dirty="0">
                <a:solidFill>
                  <a:srgbClr val="202729"/>
                </a:solidFill>
                <a:latin typeface="Aptos" pitchFamily="34" charset="0"/>
                <a:ea typeface="Aptos" pitchFamily="34" charset="-122"/>
                <a:cs typeface="Aptos" pitchFamily="34" charset="-120"/>
              </a:rPr>
              <a:t>Quality drift | seed 240728</a:t>
            </a:r>
            <a:endParaRPr lang="en-US" sz="740" dirty="0"/>
          </a:p>
        </p:txBody>
      </p:sp>
      <p:sp>
        <p:nvSpPr>
          <p:cNvPr id="52" name="Shape 50"/>
          <p:cNvSpPr/>
          <p:nvPr/>
        </p:nvSpPr>
        <p:spPr>
          <a:xfrm>
            <a:off x="8741664" y="5559552"/>
            <a:ext cx="2670048" cy="310896"/>
          </a:xfrm>
          <a:prstGeom prst="roundRect">
            <a:avLst/>
          </a:prstGeom>
          <a:solidFill>
            <a:srgbClr val="FFFFFF"/>
          </a:solidFill>
          <a:ln w="5080">
            <a:solidFill>
              <a:srgbClr val="DDE4E1"/>
            </a:solidFill>
            <a:prstDash val="solid"/>
          </a:ln>
        </p:spPr>
      </p:sp>
      <p:sp>
        <p:nvSpPr>
          <p:cNvPr id="53" name="Shape 51"/>
          <p:cNvSpPr/>
          <p:nvPr/>
        </p:nvSpPr>
        <p:spPr>
          <a:xfrm>
            <a:off x="8741664" y="5559552"/>
            <a:ext cx="54864" cy="310896"/>
          </a:xfrm>
          <a:prstGeom prst="rect">
            <a:avLst/>
          </a:prstGeom>
          <a:solidFill>
            <a:srgbClr val="6D9A6F"/>
          </a:solidFill>
          <a:ln w="6350">
            <a:solidFill>
              <a:srgbClr val="6D9A6F"/>
            </a:solidFill>
            <a:prstDash val="solid"/>
          </a:ln>
        </p:spPr>
      </p:sp>
      <p:sp>
        <p:nvSpPr>
          <p:cNvPr id="54" name="Text 52"/>
          <p:cNvSpPr/>
          <p:nvPr/>
        </p:nvSpPr>
        <p:spPr>
          <a:xfrm>
            <a:off x="8860536" y="5655564"/>
            <a:ext cx="2542032" cy="91440"/>
          </a:xfrm>
          <a:prstGeom prst="rect">
            <a:avLst/>
          </a:prstGeom>
          <a:noFill/>
          <a:ln/>
        </p:spPr>
        <p:txBody>
          <a:bodyPr wrap="square" lIns="0" tIns="0" rIns="0" bIns="0" rtlCol="0" anchor="ctr">
            <a:normAutofit/>
          </a:bodyPr>
          <a:lstStyle/>
          <a:p>
            <a:pPr algn="ctr" indent="0" marL="0">
              <a:buNone/>
            </a:pPr>
            <a:r>
              <a:rPr lang="en-US" sz="740" b="1" dirty="0">
                <a:solidFill>
                  <a:srgbClr val="202729"/>
                </a:solidFill>
                <a:latin typeface="Aptos" pitchFamily="34" charset="0"/>
                <a:ea typeface="Aptos" pitchFamily="34" charset="-122"/>
                <a:cs typeface="Aptos" pitchFamily="34" charset="-120"/>
              </a:rPr>
              <a:t>Outage / recovery | seed 240729</a:t>
            </a:r>
            <a:endParaRPr lang="en-US" sz="740" dirty="0"/>
          </a:p>
        </p:txBody>
      </p:sp>
      <p:sp>
        <p:nvSpPr>
          <p:cNvPr id="55" name="Text 53"/>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Source cue | synthetic-data-and-simulators.md §1, §4, §6, §8–10</a:t>
            </a:r>
            <a:endParaRPr lang="en-US" sz="660" dirty="0"/>
          </a:p>
        </p:txBody>
      </p:sp>
      <p:sp>
        <p:nvSpPr>
          <p:cNvPr id="56" name="Shape 54"/>
          <p:cNvSpPr/>
          <p:nvPr/>
        </p:nvSpPr>
        <p:spPr>
          <a:xfrm>
            <a:off x="0" y="6483096"/>
            <a:ext cx="12191695" cy="374904"/>
          </a:xfrm>
          <a:prstGeom prst="rect">
            <a:avLst/>
          </a:prstGeom>
          <a:solidFill>
            <a:srgbClr val="E9E7E1"/>
          </a:solidFill>
          <a:ln w="6350">
            <a:solidFill>
              <a:srgbClr val="E9E7E1"/>
            </a:solidFill>
            <a:prstDash val="solid"/>
          </a:ln>
        </p:spPr>
      </p:sp>
      <p:sp>
        <p:nvSpPr>
          <p:cNvPr id="57" name="Shape 55"/>
          <p:cNvSpPr/>
          <p:nvPr/>
        </p:nvSpPr>
        <p:spPr>
          <a:xfrm>
            <a:off x="384048" y="6547104"/>
            <a:ext cx="3547872" cy="182880"/>
          </a:xfrm>
          <a:prstGeom prst="roundRect">
            <a:avLst/>
          </a:prstGeom>
          <a:solidFill>
            <a:srgbClr val="FFFFFF"/>
          </a:solidFill>
          <a:ln w="3175">
            <a:solidFill>
              <a:srgbClr val="DDE4E1"/>
            </a:solidFill>
            <a:prstDash val="solid"/>
          </a:ln>
        </p:spPr>
      </p:sp>
      <p:sp>
        <p:nvSpPr>
          <p:cNvPr id="58" name="Text 56"/>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59" name="Text 57"/>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ORAL DEFENSE  •  18 / 20</a:t>
            </a:r>
            <a:endParaRPr lang="en-US" sz="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465057"/>
          </a:solidFill>
          <a:ln w="5080">
            <a:solidFill>
              <a:srgbClr val="465057"/>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19</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DELIVERY POSTURE</a:t>
            </a:r>
            <a:endParaRPr lang="en-US" sz="810" dirty="0"/>
          </a:p>
        </p:txBody>
      </p:sp>
      <p:sp>
        <p:nvSpPr>
          <p:cNvPr id="7" name="Shape 5"/>
          <p:cNvSpPr/>
          <p:nvPr/>
        </p:nvSpPr>
        <p:spPr>
          <a:xfrm>
            <a:off x="10040112" y="274320"/>
            <a:ext cx="1673352" cy="256032"/>
          </a:xfrm>
          <a:prstGeom prst="roundRect">
            <a:avLst/>
          </a:prstGeom>
          <a:solidFill>
            <a:srgbClr val="FFFFFF"/>
          </a:solidFill>
          <a:ln w="6350">
            <a:solidFill>
              <a:srgbClr val="DDE4E1"/>
            </a:solidFill>
            <a:prstDash val="solid"/>
          </a:ln>
        </p:spPr>
      </p:sp>
      <p:sp>
        <p:nvSpPr>
          <p:cNvPr id="8" name="Text 6"/>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687373"/>
                </a:solidFill>
                <a:latin typeface="Aptos" pitchFamily="34" charset="0"/>
                <a:ea typeface="Aptos" pitchFamily="34" charset="-122"/>
                <a:cs typeface="Aptos" pitchFamily="34" charset="-120"/>
              </a:rPr>
              <a:t>27:45–29:15</a:t>
            </a:r>
            <a:endParaRPr lang="en-US" sz="720" dirty="0"/>
          </a:p>
        </p:txBody>
      </p:sp>
      <p:sp>
        <p:nvSpPr>
          <p:cNvPr id="9" name="Text 7"/>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Start small, measure honestly, scale only after gates</a:t>
            </a:r>
            <a:endParaRPr lang="en-US" sz="2550" dirty="0"/>
          </a:p>
        </p:txBody>
      </p:sp>
      <p:sp>
        <p:nvSpPr>
          <p:cNvPr id="10" name="Shape 8"/>
          <p:cNvSpPr/>
          <p:nvPr/>
        </p:nvSpPr>
        <p:spPr>
          <a:xfrm>
            <a:off x="457200" y="1188720"/>
            <a:ext cx="1559966" cy="246888"/>
          </a:xfrm>
          <a:prstGeom prst="roundRect">
            <a:avLst/>
          </a:prstGeom>
          <a:solidFill>
            <a:srgbClr val="465057"/>
          </a:solidFill>
          <a:ln w="5080">
            <a:solidFill>
              <a:srgbClr val="465057"/>
            </a:solidFill>
            <a:prstDash val="solid"/>
          </a:ln>
        </p:spPr>
      </p:sp>
      <p:sp>
        <p:nvSpPr>
          <p:cNvPr id="11" name="Text 9"/>
          <p:cNvSpPr/>
          <p:nvPr/>
        </p:nvSpPr>
        <p:spPr>
          <a:xfrm>
            <a:off x="576072" y="1239012"/>
            <a:ext cx="1322222"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COST + REGION + SCALE</a:t>
            </a:r>
            <a:endParaRPr lang="en-US" sz="720" dirty="0"/>
          </a:p>
        </p:txBody>
      </p:sp>
      <p:sp>
        <p:nvSpPr>
          <p:cNvPr id="12" name="Shape 10"/>
          <p:cNvSpPr/>
          <p:nvPr/>
        </p:nvSpPr>
        <p:spPr>
          <a:xfrm>
            <a:off x="475488" y="1719072"/>
            <a:ext cx="3337560" cy="1737360"/>
          </a:xfrm>
          <a:prstGeom prst="roundRect">
            <a:avLst/>
          </a:prstGeom>
          <a:solidFill>
            <a:srgbClr val="FFFFFF"/>
          </a:solidFill>
          <a:ln w="8890">
            <a:solidFill>
              <a:srgbClr val="DDE4E1"/>
            </a:solidFill>
            <a:prstDash val="solid"/>
          </a:ln>
        </p:spPr>
      </p:sp>
      <p:sp>
        <p:nvSpPr>
          <p:cNvPr id="13" name="Shape 11"/>
          <p:cNvSpPr/>
          <p:nvPr/>
        </p:nvSpPr>
        <p:spPr>
          <a:xfrm>
            <a:off x="475488" y="1719072"/>
            <a:ext cx="77724" cy="1737360"/>
          </a:xfrm>
          <a:prstGeom prst="rect">
            <a:avLst/>
          </a:prstGeom>
          <a:solidFill>
            <a:srgbClr val="465057"/>
          </a:solidFill>
          <a:ln w="6350">
            <a:solidFill>
              <a:srgbClr val="465057"/>
            </a:solidFill>
            <a:prstDash val="solid"/>
          </a:ln>
        </p:spPr>
      </p:sp>
      <p:sp>
        <p:nvSpPr>
          <p:cNvPr id="14" name="Shape 12"/>
          <p:cNvSpPr/>
          <p:nvPr/>
        </p:nvSpPr>
        <p:spPr>
          <a:xfrm>
            <a:off x="676656" y="1938528"/>
            <a:ext cx="822960" cy="246888"/>
          </a:xfrm>
          <a:prstGeom prst="roundRect">
            <a:avLst/>
          </a:prstGeom>
          <a:solidFill>
            <a:srgbClr val="465057"/>
          </a:solidFill>
          <a:ln w="5080">
            <a:solidFill>
              <a:srgbClr val="465057"/>
            </a:solidFill>
            <a:prstDash val="solid"/>
          </a:ln>
        </p:spPr>
      </p:sp>
      <p:sp>
        <p:nvSpPr>
          <p:cNvPr id="15" name="Text 13"/>
          <p:cNvSpPr/>
          <p:nvPr/>
        </p:nvSpPr>
        <p:spPr>
          <a:xfrm>
            <a:off x="795528" y="1988820"/>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PHASE 0</a:t>
            </a:r>
            <a:endParaRPr lang="en-US" sz="720" dirty="0"/>
          </a:p>
        </p:txBody>
      </p:sp>
      <p:sp>
        <p:nvSpPr>
          <p:cNvPr id="16" name="Text 14"/>
          <p:cNvSpPr/>
          <p:nvPr/>
        </p:nvSpPr>
        <p:spPr>
          <a:xfrm>
            <a:off x="676656" y="2423160"/>
            <a:ext cx="2743200" cy="192024"/>
          </a:xfrm>
          <a:prstGeom prst="rect">
            <a:avLst/>
          </a:prstGeom>
          <a:noFill/>
          <a:ln/>
        </p:spPr>
        <p:txBody>
          <a:bodyPr wrap="square" lIns="0" tIns="0" rIns="0" bIns="0" rtlCol="0" anchor="ctr">
            <a:normAutofit/>
          </a:bodyPr>
          <a:lstStyle/>
          <a:p>
            <a:pPr algn="l" indent="0" marL="0">
              <a:buNone/>
            </a:pPr>
            <a:r>
              <a:rPr lang="en-US" sz="1300" b="1" dirty="0">
                <a:solidFill>
                  <a:srgbClr val="202729"/>
                </a:solidFill>
                <a:latin typeface="Bahnschrift SemiBold" pitchFamily="34" charset="0"/>
                <a:ea typeface="Bahnschrift SemiBold" pitchFamily="34" charset="-122"/>
                <a:cs typeface="Bahnschrift SemiBold" pitchFamily="34" charset="-120"/>
              </a:rPr>
              <a:t>Synthetic defense</a:t>
            </a:r>
            <a:endParaRPr lang="en-US" sz="1300" dirty="0"/>
          </a:p>
        </p:txBody>
      </p:sp>
      <p:sp>
        <p:nvSpPr>
          <p:cNvPr id="17" name="Text 15"/>
          <p:cNvSpPr/>
          <p:nvPr/>
        </p:nvSpPr>
        <p:spPr>
          <a:xfrm>
            <a:off x="676656" y="2871216"/>
            <a:ext cx="2697480" cy="237744"/>
          </a:xfrm>
          <a:prstGeom prst="rect">
            <a:avLst/>
          </a:prstGeom>
          <a:noFill/>
          <a:ln/>
        </p:spPr>
        <p:txBody>
          <a:bodyPr wrap="square" lIns="0" tIns="0" rIns="0" bIns="0" rtlCol="0" anchor="ctr">
            <a:normAutofit/>
          </a:bodyPr>
          <a:lstStyle/>
          <a:p>
            <a:pPr algn="l" indent="0" marL="0">
              <a:buNone/>
            </a:pPr>
            <a:r>
              <a:rPr lang="en-US" sz="840" b="1" dirty="0">
                <a:solidFill>
                  <a:srgbClr val="687373"/>
                </a:solidFill>
                <a:latin typeface="Aptos" pitchFamily="34" charset="0"/>
                <a:ea typeface="Aptos" pitchFamily="34" charset="-122"/>
                <a:cs typeface="Aptos" pitchFamily="34" charset="-120"/>
              </a:rPr>
              <a:t>F2 baseline</a:t>
            </a:r>
            <a:endParaRPr lang="en-US" sz="840" dirty="0"/>
          </a:p>
          <a:p>
            <a:pPr algn="l" indent="0" marL="0">
              <a:buNone/>
            </a:pPr>
            <a:r>
              <a:rPr lang="en-US" sz="840" b="1" dirty="0">
                <a:solidFill>
                  <a:srgbClr val="687373"/>
                </a:solidFill>
                <a:latin typeface="Aptos" pitchFamily="34" charset="0"/>
                <a:ea typeface="Aptos" pitchFamily="34" charset="-122"/>
                <a:cs typeface="Aptos" pitchFamily="34" charset="-120"/>
              </a:rPr>
              <a:t>reproducible demo</a:t>
            </a:r>
            <a:endParaRPr lang="en-US" sz="840" dirty="0"/>
          </a:p>
        </p:txBody>
      </p:sp>
      <p:sp>
        <p:nvSpPr>
          <p:cNvPr id="18" name="Shape 16"/>
          <p:cNvSpPr/>
          <p:nvPr/>
        </p:nvSpPr>
        <p:spPr>
          <a:xfrm>
            <a:off x="3904488" y="2414016"/>
            <a:ext cx="256032" cy="320040"/>
          </a:xfrm>
          <a:prstGeom prst="chevron">
            <a:avLst/>
          </a:prstGeom>
          <a:solidFill>
            <a:srgbClr val="465057"/>
          </a:solidFill>
          <a:ln w="12700">
            <a:solidFill>
              <a:srgbClr val="465057">
                <a:alpha val="0"/>
              </a:srgbClr>
            </a:solidFill>
            <a:prstDash val="solid"/>
          </a:ln>
        </p:spPr>
      </p:sp>
      <p:sp>
        <p:nvSpPr>
          <p:cNvPr id="19" name="Shape 17"/>
          <p:cNvSpPr/>
          <p:nvPr/>
        </p:nvSpPr>
        <p:spPr>
          <a:xfrm>
            <a:off x="4224528" y="1719072"/>
            <a:ext cx="3337560" cy="1737360"/>
          </a:xfrm>
          <a:prstGeom prst="roundRect">
            <a:avLst/>
          </a:prstGeom>
          <a:solidFill>
            <a:srgbClr val="FFFFFF"/>
          </a:solidFill>
          <a:ln w="8890">
            <a:solidFill>
              <a:srgbClr val="DDE4E1"/>
            </a:solidFill>
            <a:prstDash val="solid"/>
          </a:ln>
        </p:spPr>
      </p:sp>
      <p:sp>
        <p:nvSpPr>
          <p:cNvPr id="20" name="Shape 18"/>
          <p:cNvSpPr/>
          <p:nvPr/>
        </p:nvSpPr>
        <p:spPr>
          <a:xfrm>
            <a:off x="4224528" y="1719072"/>
            <a:ext cx="77724" cy="1737360"/>
          </a:xfrm>
          <a:prstGeom prst="rect">
            <a:avLst/>
          </a:prstGeom>
          <a:solidFill>
            <a:srgbClr val="147D74"/>
          </a:solidFill>
          <a:ln w="6350">
            <a:solidFill>
              <a:srgbClr val="147D74"/>
            </a:solidFill>
            <a:prstDash val="solid"/>
          </a:ln>
        </p:spPr>
      </p:sp>
      <p:sp>
        <p:nvSpPr>
          <p:cNvPr id="21" name="Shape 19"/>
          <p:cNvSpPr/>
          <p:nvPr/>
        </p:nvSpPr>
        <p:spPr>
          <a:xfrm>
            <a:off x="4425696" y="1938528"/>
            <a:ext cx="822960" cy="246888"/>
          </a:xfrm>
          <a:prstGeom prst="roundRect">
            <a:avLst/>
          </a:prstGeom>
          <a:solidFill>
            <a:srgbClr val="147D74"/>
          </a:solidFill>
          <a:ln w="5080">
            <a:solidFill>
              <a:srgbClr val="147D74"/>
            </a:solidFill>
            <a:prstDash val="solid"/>
          </a:ln>
        </p:spPr>
      </p:sp>
      <p:sp>
        <p:nvSpPr>
          <p:cNvPr id="22" name="Text 20"/>
          <p:cNvSpPr/>
          <p:nvPr/>
        </p:nvSpPr>
        <p:spPr>
          <a:xfrm>
            <a:off x="4544568" y="1988820"/>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PHASE 1</a:t>
            </a:r>
            <a:endParaRPr lang="en-US" sz="720" dirty="0"/>
          </a:p>
        </p:txBody>
      </p:sp>
      <p:sp>
        <p:nvSpPr>
          <p:cNvPr id="23" name="Text 21"/>
          <p:cNvSpPr/>
          <p:nvPr/>
        </p:nvSpPr>
        <p:spPr>
          <a:xfrm>
            <a:off x="4425696" y="2423160"/>
            <a:ext cx="2743200" cy="192024"/>
          </a:xfrm>
          <a:prstGeom prst="rect">
            <a:avLst/>
          </a:prstGeom>
          <a:noFill/>
          <a:ln/>
        </p:spPr>
        <p:txBody>
          <a:bodyPr wrap="square" lIns="0" tIns="0" rIns="0" bIns="0" rtlCol="0" anchor="ctr">
            <a:normAutofit/>
          </a:bodyPr>
          <a:lstStyle/>
          <a:p>
            <a:pPr algn="l" indent="0" marL="0">
              <a:buNone/>
            </a:pPr>
            <a:r>
              <a:rPr lang="en-US" sz="1300" b="1" dirty="0">
                <a:solidFill>
                  <a:srgbClr val="202729"/>
                </a:solidFill>
                <a:latin typeface="Bahnschrift SemiBold" pitchFamily="34" charset="0"/>
                <a:ea typeface="Bahnschrift SemiBold" pitchFamily="34" charset="-122"/>
                <a:cs typeface="Bahnschrift SemiBold" pitchFamily="34" charset="-120"/>
              </a:rPr>
              <a:t>One-site shadow pilot</a:t>
            </a:r>
            <a:endParaRPr lang="en-US" sz="1300" dirty="0"/>
          </a:p>
        </p:txBody>
      </p:sp>
      <p:sp>
        <p:nvSpPr>
          <p:cNvPr id="24" name="Text 22"/>
          <p:cNvSpPr/>
          <p:nvPr/>
        </p:nvSpPr>
        <p:spPr>
          <a:xfrm>
            <a:off x="4425696" y="2871216"/>
            <a:ext cx="2697480" cy="237744"/>
          </a:xfrm>
          <a:prstGeom prst="rect">
            <a:avLst/>
          </a:prstGeom>
          <a:noFill/>
          <a:ln/>
        </p:spPr>
        <p:txBody>
          <a:bodyPr wrap="square" lIns="0" tIns="0" rIns="0" bIns="0" rtlCol="0" anchor="ctr">
            <a:normAutofit/>
          </a:bodyPr>
          <a:lstStyle/>
          <a:p>
            <a:pPr algn="l" indent="0" marL="0">
              <a:buNone/>
            </a:pPr>
            <a:r>
              <a:rPr lang="en-US" sz="840" b="1" dirty="0">
                <a:solidFill>
                  <a:srgbClr val="687373"/>
                </a:solidFill>
                <a:latin typeface="Aptos" pitchFamily="34" charset="0"/>
                <a:ea typeface="Aptos" pitchFamily="34" charset="-122"/>
                <a:cs typeface="Aptos" pitchFamily="34" charset="-120"/>
              </a:rPr>
              <a:t>read-only real feeds</a:t>
            </a:r>
            <a:endParaRPr lang="en-US" sz="840" dirty="0"/>
          </a:p>
          <a:p>
            <a:pPr algn="l" indent="0" marL="0">
              <a:buNone/>
            </a:pPr>
            <a:r>
              <a:rPr lang="en-US" sz="840" b="1" dirty="0">
                <a:solidFill>
                  <a:srgbClr val="687373"/>
                </a:solidFill>
                <a:latin typeface="Aptos" pitchFamily="34" charset="0"/>
                <a:ea typeface="Aptos" pitchFamily="34" charset="-122"/>
                <a:cs typeface="Aptos" pitchFamily="34" charset="-120"/>
              </a:rPr>
              <a:t>measure outcomes</a:t>
            </a:r>
            <a:endParaRPr lang="en-US" sz="840" dirty="0"/>
          </a:p>
        </p:txBody>
      </p:sp>
      <p:sp>
        <p:nvSpPr>
          <p:cNvPr id="25" name="Shape 23"/>
          <p:cNvSpPr/>
          <p:nvPr/>
        </p:nvSpPr>
        <p:spPr>
          <a:xfrm>
            <a:off x="7653528" y="2414016"/>
            <a:ext cx="256032" cy="320040"/>
          </a:xfrm>
          <a:prstGeom prst="chevron">
            <a:avLst/>
          </a:prstGeom>
          <a:solidFill>
            <a:srgbClr val="465057"/>
          </a:solidFill>
          <a:ln w="12700">
            <a:solidFill>
              <a:srgbClr val="465057">
                <a:alpha val="0"/>
              </a:srgbClr>
            </a:solidFill>
            <a:prstDash val="solid"/>
          </a:ln>
        </p:spPr>
      </p:sp>
      <p:sp>
        <p:nvSpPr>
          <p:cNvPr id="26" name="Shape 24"/>
          <p:cNvSpPr/>
          <p:nvPr/>
        </p:nvSpPr>
        <p:spPr>
          <a:xfrm>
            <a:off x="7973568" y="1719072"/>
            <a:ext cx="3337560" cy="1737360"/>
          </a:xfrm>
          <a:prstGeom prst="roundRect">
            <a:avLst/>
          </a:prstGeom>
          <a:solidFill>
            <a:srgbClr val="FFFFFF"/>
          </a:solidFill>
          <a:ln w="8890">
            <a:solidFill>
              <a:srgbClr val="DDE4E1"/>
            </a:solidFill>
            <a:prstDash val="solid"/>
          </a:ln>
        </p:spPr>
      </p:sp>
      <p:sp>
        <p:nvSpPr>
          <p:cNvPr id="27" name="Shape 25"/>
          <p:cNvSpPr/>
          <p:nvPr/>
        </p:nvSpPr>
        <p:spPr>
          <a:xfrm>
            <a:off x="7973568" y="1719072"/>
            <a:ext cx="77724" cy="1737360"/>
          </a:xfrm>
          <a:prstGeom prst="rect">
            <a:avLst/>
          </a:prstGeom>
          <a:solidFill>
            <a:srgbClr val="B64A2D"/>
          </a:solidFill>
          <a:ln w="6350">
            <a:solidFill>
              <a:srgbClr val="B64A2D"/>
            </a:solidFill>
            <a:prstDash val="solid"/>
          </a:ln>
        </p:spPr>
      </p:sp>
      <p:sp>
        <p:nvSpPr>
          <p:cNvPr id="28" name="Shape 26"/>
          <p:cNvSpPr/>
          <p:nvPr/>
        </p:nvSpPr>
        <p:spPr>
          <a:xfrm>
            <a:off x="8174736" y="1938528"/>
            <a:ext cx="822960" cy="246888"/>
          </a:xfrm>
          <a:prstGeom prst="roundRect">
            <a:avLst/>
          </a:prstGeom>
          <a:solidFill>
            <a:srgbClr val="E3A72F"/>
          </a:solidFill>
          <a:ln w="5080">
            <a:solidFill>
              <a:srgbClr val="E3A72F"/>
            </a:solidFill>
            <a:prstDash val="solid"/>
          </a:ln>
        </p:spPr>
      </p:sp>
      <p:sp>
        <p:nvSpPr>
          <p:cNvPr id="29" name="Text 27"/>
          <p:cNvSpPr/>
          <p:nvPr/>
        </p:nvSpPr>
        <p:spPr>
          <a:xfrm>
            <a:off x="8293608" y="1988820"/>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121719"/>
                </a:solidFill>
                <a:latin typeface="Aptos" pitchFamily="34" charset="0"/>
                <a:ea typeface="Aptos" pitchFamily="34" charset="-122"/>
                <a:cs typeface="Aptos" pitchFamily="34" charset="-120"/>
              </a:rPr>
              <a:t>PHASE 2+</a:t>
            </a:r>
            <a:endParaRPr lang="en-US" sz="720" dirty="0"/>
          </a:p>
        </p:txBody>
      </p:sp>
      <p:sp>
        <p:nvSpPr>
          <p:cNvPr id="30" name="Text 28"/>
          <p:cNvSpPr/>
          <p:nvPr/>
        </p:nvSpPr>
        <p:spPr>
          <a:xfrm>
            <a:off x="8174736" y="2423160"/>
            <a:ext cx="2743200" cy="192024"/>
          </a:xfrm>
          <a:prstGeom prst="rect">
            <a:avLst/>
          </a:prstGeom>
          <a:noFill/>
          <a:ln/>
        </p:spPr>
        <p:txBody>
          <a:bodyPr wrap="square" lIns="0" tIns="0" rIns="0" bIns="0" rtlCol="0" anchor="ctr">
            <a:normAutofit/>
          </a:bodyPr>
          <a:lstStyle/>
          <a:p>
            <a:pPr algn="l" indent="0" marL="0">
              <a:buNone/>
            </a:pPr>
            <a:r>
              <a:rPr lang="en-US" sz="1300" b="1" dirty="0">
                <a:solidFill>
                  <a:srgbClr val="202729"/>
                </a:solidFill>
                <a:latin typeface="Bahnschrift SemiBold" pitchFamily="34" charset="0"/>
                <a:ea typeface="Bahnschrift SemiBold" pitchFamily="34" charset="-122"/>
                <a:cs typeface="Bahnschrift SemiBold" pitchFamily="34" charset="-120"/>
              </a:rPr>
              <a:t>Four-site production scale</a:t>
            </a:r>
            <a:endParaRPr lang="en-US" sz="1300" dirty="0"/>
          </a:p>
        </p:txBody>
      </p:sp>
      <p:sp>
        <p:nvSpPr>
          <p:cNvPr id="31" name="Text 29"/>
          <p:cNvSpPr/>
          <p:nvPr/>
        </p:nvSpPr>
        <p:spPr>
          <a:xfrm>
            <a:off x="8174736" y="2871216"/>
            <a:ext cx="2697480" cy="237744"/>
          </a:xfrm>
          <a:prstGeom prst="rect">
            <a:avLst/>
          </a:prstGeom>
          <a:noFill/>
          <a:ln/>
        </p:spPr>
        <p:txBody>
          <a:bodyPr wrap="square" lIns="0" tIns="0" rIns="0" bIns="0" rtlCol="0" anchor="ctr">
            <a:normAutofit/>
          </a:bodyPr>
          <a:lstStyle/>
          <a:p>
            <a:pPr algn="l" indent="0" marL="0">
              <a:buNone/>
            </a:pPr>
            <a:r>
              <a:rPr lang="en-US" sz="840" b="1" dirty="0">
                <a:solidFill>
                  <a:srgbClr val="687373"/>
                </a:solidFill>
                <a:latin typeface="Aptos" pitchFamily="34" charset="0"/>
                <a:ea typeface="Aptos" pitchFamily="34" charset="-122"/>
                <a:cs typeface="Aptos" pitchFamily="34" charset="-120"/>
              </a:rPr>
              <a:t>human-approved writes</a:t>
            </a:r>
            <a:endParaRPr lang="en-US" sz="840" dirty="0"/>
          </a:p>
          <a:p>
            <a:pPr algn="l" indent="0" marL="0">
              <a:buNone/>
            </a:pPr>
            <a:r>
              <a:rPr lang="en-US" sz="840" b="1" dirty="0">
                <a:solidFill>
                  <a:srgbClr val="687373"/>
                </a:solidFill>
                <a:latin typeface="Aptos" pitchFamily="34" charset="0"/>
                <a:ea typeface="Aptos" pitchFamily="34" charset="-122"/>
                <a:cs typeface="Aptos" pitchFamily="34" charset="-120"/>
              </a:rPr>
              <a:t>after gates</a:t>
            </a:r>
            <a:endParaRPr lang="en-US" sz="840" dirty="0"/>
          </a:p>
        </p:txBody>
      </p:sp>
      <p:sp>
        <p:nvSpPr>
          <p:cNvPr id="32" name="Shape 30"/>
          <p:cNvSpPr/>
          <p:nvPr/>
        </p:nvSpPr>
        <p:spPr>
          <a:xfrm>
            <a:off x="475488" y="3886200"/>
            <a:ext cx="5394960" cy="1700784"/>
          </a:xfrm>
          <a:prstGeom prst="roundRect">
            <a:avLst/>
          </a:prstGeom>
          <a:solidFill>
            <a:srgbClr val="1F2426"/>
          </a:solidFill>
          <a:ln w="8890">
            <a:solidFill>
              <a:srgbClr val="1F2426"/>
            </a:solidFill>
            <a:prstDash val="solid"/>
          </a:ln>
        </p:spPr>
      </p:sp>
      <p:sp>
        <p:nvSpPr>
          <p:cNvPr id="33" name="Shape 31"/>
          <p:cNvSpPr/>
          <p:nvPr/>
        </p:nvSpPr>
        <p:spPr>
          <a:xfrm>
            <a:off x="475488" y="3886200"/>
            <a:ext cx="77724" cy="1700784"/>
          </a:xfrm>
          <a:prstGeom prst="rect">
            <a:avLst/>
          </a:prstGeom>
          <a:solidFill>
            <a:srgbClr val="E3A72F"/>
          </a:solidFill>
          <a:ln w="6350">
            <a:solidFill>
              <a:srgbClr val="E3A72F"/>
            </a:solidFill>
            <a:prstDash val="solid"/>
          </a:ln>
        </p:spPr>
      </p:sp>
      <p:sp>
        <p:nvSpPr>
          <p:cNvPr id="34" name="Text 32"/>
          <p:cNvSpPr/>
          <p:nvPr/>
        </p:nvSpPr>
        <p:spPr>
          <a:xfrm>
            <a:off x="749808" y="4160520"/>
            <a:ext cx="1828800"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E3A72F"/>
                </a:solidFill>
                <a:latin typeface="Aptos" pitchFamily="34" charset="0"/>
                <a:ea typeface="Aptos" pitchFamily="34" charset="-122"/>
                <a:cs typeface="Aptos" pitchFamily="34" charset="-120"/>
              </a:rPr>
              <a:t>CAPACITY COST CONTROL</a:t>
            </a:r>
            <a:endParaRPr lang="en-US" sz="720" dirty="0"/>
          </a:p>
        </p:txBody>
      </p:sp>
      <p:sp>
        <p:nvSpPr>
          <p:cNvPr id="35" name="Text 33"/>
          <p:cNvSpPr/>
          <p:nvPr/>
        </p:nvSpPr>
        <p:spPr>
          <a:xfrm>
            <a:off x="758952" y="4526280"/>
            <a:ext cx="704088" cy="320040"/>
          </a:xfrm>
          <a:prstGeom prst="rect">
            <a:avLst/>
          </a:prstGeom>
          <a:noFill/>
          <a:ln/>
        </p:spPr>
        <p:txBody>
          <a:bodyPr wrap="square" lIns="0" tIns="0" rIns="0" bIns="0" rtlCol="0" anchor="ctr">
            <a:normAutofit/>
          </a:bodyPr>
          <a:lstStyle/>
          <a:p>
            <a:pPr algn="ctr" indent="0" marL="0">
              <a:buNone/>
            </a:pPr>
            <a:r>
              <a:rPr lang="en-US" sz="2300" b="1" dirty="0">
                <a:solidFill>
                  <a:srgbClr val="FFFFFF"/>
                </a:solidFill>
                <a:latin typeface="Bahnschrift SemiBold" pitchFamily="34" charset="0"/>
                <a:ea typeface="Bahnschrift SemiBold" pitchFamily="34" charset="-122"/>
                <a:cs typeface="Bahnschrift SemiBold" pitchFamily="34" charset="-120"/>
              </a:rPr>
              <a:t>F2</a:t>
            </a:r>
            <a:endParaRPr lang="en-US" sz="2300" dirty="0"/>
          </a:p>
        </p:txBody>
      </p:sp>
      <p:sp>
        <p:nvSpPr>
          <p:cNvPr id="36" name="Shape 34"/>
          <p:cNvSpPr/>
          <p:nvPr/>
        </p:nvSpPr>
        <p:spPr>
          <a:xfrm>
            <a:off x="1591056" y="4617720"/>
            <a:ext cx="347472" cy="228600"/>
          </a:xfrm>
          <a:prstGeom prst="chevron">
            <a:avLst/>
          </a:prstGeom>
          <a:solidFill>
            <a:srgbClr val="E3A72F"/>
          </a:solidFill>
          <a:ln w="12700">
            <a:solidFill>
              <a:srgbClr val="E3A72F">
                <a:alpha val="0"/>
              </a:srgbClr>
            </a:solidFill>
            <a:prstDash val="solid"/>
          </a:ln>
        </p:spPr>
      </p:sp>
      <p:sp>
        <p:nvSpPr>
          <p:cNvPr id="37" name="Text 35"/>
          <p:cNvSpPr/>
          <p:nvPr/>
        </p:nvSpPr>
        <p:spPr>
          <a:xfrm>
            <a:off x="2139696" y="4526280"/>
            <a:ext cx="704088" cy="320040"/>
          </a:xfrm>
          <a:prstGeom prst="rect">
            <a:avLst/>
          </a:prstGeom>
          <a:noFill/>
          <a:ln/>
        </p:spPr>
        <p:txBody>
          <a:bodyPr wrap="square" lIns="0" tIns="0" rIns="0" bIns="0" rtlCol="0" anchor="ctr">
            <a:normAutofit/>
          </a:bodyPr>
          <a:lstStyle/>
          <a:p>
            <a:pPr algn="ctr" indent="0" marL="0">
              <a:buNone/>
            </a:pPr>
            <a:r>
              <a:rPr lang="en-US" sz="2300" b="1" dirty="0">
                <a:solidFill>
                  <a:srgbClr val="E3A72F"/>
                </a:solidFill>
                <a:latin typeface="Bahnschrift SemiBold" pitchFamily="34" charset="0"/>
                <a:ea typeface="Bahnschrift SemiBold" pitchFamily="34" charset="-122"/>
                <a:cs typeface="Bahnschrift SemiBold" pitchFamily="34" charset="-120"/>
              </a:rPr>
              <a:t>F4</a:t>
            </a:r>
            <a:endParaRPr lang="en-US" sz="2300" dirty="0"/>
          </a:p>
        </p:txBody>
      </p:sp>
      <p:sp>
        <p:nvSpPr>
          <p:cNvPr id="38" name="Text 36"/>
          <p:cNvSpPr/>
          <p:nvPr/>
        </p:nvSpPr>
        <p:spPr>
          <a:xfrm>
            <a:off x="3108960" y="4453128"/>
            <a:ext cx="2212848" cy="347472"/>
          </a:xfrm>
          <a:prstGeom prst="rect">
            <a:avLst/>
          </a:prstGeom>
          <a:noFill/>
          <a:ln/>
        </p:spPr>
        <p:txBody>
          <a:bodyPr wrap="square" lIns="0" tIns="0" rIns="0" bIns="0" rtlCol="0" anchor="ctr">
            <a:normAutofit/>
          </a:bodyPr>
          <a:lstStyle/>
          <a:p>
            <a:pPr algn="ctr" indent="0" marL="0">
              <a:buNone/>
            </a:pPr>
            <a:r>
              <a:rPr lang="en-US" sz="840" b="1" dirty="0">
                <a:solidFill>
                  <a:srgbClr val="AEB9BA"/>
                </a:solidFill>
                <a:latin typeface="Aptos" pitchFamily="34" charset="0"/>
                <a:ea typeface="Aptos" pitchFamily="34" charset="-122"/>
                <a:cs typeface="Aptos" pitchFamily="34" charset="-120"/>
              </a:rPr>
              <a:t>Only after measured contention.</a:t>
            </a:r>
            <a:endParaRPr lang="en-US" sz="840" dirty="0"/>
          </a:p>
          <a:p>
            <a:pPr algn="ctr" indent="0" marL="0">
              <a:buNone/>
            </a:pPr>
            <a:r>
              <a:rPr lang="en-US" sz="840" b="1" dirty="0">
                <a:solidFill>
                  <a:srgbClr val="AEB9BA"/>
                </a:solidFill>
                <a:latin typeface="Aptos" pitchFamily="34" charset="0"/>
                <a:ea typeface="Aptos" pitchFamily="34" charset="-122"/>
                <a:cs typeface="Aptos" pitchFamily="34" charset="-120"/>
              </a:rPr>
              <a:t>Never F64 merely for viewer licensing.</a:t>
            </a:r>
            <a:endParaRPr lang="en-US" sz="840" dirty="0"/>
          </a:p>
        </p:txBody>
      </p:sp>
      <p:sp>
        <p:nvSpPr>
          <p:cNvPr id="39" name="Shape 37"/>
          <p:cNvSpPr/>
          <p:nvPr/>
        </p:nvSpPr>
        <p:spPr>
          <a:xfrm>
            <a:off x="6080760" y="3886200"/>
            <a:ext cx="5394960" cy="1700784"/>
          </a:xfrm>
          <a:prstGeom prst="roundRect">
            <a:avLst/>
          </a:prstGeom>
          <a:solidFill>
            <a:srgbClr val="FFFFFF"/>
          </a:solidFill>
          <a:ln w="8890">
            <a:solidFill>
              <a:srgbClr val="DDE4E1"/>
            </a:solidFill>
            <a:prstDash val="solid"/>
          </a:ln>
        </p:spPr>
      </p:sp>
      <p:sp>
        <p:nvSpPr>
          <p:cNvPr id="40" name="Shape 38"/>
          <p:cNvSpPr/>
          <p:nvPr/>
        </p:nvSpPr>
        <p:spPr>
          <a:xfrm>
            <a:off x="6080760" y="3886200"/>
            <a:ext cx="77724" cy="1700784"/>
          </a:xfrm>
          <a:prstGeom prst="rect">
            <a:avLst/>
          </a:prstGeom>
          <a:solidFill>
            <a:srgbClr val="B64A2D"/>
          </a:solidFill>
          <a:ln w="6350">
            <a:solidFill>
              <a:srgbClr val="B64A2D"/>
            </a:solidFill>
            <a:prstDash val="solid"/>
          </a:ln>
        </p:spPr>
      </p:sp>
      <p:sp>
        <p:nvSpPr>
          <p:cNvPr id="41" name="Text 39"/>
          <p:cNvSpPr/>
          <p:nvPr/>
        </p:nvSpPr>
        <p:spPr>
          <a:xfrm>
            <a:off x="6355080" y="4160520"/>
            <a:ext cx="1828800"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B64A2D"/>
                </a:solidFill>
                <a:latin typeface="Aptos" pitchFamily="34" charset="0"/>
                <a:ea typeface="Aptos" pitchFamily="34" charset="-122"/>
                <a:cs typeface="Aptos" pitchFamily="34" charset="-120"/>
              </a:rPr>
              <a:t>LIFECYCLE + RECOVERY</a:t>
            </a:r>
            <a:endParaRPr lang="en-US" sz="720" dirty="0"/>
          </a:p>
        </p:txBody>
      </p:sp>
      <p:sp>
        <p:nvSpPr>
          <p:cNvPr id="42" name="Text 40"/>
          <p:cNvSpPr/>
          <p:nvPr/>
        </p:nvSpPr>
        <p:spPr>
          <a:xfrm>
            <a:off x="6373368" y="4526280"/>
            <a:ext cx="960120" cy="274320"/>
          </a:xfrm>
          <a:prstGeom prst="rect">
            <a:avLst/>
          </a:prstGeom>
          <a:noFill/>
          <a:ln/>
        </p:spPr>
        <p:txBody>
          <a:bodyPr wrap="square" lIns="0" tIns="0" rIns="0" bIns="0" rtlCol="0" anchor="ctr">
            <a:normAutofit/>
          </a:bodyPr>
          <a:lstStyle/>
          <a:p>
            <a:pPr algn="ctr" indent="0" marL="0">
              <a:buNone/>
            </a:pPr>
            <a:r>
              <a:rPr lang="en-US" sz="1900" b="1" dirty="0">
                <a:solidFill>
                  <a:srgbClr val="B64A2D"/>
                </a:solidFill>
                <a:latin typeface="Bahnschrift SemiBold" pitchFamily="34" charset="0"/>
                <a:ea typeface="Bahnschrift SemiBold" pitchFamily="34" charset="-122"/>
                <a:cs typeface="Bahnschrift SemiBold" pitchFamily="34" charset="-120"/>
              </a:rPr>
              <a:t>01:00</a:t>
            </a:r>
            <a:endParaRPr lang="en-US" sz="1900" dirty="0"/>
          </a:p>
        </p:txBody>
      </p:sp>
      <p:sp>
        <p:nvSpPr>
          <p:cNvPr id="43" name="Text 41"/>
          <p:cNvSpPr/>
          <p:nvPr/>
        </p:nvSpPr>
        <p:spPr>
          <a:xfrm>
            <a:off x="7452360" y="4407408"/>
            <a:ext cx="3456432" cy="228600"/>
          </a:xfrm>
          <a:prstGeom prst="rect">
            <a:avLst/>
          </a:prstGeom>
          <a:noFill/>
          <a:ln/>
        </p:spPr>
        <p:txBody>
          <a:bodyPr wrap="square" lIns="0" tIns="0" rIns="0" bIns="0" rtlCol="0" anchor="ctr">
            <a:normAutofit/>
          </a:bodyPr>
          <a:lstStyle/>
          <a:p>
            <a:pPr algn="ctr" indent="0" marL="0">
              <a:buNone/>
            </a:pPr>
            <a:r>
              <a:rPr lang="en-US" sz="830" b="1" dirty="0">
                <a:solidFill>
                  <a:srgbClr val="202729"/>
                </a:solidFill>
                <a:latin typeface="Aptos" pitchFamily="34" charset="0"/>
                <a:ea typeface="Aptos" pitchFamily="34" charset="-122"/>
                <a:cs typeface="Aptos" pitchFamily="34" charset="-120"/>
              </a:rPr>
              <a:t>Europe/Luxembourg non-prod pause check</a:t>
            </a:r>
            <a:endParaRPr lang="en-US" sz="830" dirty="0"/>
          </a:p>
          <a:p>
            <a:pPr algn="ctr" indent="0" marL="0">
              <a:buNone/>
            </a:pPr>
            <a:r>
              <a:rPr lang="en-US" sz="830" b="1" dirty="0">
                <a:solidFill>
                  <a:srgbClr val="202729"/>
                </a:solidFill>
                <a:latin typeface="Aptos" pitchFamily="34" charset="0"/>
                <a:ea typeface="Aptos" pitchFamily="34" charset="-122"/>
                <a:cs typeface="Aptos" pitchFamily="34" charset="-120"/>
              </a:rPr>
              <a:t>Production is never auto-paused.</a:t>
            </a:r>
            <a:endParaRPr lang="en-US" sz="830" dirty="0"/>
          </a:p>
        </p:txBody>
      </p:sp>
      <p:sp>
        <p:nvSpPr>
          <p:cNvPr id="44" name="Text 42"/>
          <p:cNvSpPr/>
          <p:nvPr/>
        </p:nvSpPr>
        <p:spPr>
          <a:xfrm>
            <a:off x="6400800" y="5074920"/>
            <a:ext cx="4709160" cy="137160"/>
          </a:xfrm>
          <a:prstGeom prst="rect">
            <a:avLst/>
          </a:prstGeom>
          <a:noFill/>
          <a:ln/>
        </p:spPr>
        <p:txBody>
          <a:bodyPr wrap="square" lIns="0" tIns="0" rIns="0" bIns="0" rtlCol="0" anchor="ctr">
            <a:normAutofit/>
          </a:bodyPr>
          <a:lstStyle/>
          <a:p>
            <a:pPr algn="ctr" indent="0" marL="0">
              <a:buNone/>
            </a:pPr>
            <a:r>
              <a:rPr lang="en-US" sz="740" b="1" dirty="0">
                <a:solidFill>
                  <a:srgbClr val="687373"/>
                </a:solidFill>
                <a:latin typeface="Aptos" pitchFamily="34" charset="0"/>
                <a:ea typeface="Aptos" pitchFamily="34" charset="-122"/>
                <a:cs typeface="Aptos" pitchFamily="34" charset="-120"/>
              </a:rPr>
              <a:t>Sweden Central primary  |  West Europe = tested recovery target, not automatic failover</a:t>
            </a:r>
            <a:endParaRPr lang="en-US" sz="740" dirty="0"/>
          </a:p>
        </p:txBody>
      </p:sp>
      <p:sp>
        <p:nvSpPr>
          <p:cNvPr id="45" name="Text 43"/>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Source cue | deployment-topology.md §2, §5–7  •  operations-and-cost.md §8–9</a:t>
            </a:r>
            <a:endParaRPr lang="en-US" sz="660" dirty="0"/>
          </a:p>
        </p:txBody>
      </p:sp>
      <p:sp>
        <p:nvSpPr>
          <p:cNvPr id="46" name="Shape 44"/>
          <p:cNvSpPr/>
          <p:nvPr/>
        </p:nvSpPr>
        <p:spPr>
          <a:xfrm>
            <a:off x="0" y="6483096"/>
            <a:ext cx="12191695" cy="374904"/>
          </a:xfrm>
          <a:prstGeom prst="rect">
            <a:avLst/>
          </a:prstGeom>
          <a:solidFill>
            <a:srgbClr val="E9E7E1"/>
          </a:solidFill>
          <a:ln w="6350">
            <a:solidFill>
              <a:srgbClr val="E9E7E1"/>
            </a:solidFill>
            <a:prstDash val="solid"/>
          </a:ln>
        </p:spPr>
      </p:sp>
      <p:sp>
        <p:nvSpPr>
          <p:cNvPr id="47" name="Shape 45"/>
          <p:cNvSpPr/>
          <p:nvPr/>
        </p:nvSpPr>
        <p:spPr>
          <a:xfrm>
            <a:off x="384048" y="6547104"/>
            <a:ext cx="3547872" cy="182880"/>
          </a:xfrm>
          <a:prstGeom prst="roundRect">
            <a:avLst/>
          </a:prstGeom>
          <a:solidFill>
            <a:srgbClr val="FFFFFF"/>
          </a:solidFill>
          <a:ln w="3175">
            <a:solidFill>
              <a:srgbClr val="DDE4E1"/>
            </a:solidFill>
            <a:prstDash val="solid"/>
          </a:ln>
        </p:spPr>
      </p:sp>
      <p:sp>
        <p:nvSpPr>
          <p:cNvPr id="48" name="Text 46"/>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49" name="Text 47"/>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ORAL DEFENSE  •  19 / 20</a:t>
            </a:r>
            <a:endParaRPr lang="en-US" sz="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719"/>
        </a:solidFill>
      </p:bgPr>
    </p:bg>
    <p:spTree>
      <p:nvGrpSpPr>
        <p:cNvPr id="1" name=""/>
        <p:cNvGrpSpPr/>
        <p:nvPr/>
      </p:nvGrpSpPr>
      <p:grpSpPr>
        <a:xfrm>
          <a:off x="0" y="0"/>
          <a:ext cx="0" cy="0"/>
          <a:chOff x="0" y="0"/>
          <a:chExt cx="0" cy="0"/>
        </a:xfrm>
      </p:grpSpPr>
      <p:pic>
        <p:nvPicPr>
          <p:cNvPr id="2" name="Image 0" descr="D:\work\20260724 - Novasteel 3\tools\presentation\assets\steel-texture.png">    </p:cNvPr>
          <p:cNvPicPr>
            <a:picLocks noChangeAspect="1"/>
          </p:cNvPicPr>
          <p:nvPr/>
        </p:nvPicPr>
        <p:blipFill>
          <a:blip r:embed="rId1">
            <a:alphaModFix amt="34000"/>
          </a:blip>
          <a:stretch>
            <a:fillRect/>
          </a:stretch>
        </p:blipFill>
        <p:spPr>
          <a:xfrm>
            <a:off x="0" y="0"/>
            <a:ext cx="12191695" cy="6858000"/>
          </a:xfrm>
          <a:prstGeom prst="rect">
            <a:avLst/>
          </a:prstGeom>
        </p:spPr>
      </p:pic>
      <p:sp>
        <p:nvSpPr>
          <p:cNvPr id="3" name="Shape 0"/>
          <p:cNvSpPr/>
          <p:nvPr/>
        </p:nvSpPr>
        <p:spPr>
          <a:xfrm>
            <a:off x="457200" y="274320"/>
            <a:ext cx="822960" cy="246888"/>
          </a:xfrm>
          <a:prstGeom prst="roundRect">
            <a:avLst/>
          </a:prstGeom>
          <a:solidFill>
            <a:srgbClr val="465057"/>
          </a:solidFill>
          <a:ln w="5080">
            <a:solidFill>
              <a:srgbClr val="465057"/>
            </a:solidFill>
            <a:prstDash val="solid"/>
          </a:ln>
        </p:spPr>
      </p:sp>
      <p:sp>
        <p:nvSpPr>
          <p:cNvPr id="4" name="Text 1"/>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SLIDE 20</a:t>
            </a:r>
            <a:endParaRPr lang="en-US" sz="720" dirty="0"/>
          </a:p>
        </p:txBody>
      </p:sp>
      <p:sp>
        <p:nvSpPr>
          <p:cNvPr id="5" name="Text 2"/>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AEB9BA"/>
                </a:solidFill>
                <a:latin typeface="Aptos" pitchFamily="34" charset="0"/>
                <a:ea typeface="Aptos" pitchFamily="34" charset="-122"/>
                <a:cs typeface="Aptos" pitchFamily="34" charset="-120"/>
              </a:rPr>
              <a:t>DEMO HANDOFF</a:t>
            </a:r>
            <a:endParaRPr lang="en-US" sz="810" dirty="0"/>
          </a:p>
        </p:txBody>
      </p:sp>
      <p:sp>
        <p:nvSpPr>
          <p:cNvPr id="6" name="Shape 3"/>
          <p:cNvSpPr/>
          <p:nvPr/>
        </p:nvSpPr>
        <p:spPr>
          <a:xfrm>
            <a:off x="10040112" y="274320"/>
            <a:ext cx="1673352" cy="256032"/>
          </a:xfrm>
          <a:prstGeom prst="roundRect">
            <a:avLst/>
          </a:prstGeom>
          <a:solidFill>
            <a:srgbClr val="1F2426"/>
          </a:solidFill>
          <a:ln w="6350">
            <a:solidFill>
              <a:srgbClr val="465057"/>
            </a:solidFill>
            <a:prstDash val="solid"/>
          </a:ln>
        </p:spPr>
      </p:sp>
      <p:sp>
        <p:nvSpPr>
          <p:cNvPr id="7" name="Text 4"/>
          <p:cNvSpPr/>
          <p:nvPr/>
        </p:nvSpPr>
        <p:spPr>
          <a:xfrm>
            <a:off x="10177272" y="338328"/>
            <a:ext cx="1408176" cy="100584"/>
          </a:xfrm>
          <a:prstGeom prst="rect">
            <a:avLst/>
          </a:prstGeom>
          <a:noFill/>
          <a:ln/>
        </p:spPr>
        <p:txBody>
          <a:bodyPr wrap="square" lIns="0" tIns="0" rIns="0" bIns="0" rtlCol="0" anchor="ctr">
            <a:normAutofit/>
          </a:bodyPr>
          <a:lstStyle/>
          <a:p>
            <a:pPr algn="ctr" indent="0" marL="0">
              <a:buNone/>
            </a:pPr>
            <a:r>
              <a:rPr lang="en-US" sz="720" b="1" dirty="0">
                <a:solidFill>
                  <a:srgbClr val="AEB9BA"/>
                </a:solidFill>
                <a:latin typeface="Aptos" pitchFamily="34" charset="0"/>
                <a:ea typeface="Aptos" pitchFamily="34" charset="-122"/>
                <a:cs typeface="Aptos" pitchFamily="34" charset="-120"/>
              </a:rPr>
              <a:t>29:15–30:00</a:t>
            </a:r>
            <a:endParaRPr lang="en-US" sz="720" dirty="0"/>
          </a:p>
        </p:txBody>
      </p:sp>
      <p:sp>
        <p:nvSpPr>
          <p:cNvPr id="8" name="Text 5"/>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FFFFFF"/>
                </a:solidFill>
                <a:latin typeface="Bahnschrift SemiBold" pitchFamily="34" charset="0"/>
                <a:ea typeface="Bahnschrift SemiBold" pitchFamily="34" charset="-122"/>
                <a:cs typeface="Bahnschrift SemiBold" pitchFamily="34" charset="-120"/>
              </a:rPr>
              <a:t>Now the proof: a 15-minute deterministic persona journey</a:t>
            </a:r>
            <a:endParaRPr lang="en-US" sz="2550" dirty="0"/>
          </a:p>
        </p:txBody>
      </p:sp>
      <p:sp>
        <p:nvSpPr>
          <p:cNvPr id="9" name="Shape 6"/>
          <p:cNvSpPr/>
          <p:nvPr/>
        </p:nvSpPr>
        <p:spPr>
          <a:xfrm>
            <a:off x="457200" y="1188720"/>
            <a:ext cx="1137514" cy="246888"/>
          </a:xfrm>
          <a:prstGeom prst="roundRect">
            <a:avLst/>
          </a:prstGeom>
          <a:solidFill>
            <a:srgbClr val="147D74"/>
          </a:solidFill>
          <a:ln w="5080">
            <a:solidFill>
              <a:srgbClr val="147D74"/>
            </a:solidFill>
            <a:prstDash val="solid"/>
          </a:ln>
        </p:spPr>
      </p:sp>
      <p:sp>
        <p:nvSpPr>
          <p:cNvPr id="10" name="Text 7"/>
          <p:cNvSpPr/>
          <p:nvPr/>
        </p:nvSpPr>
        <p:spPr>
          <a:xfrm>
            <a:off x="576072" y="1239012"/>
            <a:ext cx="899770"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LIVE DEMO NEXT</a:t>
            </a:r>
            <a:endParaRPr lang="en-US" sz="720" dirty="0"/>
          </a:p>
        </p:txBody>
      </p:sp>
      <p:sp>
        <p:nvSpPr>
          <p:cNvPr id="11" name="Text 8"/>
          <p:cNvSpPr/>
          <p:nvPr/>
        </p:nvSpPr>
        <p:spPr>
          <a:xfrm>
            <a:off x="457200" y="1700784"/>
            <a:ext cx="11201400" cy="292608"/>
          </a:xfrm>
          <a:prstGeom prst="rect">
            <a:avLst/>
          </a:prstGeom>
          <a:noFill/>
          <a:ln/>
        </p:spPr>
        <p:txBody>
          <a:bodyPr wrap="square" lIns="0" tIns="0" rIns="0" bIns="0" rtlCol="0" anchor="ctr">
            <a:normAutofit/>
          </a:bodyPr>
          <a:lstStyle/>
          <a:p>
            <a:pPr algn="ctr" indent="0" marL="0">
              <a:buNone/>
            </a:pPr>
            <a:r>
              <a:rPr lang="en-US" sz="1850" b="1" dirty="0">
                <a:solidFill>
                  <a:srgbClr val="FFFFFF"/>
                </a:solidFill>
                <a:latin typeface="Bahnschrift SemiBold" pitchFamily="34" charset="0"/>
                <a:ea typeface="Bahnschrift SemiBold" pitchFamily="34" charset="-122"/>
                <a:cs typeface="Bahnschrift SemiBold" pitchFamily="34" charset="-120"/>
              </a:rPr>
              <a:t>SYNTHETIC DEMO DATA — NOT FOR OPERATIONAL CONTROL</a:t>
            </a:r>
            <a:endParaRPr lang="en-US" sz="1850" dirty="0"/>
          </a:p>
        </p:txBody>
      </p:sp>
      <p:sp>
        <p:nvSpPr>
          <p:cNvPr id="12" name="Shape 9"/>
          <p:cNvSpPr/>
          <p:nvPr/>
        </p:nvSpPr>
        <p:spPr>
          <a:xfrm>
            <a:off x="4983480" y="2240280"/>
            <a:ext cx="2221992" cy="1097280"/>
          </a:xfrm>
          <a:prstGeom prst="roundRect">
            <a:avLst/>
          </a:prstGeom>
          <a:solidFill>
            <a:srgbClr val="B64A2D"/>
          </a:solidFill>
          <a:ln w="6350">
            <a:solidFill>
              <a:srgbClr val="B64A2D"/>
            </a:solidFill>
            <a:prstDash val="solid"/>
          </a:ln>
        </p:spPr>
      </p:sp>
      <p:sp>
        <p:nvSpPr>
          <p:cNvPr id="13" name="Text 10"/>
          <p:cNvSpPr/>
          <p:nvPr/>
        </p:nvSpPr>
        <p:spPr>
          <a:xfrm>
            <a:off x="5102352" y="2441448"/>
            <a:ext cx="1984248" cy="356616"/>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Bahnschrift SemiBold" pitchFamily="34" charset="0"/>
                <a:ea typeface="Bahnschrift SemiBold" pitchFamily="34" charset="-122"/>
                <a:cs typeface="Bahnschrift SemiBold" pitchFamily="34" charset="-120"/>
              </a:rPr>
              <a:t>15:00</a:t>
            </a:r>
            <a:endParaRPr lang="en-US" sz="2800" dirty="0"/>
          </a:p>
        </p:txBody>
      </p:sp>
      <p:sp>
        <p:nvSpPr>
          <p:cNvPr id="14" name="Text 11"/>
          <p:cNvSpPr/>
          <p:nvPr/>
        </p:nvSpPr>
        <p:spPr>
          <a:xfrm>
            <a:off x="5102352" y="2916936"/>
            <a:ext cx="1984248" cy="109728"/>
          </a:xfrm>
          <a:prstGeom prst="rect">
            <a:avLst/>
          </a:prstGeom>
          <a:noFill/>
          <a:ln/>
        </p:spPr>
        <p:txBody>
          <a:bodyPr wrap="square" lIns="0" tIns="0" rIns="0" bIns="0" rtlCol="0" anchor="ctr">
            <a:normAutofit/>
          </a:bodyPr>
          <a:lstStyle/>
          <a:p>
            <a:pPr algn="ctr" indent="0" marL="0">
              <a:buNone/>
            </a:pPr>
            <a:r>
              <a:rPr lang="en-US" sz="800" b="1" dirty="0">
                <a:solidFill>
                  <a:srgbClr val="F1DDD4"/>
                </a:solidFill>
                <a:latin typeface="Aptos" pitchFamily="34" charset="0"/>
                <a:ea typeface="Aptos" pitchFamily="34" charset="-122"/>
                <a:cs typeface="Aptos" pitchFamily="34" charset="-120"/>
              </a:rPr>
              <a:t>presenter timer</a:t>
            </a:r>
            <a:endParaRPr lang="en-US" sz="800" dirty="0"/>
          </a:p>
        </p:txBody>
      </p:sp>
      <p:sp>
        <p:nvSpPr>
          <p:cNvPr id="15" name="Shape 12"/>
          <p:cNvSpPr/>
          <p:nvPr/>
        </p:nvSpPr>
        <p:spPr>
          <a:xfrm>
            <a:off x="457200" y="4041648"/>
            <a:ext cx="1371600" cy="841248"/>
          </a:xfrm>
          <a:prstGeom prst="roundRect">
            <a:avLst/>
          </a:prstGeom>
          <a:solidFill>
            <a:srgbClr val="1F2426"/>
          </a:solidFill>
          <a:ln w="8890">
            <a:solidFill>
              <a:srgbClr val="B64A2D"/>
            </a:solidFill>
            <a:prstDash val="solid"/>
          </a:ln>
        </p:spPr>
      </p:sp>
      <p:sp>
        <p:nvSpPr>
          <p:cNvPr id="16" name="Shape 13"/>
          <p:cNvSpPr/>
          <p:nvPr/>
        </p:nvSpPr>
        <p:spPr>
          <a:xfrm>
            <a:off x="457200" y="4041648"/>
            <a:ext cx="77724" cy="841248"/>
          </a:xfrm>
          <a:prstGeom prst="rect">
            <a:avLst/>
          </a:prstGeom>
          <a:solidFill>
            <a:srgbClr val="B64A2D"/>
          </a:solidFill>
          <a:ln w="6350">
            <a:solidFill>
              <a:srgbClr val="B64A2D"/>
            </a:solidFill>
            <a:prstDash val="solid"/>
          </a:ln>
        </p:spPr>
      </p:sp>
      <p:sp>
        <p:nvSpPr>
          <p:cNvPr id="17" name="Text 14"/>
          <p:cNvSpPr/>
          <p:nvPr/>
        </p:nvSpPr>
        <p:spPr>
          <a:xfrm>
            <a:off x="621792" y="4224528"/>
            <a:ext cx="1051560" cy="219456"/>
          </a:xfrm>
          <a:prstGeom prst="rect">
            <a:avLst/>
          </a:prstGeom>
          <a:noFill/>
          <a:ln/>
        </p:spPr>
        <p:txBody>
          <a:bodyPr wrap="square" lIns="0" tIns="0" rIns="0" bIns="0" rtlCol="0" anchor="ctr">
            <a:normAutofit/>
          </a:bodyPr>
          <a:lstStyle/>
          <a:p>
            <a:pPr algn="l" indent="0" marL="0">
              <a:buNone/>
            </a:pPr>
            <a:r>
              <a:rPr lang="en-US" sz="880" b="1" dirty="0">
                <a:solidFill>
                  <a:srgbClr val="FFFFFF"/>
                </a:solidFill>
                <a:latin typeface="Aptos" pitchFamily="34" charset="0"/>
                <a:ea typeface="Aptos" pitchFamily="34" charset="-122"/>
                <a:cs typeface="Aptos" pitchFamily="34" charset="-120"/>
              </a:rPr>
              <a:t>Fleet</a:t>
            </a:r>
            <a:endParaRPr lang="en-US" sz="880" dirty="0"/>
          </a:p>
        </p:txBody>
      </p:sp>
      <p:sp>
        <p:nvSpPr>
          <p:cNvPr id="18" name="Text 15"/>
          <p:cNvSpPr/>
          <p:nvPr/>
        </p:nvSpPr>
        <p:spPr>
          <a:xfrm>
            <a:off x="621792" y="4526280"/>
            <a:ext cx="1051560" cy="246888"/>
          </a:xfrm>
          <a:prstGeom prst="rect">
            <a:avLst/>
          </a:prstGeom>
          <a:noFill/>
          <a:ln/>
        </p:spPr>
        <p:txBody>
          <a:bodyPr wrap="square" lIns="0" tIns="0" rIns="0" bIns="0" rtlCol="0" anchor="t">
            <a:normAutofit/>
          </a:bodyPr>
          <a:lstStyle/>
          <a:p>
            <a:pPr algn="l" indent="0" marL="0">
              <a:buNone/>
            </a:pPr>
            <a:r>
              <a:rPr lang="en-US" sz="700" dirty="0">
                <a:solidFill>
                  <a:srgbClr val="AEB9BA"/>
                </a:solidFill>
                <a:latin typeface="Aptos" pitchFamily="34" charset="0"/>
                <a:ea typeface="Aptos" pitchFamily="34" charset="-122"/>
                <a:cs typeface="Aptos" pitchFamily="34" charset="-120"/>
              </a:rPr>
              <a:t>00:00</a:t>
            </a:r>
            <a:endParaRPr lang="en-US" sz="700" dirty="0"/>
          </a:p>
        </p:txBody>
      </p:sp>
      <p:sp>
        <p:nvSpPr>
          <p:cNvPr id="19" name="Shape 16"/>
          <p:cNvSpPr/>
          <p:nvPr/>
        </p:nvSpPr>
        <p:spPr>
          <a:xfrm>
            <a:off x="1856232" y="4306824"/>
            <a:ext cx="155448" cy="173736"/>
          </a:xfrm>
          <a:prstGeom prst="chevron">
            <a:avLst/>
          </a:prstGeom>
          <a:solidFill>
            <a:srgbClr val="465057"/>
          </a:solidFill>
          <a:ln w="12700">
            <a:solidFill>
              <a:srgbClr val="465057">
                <a:alpha val="0"/>
              </a:srgbClr>
            </a:solidFill>
            <a:prstDash val="solid"/>
          </a:ln>
        </p:spPr>
      </p:sp>
      <p:sp>
        <p:nvSpPr>
          <p:cNvPr id="20" name="Shape 17"/>
          <p:cNvSpPr/>
          <p:nvPr/>
        </p:nvSpPr>
        <p:spPr>
          <a:xfrm>
            <a:off x="2084832" y="4041648"/>
            <a:ext cx="1371600" cy="841248"/>
          </a:xfrm>
          <a:prstGeom prst="roundRect">
            <a:avLst/>
          </a:prstGeom>
          <a:solidFill>
            <a:srgbClr val="1F2426"/>
          </a:solidFill>
          <a:ln w="8890">
            <a:solidFill>
              <a:srgbClr val="147D74"/>
            </a:solidFill>
            <a:prstDash val="solid"/>
          </a:ln>
        </p:spPr>
      </p:sp>
      <p:sp>
        <p:nvSpPr>
          <p:cNvPr id="21" name="Shape 18"/>
          <p:cNvSpPr/>
          <p:nvPr/>
        </p:nvSpPr>
        <p:spPr>
          <a:xfrm>
            <a:off x="2084832" y="4041648"/>
            <a:ext cx="77724" cy="841248"/>
          </a:xfrm>
          <a:prstGeom prst="rect">
            <a:avLst/>
          </a:prstGeom>
          <a:solidFill>
            <a:srgbClr val="147D74"/>
          </a:solidFill>
          <a:ln w="6350">
            <a:solidFill>
              <a:srgbClr val="147D74"/>
            </a:solidFill>
            <a:prstDash val="solid"/>
          </a:ln>
        </p:spPr>
      </p:sp>
      <p:sp>
        <p:nvSpPr>
          <p:cNvPr id="22" name="Text 19"/>
          <p:cNvSpPr/>
          <p:nvPr/>
        </p:nvSpPr>
        <p:spPr>
          <a:xfrm>
            <a:off x="2249424" y="4224528"/>
            <a:ext cx="1051560" cy="219456"/>
          </a:xfrm>
          <a:prstGeom prst="rect">
            <a:avLst/>
          </a:prstGeom>
          <a:noFill/>
          <a:ln/>
        </p:spPr>
        <p:txBody>
          <a:bodyPr wrap="square" lIns="0" tIns="0" rIns="0" bIns="0" rtlCol="0" anchor="ctr">
            <a:normAutofit/>
          </a:bodyPr>
          <a:lstStyle/>
          <a:p>
            <a:pPr algn="l" indent="0" marL="0">
              <a:buNone/>
            </a:pPr>
            <a:r>
              <a:rPr lang="en-US" sz="880" b="1" dirty="0">
                <a:solidFill>
                  <a:srgbClr val="FFFFFF"/>
                </a:solidFill>
                <a:latin typeface="Aptos" pitchFamily="34" charset="0"/>
                <a:ea typeface="Aptos" pitchFamily="34" charset="-122"/>
                <a:cs typeface="Aptos" pitchFamily="34" charset="-120"/>
              </a:rPr>
              <a:t>Fabric core</a:t>
            </a:r>
            <a:endParaRPr lang="en-US" sz="880" dirty="0"/>
          </a:p>
        </p:txBody>
      </p:sp>
      <p:sp>
        <p:nvSpPr>
          <p:cNvPr id="23" name="Text 20"/>
          <p:cNvSpPr/>
          <p:nvPr/>
        </p:nvSpPr>
        <p:spPr>
          <a:xfrm>
            <a:off x="2249424" y="4526280"/>
            <a:ext cx="1051560" cy="246888"/>
          </a:xfrm>
          <a:prstGeom prst="rect">
            <a:avLst/>
          </a:prstGeom>
          <a:noFill/>
          <a:ln/>
        </p:spPr>
        <p:txBody>
          <a:bodyPr wrap="square" lIns="0" tIns="0" rIns="0" bIns="0" rtlCol="0" anchor="t">
            <a:normAutofit/>
          </a:bodyPr>
          <a:lstStyle/>
          <a:p>
            <a:pPr algn="l" indent="0" marL="0">
              <a:buNone/>
            </a:pPr>
            <a:r>
              <a:rPr lang="en-US" sz="700" dirty="0">
                <a:solidFill>
                  <a:srgbClr val="AEB9BA"/>
                </a:solidFill>
                <a:latin typeface="Aptos" pitchFamily="34" charset="0"/>
                <a:ea typeface="Aptos" pitchFamily="34" charset="-122"/>
                <a:cs typeface="Aptos" pitchFamily="34" charset="-120"/>
              </a:rPr>
              <a:t>01:00</a:t>
            </a:r>
            <a:endParaRPr lang="en-US" sz="700" dirty="0"/>
          </a:p>
        </p:txBody>
      </p:sp>
      <p:sp>
        <p:nvSpPr>
          <p:cNvPr id="24" name="Shape 21"/>
          <p:cNvSpPr/>
          <p:nvPr/>
        </p:nvSpPr>
        <p:spPr>
          <a:xfrm>
            <a:off x="3483864" y="4306824"/>
            <a:ext cx="155448" cy="173736"/>
          </a:xfrm>
          <a:prstGeom prst="chevron">
            <a:avLst/>
          </a:prstGeom>
          <a:solidFill>
            <a:srgbClr val="465057"/>
          </a:solidFill>
          <a:ln w="12700">
            <a:solidFill>
              <a:srgbClr val="465057">
                <a:alpha val="0"/>
              </a:srgbClr>
            </a:solidFill>
            <a:prstDash val="solid"/>
          </a:ln>
        </p:spPr>
      </p:sp>
      <p:sp>
        <p:nvSpPr>
          <p:cNvPr id="25" name="Shape 22"/>
          <p:cNvSpPr/>
          <p:nvPr/>
        </p:nvSpPr>
        <p:spPr>
          <a:xfrm>
            <a:off x="3712464" y="4041648"/>
            <a:ext cx="1371600" cy="841248"/>
          </a:xfrm>
          <a:prstGeom prst="roundRect">
            <a:avLst/>
          </a:prstGeom>
          <a:solidFill>
            <a:srgbClr val="1F2426"/>
          </a:solidFill>
          <a:ln w="8890">
            <a:solidFill>
              <a:srgbClr val="E3A72F"/>
            </a:solidFill>
            <a:prstDash val="solid"/>
          </a:ln>
        </p:spPr>
      </p:sp>
      <p:sp>
        <p:nvSpPr>
          <p:cNvPr id="26" name="Shape 23"/>
          <p:cNvSpPr/>
          <p:nvPr/>
        </p:nvSpPr>
        <p:spPr>
          <a:xfrm>
            <a:off x="3712464" y="4041648"/>
            <a:ext cx="77724" cy="841248"/>
          </a:xfrm>
          <a:prstGeom prst="rect">
            <a:avLst/>
          </a:prstGeom>
          <a:solidFill>
            <a:srgbClr val="E3A72F"/>
          </a:solidFill>
          <a:ln w="6350">
            <a:solidFill>
              <a:srgbClr val="E3A72F"/>
            </a:solidFill>
            <a:prstDash val="solid"/>
          </a:ln>
        </p:spPr>
      </p:sp>
      <p:sp>
        <p:nvSpPr>
          <p:cNvPr id="27" name="Text 24"/>
          <p:cNvSpPr/>
          <p:nvPr/>
        </p:nvSpPr>
        <p:spPr>
          <a:xfrm>
            <a:off x="3877056" y="4224528"/>
            <a:ext cx="1051560" cy="219456"/>
          </a:xfrm>
          <a:prstGeom prst="rect">
            <a:avLst/>
          </a:prstGeom>
          <a:noFill/>
          <a:ln/>
        </p:spPr>
        <p:txBody>
          <a:bodyPr wrap="square" lIns="0" tIns="0" rIns="0" bIns="0" rtlCol="0" anchor="ctr">
            <a:normAutofit/>
          </a:bodyPr>
          <a:lstStyle/>
          <a:p>
            <a:pPr algn="l" indent="0" marL="0">
              <a:buNone/>
            </a:pPr>
            <a:r>
              <a:rPr lang="en-US" sz="880" b="1" dirty="0">
                <a:solidFill>
                  <a:srgbClr val="FFFFFF"/>
                </a:solidFill>
                <a:latin typeface="Aptos" pitchFamily="34" charset="0"/>
                <a:ea typeface="Aptos" pitchFamily="34" charset="-122"/>
                <a:cs typeface="Aptos" pitchFamily="34" charset="-120"/>
              </a:rPr>
              <a:t>Energy</a:t>
            </a:r>
            <a:endParaRPr lang="en-US" sz="880" dirty="0"/>
          </a:p>
        </p:txBody>
      </p:sp>
      <p:sp>
        <p:nvSpPr>
          <p:cNvPr id="28" name="Text 25"/>
          <p:cNvSpPr/>
          <p:nvPr/>
        </p:nvSpPr>
        <p:spPr>
          <a:xfrm>
            <a:off x="3877056" y="4526280"/>
            <a:ext cx="1051560" cy="246888"/>
          </a:xfrm>
          <a:prstGeom prst="rect">
            <a:avLst/>
          </a:prstGeom>
          <a:noFill/>
          <a:ln/>
        </p:spPr>
        <p:txBody>
          <a:bodyPr wrap="square" lIns="0" tIns="0" rIns="0" bIns="0" rtlCol="0" anchor="t">
            <a:normAutofit/>
          </a:bodyPr>
          <a:lstStyle/>
          <a:p>
            <a:pPr algn="l" indent="0" marL="0">
              <a:buNone/>
            </a:pPr>
            <a:r>
              <a:rPr lang="en-US" sz="700" dirty="0">
                <a:solidFill>
                  <a:srgbClr val="AEB9BA"/>
                </a:solidFill>
                <a:latin typeface="Aptos" pitchFamily="34" charset="0"/>
                <a:ea typeface="Aptos" pitchFamily="34" charset="-122"/>
                <a:cs typeface="Aptos" pitchFamily="34" charset="-120"/>
              </a:rPr>
              <a:t>02:00</a:t>
            </a:r>
            <a:endParaRPr lang="en-US" sz="700" dirty="0"/>
          </a:p>
        </p:txBody>
      </p:sp>
      <p:sp>
        <p:nvSpPr>
          <p:cNvPr id="29" name="Shape 26"/>
          <p:cNvSpPr/>
          <p:nvPr/>
        </p:nvSpPr>
        <p:spPr>
          <a:xfrm>
            <a:off x="5111496" y="4306824"/>
            <a:ext cx="155448" cy="173736"/>
          </a:xfrm>
          <a:prstGeom prst="chevron">
            <a:avLst/>
          </a:prstGeom>
          <a:solidFill>
            <a:srgbClr val="465057"/>
          </a:solidFill>
          <a:ln w="12700">
            <a:solidFill>
              <a:srgbClr val="465057">
                <a:alpha val="0"/>
              </a:srgbClr>
            </a:solidFill>
            <a:prstDash val="solid"/>
          </a:ln>
        </p:spPr>
      </p:sp>
      <p:sp>
        <p:nvSpPr>
          <p:cNvPr id="30" name="Shape 27"/>
          <p:cNvSpPr/>
          <p:nvPr/>
        </p:nvSpPr>
        <p:spPr>
          <a:xfrm>
            <a:off x="5340096" y="4041648"/>
            <a:ext cx="1371600" cy="841248"/>
          </a:xfrm>
          <a:prstGeom prst="roundRect">
            <a:avLst/>
          </a:prstGeom>
          <a:solidFill>
            <a:srgbClr val="1F2426"/>
          </a:solidFill>
          <a:ln w="8890">
            <a:solidFill>
              <a:srgbClr val="B64A2D"/>
            </a:solidFill>
            <a:prstDash val="solid"/>
          </a:ln>
        </p:spPr>
      </p:sp>
      <p:sp>
        <p:nvSpPr>
          <p:cNvPr id="31" name="Shape 28"/>
          <p:cNvSpPr/>
          <p:nvPr/>
        </p:nvSpPr>
        <p:spPr>
          <a:xfrm>
            <a:off x="5340096" y="4041648"/>
            <a:ext cx="77724" cy="841248"/>
          </a:xfrm>
          <a:prstGeom prst="rect">
            <a:avLst/>
          </a:prstGeom>
          <a:solidFill>
            <a:srgbClr val="B64A2D"/>
          </a:solidFill>
          <a:ln w="6350">
            <a:solidFill>
              <a:srgbClr val="B64A2D"/>
            </a:solidFill>
            <a:prstDash val="solid"/>
          </a:ln>
        </p:spPr>
      </p:sp>
      <p:sp>
        <p:nvSpPr>
          <p:cNvPr id="32" name="Text 29"/>
          <p:cNvSpPr/>
          <p:nvPr/>
        </p:nvSpPr>
        <p:spPr>
          <a:xfrm>
            <a:off x="5504688" y="4224528"/>
            <a:ext cx="1051560" cy="219456"/>
          </a:xfrm>
          <a:prstGeom prst="rect">
            <a:avLst/>
          </a:prstGeom>
          <a:noFill/>
          <a:ln/>
        </p:spPr>
        <p:txBody>
          <a:bodyPr wrap="square" lIns="0" tIns="0" rIns="0" bIns="0" rtlCol="0" anchor="ctr">
            <a:normAutofit/>
          </a:bodyPr>
          <a:lstStyle/>
          <a:p>
            <a:pPr algn="l" indent="0" marL="0">
              <a:buNone/>
            </a:pPr>
            <a:r>
              <a:rPr lang="en-US" sz="880" b="1" dirty="0">
                <a:solidFill>
                  <a:srgbClr val="FFFFFF"/>
                </a:solidFill>
                <a:latin typeface="Aptos" pitchFamily="34" charset="0"/>
                <a:ea typeface="Aptos" pitchFamily="34" charset="-122"/>
                <a:cs typeface="Aptos" pitchFamily="34" charset="-120"/>
              </a:rPr>
              <a:t>RUL</a:t>
            </a:r>
            <a:endParaRPr lang="en-US" sz="880" dirty="0"/>
          </a:p>
        </p:txBody>
      </p:sp>
      <p:sp>
        <p:nvSpPr>
          <p:cNvPr id="33" name="Text 30"/>
          <p:cNvSpPr/>
          <p:nvPr/>
        </p:nvSpPr>
        <p:spPr>
          <a:xfrm>
            <a:off x="5504688" y="4526280"/>
            <a:ext cx="1051560" cy="246888"/>
          </a:xfrm>
          <a:prstGeom prst="rect">
            <a:avLst/>
          </a:prstGeom>
          <a:noFill/>
          <a:ln/>
        </p:spPr>
        <p:txBody>
          <a:bodyPr wrap="square" lIns="0" tIns="0" rIns="0" bIns="0" rtlCol="0" anchor="t">
            <a:normAutofit/>
          </a:bodyPr>
          <a:lstStyle/>
          <a:p>
            <a:pPr algn="l" indent="0" marL="0">
              <a:buNone/>
            </a:pPr>
            <a:r>
              <a:rPr lang="en-US" sz="700" dirty="0">
                <a:solidFill>
                  <a:srgbClr val="AEB9BA"/>
                </a:solidFill>
                <a:latin typeface="Aptos" pitchFamily="34" charset="0"/>
                <a:ea typeface="Aptos" pitchFamily="34" charset="-122"/>
                <a:cs typeface="Aptos" pitchFamily="34" charset="-120"/>
              </a:rPr>
              <a:t>04:30</a:t>
            </a:r>
            <a:endParaRPr lang="en-US" sz="700" dirty="0"/>
          </a:p>
        </p:txBody>
      </p:sp>
      <p:sp>
        <p:nvSpPr>
          <p:cNvPr id="34" name="Shape 31"/>
          <p:cNvSpPr/>
          <p:nvPr/>
        </p:nvSpPr>
        <p:spPr>
          <a:xfrm>
            <a:off x="6739128" y="4306824"/>
            <a:ext cx="155448" cy="173736"/>
          </a:xfrm>
          <a:prstGeom prst="chevron">
            <a:avLst/>
          </a:prstGeom>
          <a:solidFill>
            <a:srgbClr val="465057"/>
          </a:solidFill>
          <a:ln w="12700">
            <a:solidFill>
              <a:srgbClr val="465057">
                <a:alpha val="0"/>
              </a:srgbClr>
            </a:solidFill>
            <a:prstDash val="solid"/>
          </a:ln>
        </p:spPr>
      </p:sp>
      <p:sp>
        <p:nvSpPr>
          <p:cNvPr id="35" name="Shape 32"/>
          <p:cNvSpPr/>
          <p:nvPr/>
        </p:nvSpPr>
        <p:spPr>
          <a:xfrm>
            <a:off x="6967728" y="4041648"/>
            <a:ext cx="1371600" cy="841248"/>
          </a:xfrm>
          <a:prstGeom prst="roundRect">
            <a:avLst/>
          </a:prstGeom>
          <a:solidFill>
            <a:srgbClr val="1F2426"/>
          </a:solidFill>
          <a:ln w="8890">
            <a:solidFill>
              <a:srgbClr val="147D74"/>
            </a:solidFill>
            <a:prstDash val="solid"/>
          </a:ln>
        </p:spPr>
      </p:sp>
      <p:sp>
        <p:nvSpPr>
          <p:cNvPr id="36" name="Shape 33"/>
          <p:cNvSpPr/>
          <p:nvPr/>
        </p:nvSpPr>
        <p:spPr>
          <a:xfrm>
            <a:off x="6967728" y="4041648"/>
            <a:ext cx="77724" cy="841248"/>
          </a:xfrm>
          <a:prstGeom prst="rect">
            <a:avLst/>
          </a:prstGeom>
          <a:solidFill>
            <a:srgbClr val="147D74"/>
          </a:solidFill>
          <a:ln w="6350">
            <a:solidFill>
              <a:srgbClr val="147D74"/>
            </a:solidFill>
            <a:prstDash val="solid"/>
          </a:ln>
        </p:spPr>
      </p:sp>
      <p:sp>
        <p:nvSpPr>
          <p:cNvPr id="37" name="Text 34"/>
          <p:cNvSpPr/>
          <p:nvPr/>
        </p:nvSpPr>
        <p:spPr>
          <a:xfrm>
            <a:off x="7132320" y="4224528"/>
            <a:ext cx="1051560" cy="219456"/>
          </a:xfrm>
          <a:prstGeom prst="rect">
            <a:avLst/>
          </a:prstGeom>
          <a:noFill/>
          <a:ln/>
        </p:spPr>
        <p:txBody>
          <a:bodyPr wrap="square" lIns="0" tIns="0" rIns="0" bIns="0" rtlCol="0" anchor="ctr">
            <a:normAutofit/>
          </a:bodyPr>
          <a:lstStyle/>
          <a:p>
            <a:pPr algn="l" indent="0" marL="0">
              <a:buNone/>
            </a:pPr>
            <a:r>
              <a:rPr lang="en-US" sz="880" b="1" dirty="0">
                <a:solidFill>
                  <a:srgbClr val="FFFFFF"/>
                </a:solidFill>
                <a:latin typeface="Aptos" pitchFamily="34" charset="0"/>
                <a:ea typeface="Aptos" pitchFamily="34" charset="-122"/>
                <a:cs typeface="Aptos" pitchFamily="34" charset="-120"/>
              </a:rPr>
              <a:t>Quality</a:t>
            </a:r>
            <a:endParaRPr lang="en-US" sz="880" dirty="0"/>
          </a:p>
        </p:txBody>
      </p:sp>
      <p:sp>
        <p:nvSpPr>
          <p:cNvPr id="38" name="Text 35"/>
          <p:cNvSpPr/>
          <p:nvPr/>
        </p:nvSpPr>
        <p:spPr>
          <a:xfrm>
            <a:off x="7132320" y="4526280"/>
            <a:ext cx="1051560" cy="246888"/>
          </a:xfrm>
          <a:prstGeom prst="rect">
            <a:avLst/>
          </a:prstGeom>
          <a:noFill/>
          <a:ln/>
        </p:spPr>
        <p:txBody>
          <a:bodyPr wrap="square" lIns="0" tIns="0" rIns="0" bIns="0" rtlCol="0" anchor="t">
            <a:normAutofit/>
          </a:bodyPr>
          <a:lstStyle/>
          <a:p>
            <a:pPr algn="l" indent="0" marL="0">
              <a:buNone/>
            </a:pPr>
            <a:r>
              <a:rPr lang="en-US" sz="700" dirty="0">
                <a:solidFill>
                  <a:srgbClr val="AEB9BA"/>
                </a:solidFill>
                <a:latin typeface="Aptos" pitchFamily="34" charset="0"/>
                <a:ea typeface="Aptos" pitchFamily="34" charset="-122"/>
                <a:cs typeface="Aptos" pitchFamily="34" charset="-120"/>
              </a:rPr>
              <a:t>07:00</a:t>
            </a:r>
            <a:endParaRPr lang="en-US" sz="700" dirty="0"/>
          </a:p>
        </p:txBody>
      </p:sp>
      <p:sp>
        <p:nvSpPr>
          <p:cNvPr id="39" name="Shape 36"/>
          <p:cNvSpPr/>
          <p:nvPr/>
        </p:nvSpPr>
        <p:spPr>
          <a:xfrm>
            <a:off x="8366760" y="4306824"/>
            <a:ext cx="155448" cy="173736"/>
          </a:xfrm>
          <a:prstGeom prst="chevron">
            <a:avLst/>
          </a:prstGeom>
          <a:solidFill>
            <a:srgbClr val="465057"/>
          </a:solidFill>
          <a:ln w="12700">
            <a:solidFill>
              <a:srgbClr val="465057">
                <a:alpha val="0"/>
              </a:srgbClr>
            </a:solidFill>
            <a:prstDash val="solid"/>
          </a:ln>
        </p:spPr>
      </p:sp>
      <p:sp>
        <p:nvSpPr>
          <p:cNvPr id="40" name="Shape 37"/>
          <p:cNvSpPr/>
          <p:nvPr/>
        </p:nvSpPr>
        <p:spPr>
          <a:xfrm>
            <a:off x="8595360" y="4041648"/>
            <a:ext cx="1371600" cy="841248"/>
          </a:xfrm>
          <a:prstGeom prst="roundRect">
            <a:avLst/>
          </a:prstGeom>
          <a:solidFill>
            <a:srgbClr val="1F2426"/>
          </a:solidFill>
          <a:ln w="8890">
            <a:solidFill>
              <a:srgbClr val="6D9A6F"/>
            </a:solidFill>
            <a:prstDash val="solid"/>
          </a:ln>
        </p:spPr>
      </p:sp>
      <p:sp>
        <p:nvSpPr>
          <p:cNvPr id="41" name="Shape 38"/>
          <p:cNvSpPr/>
          <p:nvPr/>
        </p:nvSpPr>
        <p:spPr>
          <a:xfrm>
            <a:off x="8595360" y="4041648"/>
            <a:ext cx="77724" cy="841248"/>
          </a:xfrm>
          <a:prstGeom prst="rect">
            <a:avLst/>
          </a:prstGeom>
          <a:solidFill>
            <a:srgbClr val="6D9A6F"/>
          </a:solidFill>
          <a:ln w="6350">
            <a:solidFill>
              <a:srgbClr val="6D9A6F"/>
            </a:solidFill>
            <a:prstDash val="solid"/>
          </a:ln>
        </p:spPr>
      </p:sp>
      <p:sp>
        <p:nvSpPr>
          <p:cNvPr id="42" name="Text 39"/>
          <p:cNvSpPr/>
          <p:nvPr/>
        </p:nvSpPr>
        <p:spPr>
          <a:xfrm>
            <a:off x="8759952" y="4224528"/>
            <a:ext cx="1051560" cy="219456"/>
          </a:xfrm>
          <a:prstGeom prst="rect">
            <a:avLst/>
          </a:prstGeom>
          <a:noFill/>
          <a:ln/>
        </p:spPr>
        <p:txBody>
          <a:bodyPr wrap="square" lIns="0" tIns="0" rIns="0" bIns="0" rtlCol="0" anchor="ctr">
            <a:normAutofit/>
          </a:bodyPr>
          <a:lstStyle/>
          <a:p>
            <a:pPr algn="l" indent="0" marL="0">
              <a:buNone/>
            </a:pPr>
            <a:r>
              <a:rPr lang="en-US" sz="880" b="1" dirty="0">
                <a:solidFill>
                  <a:srgbClr val="FFFFFF"/>
                </a:solidFill>
                <a:latin typeface="Aptos" pitchFamily="34" charset="0"/>
                <a:ea typeface="Aptos" pitchFamily="34" charset="-122"/>
                <a:cs typeface="Aptos" pitchFamily="34" charset="-120"/>
              </a:rPr>
              <a:t>Knowledge</a:t>
            </a:r>
            <a:endParaRPr lang="en-US" sz="880" dirty="0"/>
          </a:p>
        </p:txBody>
      </p:sp>
      <p:sp>
        <p:nvSpPr>
          <p:cNvPr id="43" name="Text 40"/>
          <p:cNvSpPr/>
          <p:nvPr/>
        </p:nvSpPr>
        <p:spPr>
          <a:xfrm>
            <a:off x="8759952" y="4526280"/>
            <a:ext cx="1051560" cy="246888"/>
          </a:xfrm>
          <a:prstGeom prst="rect">
            <a:avLst/>
          </a:prstGeom>
          <a:noFill/>
          <a:ln/>
        </p:spPr>
        <p:txBody>
          <a:bodyPr wrap="square" lIns="0" tIns="0" rIns="0" bIns="0" rtlCol="0" anchor="t">
            <a:normAutofit/>
          </a:bodyPr>
          <a:lstStyle/>
          <a:p>
            <a:pPr algn="l" indent="0" marL="0">
              <a:buNone/>
            </a:pPr>
            <a:r>
              <a:rPr lang="en-US" sz="700" dirty="0">
                <a:solidFill>
                  <a:srgbClr val="AEB9BA"/>
                </a:solidFill>
                <a:latin typeface="Aptos" pitchFamily="34" charset="0"/>
                <a:ea typeface="Aptos" pitchFamily="34" charset="-122"/>
                <a:cs typeface="Aptos" pitchFamily="34" charset="-120"/>
              </a:rPr>
              <a:t>09:30</a:t>
            </a:r>
            <a:endParaRPr lang="en-US" sz="700" dirty="0"/>
          </a:p>
        </p:txBody>
      </p:sp>
      <p:sp>
        <p:nvSpPr>
          <p:cNvPr id="44" name="Shape 41"/>
          <p:cNvSpPr/>
          <p:nvPr/>
        </p:nvSpPr>
        <p:spPr>
          <a:xfrm>
            <a:off x="9994392" y="4306824"/>
            <a:ext cx="155448" cy="173736"/>
          </a:xfrm>
          <a:prstGeom prst="chevron">
            <a:avLst/>
          </a:prstGeom>
          <a:solidFill>
            <a:srgbClr val="465057"/>
          </a:solidFill>
          <a:ln w="12700">
            <a:solidFill>
              <a:srgbClr val="465057">
                <a:alpha val="0"/>
              </a:srgbClr>
            </a:solidFill>
            <a:prstDash val="solid"/>
          </a:ln>
        </p:spPr>
      </p:sp>
      <p:sp>
        <p:nvSpPr>
          <p:cNvPr id="45" name="Shape 42"/>
          <p:cNvSpPr/>
          <p:nvPr/>
        </p:nvSpPr>
        <p:spPr>
          <a:xfrm>
            <a:off x="10222992" y="4041648"/>
            <a:ext cx="1371600" cy="841248"/>
          </a:xfrm>
          <a:prstGeom prst="roundRect">
            <a:avLst/>
          </a:prstGeom>
          <a:solidFill>
            <a:srgbClr val="1F2426"/>
          </a:solidFill>
          <a:ln w="8890">
            <a:solidFill>
              <a:srgbClr val="465057"/>
            </a:solidFill>
            <a:prstDash val="solid"/>
          </a:ln>
        </p:spPr>
      </p:sp>
      <p:sp>
        <p:nvSpPr>
          <p:cNvPr id="46" name="Shape 43"/>
          <p:cNvSpPr/>
          <p:nvPr/>
        </p:nvSpPr>
        <p:spPr>
          <a:xfrm>
            <a:off x="10222992" y="4041648"/>
            <a:ext cx="77724" cy="841248"/>
          </a:xfrm>
          <a:prstGeom prst="rect">
            <a:avLst/>
          </a:prstGeom>
          <a:solidFill>
            <a:srgbClr val="465057"/>
          </a:solidFill>
          <a:ln w="6350">
            <a:solidFill>
              <a:srgbClr val="465057"/>
            </a:solidFill>
            <a:prstDash val="solid"/>
          </a:ln>
        </p:spPr>
      </p:sp>
      <p:sp>
        <p:nvSpPr>
          <p:cNvPr id="47" name="Text 44"/>
          <p:cNvSpPr/>
          <p:nvPr/>
        </p:nvSpPr>
        <p:spPr>
          <a:xfrm>
            <a:off x="10387584" y="4224528"/>
            <a:ext cx="1051560" cy="219456"/>
          </a:xfrm>
          <a:prstGeom prst="rect">
            <a:avLst/>
          </a:prstGeom>
          <a:noFill/>
          <a:ln/>
        </p:spPr>
        <p:txBody>
          <a:bodyPr wrap="square" lIns="0" tIns="0" rIns="0" bIns="0" rtlCol="0" anchor="ctr">
            <a:normAutofit/>
          </a:bodyPr>
          <a:lstStyle/>
          <a:p>
            <a:pPr algn="l" indent="0" marL="0">
              <a:buNone/>
            </a:pPr>
            <a:r>
              <a:rPr lang="en-US" sz="880" b="1" dirty="0">
                <a:solidFill>
                  <a:srgbClr val="FFFFFF"/>
                </a:solidFill>
                <a:latin typeface="Aptos" pitchFamily="34" charset="0"/>
                <a:ea typeface="Aptos" pitchFamily="34" charset="-122"/>
                <a:cs typeface="Aptos" pitchFamily="34" charset="-120"/>
              </a:rPr>
              <a:t>Audit</a:t>
            </a:r>
            <a:endParaRPr lang="en-US" sz="880" dirty="0"/>
          </a:p>
        </p:txBody>
      </p:sp>
      <p:sp>
        <p:nvSpPr>
          <p:cNvPr id="48" name="Text 45"/>
          <p:cNvSpPr/>
          <p:nvPr/>
        </p:nvSpPr>
        <p:spPr>
          <a:xfrm>
            <a:off x="10387584" y="4526280"/>
            <a:ext cx="1051560" cy="246888"/>
          </a:xfrm>
          <a:prstGeom prst="rect">
            <a:avLst/>
          </a:prstGeom>
          <a:noFill/>
          <a:ln/>
        </p:spPr>
        <p:txBody>
          <a:bodyPr wrap="square" lIns="0" tIns="0" rIns="0" bIns="0" rtlCol="0" anchor="t">
            <a:normAutofit/>
          </a:bodyPr>
          <a:lstStyle/>
          <a:p>
            <a:pPr algn="l" indent="0" marL="0">
              <a:buNone/>
            </a:pPr>
            <a:r>
              <a:rPr lang="en-US" sz="700" dirty="0">
                <a:solidFill>
                  <a:srgbClr val="AEB9BA"/>
                </a:solidFill>
                <a:latin typeface="Aptos" pitchFamily="34" charset="0"/>
                <a:ea typeface="Aptos" pitchFamily="34" charset="-122"/>
                <a:cs typeface="Aptos" pitchFamily="34" charset="-120"/>
              </a:rPr>
              <a:t>12:00</a:t>
            </a:r>
            <a:endParaRPr lang="en-US" sz="700" dirty="0"/>
          </a:p>
        </p:txBody>
      </p:sp>
      <p:sp>
        <p:nvSpPr>
          <p:cNvPr id="49" name="Text 46"/>
          <p:cNvSpPr/>
          <p:nvPr/>
        </p:nvSpPr>
        <p:spPr>
          <a:xfrm>
            <a:off x="1078992" y="5394960"/>
            <a:ext cx="10012680" cy="137160"/>
          </a:xfrm>
          <a:prstGeom prst="rect">
            <a:avLst/>
          </a:prstGeom>
          <a:noFill/>
          <a:ln/>
        </p:spPr>
        <p:txBody>
          <a:bodyPr wrap="square" lIns="0" tIns="0" rIns="0" bIns="0" rtlCol="0" anchor="ctr">
            <a:normAutofit/>
          </a:bodyPr>
          <a:lstStyle/>
          <a:p>
            <a:pPr algn="ctr" indent="0" marL="0">
              <a:buNone/>
            </a:pPr>
            <a:r>
              <a:rPr lang="en-US" sz="910" b="1" dirty="0">
                <a:solidFill>
                  <a:srgbClr val="AEB9BA"/>
                </a:solidFill>
                <a:latin typeface="Aptos" pitchFamily="34" charset="0"/>
                <a:ea typeface="Aptos" pitchFamily="34" charset="-122"/>
                <a:cs typeface="Aptos" pitchFamily="34" charset="-120"/>
              </a:rPr>
              <a:t>Seed 240725  |  60× accelerated clock  |  every screen synthetic  |  fallback after 10 seconds</a:t>
            </a:r>
            <a:endParaRPr lang="en-US" sz="910" dirty="0"/>
          </a:p>
        </p:txBody>
      </p:sp>
      <p:sp>
        <p:nvSpPr>
          <p:cNvPr id="50" name="Text 47"/>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AEB9BA"/>
                </a:solidFill>
                <a:latin typeface="Aptos" pitchFamily="34" charset="0"/>
                <a:ea typeface="Aptos" pitchFamily="34" charset="-122"/>
                <a:cs typeface="Aptos" pitchFamily="34" charset="-120"/>
              </a:rPr>
              <a:t>Source cue | demo-runbook.md §3–4  •  oral-defense-and-slide-plan.md §3</a:t>
            </a:r>
            <a:endParaRPr lang="en-US" sz="660" dirty="0"/>
          </a:p>
        </p:txBody>
      </p:sp>
      <p:sp>
        <p:nvSpPr>
          <p:cNvPr id="51" name="Shape 48"/>
          <p:cNvSpPr/>
          <p:nvPr/>
        </p:nvSpPr>
        <p:spPr>
          <a:xfrm>
            <a:off x="0" y="6483096"/>
            <a:ext cx="12191695" cy="374904"/>
          </a:xfrm>
          <a:prstGeom prst="rect">
            <a:avLst/>
          </a:prstGeom>
          <a:solidFill>
            <a:srgbClr val="1F2426"/>
          </a:solidFill>
          <a:ln w="6350">
            <a:solidFill>
              <a:srgbClr val="1F2426"/>
            </a:solidFill>
            <a:prstDash val="solid"/>
          </a:ln>
        </p:spPr>
      </p:sp>
      <p:sp>
        <p:nvSpPr>
          <p:cNvPr id="52" name="Shape 49"/>
          <p:cNvSpPr/>
          <p:nvPr/>
        </p:nvSpPr>
        <p:spPr>
          <a:xfrm>
            <a:off x="384048" y="6547104"/>
            <a:ext cx="3547872" cy="182880"/>
          </a:xfrm>
          <a:prstGeom prst="roundRect">
            <a:avLst/>
          </a:prstGeom>
          <a:solidFill>
            <a:srgbClr val="465057"/>
          </a:solidFill>
          <a:ln w="3175">
            <a:solidFill>
              <a:srgbClr val="465057"/>
            </a:solidFill>
            <a:prstDash val="solid"/>
          </a:ln>
        </p:spPr>
      </p:sp>
      <p:sp>
        <p:nvSpPr>
          <p:cNvPr id="53" name="Text 50"/>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DDE4E1"/>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54" name="Text 51"/>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DDE4E1"/>
                </a:solidFill>
                <a:latin typeface="Aptos" pitchFamily="34" charset="0"/>
                <a:ea typeface="Aptos" pitchFamily="34" charset="-122"/>
                <a:cs typeface="Aptos" pitchFamily="34" charset="-120"/>
              </a:rPr>
              <a:t>ORAL DEFENSE  •  20 / 20</a:t>
            </a:r>
            <a:endParaRPr lang="en-US" sz="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7A261C"/>
          </a:solidFill>
          <a:ln w="5080">
            <a:solidFill>
              <a:srgbClr val="7A261C"/>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BACKUP 1</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FAQ BACKUP</a:t>
            </a:r>
            <a:endParaRPr lang="en-US" sz="810" dirty="0"/>
          </a:p>
        </p:txBody>
      </p:sp>
      <p:sp>
        <p:nvSpPr>
          <p:cNvPr id="7" name="Text 5"/>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Are the 14 / 22 / 21 / 8 figures proven?</a:t>
            </a:r>
            <a:endParaRPr lang="en-US" sz="2550" dirty="0"/>
          </a:p>
        </p:txBody>
      </p:sp>
      <p:sp>
        <p:nvSpPr>
          <p:cNvPr id="8" name="Shape 6"/>
          <p:cNvSpPr/>
          <p:nvPr/>
        </p:nvSpPr>
        <p:spPr>
          <a:xfrm>
            <a:off x="457200" y="1188720"/>
            <a:ext cx="1318565" cy="246888"/>
          </a:xfrm>
          <a:prstGeom prst="roundRect">
            <a:avLst/>
          </a:prstGeom>
          <a:solidFill>
            <a:srgbClr val="7A261C"/>
          </a:solidFill>
          <a:ln w="5080">
            <a:solidFill>
              <a:srgbClr val="7A261C"/>
            </a:solidFill>
            <a:prstDash val="solid"/>
          </a:ln>
        </p:spPr>
      </p:sp>
      <p:sp>
        <p:nvSpPr>
          <p:cNvPr id="9" name="Text 7"/>
          <p:cNvSpPr/>
          <p:nvPr/>
        </p:nvSpPr>
        <p:spPr>
          <a:xfrm>
            <a:off x="576072" y="1239012"/>
            <a:ext cx="1080821"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ANSWER DISCIPLINE</a:t>
            </a:r>
            <a:endParaRPr lang="en-US" sz="720" dirty="0"/>
          </a:p>
        </p:txBody>
      </p:sp>
      <p:sp>
        <p:nvSpPr>
          <p:cNvPr id="10" name="Shape 8"/>
          <p:cNvSpPr/>
          <p:nvPr/>
        </p:nvSpPr>
        <p:spPr>
          <a:xfrm>
            <a:off x="502920" y="1783080"/>
            <a:ext cx="5230368" cy="3154680"/>
          </a:xfrm>
          <a:prstGeom prst="roundRect">
            <a:avLst/>
          </a:prstGeom>
          <a:solidFill>
            <a:srgbClr val="F3E9CB"/>
          </a:solidFill>
          <a:ln w="8890">
            <a:solidFill>
              <a:srgbClr val="E3A72F"/>
            </a:solidFill>
            <a:prstDash val="solid"/>
          </a:ln>
        </p:spPr>
      </p:sp>
      <p:sp>
        <p:nvSpPr>
          <p:cNvPr id="11" name="Shape 9"/>
          <p:cNvSpPr/>
          <p:nvPr/>
        </p:nvSpPr>
        <p:spPr>
          <a:xfrm>
            <a:off x="502920" y="1783080"/>
            <a:ext cx="77724" cy="3154680"/>
          </a:xfrm>
          <a:prstGeom prst="rect">
            <a:avLst/>
          </a:prstGeom>
          <a:solidFill>
            <a:srgbClr val="E3A72F"/>
          </a:solidFill>
          <a:ln w="6350">
            <a:solidFill>
              <a:srgbClr val="E3A72F"/>
            </a:solidFill>
            <a:prstDash val="solid"/>
          </a:ln>
        </p:spPr>
      </p:sp>
      <p:sp>
        <p:nvSpPr>
          <p:cNvPr id="12" name="Shape 10"/>
          <p:cNvSpPr/>
          <p:nvPr/>
        </p:nvSpPr>
        <p:spPr>
          <a:xfrm>
            <a:off x="777240" y="2084832"/>
            <a:ext cx="822960" cy="246888"/>
          </a:xfrm>
          <a:prstGeom prst="roundRect">
            <a:avLst/>
          </a:prstGeom>
          <a:solidFill>
            <a:srgbClr val="E3A72F"/>
          </a:solidFill>
          <a:ln w="5080">
            <a:solidFill>
              <a:srgbClr val="E3A72F"/>
            </a:solidFill>
            <a:prstDash val="solid"/>
          </a:ln>
        </p:spPr>
      </p:sp>
      <p:sp>
        <p:nvSpPr>
          <p:cNvPr id="13" name="Text 11"/>
          <p:cNvSpPr/>
          <p:nvPr/>
        </p:nvSpPr>
        <p:spPr>
          <a:xfrm>
            <a:off x="896112" y="2135124"/>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121719"/>
                </a:solidFill>
                <a:latin typeface="Aptos" pitchFamily="34" charset="0"/>
                <a:ea typeface="Aptos" pitchFamily="34" charset="-122"/>
                <a:cs typeface="Aptos" pitchFamily="34" charset="-120"/>
              </a:rPr>
              <a:t>TARGET</a:t>
            </a:r>
            <a:endParaRPr lang="en-US" sz="720" dirty="0"/>
          </a:p>
        </p:txBody>
      </p:sp>
      <p:sp>
        <p:nvSpPr>
          <p:cNvPr id="14" name="Text 12"/>
          <p:cNvSpPr/>
          <p:nvPr/>
        </p:nvSpPr>
        <p:spPr>
          <a:xfrm>
            <a:off x="777240" y="2606040"/>
            <a:ext cx="4434840" cy="402336"/>
          </a:xfrm>
          <a:prstGeom prst="rect">
            <a:avLst/>
          </a:prstGeom>
          <a:noFill/>
          <a:ln/>
        </p:spPr>
        <p:txBody>
          <a:bodyPr wrap="square" lIns="0" tIns="0" rIns="0" bIns="0" rtlCol="0" anchor="ctr">
            <a:normAutofit/>
          </a:bodyPr>
          <a:lstStyle/>
          <a:p>
            <a:pPr algn="l" indent="0" marL="0">
              <a:buNone/>
            </a:pPr>
            <a:r>
              <a:rPr lang="en-US" sz="2100" b="1" dirty="0">
                <a:solidFill>
                  <a:srgbClr val="202729"/>
                </a:solidFill>
                <a:latin typeface="Bahnschrift SemiBold" pitchFamily="34" charset="0"/>
                <a:ea typeface="Bahnschrift SemiBold" pitchFamily="34" charset="-122"/>
                <a:cs typeface="Bahnschrift SemiBold" pitchFamily="34" charset="-120"/>
              </a:rPr>
              <a:t>FALSIFIABLE BUSINESS</a:t>
            </a:r>
            <a:endParaRPr lang="en-US" sz="2100" dirty="0"/>
          </a:p>
          <a:p>
            <a:pPr algn="l" indent="0" marL="0">
              <a:buNone/>
            </a:pPr>
            <a:r>
              <a:rPr lang="en-US" sz="2100" b="1" dirty="0">
                <a:solidFill>
                  <a:srgbClr val="202729"/>
                </a:solidFill>
                <a:latin typeface="Bahnschrift SemiBold" pitchFamily="34" charset="0"/>
                <a:ea typeface="Bahnschrift SemiBold" pitchFamily="34" charset="-122"/>
                <a:cs typeface="Bahnschrift SemiBold" pitchFamily="34" charset="-120"/>
              </a:rPr>
              <a:t>AMBITION</a:t>
            </a:r>
            <a:endParaRPr lang="en-US" sz="2100" dirty="0"/>
          </a:p>
        </p:txBody>
      </p:sp>
      <p:sp>
        <p:nvSpPr>
          <p:cNvPr id="15" name="Text 13"/>
          <p:cNvSpPr/>
          <p:nvPr/>
        </p:nvSpPr>
        <p:spPr>
          <a:xfrm>
            <a:off x="777240" y="3401568"/>
            <a:ext cx="4370832" cy="329184"/>
          </a:xfrm>
          <a:prstGeom prst="rect">
            <a:avLst/>
          </a:prstGeom>
          <a:noFill/>
          <a:ln/>
        </p:spPr>
        <p:txBody>
          <a:bodyPr wrap="square" lIns="0" tIns="0" rIns="0" bIns="0" rtlCol="0" anchor="ctr">
            <a:normAutofit/>
          </a:bodyPr>
          <a:lstStyle/>
          <a:p>
            <a:pPr algn="l" indent="0" marL="0">
              <a:buNone/>
            </a:pPr>
            <a:r>
              <a:rPr lang="en-US" sz="1020" b="1" dirty="0">
                <a:solidFill>
                  <a:srgbClr val="202729"/>
                </a:solidFill>
                <a:latin typeface="Aptos" pitchFamily="34" charset="0"/>
                <a:ea typeface="Aptos" pitchFamily="34" charset="-122"/>
                <a:cs typeface="Aptos" pitchFamily="34" charset="-120"/>
              </a:rPr>
              <a:t>14% energy  •  22% CO₂  •  21-day warning  •  8% yield</a:t>
            </a:r>
            <a:endParaRPr lang="en-US" sz="1020" dirty="0"/>
          </a:p>
          <a:p>
            <a:pPr algn="l" indent="0" marL="0">
              <a:buNone/>
            </a:pPr>
            <a:r>
              <a:rPr lang="en-US" sz="1020" b="1" dirty="0">
                <a:solidFill>
                  <a:srgbClr val="202729"/>
                </a:solidFill>
                <a:latin typeface="Aptos" pitchFamily="34" charset="0"/>
                <a:ea typeface="Aptos" pitchFamily="34" charset="-122"/>
                <a:cs typeface="Aptos" pitchFamily="34" charset="-120"/>
              </a:rPr>
              <a:t>Each has a stated baseline; each must be proven in a one-site pilot.</a:t>
            </a:r>
            <a:endParaRPr lang="en-US" sz="1020" dirty="0"/>
          </a:p>
        </p:txBody>
      </p:sp>
      <p:sp>
        <p:nvSpPr>
          <p:cNvPr id="16" name="Shape 14"/>
          <p:cNvSpPr/>
          <p:nvPr/>
        </p:nvSpPr>
        <p:spPr>
          <a:xfrm>
            <a:off x="6419088" y="1783080"/>
            <a:ext cx="5230368" cy="3154680"/>
          </a:xfrm>
          <a:prstGeom prst="roundRect">
            <a:avLst/>
          </a:prstGeom>
          <a:solidFill>
            <a:srgbClr val="D8ECE7"/>
          </a:solidFill>
          <a:ln w="8890">
            <a:solidFill>
              <a:srgbClr val="147D74"/>
            </a:solidFill>
            <a:prstDash val="solid"/>
          </a:ln>
        </p:spPr>
      </p:sp>
      <p:sp>
        <p:nvSpPr>
          <p:cNvPr id="17" name="Shape 15"/>
          <p:cNvSpPr/>
          <p:nvPr/>
        </p:nvSpPr>
        <p:spPr>
          <a:xfrm>
            <a:off x="6419088" y="1783080"/>
            <a:ext cx="77724" cy="3154680"/>
          </a:xfrm>
          <a:prstGeom prst="rect">
            <a:avLst/>
          </a:prstGeom>
          <a:solidFill>
            <a:srgbClr val="147D74"/>
          </a:solidFill>
          <a:ln w="6350">
            <a:solidFill>
              <a:srgbClr val="147D74"/>
            </a:solidFill>
            <a:prstDash val="solid"/>
          </a:ln>
        </p:spPr>
      </p:sp>
      <p:sp>
        <p:nvSpPr>
          <p:cNvPr id="18" name="Shape 16"/>
          <p:cNvSpPr/>
          <p:nvPr/>
        </p:nvSpPr>
        <p:spPr>
          <a:xfrm>
            <a:off x="6693408" y="2084832"/>
            <a:ext cx="822960" cy="246888"/>
          </a:xfrm>
          <a:prstGeom prst="roundRect">
            <a:avLst/>
          </a:prstGeom>
          <a:solidFill>
            <a:srgbClr val="147D74"/>
          </a:solidFill>
          <a:ln w="5080">
            <a:solidFill>
              <a:srgbClr val="147D74"/>
            </a:solidFill>
            <a:prstDash val="solid"/>
          </a:ln>
        </p:spPr>
      </p:sp>
      <p:sp>
        <p:nvSpPr>
          <p:cNvPr id="19" name="Text 17"/>
          <p:cNvSpPr/>
          <p:nvPr/>
        </p:nvSpPr>
        <p:spPr>
          <a:xfrm>
            <a:off x="6812280" y="2135124"/>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EVIDENCE</a:t>
            </a:r>
            <a:endParaRPr lang="en-US" sz="720" dirty="0"/>
          </a:p>
        </p:txBody>
      </p:sp>
      <p:sp>
        <p:nvSpPr>
          <p:cNvPr id="20" name="Text 18"/>
          <p:cNvSpPr/>
          <p:nvPr/>
        </p:nvSpPr>
        <p:spPr>
          <a:xfrm>
            <a:off x="6693408" y="2606040"/>
            <a:ext cx="4434840" cy="402336"/>
          </a:xfrm>
          <a:prstGeom prst="rect">
            <a:avLst/>
          </a:prstGeom>
          <a:noFill/>
          <a:ln/>
        </p:spPr>
        <p:txBody>
          <a:bodyPr wrap="square" lIns="0" tIns="0" rIns="0" bIns="0" rtlCol="0" anchor="ctr">
            <a:normAutofit/>
          </a:bodyPr>
          <a:lstStyle/>
          <a:p>
            <a:pPr algn="l" indent="0" marL="0">
              <a:buNone/>
            </a:pPr>
            <a:r>
              <a:rPr lang="en-US" sz="2100" b="1" dirty="0">
                <a:solidFill>
                  <a:srgbClr val="202729"/>
                </a:solidFill>
                <a:latin typeface="Bahnschrift SemiBold" pitchFamily="34" charset="0"/>
                <a:ea typeface="Bahnschrift SemiBold" pitchFamily="34" charset="-122"/>
                <a:cs typeface="Bahnschrift SemiBold" pitchFamily="34" charset="-120"/>
              </a:rPr>
              <a:t>REPRODUCIBLE SYNTHETIC</a:t>
            </a:r>
            <a:endParaRPr lang="en-US" sz="2100" dirty="0"/>
          </a:p>
          <a:p>
            <a:pPr algn="l" indent="0" marL="0">
              <a:buNone/>
            </a:pPr>
            <a:r>
              <a:rPr lang="en-US" sz="2100" b="1" dirty="0">
                <a:solidFill>
                  <a:srgbClr val="202729"/>
                </a:solidFill>
                <a:latin typeface="Bahnschrift SemiBold" pitchFamily="34" charset="0"/>
                <a:ea typeface="Bahnschrift SemiBold" pitchFamily="34" charset="-122"/>
                <a:cs typeface="Bahnschrift SemiBold" pitchFamily="34" charset="-120"/>
              </a:rPr>
              <a:t>MECHANICS</a:t>
            </a:r>
            <a:endParaRPr lang="en-US" sz="2100" dirty="0"/>
          </a:p>
        </p:txBody>
      </p:sp>
      <p:sp>
        <p:nvSpPr>
          <p:cNvPr id="21" name="Text 19"/>
          <p:cNvSpPr/>
          <p:nvPr/>
        </p:nvSpPr>
        <p:spPr>
          <a:xfrm>
            <a:off x="6693408" y="3401568"/>
            <a:ext cx="4370832" cy="329184"/>
          </a:xfrm>
          <a:prstGeom prst="rect">
            <a:avLst/>
          </a:prstGeom>
          <a:noFill/>
          <a:ln/>
        </p:spPr>
        <p:txBody>
          <a:bodyPr wrap="square" lIns="0" tIns="0" rIns="0" bIns="0" rtlCol="0" anchor="ctr">
            <a:normAutofit/>
          </a:bodyPr>
          <a:lstStyle/>
          <a:p>
            <a:pPr algn="l" indent="0" marL="0">
              <a:buNone/>
            </a:pPr>
            <a:r>
              <a:rPr lang="en-US" sz="1020" b="1" dirty="0">
                <a:solidFill>
                  <a:srgbClr val="202729"/>
                </a:solidFill>
                <a:latin typeface="Aptos" pitchFamily="34" charset="0"/>
                <a:ea typeface="Aptos" pitchFamily="34" charset="-122"/>
                <a:cs typeface="Aptos" pitchFamily="34" charset="-120"/>
              </a:rPr>
              <a:t>RUL uncertainty • feasible dispatch • quality what-if • audit trail</a:t>
            </a:r>
            <a:endParaRPr lang="en-US" sz="1020" dirty="0"/>
          </a:p>
          <a:p>
            <a:pPr algn="l" indent="0" marL="0">
              <a:buNone/>
            </a:pPr>
            <a:r>
              <a:rPr lang="en-US" sz="1020" b="1" dirty="0">
                <a:solidFill>
                  <a:srgbClr val="202729"/>
                </a:solidFill>
                <a:latin typeface="Aptos" pitchFamily="34" charset="0"/>
                <a:ea typeface="Aptos" pitchFamily="34" charset="-122"/>
                <a:cs typeface="Aptos" pitchFamily="34" charset="-120"/>
              </a:rPr>
              <a:t>The demo proves mechanics—not banked production savings.</a:t>
            </a:r>
            <a:endParaRPr lang="en-US" sz="1020" dirty="0"/>
          </a:p>
        </p:txBody>
      </p:sp>
      <p:sp>
        <p:nvSpPr>
          <p:cNvPr id="22" name="Shape 20"/>
          <p:cNvSpPr/>
          <p:nvPr/>
        </p:nvSpPr>
        <p:spPr>
          <a:xfrm>
            <a:off x="502920" y="5349240"/>
            <a:ext cx="11146536" cy="429768"/>
          </a:xfrm>
          <a:prstGeom prst="roundRect">
            <a:avLst/>
          </a:prstGeom>
          <a:solidFill>
            <a:srgbClr val="1F2426"/>
          </a:solidFill>
          <a:ln w="6350">
            <a:solidFill>
              <a:srgbClr val="1F2426"/>
            </a:solidFill>
            <a:prstDash val="solid"/>
          </a:ln>
        </p:spPr>
      </p:sp>
      <p:sp>
        <p:nvSpPr>
          <p:cNvPr id="23" name="Text 21"/>
          <p:cNvSpPr/>
          <p:nvPr/>
        </p:nvSpPr>
        <p:spPr>
          <a:xfrm>
            <a:off x="822960" y="5513832"/>
            <a:ext cx="10515600" cy="109728"/>
          </a:xfrm>
          <a:prstGeom prst="rect">
            <a:avLst/>
          </a:prstGeom>
          <a:noFill/>
          <a:ln/>
        </p:spPr>
        <p:txBody>
          <a:bodyPr wrap="square" lIns="0" tIns="0" rIns="0" bIns="0" rtlCol="0" anchor="ctr">
            <a:normAutofit/>
          </a:bodyPr>
          <a:lstStyle/>
          <a:p>
            <a:pPr algn="ctr" indent="0" marL="0">
              <a:buNone/>
            </a:pPr>
            <a:r>
              <a:rPr lang="en-US" sz="930" b="1" dirty="0">
                <a:solidFill>
                  <a:srgbClr val="FFFFFF"/>
                </a:solidFill>
                <a:latin typeface="Aptos" pitchFamily="34" charset="0"/>
                <a:ea typeface="Aptos" pitchFamily="34" charset="-122"/>
                <a:cs typeface="Aptos" pitchFamily="34" charset="-120"/>
              </a:rPr>
              <a:t>FAQ answer: “That is a validation gate, not a claim.” The audit ledger turns a target into a measured outcome.</a:t>
            </a:r>
            <a:endParaRPr lang="en-US" sz="930" dirty="0"/>
          </a:p>
        </p:txBody>
      </p:sp>
      <p:sp>
        <p:nvSpPr>
          <p:cNvPr id="24" name="Text 22"/>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FAQ A | faq.md Q1–Q4  •  oral-defense-and-slide-plan.md §6</a:t>
            </a:r>
            <a:endParaRPr lang="en-US" sz="660" dirty="0"/>
          </a:p>
        </p:txBody>
      </p:sp>
      <p:sp>
        <p:nvSpPr>
          <p:cNvPr id="25" name="Shape 23"/>
          <p:cNvSpPr/>
          <p:nvPr/>
        </p:nvSpPr>
        <p:spPr>
          <a:xfrm>
            <a:off x="0" y="6483096"/>
            <a:ext cx="12191695" cy="374904"/>
          </a:xfrm>
          <a:prstGeom prst="rect">
            <a:avLst/>
          </a:prstGeom>
          <a:solidFill>
            <a:srgbClr val="E9E7E1"/>
          </a:solidFill>
          <a:ln w="6350">
            <a:solidFill>
              <a:srgbClr val="E9E7E1"/>
            </a:solidFill>
            <a:prstDash val="solid"/>
          </a:ln>
        </p:spPr>
      </p:sp>
      <p:sp>
        <p:nvSpPr>
          <p:cNvPr id="26" name="Shape 24"/>
          <p:cNvSpPr/>
          <p:nvPr/>
        </p:nvSpPr>
        <p:spPr>
          <a:xfrm>
            <a:off x="384048" y="6547104"/>
            <a:ext cx="3547872" cy="182880"/>
          </a:xfrm>
          <a:prstGeom prst="roundRect">
            <a:avLst/>
          </a:prstGeom>
          <a:solidFill>
            <a:srgbClr val="FFFFFF"/>
          </a:solidFill>
          <a:ln w="3175">
            <a:solidFill>
              <a:srgbClr val="DDE4E1"/>
            </a:solidFill>
            <a:prstDash val="solid"/>
          </a:ln>
        </p:spPr>
      </p:sp>
      <p:sp>
        <p:nvSpPr>
          <p:cNvPr id="27" name="Text 25"/>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28" name="Text 26"/>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FAQ &amp; VALIDATION BACKUP  •  01 / 08</a:t>
            </a:r>
            <a:endParaRPr lang="en-US" sz="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719"/>
        </a:solidFill>
      </p:bgPr>
    </p:bg>
    <p:spTree>
      <p:nvGrpSpPr>
        <p:cNvPr id="1" name=""/>
        <p:cNvGrpSpPr/>
        <p:nvPr/>
      </p:nvGrpSpPr>
      <p:grpSpPr>
        <a:xfrm>
          <a:off x="0" y="0"/>
          <a:ext cx="0" cy="0"/>
          <a:chOff x="0" y="0"/>
          <a:chExt cx="0" cy="0"/>
        </a:xfrm>
      </p:grpSpPr>
      <p:pic>
        <p:nvPicPr>
          <p:cNvPr id="2" name="Image 0" descr="D:\work\20260724 - Novasteel 3\tools\presentation\assets\steel-texture.png">    </p:cNvPr>
          <p:cNvPicPr>
            <a:picLocks noChangeAspect="1"/>
          </p:cNvPicPr>
          <p:nvPr/>
        </p:nvPicPr>
        <p:blipFill>
          <a:blip r:embed="rId1">
            <a:alphaModFix amt="34000"/>
          </a:blip>
          <a:stretch>
            <a:fillRect/>
          </a:stretch>
        </p:blipFill>
        <p:spPr>
          <a:xfrm>
            <a:off x="0" y="0"/>
            <a:ext cx="12191695" cy="6858000"/>
          </a:xfrm>
          <a:prstGeom prst="rect">
            <a:avLst/>
          </a:prstGeom>
        </p:spPr>
      </p:pic>
      <p:sp>
        <p:nvSpPr>
          <p:cNvPr id="3" name="Shape 0"/>
          <p:cNvSpPr/>
          <p:nvPr/>
        </p:nvSpPr>
        <p:spPr>
          <a:xfrm>
            <a:off x="457200" y="274320"/>
            <a:ext cx="822960" cy="246888"/>
          </a:xfrm>
          <a:prstGeom prst="roundRect">
            <a:avLst/>
          </a:prstGeom>
          <a:solidFill>
            <a:srgbClr val="7A261C"/>
          </a:solidFill>
          <a:ln w="5080">
            <a:solidFill>
              <a:srgbClr val="7A261C"/>
            </a:solidFill>
            <a:prstDash val="solid"/>
          </a:ln>
        </p:spPr>
      </p:sp>
      <p:sp>
        <p:nvSpPr>
          <p:cNvPr id="4" name="Text 1"/>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BACKUP 2</a:t>
            </a:r>
            <a:endParaRPr lang="en-US" sz="720" dirty="0"/>
          </a:p>
        </p:txBody>
      </p:sp>
      <p:sp>
        <p:nvSpPr>
          <p:cNvPr id="5" name="Text 2"/>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AEB9BA"/>
                </a:solidFill>
                <a:latin typeface="Aptos" pitchFamily="34" charset="0"/>
                <a:ea typeface="Aptos" pitchFamily="34" charset="-122"/>
                <a:cs typeface="Aptos" pitchFamily="34" charset="-120"/>
              </a:rPr>
              <a:t>FAQ BACKUP</a:t>
            </a:r>
            <a:endParaRPr lang="en-US" sz="810" dirty="0"/>
          </a:p>
        </p:txBody>
      </p:sp>
      <p:sp>
        <p:nvSpPr>
          <p:cNvPr id="6" name="Text 3"/>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FFFFFF"/>
                </a:solidFill>
                <a:latin typeface="Bahnschrift SemiBold" pitchFamily="34" charset="0"/>
                <a:ea typeface="Bahnschrift SemiBold" pitchFamily="34" charset="-122"/>
                <a:cs typeface="Bahnschrift SemiBold" pitchFamily="34" charset="-120"/>
              </a:rPr>
              <a:t>Why Fabric — and why not a parallel lake, Databricks, or Snowflake?</a:t>
            </a:r>
            <a:endParaRPr lang="en-US" sz="2550" dirty="0"/>
          </a:p>
        </p:txBody>
      </p:sp>
      <p:sp>
        <p:nvSpPr>
          <p:cNvPr id="7" name="Shape 4"/>
          <p:cNvSpPr/>
          <p:nvPr/>
        </p:nvSpPr>
        <p:spPr>
          <a:xfrm>
            <a:off x="457200" y="1188720"/>
            <a:ext cx="1318565" cy="246888"/>
          </a:xfrm>
          <a:prstGeom prst="roundRect">
            <a:avLst/>
          </a:prstGeom>
          <a:solidFill>
            <a:srgbClr val="7A261C"/>
          </a:solidFill>
          <a:ln w="5080">
            <a:solidFill>
              <a:srgbClr val="7A261C"/>
            </a:solidFill>
            <a:prstDash val="solid"/>
          </a:ln>
        </p:spPr>
      </p:sp>
      <p:sp>
        <p:nvSpPr>
          <p:cNvPr id="8" name="Text 5"/>
          <p:cNvSpPr/>
          <p:nvPr/>
        </p:nvSpPr>
        <p:spPr>
          <a:xfrm>
            <a:off x="576072" y="1239012"/>
            <a:ext cx="1080821"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ADR-001 / ADR-002</a:t>
            </a:r>
            <a:endParaRPr lang="en-US" sz="720" dirty="0"/>
          </a:p>
        </p:txBody>
      </p:sp>
      <p:sp>
        <p:nvSpPr>
          <p:cNvPr id="9" name="Shape 6"/>
          <p:cNvSpPr/>
          <p:nvPr/>
        </p:nvSpPr>
        <p:spPr>
          <a:xfrm>
            <a:off x="640080" y="1874520"/>
            <a:ext cx="3200400" cy="2103120"/>
          </a:xfrm>
          <a:prstGeom prst="roundRect">
            <a:avLst/>
          </a:prstGeom>
          <a:solidFill>
            <a:srgbClr val="1F2426"/>
          </a:solidFill>
          <a:ln w="12700">
            <a:solidFill>
              <a:srgbClr val="B64A2D"/>
            </a:solidFill>
            <a:prstDash val="solid"/>
          </a:ln>
        </p:spPr>
      </p:sp>
      <p:sp>
        <p:nvSpPr>
          <p:cNvPr id="10" name="Shape 7"/>
          <p:cNvSpPr/>
          <p:nvPr/>
        </p:nvSpPr>
        <p:spPr>
          <a:xfrm>
            <a:off x="640080" y="1874520"/>
            <a:ext cx="77724" cy="2103120"/>
          </a:xfrm>
          <a:prstGeom prst="rect">
            <a:avLst/>
          </a:prstGeom>
          <a:solidFill>
            <a:srgbClr val="B64A2D"/>
          </a:solidFill>
          <a:ln w="6350">
            <a:solidFill>
              <a:srgbClr val="B64A2D"/>
            </a:solidFill>
            <a:prstDash val="solid"/>
          </a:ln>
        </p:spPr>
      </p:sp>
      <p:sp>
        <p:nvSpPr>
          <p:cNvPr id="11" name="Text 8"/>
          <p:cNvSpPr/>
          <p:nvPr/>
        </p:nvSpPr>
        <p:spPr>
          <a:xfrm>
            <a:off x="868680" y="2331720"/>
            <a:ext cx="2697480" cy="15544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Bahnschrift SemiBold" pitchFamily="34" charset="0"/>
                <a:ea typeface="Bahnschrift SemiBold" pitchFamily="34" charset="-122"/>
                <a:cs typeface="Bahnschrift SemiBold" pitchFamily="34" charset="-120"/>
              </a:rPr>
              <a:t>HOT CLOCK</a:t>
            </a:r>
            <a:endParaRPr lang="en-US" sz="1300" dirty="0"/>
          </a:p>
        </p:txBody>
      </p:sp>
      <p:sp>
        <p:nvSpPr>
          <p:cNvPr id="12" name="Text 9"/>
          <p:cNvSpPr/>
          <p:nvPr/>
        </p:nvSpPr>
        <p:spPr>
          <a:xfrm>
            <a:off x="868680" y="2953512"/>
            <a:ext cx="2697480" cy="365760"/>
          </a:xfrm>
          <a:prstGeom prst="rect">
            <a:avLst/>
          </a:prstGeom>
          <a:noFill/>
          <a:ln/>
        </p:spPr>
        <p:txBody>
          <a:bodyPr wrap="square" lIns="0" tIns="0" rIns="0" bIns="0" rtlCol="0" anchor="ctr">
            <a:normAutofit/>
          </a:bodyPr>
          <a:lstStyle/>
          <a:p>
            <a:pPr algn="ctr" indent="0" marL="0">
              <a:buNone/>
            </a:pPr>
            <a:r>
              <a:rPr lang="en-US" sz="900" b="1" dirty="0">
                <a:solidFill>
                  <a:srgbClr val="AEB9BA"/>
                </a:solidFill>
                <a:latin typeface="Aptos" pitchFamily="34" charset="0"/>
                <a:ea typeface="Aptos" pitchFamily="34" charset="-122"/>
                <a:cs typeface="Aptos" pitchFamily="34" charset="-120"/>
              </a:rPr>
              <a:t>Eventstream + Eventhouse/KQL</a:t>
            </a:r>
            <a:endParaRPr lang="en-US" sz="900" dirty="0"/>
          </a:p>
          <a:p>
            <a:pPr algn="ctr" indent="0" marL="0">
              <a:buNone/>
            </a:pPr>
            <a:r>
              <a:rPr lang="en-US" sz="900" b="1" dirty="0">
                <a:solidFill>
                  <a:srgbClr val="AEB9BA"/>
                </a:solidFill>
                <a:latin typeface="Aptos" pitchFamily="34" charset="0"/>
                <a:ea typeface="Aptos" pitchFamily="34" charset="-122"/>
                <a:cs typeface="Aptos" pitchFamily="34" charset="-120"/>
              </a:rPr>
              <a:t>fresh operations, alarms, investigation</a:t>
            </a:r>
            <a:endParaRPr lang="en-US" sz="900" dirty="0"/>
          </a:p>
        </p:txBody>
      </p:sp>
      <p:sp>
        <p:nvSpPr>
          <p:cNvPr id="13" name="Shape 10"/>
          <p:cNvSpPr/>
          <p:nvPr/>
        </p:nvSpPr>
        <p:spPr>
          <a:xfrm>
            <a:off x="4389120" y="1874520"/>
            <a:ext cx="3200400" cy="2103120"/>
          </a:xfrm>
          <a:prstGeom prst="roundRect">
            <a:avLst/>
          </a:prstGeom>
          <a:solidFill>
            <a:srgbClr val="1F2426"/>
          </a:solidFill>
          <a:ln w="12700">
            <a:solidFill>
              <a:srgbClr val="147D74"/>
            </a:solidFill>
            <a:prstDash val="solid"/>
          </a:ln>
        </p:spPr>
      </p:sp>
      <p:sp>
        <p:nvSpPr>
          <p:cNvPr id="14" name="Shape 11"/>
          <p:cNvSpPr/>
          <p:nvPr/>
        </p:nvSpPr>
        <p:spPr>
          <a:xfrm>
            <a:off x="4389120" y="1874520"/>
            <a:ext cx="77724" cy="2103120"/>
          </a:xfrm>
          <a:prstGeom prst="rect">
            <a:avLst/>
          </a:prstGeom>
          <a:solidFill>
            <a:srgbClr val="147D74"/>
          </a:solidFill>
          <a:ln w="6350">
            <a:solidFill>
              <a:srgbClr val="147D74"/>
            </a:solidFill>
            <a:prstDash val="solid"/>
          </a:ln>
        </p:spPr>
      </p:sp>
      <p:sp>
        <p:nvSpPr>
          <p:cNvPr id="15" name="Text 12"/>
          <p:cNvSpPr/>
          <p:nvPr/>
        </p:nvSpPr>
        <p:spPr>
          <a:xfrm>
            <a:off x="4617720" y="2331720"/>
            <a:ext cx="2697480" cy="15544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Bahnschrift SemiBold" pitchFamily="34" charset="0"/>
                <a:ea typeface="Bahnschrift SemiBold" pitchFamily="34" charset="-122"/>
                <a:cs typeface="Bahnschrift SemiBold" pitchFamily="34" charset="-120"/>
              </a:rPr>
              <a:t>GOVERNED CLOCK</a:t>
            </a:r>
            <a:endParaRPr lang="en-US" sz="1300" dirty="0"/>
          </a:p>
        </p:txBody>
      </p:sp>
      <p:sp>
        <p:nvSpPr>
          <p:cNvPr id="16" name="Text 13"/>
          <p:cNvSpPr/>
          <p:nvPr/>
        </p:nvSpPr>
        <p:spPr>
          <a:xfrm>
            <a:off x="4617720" y="2953512"/>
            <a:ext cx="2697480" cy="365760"/>
          </a:xfrm>
          <a:prstGeom prst="rect">
            <a:avLst/>
          </a:prstGeom>
          <a:noFill/>
          <a:ln/>
        </p:spPr>
        <p:txBody>
          <a:bodyPr wrap="square" lIns="0" tIns="0" rIns="0" bIns="0" rtlCol="0" anchor="ctr">
            <a:normAutofit/>
          </a:bodyPr>
          <a:lstStyle/>
          <a:p>
            <a:pPr algn="ctr" indent="0" marL="0">
              <a:buNone/>
            </a:pPr>
            <a:r>
              <a:rPr lang="en-US" sz="900" b="1" dirty="0">
                <a:solidFill>
                  <a:srgbClr val="AEB9BA"/>
                </a:solidFill>
                <a:latin typeface="Aptos" pitchFamily="34" charset="0"/>
                <a:ea typeface="Aptos" pitchFamily="34" charset="-122"/>
                <a:cs typeface="Aptos" pitchFamily="34" charset="-120"/>
              </a:rPr>
              <a:t>OneLake bronze → silver → gold</a:t>
            </a:r>
            <a:endParaRPr lang="en-US" sz="900" dirty="0"/>
          </a:p>
          <a:p>
            <a:pPr algn="ctr" indent="0" marL="0">
              <a:buNone/>
            </a:pPr>
            <a:r>
              <a:rPr lang="en-US" sz="900" b="1" dirty="0">
                <a:solidFill>
                  <a:srgbClr val="AEB9BA"/>
                </a:solidFill>
                <a:latin typeface="Aptos" pitchFamily="34" charset="0"/>
                <a:ea typeface="Aptos" pitchFamily="34" charset="-122"/>
                <a:cs typeface="Aptos" pitchFamily="34" charset="-120"/>
              </a:rPr>
              <a:t>history, lineage, training, KPIs</a:t>
            </a:r>
            <a:endParaRPr lang="en-US" sz="900" dirty="0"/>
          </a:p>
        </p:txBody>
      </p:sp>
      <p:sp>
        <p:nvSpPr>
          <p:cNvPr id="17" name="Shape 14"/>
          <p:cNvSpPr/>
          <p:nvPr/>
        </p:nvSpPr>
        <p:spPr>
          <a:xfrm>
            <a:off x="8138160" y="1874520"/>
            <a:ext cx="3200400" cy="2103120"/>
          </a:xfrm>
          <a:prstGeom prst="roundRect">
            <a:avLst/>
          </a:prstGeom>
          <a:solidFill>
            <a:srgbClr val="1F2426"/>
          </a:solidFill>
          <a:ln w="12700">
            <a:solidFill>
              <a:srgbClr val="E3A72F"/>
            </a:solidFill>
            <a:prstDash val="solid"/>
          </a:ln>
        </p:spPr>
      </p:sp>
      <p:sp>
        <p:nvSpPr>
          <p:cNvPr id="18" name="Shape 15"/>
          <p:cNvSpPr/>
          <p:nvPr/>
        </p:nvSpPr>
        <p:spPr>
          <a:xfrm>
            <a:off x="8138160" y="1874520"/>
            <a:ext cx="77724" cy="2103120"/>
          </a:xfrm>
          <a:prstGeom prst="rect">
            <a:avLst/>
          </a:prstGeom>
          <a:solidFill>
            <a:srgbClr val="E3A72F"/>
          </a:solidFill>
          <a:ln w="6350">
            <a:solidFill>
              <a:srgbClr val="E3A72F"/>
            </a:solidFill>
            <a:prstDash val="solid"/>
          </a:ln>
        </p:spPr>
      </p:sp>
      <p:sp>
        <p:nvSpPr>
          <p:cNvPr id="19" name="Text 16"/>
          <p:cNvSpPr/>
          <p:nvPr/>
        </p:nvSpPr>
        <p:spPr>
          <a:xfrm>
            <a:off x="8366760" y="2331720"/>
            <a:ext cx="2697480" cy="15544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Bahnschrift SemiBold" pitchFamily="34" charset="0"/>
                <a:ea typeface="Bahnschrift SemiBold" pitchFamily="34" charset="-122"/>
                <a:cs typeface="Bahnschrift SemiBold" pitchFamily="34" charset="-120"/>
              </a:rPr>
              <a:t>ONE SEMANTIC TRUTH</a:t>
            </a:r>
            <a:endParaRPr lang="en-US" sz="1300" dirty="0"/>
          </a:p>
        </p:txBody>
      </p:sp>
      <p:sp>
        <p:nvSpPr>
          <p:cNvPr id="20" name="Text 17"/>
          <p:cNvSpPr/>
          <p:nvPr/>
        </p:nvSpPr>
        <p:spPr>
          <a:xfrm>
            <a:off x="8366760" y="2953512"/>
            <a:ext cx="2697480" cy="365760"/>
          </a:xfrm>
          <a:prstGeom prst="rect">
            <a:avLst/>
          </a:prstGeom>
          <a:noFill/>
          <a:ln/>
        </p:spPr>
        <p:txBody>
          <a:bodyPr wrap="square" lIns="0" tIns="0" rIns="0" bIns="0" rtlCol="0" anchor="ctr">
            <a:normAutofit/>
          </a:bodyPr>
          <a:lstStyle/>
          <a:p>
            <a:pPr algn="ctr" indent="0" marL="0">
              <a:buNone/>
            </a:pPr>
            <a:r>
              <a:rPr lang="en-US" sz="900" b="1" dirty="0">
                <a:solidFill>
                  <a:srgbClr val="AEB9BA"/>
                </a:solidFill>
                <a:latin typeface="Aptos" pitchFamily="34" charset="0"/>
                <a:ea typeface="Aptos" pitchFamily="34" charset="-122"/>
                <a:cs typeface="Aptos" pitchFamily="34" charset="-120"/>
              </a:rPr>
              <a:t>Direct Lake + Power BI</a:t>
            </a:r>
            <a:endParaRPr lang="en-US" sz="900" dirty="0"/>
          </a:p>
          <a:p>
            <a:pPr algn="ctr" indent="0" marL="0">
              <a:buNone/>
            </a:pPr>
            <a:r>
              <a:rPr lang="en-US" sz="900" b="1" dirty="0">
                <a:solidFill>
                  <a:srgbClr val="AEB9BA"/>
                </a:solidFill>
                <a:latin typeface="Aptos" pitchFamily="34" charset="0"/>
                <a:ea typeface="Aptos" pitchFamily="34" charset="-122"/>
                <a:cs typeface="Aptos" pitchFamily="34" charset="-120"/>
              </a:rPr>
              <a:t>no copied KPI definition</a:t>
            </a:r>
            <a:endParaRPr lang="en-US" sz="900" dirty="0"/>
          </a:p>
        </p:txBody>
      </p:sp>
      <p:sp>
        <p:nvSpPr>
          <p:cNvPr id="21" name="Shape 18"/>
          <p:cNvSpPr/>
          <p:nvPr/>
        </p:nvSpPr>
        <p:spPr>
          <a:xfrm>
            <a:off x="2194560" y="4389120"/>
            <a:ext cx="7699248" cy="0"/>
          </a:xfrm>
          <a:prstGeom prst="line">
            <a:avLst/>
          </a:prstGeom>
          <a:noFill/>
          <a:ln w="15240">
            <a:solidFill>
              <a:srgbClr val="465057"/>
            </a:solidFill>
            <a:prstDash val="solid"/>
          </a:ln>
        </p:spPr>
      </p:sp>
      <p:sp>
        <p:nvSpPr>
          <p:cNvPr id="22" name="Text 19"/>
          <p:cNvSpPr/>
          <p:nvPr/>
        </p:nvSpPr>
        <p:spPr>
          <a:xfrm>
            <a:off x="1371600" y="4709160"/>
            <a:ext cx="9509760" cy="173736"/>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One governed estate gives fewer copies, fewer trust boundaries, and one lineage graph for audit.</a:t>
            </a:r>
            <a:endParaRPr lang="en-US" sz="1300" dirty="0"/>
          </a:p>
        </p:txBody>
      </p:sp>
      <p:sp>
        <p:nvSpPr>
          <p:cNvPr id="23" name="Text 20"/>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AEB9BA"/>
                </a:solidFill>
                <a:latin typeface="Aptos" pitchFamily="34" charset="0"/>
                <a:ea typeface="Aptos" pitchFamily="34" charset="-122"/>
                <a:cs typeface="Aptos" pitchFamily="34" charset="-120"/>
              </a:rPr>
              <a:t>FAQ B/C | faq.md Q6–Q14  •  solution-architecture.md ADR-001/002</a:t>
            </a:r>
            <a:endParaRPr lang="en-US" sz="660" dirty="0"/>
          </a:p>
        </p:txBody>
      </p:sp>
      <p:sp>
        <p:nvSpPr>
          <p:cNvPr id="24" name="Shape 21"/>
          <p:cNvSpPr/>
          <p:nvPr/>
        </p:nvSpPr>
        <p:spPr>
          <a:xfrm>
            <a:off x="0" y="6483096"/>
            <a:ext cx="12191695" cy="374904"/>
          </a:xfrm>
          <a:prstGeom prst="rect">
            <a:avLst/>
          </a:prstGeom>
          <a:solidFill>
            <a:srgbClr val="1F2426"/>
          </a:solidFill>
          <a:ln w="6350">
            <a:solidFill>
              <a:srgbClr val="1F2426"/>
            </a:solidFill>
            <a:prstDash val="solid"/>
          </a:ln>
        </p:spPr>
      </p:sp>
      <p:sp>
        <p:nvSpPr>
          <p:cNvPr id="25" name="Shape 22"/>
          <p:cNvSpPr/>
          <p:nvPr/>
        </p:nvSpPr>
        <p:spPr>
          <a:xfrm>
            <a:off x="384048" y="6547104"/>
            <a:ext cx="3547872" cy="182880"/>
          </a:xfrm>
          <a:prstGeom prst="roundRect">
            <a:avLst/>
          </a:prstGeom>
          <a:solidFill>
            <a:srgbClr val="465057"/>
          </a:solidFill>
          <a:ln w="3175">
            <a:solidFill>
              <a:srgbClr val="465057"/>
            </a:solidFill>
            <a:prstDash val="solid"/>
          </a:ln>
        </p:spPr>
      </p:sp>
      <p:sp>
        <p:nvSpPr>
          <p:cNvPr id="26" name="Text 23"/>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DDE4E1"/>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27" name="Text 24"/>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DDE4E1"/>
                </a:solidFill>
                <a:latin typeface="Aptos" pitchFamily="34" charset="0"/>
                <a:ea typeface="Aptos" pitchFamily="34" charset="-122"/>
                <a:cs typeface="Aptos" pitchFamily="34" charset="-120"/>
              </a:rPr>
              <a:t>FAQ &amp; VALIDATION BACKUP  •  02 / 08</a:t>
            </a:r>
            <a:endParaRPr lang="en-US" sz="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7A261C"/>
          </a:solidFill>
          <a:ln w="5080">
            <a:solidFill>
              <a:srgbClr val="7A261C"/>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BACKUP 3</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FAQ BACKUP</a:t>
            </a:r>
            <a:endParaRPr lang="en-US" sz="810" dirty="0"/>
          </a:p>
        </p:txBody>
      </p:sp>
      <p:sp>
        <p:nvSpPr>
          <p:cNvPr id="7" name="Text 5"/>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Where is data processed — and what remains a validation gate?</a:t>
            </a:r>
            <a:endParaRPr lang="en-US" sz="2550" dirty="0"/>
          </a:p>
        </p:txBody>
      </p:sp>
      <p:sp>
        <p:nvSpPr>
          <p:cNvPr id="8" name="Shape 6"/>
          <p:cNvSpPr/>
          <p:nvPr/>
        </p:nvSpPr>
        <p:spPr>
          <a:xfrm>
            <a:off x="457200" y="1188720"/>
            <a:ext cx="1439266" cy="246888"/>
          </a:xfrm>
          <a:prstGeom prst="roundRect">
            <a:avLst/>
          </a:prstGeom>
          <a:solidFill>
            <a:srgbClr val="7A261C"/>
          </a:solidFill>
          <a:ln w="5080">
            <a:solidFill>
              <a:srgbClr val="7A261C"/>
            </a:solidFill>
            <a:prstDash val="solid"/>
          </a:ln>
        </p:spPr>
      </p:sp>
      <p:sp>
        <p:nvSpPr>
          <p:cNvPr id="9" name="Text 7"/>
          <p:cNvSpPr/>
          <p:nvPr/>
        </p:nvSpPr>
        <p:spPr>
          <a:xfrm>
            <a:off x="576072" y="1239012"/>
            <a:ext cx="1201522"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REGIONS + RESIDENCY</a:t>
            </a:r>
            <a:endParaRPr lang="en-US" sz="720" dirty="0"/>
          </a:p>
        </p:txBody>
      </p:sp>
      <p:sp>
        <p:nvSpPr>
          <p:cNvPr id="10" name="Shape 8"/>
          <p:cNvSpPr/>
          <p:nvPr/>
        </p:nvSpPr>
        <p:spPr>
          <a:xfrm>
            <a:off x="548640" y="1783080"/>
            <a:ext cx="5138928" cy="1417320"/>
          </a:xfrm>
          <a:prstGeom prst="roundRect">
            <a:avLst/>
          </a:prstGeom>
          <a:solidFill>
            <a:srgbClr val="FFFFFF"/>
          </a:solidFill>
          <a:ln w="8890">
            <a:solidFill>
              <a:srgbClr val="DDE4E1"/>
            </a:solidFill>
            <a:prstDash val="solid"/>
          </a:ln>
        </p:spPr>
      </p:sp>
      <p:sp>
        <p:nvSpPr>
          <p:cNvPr id="11" name="Shape 9"/>
          <p:cNvSpPr/>
          <p:nvPr/>
        </p:nvSpPr>
        <p:spPr>
          <a:xfrm>
            <a:off x="548640" y="1783080"/>
            <a:ext cx="77724" cy="1417320"/>
          </a:xfrm>
          <a:prstGeom prst="rect">
            <a:avLst/>
          </a:prstGeom>
          <a:solidFill>
            <a:srgbClr val="147D74"/>
          </a:solidFill>
          <a:ln w="6350">
            <a:solidFill>
              <a:srgbClr val="147D74"/>
            </a:solidFill>
            <a:prstDash val="solid"/>
          </a:ln>
        </p:spPr>
      </p:sp>
      <p:sp>
        <p:nvSpPr>
          <p:cNvPr id="12" name="Shape 10"/>
          <p:cNvSpPr/>
          <p:nvPr/>
        </p:nvSpPr>
        <p:spPr>
          <a:xfrm>
            <a:off x="804672" y="2194560"/>
            <a:ext cx="475488" cy="475488"/>
          </a:xfrm>
          <a:prstGeom prst="ellipse">
            <a:avLst/>
          </a:prstGeom>
          <a:solidFill>
            <a:srgbClr val="147D74"/>
          </a:solidFill>
          <a:ln w="6350">
            <a:solidFill>
              <a:srgbClr val="147D74"/>
            </a:solidFill>
            <a:prstDash val="solid"/>
          </a:ln>
        </p:spPr>
      </p:sp>
      <p:sp>
        <p:nvSpPr>
          <p:cNvPr id="13" name="Text 11"/>
          <p:cNvSpPr/>
          <p:nvPr/>
        </p:nvSpPr>
        <p:spPr>
          <a:xfrm>
            <a:off x="804672" y="2350008"/>
            <a:ext cx="475488" cy="64008"/>
          </a:xfrm>
          <a:prstGeom prst="rect">
            <a:avLst/>
          </a:prstGeom>
          <a:noFill/>
          <a:ln/>
        </p:spPr>
        <p:txBody>
          <a:bodyPr wrap="square" lIns="0" tIns="0" rIns="0" bIns="0"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1</a:t>
            </a:r>
            <a:endParaRPr lang="en-US" sz="720" dirty="0"/>
          </a:p>
        </p:txBody>
      </p:sp>
      <p:sp>
        <p:nvSpPr>
          <p:cNvPr id="14" name="Text 12"/>
          <p:cNvSpPr/>
          <p:nvPr/>
        </p:nvSpPr>
        <p:spPr>
          <a:xfrm>
            <a:off x="1490472" y="2103120"/>
            <a:ext cx="3611880" cy="164592"/>
          </a:xfrm>
          <a:prstGeom prst="rect">
            <a:avLst/>
          </a:prstGeom>
          <a:noFill/>
          <a:ln/>
        </p:spPr>
        <p:txBody>
          <a:bodyPr wrap="square" lIns="0" tIns="0" rIns="0" bIns="0" rtlCol="0" anchor="ctr">
            <a:normAutofit/>
          </a:bodyPr>
          <a:lstStyle/>
          <a:p>
            <a:pPr algn="l" indent="0" marL="0">
              <a:buNone/>
            </a:pPr>
            <a:r>
              <a:rPr lang="en-US" sz="1250" b="1" dirty="0">
                <a:solidFill>
                  <a:srgbClr val="202729"/>
                </a:solidFill>
                <a:latin typeface="Bahnschrift SemiBold" pitchFamily="34" charset="0"/>
                <a:ea typeface="Bahnschrift SemiBold" pitchFamily="34" charset="-122"/>
                <a:cs typeface="Bahnschrift SemiBold" pitchFamily="34" charset="-120"/>
              </a:rPr>
              <a:t>Sweden Central</a:t>
            </a:r>
            <a:endParaRPr lang="en-US" sz="1250" dirty="0"/>
          </a:p>
        </p:txBody>
      </p:sp>
      <p:sp>
        <p:nvSpPr>
          <p:cNvPr id="15" name="Text 13"/>
          <p:cNvSpPr/>
          <p:nvPr/>
        </p:nvSpPr>
        <p:spPr>
          <a:xfrm>
            <a:off x="1490472" y="2496312"/>
            <a:ext cx="3611880" cy="228600"/>
          </a:xfrm>
          <a:prstGeom prst="rect">
            <a:avLst/>
          </a:prstGeom>
          <a:noFill/>
          <a:ln/>
        </p:spPr>
        <p:txBody>
          <a:bodyPr wrap="square" lIns="0" tIns="0" rIns="0" bIns="0" rtlCol="0" anchor="ctr">
            <a:normAutofit/>
          </a:bodyPr>
          <a:lstStyle/>
          <a:p>
            <a:pPr algn="l" indent="0" marL="0">
              <a:buNone/>
            </a:pPr>
            <a:r>
              <a:rPr lang="en-US" sz="820" b="1" dirty="0">
                <a:solidFill>
                  <a:srgbClr val="687373"/>
                </a:solidFill>
                <a:latin typeface="Aptos" pitchFamily="34" charset="0"/>
                <a:ea typeface="Aptos" pitchFamily="34" charset="-122"/>
                <a:cs typeface="Aptos" pitchFamily="34" charset="-120"/>
              </a:rPr>
              <a:t>Fabric • Event Hubs • apps</a:t>
            </a:r>
            <a:endParaRPr lang="en-US" sz="820" dirty="0"/>
          </a:p>
          <a:p>
            <a:pPr algn="l" indent="0" marL="0">
              <a:buNone/>
            </a:pPr>
            <a:r>
              <a:rPr lang="en-US" sz="820" b="1" dirty="0">
                <a:solidFill>
                  <a:srgbClr val="687373"/>
                </a:solidFill>
                <a:latin typeface="Aptos" pitchFamily="34" charset="0"/>
                <a:ea typeface="Aptos" pitchFamily="34" charset="-122"/>
                <a:cs typeface="Aptos" pitchFamily="34" charset="-120"/>
              </a:rPr>
              <a:t>Foundry project • Speech</a:t>
            </a:r>
            <a:endParaRPr lang="en-US" sz="820" dirty="0"/>
          </a:p>
        </p:txBody>
      </p:sp>
      <p:sp>
        <p:nvSpPr>
          <p:cNvPr id="16" name="Shape 14"/>
          <p:cNvSpPr/>
          <p:nvPr/>
        </p:nvSpPr>
        <p:spPr>
          <a:xfrm>
            <a:off x="6172200" y="1783080"/>
            <a:ext cx="5138928" cy="1417320"/>
          </a:xfrm>
          <a:prstGeom prst="roundRect">
            <a:avLst/>
          </a:prstGeom>
          <a:solidFill>
            <a:srgbClr val="FFFFFF"/>
          </a:solidFill>
          <a:ln w="8890">
            <a:solidFill>
              <a:srgbClr val="DDE4E1"/>
            </a:solidFill>
            <a:prstDash val="solid"/>
          </a:ln>
        </p:spPr>
      </p:sp>
      <p:sp>
        <p:nvSpPr>
          <p:cNvPr id="17" name="Shape 15"/>
          <p:cNvSpPr/>
          <p:nvPr/>
        </p:nvSpPr>
        <p:spPr>
          <a:xfrm>
            <a:off x="6172200" y="1783080"/>
            <a:ext cx="77724" cy="1417320"/>
          </a:xfrm>
          <a:prstGeom prst="rect">
            <a:avLst/>
          </a:prstGeom>
          <a:solidFill>
            <a:srgbClr val="E3A72F"/>
          </a:solidFill>
          <a:ln w="6350">
            <a:solidFill>
              <a:srgbClr val="E3A72F"/>
            </a:solidFill>
            <a:prstDash val="solid"/>
          </a:ln>
        </p:spPr>
      </p:sp>
      <p:sp>
        <p:nvSpPr>
          <p:cNvPr id="18" name="Shape 16"/>
          <p:cNvSpPr/>
          <p:nvPr/>
        </p:nvSpPr>
        <p:spPr>
          <a:xfrm>
            <a:off x="6428232" y="2194560"/>
            <a:ext cx="475488" cy="475488"/>
          </a:xfrm>
          <a:prstGeom prst="ellipse">
            <a:avLst/>
          </a:prstGeom>
          <a:solidFill>
            <a:srgbClr val="E3A72F"/>
          </a:solidFill>
          <a:ln w="6350">
            <a:solidFill>
              <a:srgbClr val="E3A72F"/>
            </a:solidFill>
            <a:prstDash val="solid"/>
          </a:ln>
        </p:spPr>
      </p:sp>
      <p:sp>
        <p:nvSpPr>
          <p:cNvPr id="19" name="Text 17"/>
          <p:cNvSpPr/>
          <p:nvPr/>
        </p:nvSpPr>
        <p:spPr>
          <a:xfrm>
            <a:off x="6428232" y="2350008"/>
            <a:ext cx="475488" cy="64008"/>
          </a:xfrm>
          <a:prstGeom prst="rect">
            <a:avLst/>
          </a:prstGeom>
          <a:noFill/>
          <a:ln/>
        </p:spPr>
        <p:txBody>
          <a:bodyPr wrap="square" lIns="0" tIns="0" rIns="0" bIns="0"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2</a:t>
            </a:r>
            <a:endParaRPr lang="en-US" sz="720" dirty="0"/>
          </a:p>
        </p:txBody>
      </p:sp>
      <p:sp>
        <p:nvSpPr>
          <p:cNvPr id="20" name="Text 18"/>
          <p:cNvSpPr/>
          <p:nvPr/>
        </p:nvSpPr>
        <p:spPr>
          <a:xfrm>
            <a:off x="7114032" y="2103120"/>
            <a:ext cx="3611880" cy="164592"/>
          </a:xfrm>
          <a:prstGeom prst="rect">
            <a:avLst/>
          </a:prstGeom>
          <a:noFill/>
          <a:ln/>
        </p:spPr>
        <p:txBody>
          <a:bodyPr wrap="square" lIns="0" tIns="0" rIns="0" bIns="0" rtlCol="0" anchor="ctr">
            <a:normAutofit/>
          </a:bodyPr>
          <a:lstStyle/>
          <a:p>
            <a:pPr algn="l" indent="0" marL="0">
              <a:buNone/>
            </a:pPr>
            <a:r>
              <a:rPr lang="en-US" sz="1250" b="1" dirty="0">
                <a:solidFill>
                  <a:srgbClr val="202729"/>
                </a:solidFill>
                <a:latin typeface="Bahnschrift SemiBold" pitchFamily="34" charset="0"/>
                <a:ea typeface="Bahnschrift SemiBold" pitchFamily="34" charset="-122"/>
                <a:cs typeface="Bahnschrift SemiBold" pitchFamily="34" charset="-120"/>
              </a:rPr>
              <a:t>Data Zone (EU)</a:t>
            </a:r>
            <a:endParaRPr lang="en-US" sz="1250" dirty="0"/>
          </a:p>
        </p:txBody>
      </p:sp>
      <p:sp>
        <p:nvSpPr>
          <p:cNvPr id="21" name="Text 19"/>
          <p:cNvSpPr/>
          <p:nvPr/>
        </p:nvSpPr>
        <p:spPr>
          <a:xfrm>
            <a:off x="7114032" y="2496312"/>
            <a:ext cx="3611880" cy="228600"/>
          </a:xfrm>
          <a:prstGeom prst="rect">
            <a:avLst/>
          </a:prstGeom>
          <a:noFill/>
          <a:ln/>
        </p:spPr>
        <p:txBody>
          <a:bodyPr wrap="square" lIns="0" tIns="0" rIns="0" bIns="0" rtlCol="0" anchor="ctr">
            <a:normAutofit/>
          </a:bodyPr>
          <a:lstStyle/>
          <a:p>
            <a:pPr algn="l" indent="0" marL="0">
              <a:buNone/>
            </a:pPr>
            <a:r>
              <a:rPr lang="en-US" sz="820" b="1" dirty="0">
                <a:solidFill>
                  <a:srgbClr val="687373"/>
                </a:solidFill>
                <a:latin typeface="Aptos" pitchFamily="34" charset="0"/>
                <a:ea typeface="Aptos" pitchFamily="34" charset="-122"/>
                <a:cs typeface="Aptos" pitchFamily="34" charset="-120"/>
              </a:rPr>
              <a:t>Normal Foundry inference</a:t>
            </a:r>
            <a:endParaRPr lang="en-US" sz="820" dirty="0"/>
          </a:p>
          <a:p>
            <a:pPr algn="l" indent="0" marL="0">
              <a:buNone/>
            </a:pPr>
            <a:r>
              <a:rPr lang="en-US" sz="820" b="1" dirty="0">
                <a:solidFill>
                  <a:srgbClr val="687373"/>
                </a:solidFill>
                <a:latin typeface="Aptos" pitchFamily="34" charset="0"/>
                <a:ea typeface="Aptos" pitchFamily="34" charset="-122"/>
                <a:cs typeface="Aptos" pitchFamily="34" charset="-120"/>
              </a:rPr>
              <a:t>EU zone, not Sweden-only</a:t>
            </a:r>
            <a:endParaRPr lang="en-US" sz="820" dirty="0"/>
          </a:p>
        </p:txBody>
      </p:sp>
      <p:sp>
        <p:nvSpPr>
          <p:cNvPr id="22" name="Shape 20"/>
          <p:cNvSpPr/>
          <p:nvPr/>
        </p:nvSpPr>
        <p:spPr>
          <a:xfrm>
            <a:off x="548640" y="3630168"/>
            <a:ext cx="5138928" cy="1417320"/>
          </a:xfrm>
          <a:prstGeom prst="roundRect">
            <a:avLst/>
          </a:prstGeom>
          <a:solidFill>
            <a:srgbClr val="FFFFFF"/>
          </a:solidFill>
          <a:ln w="8890">
            <a:solidFill>
              <a:srgbClr val="DDE4E1"/>
            </a:solidFill>
            <a:prstDash val="solid"/>
          </a:ln>
        </p:spPr>
      </p:sp>
      <p:sp>
        <p:nvSpPr>
          <p:cNvPr id="23" name="Shape 21"/>
          <p:cNvSpPr/>
          <p:nvPr/>
        </p:nvSpPr>
        <p:spPr>
          <a:xfrm>
            <a:off x="548640" y="3630168"/>
            <a:ext cx="77724" cy="1417320"/>
          </a:xfrm>
          <a:prstGeom prst="rect">
            <a:avLst/>
          </a:prstGeom>
          <a:solidFill>
            <a:srgbClr val="B64A2D"/>
          </a:solidFill>
          <a:ln w="6350">
            <a:solidFill>
              <a:srgbClr val="B64A2D"/>
            </a:solidFill>
            <a:prstDash val="solid"/>
          </a:ln>
        </p:spPr>
      </p:sp>
      <p:sp>
        <p:nvSpPr>
          <p:cNvPr id="24" name="Shape 22"/>
          <p:cNvSpPr/>
          <p:nvPr/>
        </p:nvSpPr>
        <p:spPr>
          <a:xfrm>
            <a:off x="804672" y="4041648"/>
            <a:ext cx="475488" cy="475488"/>
          </a:xfrm>
          <a:prstGeom prst="ellipse">
            <a:avLst/>
          </a:prstGeom>
          <a:solidFill>
            <a:srgbClr val="B64A2D"/>
          </a:solidFill>
          <a:ln w="6350">
            <a:solidFill>
              <a:srgbClr val="B64A2D"/>
            </a:solidFill>
            <a:prstDash val="solid"/>
          </a:ln>
        </p:spPr>
      </p:sp>
      <p:sp>
        <p:nvSpPr>
          <p:cNvPr id="25" name="Text 23"/>
          <p:cNvSpPr/>
          <p:nvPr/>
        </p:nvSpPr>
        <p:spPr>
          <a:xfrm>
            <a:off x="804672" y="4197096"/>
            <a:ext cx="475488" cy="64008"/>
          </a:xfrm>
          <a:prstGeom prst="rect">
            <a:avLst/>
          </a:prstGeom>
          <a:noFill/>
          <a:ln/>
        </p:spPr>
        <p:txBody>
          <a:bodyPr wrap="square" lIns="0" tIns="0" rIns="0" bIns="0"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3</a:t>
            </a:r>
            <a:endParaRPr lang="en-US" sz="720" dirty="0"/>
          </a:p>
        </p:txBody>
      </p:sp>
      <p:sp>
        <p:nvSpPr>
          <p:cNvPr id="26" name="Text 24"/>
          <p:cNvSpPr/>
          <p:nvPr/>
        </p:nvSpPr>
        <p:spPr>
          <a:xfrm>
            <a:off x="1490472" y="3950208"/>
            <a:ext cx="3611880" cy="164592"/>
          </a:xfrm>
          <a:prstGeom prst="rect">
            <a:avLst/>
          </a:prstGeom>
          <a:noFill/>
          <a:ln/>
        </p:spPr>
        <p:txBody>
          <a:bodyPr wrap="square" lIns="0" tIns="0" rIns="0" bIns="0" rtlCol="0" anchor="ctr">
            <a:normAutofit/>
          </a:bodyPr>
          <a:lstStyle/>
          <a:p>
            <a:pPr algn="l" indent="0" marL="0">
              <a:buNone/>
            </a:pPr>
            <a:r>
              <a:rPr lang="en-US" sz="1250" b="1" dirty="0">
                <a:solidFill>
                  <a:srgbClr val="202729"/>
                </a:solidFill>
                <a:latin typeface="Bahnschrift SemiBold" pitchFamily="34" charset="0"/>
                <a:ea typeface="Bahnschrift SemiBold" pitchFamily="34" charset="-122"/>
                <a:cs typeface="Bahnschrift SemiBold" pitchFamily="34" charset="-120"/>
              </a:rPr>
              <a:t>Regional deployment</a:t>
            </a:r>
            <a:endParaRPr lang="en-US" sz="1250" dirty="0"/>
          </a:p>
        </p:txBody>
      </p:sp>
      <p:sp>
        <p:nvSpPr>
          <p:cNvPr id="27" name="Text 25"/>
          <p:cNvSpPr/>
          <p:nvPr/>
        </p:nvSpPr>
        <p:spPr>
          <a:xfrm>
            <a:off x="1490472" y="4343400"/>
            <a:ext cx="3611880" cy="228600"/>
          </a:xfrm>
          <a:prstGeom prst="rect">
            <a:avLst/>
          </a:prstGeom>
          <a:noFill/>
          <a:ln/>
        </p:spPr>
        <p:txBody>
          <a:bodyPr wrap="square" lIns="0" tIns="0" rIns="0" bIns="0" rtlCol="0" anchor="ctr">
            <a:normAutofit/>
          </a:bodyPr>
          <a:lstStyle/>
          <a:p>
            <a:pPr algn="l" indent="0" marL="0">
              <a:buNone/>
            </a:pPr>
            <a:r>
              <a:rPr lang="en-US" sz="820" b="1" dirty="0">
                <a:solidFill>
                  <a:srgbClr val="687373"/>
                </a:solidFill>
                <a:latin typeface="Aptos" pitchFamily="34" charset="0"/>
                <a:ea typeface="Aptos" pitchFamily="34" charset="-122"/>
                <a:cs typeface="Aptos" pitchFamily="34" charset="-120"/>
              </a:rPr>
              <a:t>If legal policy requires</a:t>
            </a:r>
            <a:endParaRPr lang="en-US" sz="820" dirty="0"/>
          </a:p>
          <a:p>
            <a:pPr algn="l" indent="0" marL="0">
              <a:buNone/>
            </a:pPr>
            <a:r>
              <a:rPr lang="en-US" sz="820" b="1" dirty="0">
                <a:solidFill>
                  <a:srgbClr val="687373"/>
                </a:solidFill>
                <a:latin typeface="Aptos" pitchFamily="34" charset="0"/>
                <a:ea typeface="Aptos" pitchFamily="34" charset="-122"/>
                <a:cs typeface="Aptos" pitchFamily="34" charset="-120"/>
              </a:rPr>
              <a:t>Sweden-only processing</a:t>
            </a:r>
            <a:endParaRPr lang="en-US" sz="820" dirty="0"/>
          </a:p>
        </p:txBody>
      </p:sp>
      <p:sp>
        <p:nvSpPr>
          <p:cNvPr id="28" name="Shape 26"/>
          <p:cNvSpPr/>
          <p:nvPr/>
        </p:nvSpPr>
        <p:spPr>
          <a:xfrm>
            <a:off x="6172200" y="3630168"/>
            <a:ext cx="5138928" cy="1417320"/>
          </a:xfrm>
          <a:prstGeom prst="roundRect">
            <a:avLst/>
          </a:prstGeom>
          <a:solidFill>
            <a:srgbClr val="FFFFFF"/>
          </a:solidFill>
          <a:ln w="8890">
            <a:solidFill>
              <a:srgbClr val="DDE4E1"/>
            </a:solidFill>
            <a:prstDash val="solid"/>
          </a:ln>
        </p:spPr>
      </p:sp>
      <p:sp>
        <p:nvSpPr>
          <p:cNvPr id="29" name="Shape 27"/>
          <p:cNvSpPr/>
          <p:nvPr/>
        </p:nvSpPr>
        <p:spPr>
          <a:xfrm>
            <a:off x="6172200" y="3630168"/>
            <a:ext cx="77724" cy="1417320"/>
          </a:xfrm>
          <a:prstGeom prst="rect">
            <a:avLst/>
          </a:prstGeom>
          <a:solidFill>
            <a:srgbClr val="465057"/>
          </a:solidFill>
          <a:ln w="6350">
            <a:solidFill>
              <a:srgbClr val="465057"/>
            </a:solidFill>
            <a:prstDash val="solid"/>
          </a:ln>
        </p:spPr>
      </p:sp>
      <p:sp>
        <p:nvSpPr>
          <p:cNvPr id="30" name="Shape 28"/>
          <p:cNvSpPr/>
          <p:nvPr/>
        </p:nvSpPr>
        <p:spPr>
          <a:xfrm>
            <a:off x="6428232" y="4041648"/>
            <a:ext cx="475488" cy="475488"/>
          </a:xfrm>
          <a:prstGeom prst="ellipse">
            <a:avLst/>
          </a:prstGeom>
          <a:solidFill>
            <a:srgbClr val="465057"/>
          </a:solidFill>
          <a:ln w="6350">
            <a:solidFill>
              <a:srgbClr val="465057"/>
            </a:solidFill>
            <a:prstDash val="solid"/>
          </a:ln>
        </p:spPr>
      </p:sp>
      <p:sp>
        <p:nvSpPr>
          <p:cNvPr id="31" name="Text 29"/>
          <p:cNvSpPr/>
          <p:nvPr/>
        </p:nvSpPr>
        <p:spPr>
          <a:xfrm>
            <a:off x="6428232" y="4197096"/>
            <a:ext cx="475488" cy="64008"/>
          </a:xfrm>
          <a:prstGeom prst="rect">
            <a:avLst/>
          </a:prstGeom>
          <a:noFill/>
          <a:ln/>
        </p:spPr>
        <p:txBody>
          <a:bodyPr wrap="square" lIns="0" tIns="0" rIns="0" bIns="0" rtlCol="0" anchor="ctr">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4</a:t>
            </a:r>
            <a:endParaRPr lang="en-US" sz="720" dirty="0"/>
          </a:p>
        </p:txBody>
      </p:sp>
      <p:sp>
        <p:nvSpPr>
          <p:cNvPr id="32" name="Text 30"/>
          <p:cNvSpPr/>
          <p:nvPr/>
        </p:nvSpPr>
        <p:spPr>
          <a:xfrm>
            <a:off x="7114032" y="3950208"/>
            <a:ext cx="3611880" cy="164592"/>
          </a:xfrm>
          <a:prstGeom prst="rect">
            <a:avLst/>
          </a:prstGeom>
          <a:noFill/>
          <a:ln/>
        </p:spPr>
        <p:txBody>
          <a:bodyPr wrap="square" lIns="0" tIns="0" rIns="0" bIns="0" rtlCol="0" anchor="ctr">
            <a:normAutofit/>
          </a:bodyPr>
          <a:lstStyle/>
          <a:p>
            <a:pPr algn="l" indent="0" marL="0">
              <a:buNone/>
            </a:pPr>
            <a:r>
              <a:rPr lang="en-US" sz="1250" b="1" dirty="0">
                <a:solidFill>
                  <a:srgbClr val="202729"/>
                </a:solidFill>
                <a:latin typeface="Bahnschrift SemiBold" pitchFamily="34" charset="0"/>
                <a:ea typeface="Bahnschrift SemiBold" pitchFamily="34" charset="-122"/>
                <a:cs typeface="Bahnschrift SemiBold" pitchFamily="34" charset="-120"/>
              </a:rPr>
              <a:t>West Europe</a:t>
            </a:r>
            <a:endParaRPr lang="en-US" sz="1250" dirty="0"/>
          </a:p>
        </p:txBody>
      </p:sp>
      <p:sp>
        <p:nvSpPr>
          <p:cNvPr id="33" name="Text 31"/>
          <p:cNvSpPr/>
          <p:nvPr/>
        </p:nvSpPr>
        <p:spPr>
          <a:xfrm>
            <a:off x="7114032" y="4343400"/>
            <a:ext cx="3611880" cy="228600"/>
          </a:xfrm>
          <a:prstGeom prst="rect">
            <a:avLst/>
          </a:prstGeom>
          <a:noFill/>
          <a:ln/>
        </p:spPr>
        <p:txBody>
          <a:bodyPr wrap="square" lIns="0" tIns="0" rIns="0" bIns="0" rtlCol="0" anchor="ctr">
            <a:normAutofit/>
          </a:bodyPr>
          <a:lstStyle/>
          <a:p>
            <a:pPr algn="l" indent="0" marL="0">
              <a:buNone/>
            </a:pPr>
            <a:r>
              <a:rPr lang="en-US" sz="820" b="1" dirty="0">
                <a:solidFill>
                  <a:srgbClr val="687373"/>
                </a:solidFill>
                <a:latin typeface="Aptos" pitchFamily="34" charset="0"/>
                <a:ea typeface="Aptos" pitchFamily="34" charset="-122"/>
                <a:cs typeface="Aptos" pitchFamily="34" charset="-120"/>
              </a:rPr>
              <a:t>Recovery target to test</a:t>
            </a:r>
            <a:endParaRPr lang="en-US" sz="820" dirty="0"/>
          </a:p>
          <a:p>
            <a:pPr algn="l" indent="0" marL="0">
              <a:buNone/>
            </a:pPr>
            <a:r>
              <a:rPr lang="en-US" sz="820" b="1" dirty="0">
                <a:solidFill>
                  <a:srgbClr val="687373"/>
                </a:solidFill>
                <a:latin typeface="Aptos" pitchFamily="34" charset="0"/>
                <a:ea typeface="Aptos" pitchFamily="34" charset="-122"/>
                <a:cs typeface="Aptos" pitchFamily="34" charset="-120"/>
              </a:rPr>
              <a:t>never automatic replica</a:t>
            </a:r>
            <a:endParaRPr lang="en-US" sz="820" dirty="0"/>
          </a:p>
        </p:txBody>
      </p:sp>
      <p:sp>
        <p:nvSpPr>
          <p:cNvPr id="34" name="Shape 32"/>
          <p:cNvSpPr/>
          <p:nvPr/>
        </p:nvSpPr>
        <p:spPr>
          <a:xfrm>
            <a:off x="548640" y="5596128"/>
            <a:ext cx="11018520" cy="320040"/>
          </a:xfrm>
          <a:prstGeom prst="roundRect">
            <a:avLst/>
          </a:prstGeom>
          <a:solidFill>
            <a:srgbClr val="F1DDD4"/>
          </a:solidFill>
          <a:ln w="6350">
            <a:solidFill>
              <a:srgbClr val="B64A2D"/>
            </a:solidFill>
            <a:prstDash val="solid"/>
          </a:ln>
        </p:spPr>
      </p:sp>
      <p:sp>
        <p:nvSpPr>
          <p:cNvPr id="35" name="Text 33"/>
          <p:cNvSpPr/>
          <p:nvPr/>
        </p:nvSpPr>
        <p:spPr>
          <a:xfrm>
            <a:off x="749808" y="5715000"/>
            <a:ext cx="10607040" cy="82296"/>
          </a:xfrm>
          <a:prstGeom prst="rect">
            <a:avLst/>
          </a:prstGeom>
          <a:noFill/>
          <a:ln/>
        </p:spPr>
        <p:txBody>
          <a:bodyPr wrap="square" lIns="0" tIns="0" rIns="0" bIns="0" rtlCol="0" anchor="ctr">
            <a:normAutofit/>
          </a:bodyPr>
          <a:lstStyle/>
          <a:p>
            <a:pPr algn="ctr" indent="0" marL="0">
              <a:buNone/>
            </a:pPr>
            <a:r>
              <a:rPr lang="en-US" sz="760" b="1" dirty="0">
                <a:solidFill>
                  <a:srgbClr val="202729"/>
                </a:solidFill>
                <a:latin typeface="Aptos" pitchFamily="34" charset="0"/>
                <a:ea typeface="Aptos" pitchFamily="34" charset="-122"/>
                <a:cs typeface="Aptos" pitchFamily="34" charset="-120"/>
              </a:rPr>
              <a:t>No automatic Fabric BCDR claim. Tenant quota, model/tool support, Speech features, and recovery must be evidenced before deployment.</a:t>
            </a:r>
            <a:endParaRPr lang="en-US" sz="760" dirty="0"/>
          </a:p>
        </p:txBody>
      </p:sp>
      <p:sp>
        <p:nvSpPr>
          <p:cNvPr id="36" name="Text 34"/>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FAQ E | faq.md Q21–Q24  •  deployment-topology.md §2  •  azure-ai-regions.md</a:t>
            </a:r>
            <a:endParaRPr lang="en-US" sz="660" dirty="0"/>
          </a:p>
        </p:txBody>
      </p:sp>
      <p:sp>
        <p:nvSpPr>
          <p:cNvPr id="37" name="Shape 35"/>
          <p:cNvSpPr/>
          <p:nvPr/>
        </p:nvSpPr>
        <p:spPr>
          <a:xfrm>
            <a:off x="0" y="6483096"/>
            <a:ext cx="12191695" cy="374904"/>
          </a:xfrm>
          <a:prstGeom prst="rect">
            <a:avLst/>
          </a:prstGeom>
          <a:solidFill>
            <a:srgbClr val="E9E7E1"/>
          </a:solidFill>
          <a:ln w="6350">
            <a:solidFill>
              <a:srgbClr val="E9E7E1"/>
            </a:solidFill>
            <a:prstDash val="solid"/>
          </a:ln>
        </p:spPr>
      </p:sp>
      <p:sp>
        <p:nvSpPr>
          <p:cNvPr id="38" name="Shape 36"/>
          <p:cNvSpPr/>
          <p:nvPr/>
        </p:nvSpPr>
        <p:spPr>
          <a:xfrm>
            <a:off x="384048" y="6547104"/>
            <a:ext cx="3547872" cy="182880"/>
          </a:xfrm>
          <a:prstGeom prst="roundRect">
            <a:avLst/>
          </a:prstGeom>
          <a:solidFill>
            <a:srgbClr val="FFFFFF"/>
          </a:solidFill>
          <a:ln w="3175">
            <a:solidFill>
              <a:srgbClr val="DDE4E1"/>
            </a:solidFill>
            <a:prstDash val="solid"/>
          </a:ln>
        </p:spPr>
      </p:sp>
      <p:sp>
        <p:nvSpPr>
          <p:cNvPr id="39" name="Text 37"/>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40" name="Text 38"/>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FAQ &amp; VALIDATION BACKUP  •  03 / 08</a:t>
            </a:r>
            <a:endParaRPr lang="en-US" sz="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1719"/>
        </a:solidFill>
      </p:bgPr>
    </p:bg>
    <p:spTree>
      <p:nvGrpSpPr>
        <p:cNvPr id="1" name=""/>
        <p:cNvGrpSpPr/>
        <p:nvPr/>
      </p:nvGrpSpPr>
      <p:grpSpPr>
        <a:xfrm>
          <a:off x="0" y="0"/>
          <a:ext cx="0" cy="0"/>
          <a:chOff x="0" y="0"/>
          <a:chExt cx="0" cy="0"/>
        </a:xfrm>
      </p:grpSpPr>
      <p:pic>
        <p:nvPicPr>
          <p:cNvPr id="2" name="Image 0" descr="D:\work\20260724 - Novasteel 3\tools\presentation\assets\steel-texture.png">    </p:cNvPr>
          <p:cNvPicPr>
            <a:picLocks noChangeAspect="1"/>
          </p:cNvPicPr>
          <p:nvPr/>
        </p:nvPicPr>
        <p:blipFill>
          <a:blip r:embed="rId1">
            <a:alphaModFix amt="34000"/>
          </a:blip>
          <a:stretch>
            <a:fillRect/>
          </a:stretch>
        </p:blipFill>
        <p:spPr>
          <a:xfrm>
            <a:off x="0" y="0"/>
            <a:ext cx="12191695" cy="6858000"/>
          </a:xfrm>
          <a:prstGeom prst="rect">
            <a:avLst/>
          </a:prstGeom>
        </p:spPr>
      </p:pic>
      <p:sp>
        <p:nvSpPr>
          <p:cNvPr id="3" name="Shape 0"/>
          <p:cNvSpPr/>
          <p:nvPr/>
        </p:nvSpPr>
        <p:spPr>
          <a:xfrm>
            <a:off x="457200" y="274320"/>
            <a:ext cx="822960" cy="246888"/>
          </a:xfrm>
          <a:prstGeom prst="roundRect">
            <a:avLst/>
          </a:prstGeom>
          <a:solidFill>
            <a:srgbClr val="7A261C"/>
          </a:solidFill>
          <a:ln w="5080">
            <a:solidFill>
              <a:srgbClr val="7A261C"/>
            </a:solidFill>
            <a:prstDash val="solid"/>
          </a:ln>
        </p:spPr>
      </p:sp>
      <p:sp>
        <p:nvSpPr>
          <p:cNvPr id="4" name="Text 1"/>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BACKUP 4</a:t>
            </a:r>
            <a:endParaRPr lang="en-US" sz="720" dirty="0"/>
          </a:p>
        </p:txBody>
      </p:sp>
      <p:sp>
        <p:nvSpPr>
          <p:cNvPr id="5" name="Text 2"/>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AEB9BA"/>
                </a:solidFill>
                <a:latin typeface="Aptos" pitchFamily="34" charset="0"/>
                <a:ea typeface="Aptos" pitchFamily="34" charset="-122"/>
                <a:cs typeface="Aptos" pitchFamily="34" charset="-120"/>
              </a:rPr>
              <a:t>FAQ BACKUP</a:t>
            </a:r>
            <a:endParaRPr lang="en-US" sz="810" dirty="0"/>
          </a:p>
        </p:txBody>
      </p:sp>
      <p:sp>
        <p:nvSpPr>
          <p:cNvPr id="6" name="Text 3"/>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FFFFFF"/>
                </a:solidFill>
                <a:latin typeface="Bahnschrift SemiBold" pitchFamily="34" charset="0"/>
                <a:ea typeface="Bahnschrift SemiBold" pitchFamily="34" charset="-122"/>
                <a:cs typeface="Bahnschrift SemiBold" pitchFamily="34" charset="-120"/>
              </a:rPr>
              <a:t>What prevents an LLM, identity, or OT boundary from causing harm?</a:t>
            </a:r>
            <a:endParaRPr lang="en-US" sz="2550" dirty="0"/>
          </a:p>
        </p:txBody>
      </p:sp>
      <p:sp>
        <p:nvSpPr>
          <p:cNvPr id="7" name="Shape 4"/>
          <p:cNvSpPr/>
          <p:nvPr/>
        </p:nvSpPr>
        <p:spPr>
          <a:xfrm>
            <a:off x="457200" y="1188720"/>
            <a:ext cx="1499616" cy="246888"/>
          </a:xfrm>
          <a:prstGeom prst="roundRect">
            <a:avLst/>
          </a:prstGeom>
          <a:solidFill>
            <a:srgbClr val="7A261C"/>
          </a:solidFill>
          <a:ln w="5080">
            <a:solidFill>
              <a:srgbClr val="7A261C"/>
            </a:solidFill>
            <a:prstDash val="solid"/>
          </a:ln>
        </p:spPr>
      </p:sp>
      <p:sp>
        <p:nvSpPr>
          <p:cNvPr id="8" name="Text 5"/>
          <p:cNvSpPr/>
          <p:nvPr/>
        </p:nvSpPr>
        <p:spPr>
          <a:xfrm>
            <a:off x="576072" y="1239012"/>
            <a:ext cx="1261872"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SECURITY + AI SAFETY</a:t>
            </a:r>
            <a:endParaRPr lang="en-US" sz="720" dirty="0"/>
          </a:p>
        </p:txBody>
      </p:sp>
      <p:sp>
        <p:nvSpPr>
          <p:cNvPr id="9" name="Shape 6"/>
          <p:cNvSpPr/>
          <p:nvPr/>
        </p:nvSpPr>
        <p:spPr>
          <a:xfrm>
            <a:off x="612648" y="1810512"/>
            <a:ext cx="5138928" cy="1408176"/>
          </a:xfrm>
          <a:prstGeom prst="roundRect">
            <a:avLst/>
          </a:prstGeom>
          <a:solidFill>
            <a:srgbClr val="1F2426"/>
          </a:solidFill>
          <a:ln w="11430">
            <a:solidFill>
              <a:srgbClr val="B64A2D"/>
            </a:solidFill>
            <a:prstDash val="solid"/>
          </a:ln>
        </p:spPr>
      </p:sp>
      <p:sp>
        <p:nvSpPr>
          <p:cNvPr id="10" name="Shape 7"/>
          <p:cNvSpPr/>
          <p:nvPr/>
        </p:nvSpPr>
        <p:spPr>
          <a:xfrm>
            <a:off x="612648" y="1810512"/>
            <a:ext cx="77724" cy="1408176"/>
          </a:xfrm>
          <a:prstGeom prst="rect">
            <a:avLst/>
          </a:prstGeom>
          <a:solidFill>
            <a:srgbClr val="B64A2D"/>
          </a:solidFill>
          <a:ln w="6350">
            <a:solidFill>
              <a:srgbClr val="B64A2D"/>
            </a:solidFill>
            <a:prstDash val="solid"/>
          </a:ln>
        </p:spPr>
      </p:sp>
      <p:sp>
        <p:nvSpPr>
          <p:cNvPr id="11" name="Shape 8"/>
          <p:cNvSpPr/>
          <p:nvPr/>
        </p:nvSpPr>
        <p:spPr>
          <a:xfrm>
            <a:off x="868680" y="2203704"/>
            <a:ext cx="512064" cy="512064"/>
          </a:xfrm>
          <a:prstGeom prst="ellipse">
            <a:avLst/>
          </a:prstGeom>
          <a:solidFill>
            <a:srgbClr val="B64A2D"/>
          </a:solidFill>
          <a:ln w="6350">
            <a:solidFill>
              <a:srgbClr val="B64A2D"/>
            </a:solidFill>
            <a:prstDash val="solid"/>
          </a:ln>
        </p:spPr>
      </p:sp>
      <p:sp>
        <p:nvSpPr>
          <p:cNvPr id="12" name="Text 9"/>
          <p:cNvSpPr/>
          <p:nvPr/>
        </p:nvSpPr>
        <p:spPr>
          <a:xfrm>
            <a:off x="868680" y="2386584"/>
            <a:ext cx="512064" cy="7315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13" name="Text 10"/>
          <p:cNvSpPr/>
          <p:nvPr/>
        </p:nvSpPr>
        <p:spPr>
          <a:xfrm>
            <a:off x="1600200" y="2093976"/>
            <a:ext cx="3611880" cy="155448"/>
          </a:xfrm>
          <a:prstGeom prst="rect">
            <a:avLst/>
          </a:prstGeom>
          <a:noFill/>
          <a:ln/>
        </p:spPr>
        <p:txBody>
          <a:bodyPr wrap="square" lIns="0" tIns="0" rIns="0" bIns="0" rtlCol="0" anchor="ctr">
            <a:normAutofit/>
          </a:bodyPr>
          <a:lstStyle/>
          <a:p>
            <a:pPr algn="l" indent="0" marL="0">
              <a:buNone/>
            </a:pPr>
            <a:r>
              <a:rPr lang="en-US" sz="1220" b="1" dirty="0">
                <a:solidFill>
                  <a:srgbClr val="FFFFFF"/>
                </a:solidFill>
                <a:latin typeface="Bahnschrift SemiBold" pitchFamily="34" charset="0"/>
                <a:ea typeface="Bahnschrift SemiBold" pitchFamily="34" charset="-122"/>
                <a:cs typeface="Bahnschrift SemiBold" pitchFamily="34" charset="-120"/>
              </a:rPr>
              <a:t>No OT control</a:t>
            </a:r>
            <a:endParaRPr lang="en-US" sz="1220" dirty="0"/>
          </a:p>
        </p:txBody>
      </p:sp>
      <p:sp>
        <p:nvSpPr>
          <p:cNvPr id="14" name="Text 11"/>
          <p:cNvSpPr/>
          <p:nvPr/>
        </p:nvSpPr>
        <p:spPr>
          <a:xfrm>
            <a:off x="1600200" y="2514600"/>
            <a:ext cx="3611880" cy="237744"/>
          </a:xfrm>
          <a:prstGeom prst="rect">
            <a:avLst/>
          </a:prstGeom>
          <a:noFill/>
          <a:ln/>
        </p:spPr>
        <p:txBody>
          <a:bodyPr wrap="square" lIns="0" tIns="0" rIns="0" bIns="0" rtlCol="0" anchor="ctr">
            <a:normAutofit/>
          </a:bodyPr>
          <a:lstStyle/>
          <a:p>
            <a:pPr algn="l" indent="0" marL="0">
              <a:buNone/>
            </a:pPr>
            <a:r>
              <a:rPr lang="en-US" sz="830" b="1" dirty="0">
                <a:solidFill>
                  <a:srgbClr val="AEB9BA"/>
                </a:solidFill>
                <a:latin typeface="Aptos" pitchFamily="34" charset="0"/>
                <a:ea typeface="Aptos" pitchFamily="34" charset="-122"/>
                <a:cs typeface="Aptos" pitchFamily="34" charset="-120"/>
              </a:rPr>
              <a:t>No cloud-initiated plant session; no PLC / interlock / setpoint write.</a:t>
            </a:r>
            <a:endParaRPr lang="en-US" sz="830" dirty="0"/>
          </a:p>
        </p:txBody>
      </p:sp>
      <p:sp>
        <p:nvSpPr>
          <p:cNvPr id="15" name="Shape 12"/>
          <p:cNvSpPr/>
          <p:nvPr/>
        </p:nvSpPr>
        <p:spPr>
          <a:xfrm>
            <a:off x="6245352" y="1810512"/>
            <a:ext cx="5138928" cy="1408176"/>
          </a:xfrm>
          <a:prstGeom prst="roundRect">
            <a:avLst/>
          </a:prstGeom>
          <a:solidFill>
            <a:srgbClr val="1F2426"/>
          </a:solidFill>
          <a:ln w="11430">
            <a:solidFill>
              <a:srgbClr val="E3A72F"/>
            </a:solidFill>
            <a:prstDash val="solid"/>
          </a:ln>
        </p:spPr>
      </p:sp>
      <p:sp>
        <p:nvSpPr>
          <p:cNvPr id="16" name="Shape 13"/>
          <p:cNvSpPr/>
          <p:nvPr/>
        </p:nvSpPr>
        <p:spPr>
          <a:xfrm>
            <a:off x="6245352" y="1810512"/>
            <a:ext cx="77724" cy="1408176"/>
          </a:xfrm>
          <a:prstGeom prst="rect">
            <a:avLst/>
          </a:prstGeom>
          <a:solidFill>
            <a:srgbClr val="E3A72F"/>
          </a:solidFill>
          <a:ln w="6350">
            <a:solidFill>
              <a:srgbClr val="E3A72F"/>
            </a:solidFill>
            <a:prstDash val="solid"/>
          </a:ln>
        </p:spPr>
      </p:sp>
      <p:sp>
        <p:nvSpPr>
          <p:cNvPr id="17" name="Shape 14"/>
          <p:cNvSpPr/>
          <p:nvPr/>
        </p:nvSpPr>
        <p:spPr>
          <a:xfrm>
            <a:off x="6501384" y="2203704"/>
            <a:ext cx="512064" cy="512064"/>
          </a:xfrm>
          <a:prstGeom prst="ellipse">
            <a:avLst/>
          </a:prstGeom>
          <a:solidFill>
            <a:srgbClr val="E3A72F"/>
          </a:solidFill>
          <a:ln w="6350">
            <a:solidFill>
              <a:srgbClr val="E3A72F"/>
            </a:solidFill>
            <a:prstDash val="solid"/>
          </a:ln>
        </p:spPr>
      </p:sp>
      <p:sp>
        <p:nvSpPr>
          <p:cNvPr id="18" name="Text 15"/>
          <p:cNvSpPr/>
          <p:nvPr/>
        </p:nvSpPr>
        <p:spPr>
          <a:xfrm>
            <a:off x="6501384" y="2386584"/>
            <a:ext cx="512064" cy="7315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19" name="Text 16"/>
          <p:cNvSpPr/>
          <p:nvPr/>
        </p:nvSpPr>
        <p:spPr>
          <a:xfrm>
            <a:off x="7232904" y="2093976"/>
            <a:ext cx="3611880" cy="155448"/>
          </a:xfrm>
          <a:prstGeom prst="rect">
            <a:avLst/>
          </a:prstGeom>
          <a:noFill/>
          <a:ln/>
        </p:spPr>
        <p:txBody>
          <a:bodyPr wrap="square" lIns="0" tIns="0" rIns="0" bIns="0" rtlCol="0" anchor="ctr">
            <a:normAutofit/>
          </a:bodyPr>
          <a:lstStyle/>
          <a:p>
            <a:pPr algn="l" indent="0" marL="0">
              <a:buNone/>
            </a:pPr>
            <a:r>
              <a:rPr lang="en-US" sz="1220" b="1" dirty="0">
                <a:solidFill>
                  <a:srgbClr val="FFFFFF"/>
                </a:solidFill>
                <a:latin typeface="Bahnschrift SemiBold" pitchFamily="34" charset="0"/>
                <a:ea typeface="Bahnschrift SemiBold" pitchFamily="34" charset="-122"/>
                <a:cs typeface="Bahnschrift SemiBold" pitchFamily="34" charset="-120"/>
              </a:rPr>
              <a:t>Python authority</a:t>
            </a:r>
            <a:endParaRPr lang="en-US" sz="1220" dirty="0"/>
          </a:p>
        </p:txBody>
      </p:sp>
      <p:sp>
        <p:nvSpPr>
          <p:cNvPr id="20" name="Text 17"/>
          <p:cNvSpPr/>
          <p:nvPr/>
        </p:nvSpPr>
        <p:spPr>
          <a:xfrm>
            <a:off x="7232904" y="2514600"/>
            <a:ext cx="3611880" cy="237744"/>
          </a:xfrm>
          <a:prstGeom prst="rect">
            <a:avLst/>
          </a:prstGeom>
          <a:noFill/>
          <a:ln/>
        </p:spPr>
        <p:txBody>
          <a:bodyPr wrap="square" lIns="0" tIns="0" rIns="0" bIns="0" rtlCol="0" anchor="ctr">
            <a:normAutofit/>
          </a:bodyPr>
          <a:lstStyle/>
          <a:p>
            <a:pPr algn="l" indent="0" marL="0">
              <a:buNone/>
            </a:pPr>
            <a:r>
              <a:rPr lang="en-US" sz="830" b="1" dirty="0">
                <a:solidFill>
                  <a:srgbClr val="AEB9BA"/>
                </a:solidFill>
                <a:latin typeface="Aptos" pitchFamily="34" charset="0"/>
                <a:ea typeface="Aptos" pitchFamily="34" charset="-122"/>
                <a:cs typeface="Aptos" pitchFamily="34" charset="-120"/>
              </a:rPr>
              <a:t>LLM explains/retrieves only; cannot calculate, relax, or commit.</a:t>
            </a:r>
            <a:endParaRPr lang="en-US" sz="830" dirty="0"/>
          </a:p>
        </p:txBody>
      </p:sp>
      <p:sp>
        <p:nvSpPr>
          <p:cNvPr id="21" name="Shape 18"/>
          <p:cNvSpPr/>
          <p:nvPr/>
        </p:nvSpPr>
        <p:spPr>
          <a:xfrm>
            <a:off x="612648" y="3685032"/>
            <a:ext cx="5138928" cy="1408176"/>
          </a:xfrm>
          <a:prstGeom prst="roundRect">
            <a:avLst/>
          </a:prstGeom>
          <a:solidFill>
            <a:srgbClr val="1F2426"/>
          </a:solidFill>
          <a:ln w="11430">
            <a:solidFill>
              <a:srgbClr val="147D74"/>
            </a:solidFill>
            <a:prstDash val="solid"/>
          </a:ln>
        </p:spPr>
      </p:sp>
      <p:sp>
        <p:nvSpPr>
          <p:cNvPr id="22" name="Shape 19"/>
          <p:cNvSpPr/>
          <p:nvPr/>
        </p:nvSpPr>
        <p:spPr>
          <a:xfrm>
            <a:off x="612648" y="3685032"/>
            <a:ext cx="77724" cy="1408176"/>
          </a:xfrm>
          <a:prstGeom prst="rect">
            <a:avLst/>
          </a:prstGeom>
          <a:solidFill>
            <a:srgbClr val="147D74"/>
          </a:solidFill>
          <a:ln w="6350">
            <a:solidFill>
              <a:srgbClr val="147D74"/>
            </a:solidFill>
            <a:prstDash val="solid"/>
          </a:ln>
        </p:spPr>
      </p:sp>
      <p:sp>
        <p:nvSpPr>
          <p:cNvPr id="23" name="Shape 20"/>
          <p:cNvSpPr/>
          <p:nvPr/>
        </p:nvSpPr>
        <p:spPr>
          <a:xfrm>
            <a:off x="868680" y="4078224"/>
            <a:ext cx="512064" cy="512064"/>
          </a:xfrm>
          <a:prstGeom prst="ellipse">
            <a:avLst/>
          </a:prstGeom>
          <a:solidFill>
            <a:srgbClr val="147D74"/>
          </a:solidFill>
          <a:ln w="6350">
            <a:solidFill>
              <a:srgbClr val="147D74"/>
            </a:solidFill>
            <a:prstDash val="solid"/>
          </a:ln>
        </p:spPr>
      </p:sp>
      <p:sp>
        <p:nvSpPr>
          <p:cNvPr id="24" name="Text 21"/>
          <p:cNvSpPr/>
          <p:nvPr/>
        </p:nvSpPr>
        <p:spPr>
          <a:xfrm>
            <a:off x="868680" y="4261104"/>
            <a:ext cx="512064" cy="7315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25" name="Text 22"/>
          <p:cNvSpPr/>
          <p:nvPr/>
        </p:nvSpPr>
        <p:spPr>
          <a:xfrm>
            <a:off x="1600200" y="3968496"/>
            <a:ext cx="3611880" cy="155448"/>
          </a:xfrm>
          <a:prstGeom prst="rect">
            <a:avLst/>
          </a:prstGeom>
          <a:noFill/>
          <a:ln/>
        </p:spPr>
        <p:txBody>
          <a:bodyPr wrap="square" lIns="0" tIns="0" rIns="0" bIns="0" rtlCol="0" anchor="ctr">
            <a:normAutofit/>
          </a:bodyPr>
          <a:lstStyle/>
          <a:p>
            <a:pPr algn="l" indent="0" marL="0">
              <a:buNone/>
            </a:pPr>
            <a:r>
              <a:rPr lang="en-US" sz="1220" b="1" dirty="0">
                <a:solidFill>
                  <a:srgbClr val="FFFFFF"/>
                </a:solidFill>
                <a:latin typeface="Bahnschrift SemiBold" pitchFamily="34" charset="0"/>
                <a:ea typeface="Bahnschrift SemiBold" pitchFamily="34" charset="-122"/>
                <a:cs typeface="Bahnschrift SemiBold" pitchFamily="34" charset="-120"/>
              </a:rPr>
              <a:t>Untrusted content</a:t>
            </a:r>
            <a:endParaRPr lang="en-US" sz="1220" dirty="0"/>
          </a:p>
        </p:txBody>
      </p:sp>
      <p:sp>
        <p:nvSpPr>
          <p:cNvPr id="26" name="Text 23"/>
          <p:cNvSpPr/>
          <p:nvPr/>
        </p:nvSpPr>
        <p:spPr>
          <a:xfrm>
            <a:off x="1600200" y="4389120"/>
            <a:ext cx="3611880" cy="237744"/>
          </a:xfrm>
          <a:prstGeom prst="rect">
            <a:avLst/>
          </a:prstGeom>
          <a:noFill/>
          <a:ln/>
        </p:spPr>
        <p:txBody>
          <a:bodyPr wrap="square" lIns="0" tIns="0" rIns="0" bIns="0" rtlCol="0" anchor="ctr">
            <a:normAutofit/>
          </a:bodyPr>
          <a:lstStyle/>
          <a:p>
            <a:pPr algn="l" indent="0" marL="0">
              <a:buNone/>
            </a:pPr>
            <a:r>
              <a:rPr lang="en-US" sz="830" b="1" dirty="0">
                <a:solidFill>
                  <a:srgbClr val="AEB9BA"/>
                </a:solidFill>
                <a:latin typeface="Aptos" pitchFamily="34" charset="0"/>
                <a:ea typeface="Aptos" pitchFamily="34" charset="-122"/>
                <a:cs typeface="Aptos" pitchFamily="34" charset="-120"/>
              </a:rPr>
              <a:t>Prompt Shields, separation, allow-listed tools, full audit.</a:t>
            </a:r>
            <a:endParaRPr lang="en-US" sz="830" dirty="0"/>
          </a:p>
        </p:txBody>
      </p:sp>
      <p:sp>
        <p:nvSpPr>
          <p:cNvPr id="27" name="Shape 24"/>
          <p:cNvSpPr/>
          <p:nvPr/>
        </p:nvSpPr>
        <p:spPr>
          <a:xfrm>
            <a:off x="6245352" y="3685032"/>
            <a:ext cx="5138928" cy="1408176"/>
          </a:xfrm>
          <a:prstGeom prst="roundRect">
            <a:avLst/>
          </a:prstGeom>
          <a:solidFill>
            <a:srgbClr val="1F2426"/>
          </a:solidFill>
          <a:ln w="11430">
            <a:solidFill>
              <a:srgbClr val="6D9A6F"/>
            </a:solidFill>
            <a:prstDash val="solid"/>
          </a:ln>
        </p:spPr>
      </p:sp>
      <p:sp>
        <p:nvSpPr>
          <p:cNvPr id="28" name="Shape 25"/>
          <p:cNvSpPr/>
          <p:nvPr/>
        </p:nvSpPr>
        <p:spPr>
          <a:xfrm>
            <a:off x="6245352" y="3685032"/>
            <a:ext cx="77724" cy="1408176"/>
          </a:xfrm>
          <a:prstGeom prst="rect">
            <a:avLst/>
          </a:prstGeom>
          <a:solidFill>
            <a:srgbClr val="6D9A6F"/>
          </a:solidFill>
          <a:ln w="6350">
            <a:solidFill>
              <a:srgbClr val="6D9A6F"/>
            </a:solidFill>
            <a:prstDash val="solid"/>
          </a:ln>
        </p:spPr>
      </p:sp>
      <p:sp>
        <p:nvSpPr>
          <p:cNvPr id="29" name="Shape 26"/>
          <p:cNvSpPr/>
          <p:nvPr/>
        </p:nvSpPr>
        <p:spPr>
          <a:xfrm>
            <a:off x="6501384" y="4078224"/>
            <a:ext cx="512064" cy="512064"/>
          </a:xfrm>
          <a:prstGeom prst="ellipse">
            <a:avLst/>
          </a:prstGeom>
          <a:solidFill>
            <a:srgbClr val="6D9A6F"/>
          </a:solidFill>
          <a:ln w="6350">
            <a:solidFill>
              <a:srgbClr val="6D9A6F"/>
            </a:solidFill>
            <a:prstDash val="solid"/>
          </a:ln>
        </p:spPr>
      </p:sp>
      <p:sp>
        <p:nvSpPr>
          <p:cNvPr id="30" name="Text 27"/>
          <p:cNvSpPr/>
          <p:nvPr/>
        </p:nvSpPr>
        <p:spPr>
          <a:xfrm>
            <a:off x="6501384" y="4261104"/>
            <a:ext cx="512064" cy="7315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31" name="Text 28"/>
          <p:cNvSpPr/>
          <p:nvPr/>
        </p:nvSpPr>
        <p:spPr>
          <a:xfrm>
            <a:off x="7232904" y="3968496"/>
            <a:ext cx="3611880" cy="155448"/>
          </a:xfrm>
          <a:prstGeom prst="rect">
            <a:avLst/>
          </a:prstGeom>
          <a:noFill/>
          <a:ln/>
        </p:spPr>
        <p:txBody>
          <a:bodyPr wrap="square" lIns="0" tIns="0" rIns="0" bIns="0" rtlCol="0" anchor="ctr">
            <a:normAutofit/>
          </a:bodyPr>
          <a:lstStyle/>
          <a:p>
            <a:pPr algn="l" indent="0" marL="0">
              <a:buNone/>
            </a:pPr>
            <a:r>
              <a:rPr lang="en-US" sz="1220" b="1" dirty="0">
                <a:solidFill>
                  <a:srgbClr val="FFFFFF"/>
                </a:solidFill>
                <a:latin typeface="Bahnschrift SemiBold" pitchFamily="34" charset="0"/>
                <a:ea typeface="Bahnschrift SemiBold" pitchFamily="34" charset="-122"/>
                <a:cs typeface="Bahnschrift SemiBold" pitchFamily="34" charset="-120"/>
              </a:rPr>
              <a:t>Separate planes</a:t>
            </a:r>
            <a:endParaRPr lang="en-US" sz="1220" dirty="0"/>
          </a:p>
        </p:txBody>
      </p:sp>
      <p:sp>
        <p:nvSpPr>
          <p:cNvPr id="32" name="Text 29"/>
          <p:cNvSpPr/>
          <p:nvPr/>
        </p:nvSpPr>
        <p:spPr>
          <a:xfrm>
            <a:off x="7232904" y="4389120"/>
            <a:ext cx="3611880" cy="237744"/>
          </a:xfrm>
          <a:prstGeom prst="rect">
            <a:avLst/>
          </a:prstGeom>
          <a:noFill/>
          <a:ln/>
        </p:spPr>
        <p:txBody>
          <a:bodyPr wrap="square" lIns="0" tIns="0" rIns="0" bIns="0" rtlCol="0" anchor="ctr">
            <a:normAutofit/>
          </a:bodyPr>
          <a:lstStyle/>
          <a:p>
            <a:pPr algn="l" indent="0" marL="0">
              <a:buNone/>
            </a:pPr>
            <a:r>
              <a:rPr lang="en-US" sz="830" b="1" dirty="0">
                <a:solidFill>
                  <a:srgbClr val="AEB9BA"/>
                </a:solidFill>
                <a:latin typeface="Aptos" pitchFamily="34" charset="0"/>
                <a:ea typeface="Aptos" pitchFamily="34" charset="-122"/>
                <a:cs typeface="Aptos" pitchFamily="34" charset="-120"/>
              </a:rPr>
              <a:t>Azure RBAC ≠ Fabric roles ≠ Foundry RBAC ≠ app roles.</a:t>
            </a:r>
            <a:endParaRPr lang="en-US" sz="830" dirty="0"/>
          </a:p>
        </p:txBody>
      </p:sp>
      <p:sp>
        <p:nvSpPr>
          <p:cNvPr id="33" name="Text 30"/>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AEB9BA"/>
                </a:solidFill>
                <a:latin typeface="Aptos" pitchFamily="34" charset="0"/>
                <a:ea typeface="Aptos" pitchFamily="34" charset="-122"/>
                <a:cs typeface="Aptos" pitchFamily="34" charset="-120"/>
              </a:rPr>
              <a:t>FAQ F/G | faq.md Q25–Q36  •  security-governance-and-threat-model.md</a:t>
            </a:r>
            <a:endParaRPr lang="en-US" sz="660" dirty="0"/>
          </a:p>
        </p:txBody>
      </p:sp>
      <p:sp>
        <p:nvSpPr>
          <p:cNvPr id="34" name="Shape 31"/>
          <p:cNvSpPr/>
          <p:nvPr/>
        </p:nvSpPr>
        <p:spPr>
          <a:xfrm>
            <a:off x="0" y="6483096"/>
            <a:ext cx="12191695" cy="374904"/>
          </a:xfrm>
          <a:prstGeom prst="rect">
            <a:avLst/>
          </a:prstGeom>
          <a:solidFill>
            <a:srgbClr val="1F2426"/>
          </a:solidFill>
          <a:ln w="6350">
            <a:solidFill>
              <a:srgbClr val="1F2426"/>
            </a:solidFill>
            <a:prstDash val="solid"/>
          </a:ln>
        </p:spPr>
      </p:sp>
      <p:sp>
        <p:nvSpPr>
          <p:cNvPr id="35" name="Shape 32"/>
          <p:cNvSpPr/>
          <p:nvPr/>
        </p:nvSpPr>
        <p:spPr>
          <a:xfrm>
            <a:off x="384048" y="6547104"/>
            <a:ext cx="3547872" cy="182880"/>
          </a:xfrm>
          <a:prstGeom prst="roundRect">
            <a:avLst/>
          </a:prstGeom>
          <a:solidFill>
            <a:srgbClr val="465057"/>
          </a:solidFill>
          <a:ln w="3175">
            <a:solidFill>
              <a:srgbClr val="465057"/>
            </a:solidFill>
            <a:prstDash val="solid"/>
          </a:ln>
        </p:spPr>
      </p:sp>
      <p:sp>
        <p:nvSpPr>
          <p:cNvPr id="36" name="Text 33"/>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DDE4E1"/>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37" name="Text 34"/>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DDE4E1"/>
                </a:solidFill>
                <a:latin typeface="Aptos" pitchFamily="34" charset="0"/>
                <a:ea typeface="Aptos" pitchFamily="34" charset="-122"/>
                <a:cs typeface="Aptos" pitchFamily="34" charset="-120"/>
              </a:rPr>
              <a:t>FAQ &amp; VALIDATION BACKUP  •  04 / 08</a:t>
            </a:r>
            <a:endParaRPr lang="en-US" sz="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7A261C"/>
          </a:solidFill>
          <a:ln w="5080">
            <a:solidFill>
              <a:srgbClr val="7A261C"/>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BACKUP 5</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FAQ BACKUP</a:t>
            </a:r>
            <a:endParaRPr lang="en-US" sz="810" dirty="0"/>
          </a:p>
        </p:txBody>
      </p:sp>
      <p:sp>
        <p:nvSpPr>
          <p:cNvPr id="7" name="Text 5"/>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How does it operate, control cost, and scale to four countries?</a:t>
            </a:r>
            <a:endParaRPr lang="en-US" sz="2550" dirty="0"/>
          </a:p>
        </p:txBody>
      </p:sp>
      <p:sp>
        <p:nvSpPr>
          <p:cNvPr id="8" name="Shape 6"/>
          <p:cNvSpPr/>
          <p:nvPr/>
        </p:nvSpPr>
        <p:spPr>
          <a:xfrm>
            <a:off x="457200" y="1188720"/>
            <a:ext cx="1378915" cy="246888"/>
          </a:xfrm>
          <a:prstGeom prst="roundRect">
            <a:avLst/>
          </a:prstGeom>
          <a:solidFill>
            <a:srgbClr val="7A261C"/>
          </a:solidFill>
          <a:ln w="5080">
            <a:solidFill>
              <a:srgbClr val="7A261C"/>
            </a:solidFill>
            <a:prstDash val="solid"/>
          </a:ln>
        </p:spPr>
      </p:sp>
      <p:sp>
        <p:nvSpPr>
          <p:cNvPr id="9" name="Text 7"/>
          <p:cNvSpPr/>
          <p:nvPr/>
        </p:nvSpPr>
        <p:spPr>
          <a:xfrm>
            <a:off x="576072" y="1239012"/>
            <a:ext cx="1141171"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OPERATIONS + SCALE</a:t>
            </a:r>
            <a:endParaRPr lang="en-US" sz="720" dirty="0"/>
          </a:p>
        </p:txBody>
      </p:sp>
      <p:sp>
        <p:nvSpPr>
          <p:cNvPr id="10" name="Shape 8"/>
          <p:cNvSpPr/>
          <p:nvPr/>
        </p:nvSpPr>
        <p:spPr>
          <a:xfrm>
            <a:off x="548640" y="1719072"/>
            <a:ext cx="11064240" cy="731520"/>
          </a:xfrm>
          <a:prstGeom prst="roundRect">
            <a:avLst/>
          </a:prstGeom>
          <a:solidFill>
            <a:srgbClr val="FFFFFF"/>
          </a:solidFill>
          <a:ln w="8890">
            <a:solidFill>
              <a:srgbClr val="DDE4E1"/>
            </a:solidFill>
            <a:prstDash val="solid"/>
          </a:ln>
        </p:spPr>
      </p:sp>
      <p:sp>
        <p:nvSpPr>
          <p:cNvPr id="11" name="Shape 9"/>
          <p:cNvSpPr/>
          <p:nvPr/>
        </p:nvSpPr>
        <p:spPr>
          <a:xfrm>
            <a:off x="548640" y="1719072"/>
            <a:ext cx="77724" cy="731520"/>
          </a:xfrm>
          <a:prstGeom prst="rect">
            <a:avLst/>
          </a:prstGeom>
          <a:solidFill>
            <a:srgbClr val="E3A72F"/>
          </a:solidFill>
          <a:ln w="6350">
            <a:solidFill>
              <a:srgbClr val="E3A72F"/>
            </a:solidFill>
            <a:prstDash val="solid"/>
          </a:ln>
        </p:spPr>
      </p:sp>
      <p:sp>
        <p:nvSpPr>
          <p:cNvPr id="12" name="Text 10"/>
          <p:cNvSpPr/>
          <p:nvPr/>
        </p:nvSpPr>
        <p:spPr>
          <a:xfrm>
            <a:off x="850392" y="1993392"/>
            <a:ext cx="1280160" cy="118872"/>
          </a:xfrm>
          <a:prstGeom prst="rect">
            <a:avLst/>
          </a:prstGeom>
          <a:noFill/>
          <a:ln/>
        </p:spPr>
        <p:txBody>
          <a:bodyPr wrap="square" lIns="0" tIns="0" rIns="0" bIns="0" rtlCol="0" anchor="ctr">
            <a:normAutofit/>
          </a:bodyPr>
          <a:lstStyle/>
          <a:p>
            <a:pPr algn="l" indent="0" marL="0">
              <a:buNone/>
            </a:pPr>
            <a:r>
              <a:rPr lang="en-US" sz="860" b="1" spc="90" kern="0" dirty="0">
                <a:solidFill>
                  <a:srgbClr val="E3A72F"/>
                </a:solidFill>
                <a:latin typeface="Aptos" pitchFamily="34" charset="0"/>
                <a:ea typeface="Aptos" pitchFamily="34" charset="-122"/>
                <a:cs typeface="Aptos" pitchFamily="34" charset="-120"/>
              </a:rPr>
              <a:t>CAPACITY</a:t>
            </a:r>
            <a:endParaRPr lang="en-US" sz="860" dirty="0"/>
          </a:p>
        </p:txBody>
      </p:sp>
      <p:sp>
        <p:nvSpPr>
          <p:cNvPr id="13" name="Text 11"/>
          <p:cNvSpPr/>
          <p:nvPr/>
        </p:nvSpPr>
        <p:spPr>
          <a:xfrm>
            <a:off x="2240280" y="1920240"/>
            <a:ext cx="8823960" cy="182880"/>
          </a:xfrm>
          <a:prstGeom prst="rect">
            <a:avLst/>
          </a:prstGeom>
          <a:noFill/>
          <a:ln/>
        </p:spPr>
        <p:txBody>
          <a:bodyPr wrap="square" lIns="0" tIns="0" rIns="0" bIns="0" rtlCol="0" anchor="ctr">
            <a:normAutofit/>
          </a:bodyPr>
          <a:lstStyle/>
          <a:p>
            <a:pPr algn="l" indent="0" marL="0">
              <a:buNone/>
            </a:pPr>
            <a:r>
              <a:rPr lang="en-US" sz="980" b="1" dirty="0">
                <a:solidFill>
                  <a:srgbClr val="202729"/>
                </a:solidFill>
                <a:latin typeface="Aptos" pitchFamily="34" charset="0"/>
                <a:ea typeface="Aptos" pitchFamily="34" charset="-122"/>
                <a:cs typeface="Aptos" pitchFamily="34" charset="-120"/>
              </a:rPr>
              <a:t>F2 initial; F4 only after measured contention. No invented price or F64 licensing shortcut.</a:t>
            </a:r>
            <a:endParaRPr lang="en-US" sz="980" dirty="0"/>
          </a:p>
        </p:txBody>
      </p:sp>
      <p:sp>
        <p:nvSpPr>
          <p:cNvPr id="14" name="Shape 12"/>
          <p:cNvSpPr/>
          <p:nvPr/>
        </p:nvSpPr>
        <p:spPr>
          <a:xfrm>
            <a:off x="548640" y="2706624"/>
            <a:ext cx="11064240" cy="731520"/>
          </a:xfrm>
          <a:prstGeom prst="roundRect">
            <a:avLst/>
          </a:prstGeom>
          <a:solidFill>
            <a:srgbClr val="FFFFFF"/>
          </a:solidFill>
          <a:ln w="8890">
            <a:solidFill>
              <a:srgbClr val="DDE4E1"/>
            </a:solidFill>
            <a:prstDash val="solid"/>
          </a:ln>
        </p:spPr>
      </p:sp>
      <p:sp>
        <p:nvSpPr>
          <p:cNvPr id="15" name="Shape 13"/>
          <p:cNvSpPr/>
          <p:nvPr/>
        </p:nvSpPr>
        <p:spPr>
          <a:xfrm>
            <a:off x="548640" y="2706624"/>
            <a:ext cx="77724" cy="731520"/>
          </a:xfrm>
          <a:prstGeom prst="rect">
            <a:avLst/>
          </a:prstGeom>
          <a:solidFill>
            <a:srgbClr val="B64A2D"/>
          </a:solidFill>
          <a:ln w="6350">
            <a:solidFill>
              <a:srgbClr val="B64A2D"/>
            </a:solidFill>
            <a:prstDash val="solid"/>
          </a:ln>
        </p:spPr>
      </p:sp>
      <p:sp>
        <p:nvSpPr>
          <p:cNvPr id="16" name="Text 14"/>
          <p:cNvSpPr/>
          <p:nvPr/>
        </p:nvSpPr>
        <p:spPr>
          <a:xfrm>
            <a:off x="850392" y="2980944"/>
            <a:ext cx="1280160" cy="118872"/>
          </a:xfrm>
          <a:prstGeom prst="rect">
            <a:avLst/>
          </a:prstGeom>
          <a:noFill/>
          <a:ln/>
        </p:spPr>
        <p:txBody>
          <a:bodyPr wrap="square" lIns="0" tIns="0" rIns="0" bIns="0" rtlCol="0" anchor="ctr">
            <a:normAutofit/>
          </a:bodyPr>
          <a:lstStyle/>
          <a:p>
            <a:pPr algn="l" indent="0" marL="0">
              <a:buNone/>
            </a:pPr>
            <a:r>
              <a:rPr lang="en-US" sz="860" b="1" spc="90" kern="0" dirty="0">
                <a:solidFill>
                  <a:srgbClr val="B64A2D"/>
                </a:solidFill>
                <a:latin typeface="Aptos" pitchFamily="34" charset="0"/>
                <a:ea typeface="Aptos" pitchFamily="34" charset="-122"/>
                <a:cs typeface="Aptos" pitchFamily="34" charset="-120"/>
              </a:rPr>
              <a:t>LIFECYCLE</a:t>
            </a:r>
            <a:endParaRPr lang="en-US" sz="860" dirty="0"/>
          </a:p>
        </p:txBody>
      </p:sp>
      <p:sp>
        <p:nvSpPr>
          <p:cNvPr id="17" name="Text 15"/>
          <p:cNvSpPr/>
          <p:nvPr/>
        </p:nvSpPr>
        <p:spPr>
          <a:xfrm>
            <a:off x="2240280" y="2907792"/>
            <a:ext cx="8823960" cy="182880"/>
          </a:xfrm>
          <a:prstGeom prst="rect">
            <a:avLst/>
          </a:prstGeom>
          <a:noFill/>
          <a:ln/>
        </p:spPr>
        <p:txBody>
          <a:bodyPr wrap="square" lIns="0" tIns="0" rIns="0" bIns="0" rtlCol="0" anchor="ctr">
            <a:normAutofit/>
          </a:bodyPr>
          <a:lstStyle/>
          <a:p>
            <a:pPr algn="l" indent="0" marL="0">
              <a:buNone/>
            </a:pPr>
            <a:r>
              <a:rPr lang="en-US" sz="980" b="1" dirty="0">
                <a:solidFill>
                  <a:srgbClr val="202729"/>
                </a:solidFill>
                <a:latin typeface="Aptos" pitchFamily="34" charset="0"/>
                <a:ea typeface="Aptos" pitchFamily="34" charset="-122"/>
                <a:cs typeface="Aptos" pitchFamily="34" charset="-120"/>
              </a:rPr>
              <a:t>01:00 Europe/Luxembourg non-prod pause check; readiness verified on resume; prod hard-denied.</a:t>
            </a:r>
            <a:endParaRPr lang="en-US" sz="980" dirty="0"/>
          </a:p>
        </p:txBody>
      </p:sp>
      <p:sp>
        <p:nvSpPr>
          <p:cNvPr id="18" name="Shape 16"/>
          <p:cNvSpPr/>
          <p:nvPr/>
        </p:nvSpPr>
        <p:spPr>
          <a:xfrm>
            <a:off x="548640" y="3694176"/>
            <a:ext cx="11064240" cy="731520"/>
          </a:xfrm>
          <a:prstGeom prst="roundRect">
            <a:avLst/>
          </a:prstGeom>
          <a:solidFill>
            <a:srgbClr val="FFFFFF"/>
          </a:solidFill>
          <a:ln w="8890">
            <a:solidFill>
              <a:srgbClr val="DDE4E1"/>
            </a:solidFill>
            <a:prstDash val="solid"/>
          </a:ln>
        </p:spPr>
      </p:sp>
      <p:sp>
        <p:nvSpPr>
          <p:cNvPr id="19" name="Shape 17"/>
          <p:cNvSpPr/>
          <p:nvPr/>
        </p:nvSpPr>
        <p:spPr>
          <a:xfrm>
            <a:off x="548640" y="3694176"/>
            <a:ext cx="77724" cy="731520"/>
          </a:xfrm>
          <a:prstGeom prst="rect">
            <a:avLst/>
          </a:prstGeom>
          <a:solidFill>
            <a:srgbClr val="147D74"/>
          </a:solidFill>
          <a:ln w="6350">
            <a:solidFill>
              <a:srgbClr val="147D74"/>
            </a:solidFill>
            <a:prstDash val="solid"/>
          </a:ln>
        </p:spPr>
      </p:sp>
      <p:sp>
        <p:nvSpPr>
          <p:cNvPr id="20" name="Text 18"/>
          <p:cNvSpPr/>
          <p:nvPr/>
        </p:nvSpPr>
        <p:spPr>
          <a:xfrm>
            <a:off x="850392" y="3968496"/>
            <a:ext cx="1280160" cy="118872"/>
          </a:xfrm>
          <a:prstGeom prst="rect">
            <a:avLst/>
          </a:prstGeom>
          <a:noFill/>
          <a:ln/>
        </p:spPr>
        <p:txBody>
          <a:bodyPr wrap="square" lIns="0" tIns="0" rIns="0" bIns="0" rtlCol="0" anchor="ctr">
            <a:normAutofit/>
          </a:bodyPr>
          <a:lstStyle/>
          <a:p>
            <a:pPr algn="l" indent="0" marL="0">
              <a:buNone/>
            </a:pPr>
            <a:r>
              <a:rPr lang="en-US" sz="860" b="1" spc="90" kern="0" dirty="0">
                <a:solidFill>
                  <a:srgbClr val="147D74"/>
                </a:solidFill>
                <a:latin typeface="Aptos" pitchFamily="34" charset="0"/>
                <a:ea typeface="Aptos" pitchFamily="34" charset="-122"/>
                <a:cs typeface="Aptos" pitchFamily="34" charset="-120"/>
              </a:rPr>
              <a:t>RESILIENCE</a:t>
            </a:r>
            <a:endParaRPr lang="en-US" sz="860" dirty="0"/>
          </a:p>
        </p:txBody>
      </p:sp>
      <p:sp>
        <p:nvSpPr>
          <p:cNvPr id="21" name="Text 19"/>
          <p:cNvSpPr/>
          <p:nvPr/>
        </p:nvSpPr>
        <p:spPr>
          <a:xfrm>
            <a:off x="2240280" y="3895344"/>
            <a:ext cx="8823960" cy="182880"/>
          </a:xfrm>
          <a:prstGeom prst="rect">
            <a:avLst/>
          </a:prstGeom>
          <a:noFill/>
          <a:ln/>
        </p:spPr>
        <p:txBody>
          <a:bodyPr wrap="square" lIns="0" tIns="0" rIns="0" bIns="0" rtlCol="0" anchor="ctr">
            <a:normAutofit/>
          </a:bodyPr>
          <a:lstStyle/>
          <a:p>
            <a:pPr algn="l" indent="0" marL="0">
              <a:buNone/>
            </a:pPr>
            <a:r>
              <a:rPr lang="en-US" sz="980" b="1" dirty="0">
                <a:solidFill>
                  <a:srgbClr val="202729"/>
                </a:solidFill>
                <a:latin typeface="Aptos" pitchFamily="34" charset="0"/>
                <a:ea typeface="Aptos" pitchFamily="34" charset="-122"/>
                <a:cs typeface="Aptos" pitchFamily="34" charset="-120"/>
              </a:rPr>
              <a:t>Live cloud → local replay → cached interactive → recording → static proof pack.</a:t>
            </a:r>
            <a:endParaRPr lang="en-US" sz="980" dirty="0"/>
          </a:p>
        </p:txBody>
      </p:sp>
      <p:sp>
        <p:nvSpPr>
          <p:cNvPr id="22" name="Shape 20"/>
          <p:cNvSpPr/>
          <p:nvPr/>
        </p:nvSpPr>
        <p:spPr>
          <a:xfrm>
            <a:off x="548640" y="4681728"/>
            <a:ext cx="11064240" cy="731520"/>
          </a:xfrm>
          <a:prstGeom prst="roundRect">
            <a:avLst/>
          </a:prstGeom>
          <a:solidFill>
            <a:srgbClr val="FFFFFF"/>
          </a:solidFill>
          <a:ln w="8890">
            <a:solidFill>
              <a:srgbClr val="DDE4E1"/>
            </a:solidFill>
            <a:prstDash val="solid"/>
          </a:ln>
        </p:spPr>
      </p:sp>
      <p:sp>
        <p:nvSpPr>
          <p:cNvPr id="23" name="Shape 21"/>
          <p:cNvSpPr/>
          <p:nvPr/>
        </p:nvSpPr>
        <p:spPr>
          <a:xfrm>
            <a:off x="548640" y="4681728"/>
            <a:ext cx="77724" cy="731520"/>
          </a:xfrm>
          <a:prstGeom prst="rect">
            <a:avLst/>
          </a:prstGeom>
          <a:solidFill>
            <a:srgbClr val="6D9A6F"/>
          </a:solidFill>
          <a:ln w="6350">
            <a:solidFill>
              <a:srgbClr val="6D9A6F"/>
            </a:solidFill>
            <a:prstDash val="solid"/>
          </a:ln>
        </p:spPr>
      </p:sp>
      <p:sp>
        <p:nvSpPr>
          <p:cNvPr id="24" name="Text 22"/>
          <p:cNvSpPr/>
          <p:nvPr/>
        </p:nvSpPr>
        <p:spPr>
          <a:xfrm>
            <a:off x="850392" y="4956048"/>
            <a:ext cx="1280160" cy="118872"/>
          </a:xfrm>
          <a:prstGeom prst="rect">
            <a:avLst/>
          </a:prstGeom>
          <a:noFill/>
          <a:ln/>
        </p:spPr>
        <p:txBody>
          <a:bodyPr wrap="square" lIns="0" tIns="0" rIns="0" bIns="0" rtlCol="0" anchor="ctr">
            <a:normAutofit/>
          </a:bodyPr>
          <a:lstStyle/>
          <a:p>
            <a:pPr algn="l" indent="0" marL="0">
              <a:buNone/>
            </a:pPr>
            <a:r>
              <a:rPr lang="en-US" sz="860" b="1" spc="90" kern="0" dirty="0">
                <a:solidFill>
                  <a:srgbClr val="6D9A6F"/>
                </a:solidFill>
                <a:latin typeface="Aptos" pitchFamily="34" charset="0"/>
                <a:ea typeface="Aptos" pitchFamily="34" charset="-122"/>
                <a:cs typeface="Aptos" pitchFamily="34" charset="-120"/>
              </a:rPr>
              <a:t>SCALE</a:t>
            </a:r>
            <a:endParaRPr lang="en-US" sz="860" dirty="0"/>
          </a:p>
        </p:txBody>
      </p:sp>
      <p:sp>
        <p:nvSpPr>
          <p:cNvPr id="25" name="Text 23"/>
          <p:cNvSpPr/>
          <p:nvPr/>
        </p:nvSpPr>
        <p:spPr>
          <a:xfrm>
            <a:off x="2240280" y="4882896"/>
            <a:ext cx="8823960" cy="182880"/>
          </a:xfrm>
          <a:prstGeom prst="rect">
            <a:avLst/>
          </a:prstGeom>
          <a:noFill/>
          <a:ln/>
        </p:spPr>
        <p:txBody>
          <a:bodyPr wrap="square" lIns="0" tIns="0" rIns="0" bIns="0" rtlCol="0" anchor="ctr">
            <a:normAutofit/>
          </a:bodyPr>
          <a:lstStyle/>
          <a:p>
            <a:pPr algn="l" indent="0" marL="0">
              <a:buNone/>
            </a:pPr>
            <a:r>
              <a:rPr lang="en-US" sz="980" b="1" dirty="0">
                <a:solidFill>
                  <a:srgbClr val="202729"/>
                </a:solidFill>
                <a:latin typeface="Aptos" pitchFamily="34" charset="0"/>
                <a:ea typeface="Aptos" pitchFamily="34" charset="-122"/>
                <a:cs typeface="Aptos" pitchFamily="34" charset="-120"/>
              </a:rPr>
              <a:t>Same versioned event/API contract; per-plant gateway, Event Hub authorization, relay, measured capacity.</a:t>
            </a:r>
            <a:endParaRPr lang="en-US" sz="980" dirty="0"/>
          </a:p>
        </p:txBody>
      </p:sp>
      <p:sp>
        <p:nvSpPr>
          <p:cNvPr id="26" name="Shape 24"/>
          <p:cNvSpPr/>
          <p:nvPr/>
        </p:nvSpPr>
        <p:spPr>
          <a:xfrm>
            <a:off x="548640" y="5760720"/>
            <a:ext cx="11064240" cy="237744"/>
          </a:xfrm>
          <a:prstGeom prst="roundRect">
            <a:avLst/>
          </a:prstGeom>
          <a:solidFill>
            <a:srgbClr val="1F2426"/>
          </a:solidFill>
          <a:ln w="6350">
            <a:solidFill>
              <a:srgbClr val="1F2426"/>
            </a:solidFill>
            <a:prstDash val="solid"/>
          </a:ln>
        </p:spPr>
      </p:sp>
      <p:sp>
        <p:nvSpPr>
          <p:cNvPr id="27" name="Text 25"/>
          <p:cNvSpPr/>
          <p:nvPr/>
        </p:nvSpPr>
        <p:spPr>
          <a:xfrm>
            <a:off x="786384" y="5838444"/>
            <a:ext cx="10588752" cy="68580"/>
          </a:xfrm>
          <a:prstGeom prst="rect">
            <a:avLst/>
          </a:prstGeom>
          <a:noFill/>
          <a:ln/>
        </p:spPr>
        <p:txBody>
          <a:bodyPr wrap="square" lIns="0" tIns="0" rIns="0" bIns="0" rtlCol="0" anchor="ctr">
            <a:normAutofit/>
          </a:bodyPr>
          <a:lstStyle/>
          <a:p>
            <a:pPr algn="ctr" indent="0" marL="0">
              <a:buNone/>
            </a:pPr>
            <a:r>
              <a:rPr lang="en-US" sz="680" b="1" dirty="0">
                <a:solidFill>
                  <a:srgbClr val="FFFFFF"/>
                </a:solidFill>
                <a:latin typeface="Aptos" pitchFamily="34" charset="0"/>
                <a:ea typeface="Aptos" pitchFamily="34" charset="-122"/>
                <a:cs typeface="Aptos" pitchFamily="34" charset="-120"/>
              </a:rPr>
              <a:t>No automatic production pause • no untested automatic cross-region failover • no production euro/hour claim before measurement</a:t>
            </a:r>
            <a:endParaRPr lang="en-US" sz="680" dirty="0"/>
          </a:p>
        </p:txBody>
      </p:sp>
      <p:sp>
        <p:nvSpPr>
          <p:cNvPr id="28" name="Text 26"/>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FAQ D/K/L | faq.md Q16–Q20, Q48–Q53  •  operations-and-cost.md</a:t>
            </a:r>
            <a:endParaRPr lang="en-US" sz="660" dirty="0"/>
          </a:p>
        </p:txBody>
      </p:sp>
      <p:sp>
        <p:nvSpPr>
          <p:cNvPr id="29" name="Shape 27"/>
          <p:cNvSpPr/>
          <p:nvPr/>
        </p:nvSpPr>
        <p:spPr>
          <a:xfrm>
            <a:off x="0" y="6483096"/>
            <a:ext cx="12191695" cy="374904"/>
          </a:xfrm>
          <a:prstGeom prst="rect">
            <a:avLst/>
          </a:prstGeom>
          <a:solidFill>
            <a:srgbClr val="E9E7E1"/>
          </a:solidFill>
          <a:ln w="6350">
            <a:solidFill>
              <a:srgbClr val="E9E7E1"/>
            </a:solidFill>
            <a:prstDash val="solid"/>
          </a:ln>
        </p:spPr>
      </p:sp>
      <p:sp>
        <p:nvSpPr>
          <p:cNvPr id="30" name="Shape 28"/>
          <p:cNvSpPr/>
          <p:nvPr/>
        </p:nvSpPr>
        <p:spPr>
          <a:xfrm>
            <a:off x="384048" y="6547104"/>
            <a:ext cx="3547872" cy="182880"/>
          </a:xfrm>
          <a:prstGeom prst="roundRect">
            <a:avLst/>
          </a:prstGeom>
          <a:solidFill>
            <a:srgbClr val="FFFFFF"/>
          </a:solidFill>
          <a:ln w="3175">
            <a:solidFill>
              <a:srgbClr val="DDE4E1"/>
            </a:solidFill>
            <a:prstDash val="solid"/>
          </a:ln>
        </p:spPr>
      </p:sp>
      <p:sp>
        <p:nvSpPr>
          <p:cNvPr id="31" name="Text 29"/>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32" name="Text 30"/>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FAQ &amp; VALIDATION BACKUP  •  05 / 08</a:t>
            </a:r>
            <a:endParaRPr lang="en-US" sz="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719"/>
        </a:solidFill>
      </p:bgPr>
    </p:bg>
    <p:spTree>
      <p:nvGrpSpPr>
        <p:cNvPr id="1" name=""/>
        <p:cNvGrpSpPr/>
        <p:nvPr/>
      </p:nvGrpSpPr>
      <p:grpSpPr>
        <a:xfrm>
          <a:off x="0" y="0"/>
          <a:ext cx="0" cy="0"/>
          <a:chOff x="0" y="0"/>
          <a:chExt cx="0" cy="0"/>
        </a:xfrm>
      </p:grpSpPr>
      <p:pic>
        <p:nvPicPr>
          <p:cNvPr id="2" name="Image 0" descr="D:\work\20260724 - Novasteel 3\tools\presentation\assets\steel-texture.png">    </p:cNvPr>
          <p:cNvPicPr>
            <a:picLocks noChangeAspect="1"/>
          </p:cNvPicPr>
          <p:nvPr/>
        </p:nvPicPr>
        <p:blipFill>
          <a:blip r:embed="rId1">
            <a:alphaModFix amt="34000"/>
          </a:blip>
          <a:stretch>
            <a:fillRect/>
          </a:stretch>
        </p:blipFill>
        <p:spPr>
          <a:xfrm>
            <a:off x="0" y="0"/>
            <a:ext cx="12191695" cy="6858000"/>
          </a:xfrm>
          <a:prstGeom prst="rect">
            <a:avLst/>
          </a:prstGeom>
        </p:spPr>
      </p:pic>
      <p:sp>
        <p:nvSpPr>
          <p:cNvPr id="3" name="Shape 0"/>
          <p:cNvSpPr/>
          <p:nvPr/>
        </p:nvSpPr>
        <p:spPr>
          <a:xfrm>
            <a:off x="457200" y="274320"/>
            <a:ext cx="822960" cy="246888"/>
          </a:xfrm>
          <a:prstGeom prst="roundRect">
            <a:avLst/>
          </a:prstGeom>
          <a:solidFill>
            <a:srgbClr val="7A261C"/>
          </a:solidFill>
          <a:ln w="5080">
            <a:solidFill>
              <a:srgbClr val="7A261C"/>
            </a:solidFill>
            <a:prstDash val="solid"/>
          </a:ln>
        </p:spPr>
      </p:sp>
      <p:sp>
        <p:nvSpPr>
          <p:cNvPr id="4" name="Text 1"/>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BACKUP 6</a:t>
            </a:r>
            <a:endParaRPr lang="en-US" sz="720" dirty="0"/>
          </a:p>
        </p:txBody>
      </p:sp>
      <p:sp>
        <p:nvSpPr>
          <p:cNvPr id="5" name="Text 2"/>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AEB9BA"/>
                </a:solidFill>
                <a:latin typeface="Aptos" pitchFamily="34" charset="0"/>
                <a:ea typeface="Aptos" pitchFamily="34" charset="-122"/>
                <a:cs typeface="Aptos" pitchFamily="34" charset="-120"/>
              </a:rPr>
              <a:t>FAQ BACKUP</a:t>
            </a:r>
            <a:endParaRPr lang="en-US" sz="810" dirty="0"/>
          </a:p>
        </p:txBody>
      </p:sp>
      <p:sp>
        <p:nvSpPr>
          <p:cNvPr id="6" name="Text 3"/>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FFFFFF"/>
                </a:solidFill>
                <a:latin typeface="Bahnschrift SemiBold" pitchFamily="34" charset="0"/>
                <a:ea typeface="Bahnschrift SemiBold" pitchFamily="34" charset="-122"/>
                <a:cs typeface="Bahnschrift SemiBold" pitchFamily="34" charset="-120"/>
              </a:rPr>
              <a:t>What are the honest limitations and release gates?</a:t>
            </a:r>
            <a:endParaRPr lang="en-US" sz="2550" dirty="0"/>
          </a:p>
        </p:txBody>
      </p:sp>
      <p:sp>
        <p:nvSpPr>
          <p:cNvPr id="7" name="Shape 4"/>
          <p:cNvSpPr/>
          <p:nvPr/>
        </p:nvSpPr>
        <p:spPr>
          <a:xfrm>
            <a:off x="457200" y="1188720"/>
            <a:ext cx="822960" cy="246888"/>
          </a:xfrm>
          <a:prstGeom prst="roundRect">
            <a:avLst/>
          </a:prstGeom>
          <a:solidFill>
            <a:srgbClr val="7A261C"/>
          </a:solidFill>
          <a:ln w="5080">
            <a:solidFill>
              <a:srgbClr val="7A261C"/>
            </a:solidFill>
            <a:prstDash val="solid"/>
          </a:ln>
        </p:spPr>
      </p:sp>
      <p:sp>
        <p:nvSpPr>
          <p:cNvPr id="8" name="Text 5"/>
          <p:cNvSpPr/>
          <p:nvPr/>
        </p:nvSpPr>
        <p:spPr>
          <a:xfrm>
            <a:off x="576072" y="12390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CANDOR</a:t>
            </a:r>
            <a:endParaRPr lang="en-US" sz="720" dirty="0"/>
          </a:p>
        </p:txBody>
      </p:sp>
      <p:sp>
        <p:nvSpPr>
          <p:cNvPr id="9" name="Shape 6"/>
          <p:cNvSpPr/>
          <p:nvPr/>
        </p:nvSpPr>
        <p:spPr>
          <a:xfrm>
            <a:off x="603504" y="1755648"/>
            <a:ext cx="5157216" cy="1033272"/>
          </a:xfrm>
          <a:prstGeom prst="roundRect">
            <a:avLst/>
          </a:prstGeom>
          <a:solidFill>
            <a:srgbClr val="1F2426"/>
          </a:solidFill>
          <a:ln w="11430">
            <a:solidFill>
              <a:srgbClr val="B64A2D"/>
            </a:solidFill>
            <a:prstDash val="solid"/>
          </a:ln>
        </p:spPr>
      </p:sp>
      <p:sp>
        <p:nvSpPr>
          <p:cNvPr id="10" name="Shape 7"/>
          <p:cNvSpPr/>
          <p:nvPr/>
        </p:nvSpPr>
        <p:spPr>
          <a:xfrm>
            <a:off x="603504" y="1755648"/>
            <a:ext cx="77724" cy="1033272"/>
          </a:xfrm>
          <a:prstGeom prst="rect">
            <a:avLst/>
          </a:prstGeom>
          <a:solidFill>
            <a:srgbClr val="B64A2D"/>
          </a:solidFill>
          <a:ln w="6350">
            <a:solidFill>
              <a:srgbClr val="B64A2D"/>
            </a:solidFill>
            <a:prstDash val="solid"/>
          </a:ln>
        </p:spPr>
      </p:sp>
      <p:sp>
        <p:nvSpPr>
          <p:cNvPr id="11" name="Text 8"/>
          <p:cNvSpPr/>
          <p:nvPr/>
        </p:nvSpPr>
        <p:spPr>
          <a:xfrm>
            <a:off x="859536" y="2002536"/>
            <a:ext cx="1920240" cy="118872"/>
          </a:xfrm>
          <a:prstGeom prst="rect">
            <a:avLst/>
          </a:prstGeom>
          <a:noFill/>
          <a:ln/>
        </p:spPr>
        <p:txBody>
          <a:bodyPr wrap="square" lIns="0" tIns="0" rIns="0" bIns="0" rtlCol="0" anchor="ctr">
            <a:normAutofit/>
          </a:bodyPr>
          <a:lstStyle/>
          <a:p>
            <a:pPr algn="l" indent="0" marL="0">
              <a:buNone/>
            </a:pPr>
            <a:r>
              <a:rPr lang="en-US" sz="810" b="1" spc="80" kern="0" dirty="0">
                <a:solidFill>
                  <a:srgbClr val="B64A2D"/>
                </a:solidFill>
                <a:latin typeface="Aptos" pitchFamily="34" charset="0"/>
                <a:ea typeface="Aptos" pitchFamily="34" charset="-122"/>
                <a:cs typeface="Aptos" pitchFamily="34" charset="-120"/>
              </a:rPr>
              <a:t>SYNTHETIC ONLY</a:t>
            </a:r>
            <a:endParaRPr lang="en-US" sz="810" dirty="0"/>
          </a:p>
        </p:txBody>
      </p:sp>
      <p:sp>
        <p:nvSpPr>
          <p:cNvPr id="12" name="Text 9"/>
          <p:cNvSpPr/>
          <p:nvPr/>
        </p:nvSpPr>
        <p:spPr>
          <a:xfrm>
            <a:off x="859536" y="2350008"/>
            <a:ext cx="4389120" cy="164592"/>
          </a:xfrm>
          <a:prstGeom prst="rect">
            <a:avLst/>
          </a:prstGeom>
          <a:noFill/>
          <a:ln/>
        </p:spPr>
        <p:txBody>
          <a:bodyPr wrap="square" lIns="0" tIns="0" rIns="0" bIns="0" rtlCol="0" anchor="ctr">
            <a:normAutofit/>
          </a:bodyPr>
          <a:lstStyle/>
          <a:p>
            <a:pPr algn="l" indent="0" marL="0">
              <a:buNone/>
            </a:pPr>
            <a:r>
              <a:rPr lang="en-US" sz="830" b="1" dirty="0">
                <a:solidFill>
                  <a:srgbClr val="AEB9BA"/>
                </a:solidFill>
                <a:latin typeface="Aptos" pitchFamily="34" charset="0"/>
                <a:ea typeface="Aptos" pitchFamily="34" charset="-122"/>
                <a:cs typeface="Aptos" pitchFamily="34" charset="-120"/>
              </a:rPr>
              <a:t>Headline outcomes remain targets, not field results.</a:t>
            </a:r>
            <a:endParaRPr lang="en-US" sz="830" dirty="0"/>
          </a:p>
        </p:txBody>
      </p:sp>
      <p:sp>
        <p:nvSpPr>
          <p:cNvPr id="13" name="Shape 10"/>
          <p:cNvSpPr/>
          <p:nvPr/>
        </p:nvSpPr>
        <p:spPr>
          <a:xfrm>
            <a:off x="6272784" y="1755648"/>
            <a:ext cx="5157216" cy="1033272"/>
          </a:xfrm>
          <a:prstGeom prst="roundRect">
            <a:avLst/>
          </a:prstGeom>
          <a:solidFill>
            <a:srgbClr val="1F2426"/>
          </a:solidFill>
          <a:ln w="11430">
            <a:solidFill>
              <a:srgbClr val="E3A72F"/>
            </a:solidFill>
            <a:prstDash val="solid"/>
          </a:ln>
        </p:spPr>
      </p:sp>
      <p:sp>
        <p:nvSpPr>
          <p:cNvPr id="14" name="Shape 11"/>
          <p:cNvSpPr/>
          <p:nvPr/>
        </p:nvSpPr>
        <p:spPr>
          <a:xfrm>
            <a:off x="6272784" y="1755648"/>
            <a:ext cx="77724" cy="1033272"/>
          </a:xfrm>
          <a:prstGeom prst="rect">
            <a:avLst/>
          </a:prstGeom>
          <a:solidFill>
            <a:srgbClr val="E3A72F"/>
          </a:solidFill>
          <a:ln w="6350">
            <a:solidFill>
              <a:srgbClr val="E3A72F"/>
            </a:solidFill>
            <a:prstDash val="solid"/>
          </a:ln>
        </p:spPr>
      </p:sp>
      <p:sp>
        <p:nvSpPr>
          <p:cNvPr id="15" name="Text 12"/>
          <p:cNvSpPr/>
          <p:nvPr/>
        </p:nvSpPr>
        <p:spPr>
          <a:xfrm>
            <a:off x="6528816" y="2002536"/>
            <a:ext cx="1920240" cy="118872"/>
          </a:xfrm>
          <a:prstGeom prst="rect">
            <a:avLst/>
          </a:prstGeom>
          <a:noFill/>
          <a:ln/>
        </p:spPr>
        <p:txBody>
          <a:bodyPr wrap="square" lIns="0" tIns="0" rIns="0" bIns="0" rtlCol="0" anchor="ctr">
            <a:normAutofit/>
          </a:bodyPr>
          <a:lstStyle/>
          <a:p>
            <a:pPr algn="l" indent="0" marL="0">
              <a:buNone/>
            </a:pPr>
            <a:r>
              <a:rPr lang="en-US" sz="810" b="1" spc="80" kern="0" dirty="0">
                <a:solidFill>
                  <a:srgbClr val="E3A72F"/>
                </a:solidFill>
                <a:latin typeface="Aptos" pitchFamily="34" charset="0"/>
                <a:ea typeface="Aptos" pitchFamily="34" charset="-122"/>
                <a:cs typeface="Aptos" pitchFamily="34" charset="-120"/>
              </a:rPr>
              <a:t>DAILY RUL</a:t>
            </a:r>
            <a:endParaRPr lang="en-US" sz="810" dirty="0"/>
          </a:p>
        </p:txBody>
      </p:sp>
      <p:sp>
        <p:nvSpPr>
          <p:cNvPr id="16" name="Text 13"/>
          <p:cNvSpPr/>
          <p:nvPr/>
        </p:nvSpPr>
        <p:spPr>
          <a:xfrm>
            <a:off x="6528816" y="2350008"/>
            <a:ext cx="4389120" cy="164592"/>
          </a:xfrm>
          <a:prstGeom prst="rect">
            <a:avLst/>
          </a:prstGeom>
          <a:noFill/>
          <a:ln/>
        </p:spPr>
        <p:txBody>
          <a:bodyPr wrap="square" lIns="0" tIns="0" rIns="0" bIns="0" rtlCol="0" anchor="ctr">
            <a:normAutofit/>
          </a:bodyPr>
          <a:lstStyle/>
          <a:p>
            <a:pPr algn="l" indent="0" marL="0">
              <a:buNone/>
            </a:pPr>
            <a:r>
              <a:rPr lang="en-US" sz="830" b="1" dirty="0">
                <a:solidFill>
                  <a:srgbClr val="AEB9BA"/>
                </a:solidFill>
                <a:latin typeface="Aptos" pitchFamily="34" charset="0"/>
                <a:ea typeface="Aptos" pitchFamily="34" charset="-122"/>
                <a:cs typeface="Aptos" pitchFamily="34" charset="-120"/>
              </a:rPr>
              <a:t>Pilot scoring is daily; near-real-time is a measured later enhancement.</a:t>
            </a:r>
            <a:endParaRPr lang="en-US" sz="830" dirty="0"/>
          </a:p>
        </p:txBody>
      </p:sp>
      <p:sp>
        <p:nvSpPr>
          <p:cNvPr id="17" name="Shape 14"/>
          <p:cNvSpPr/>
          <p:nvPr/>
        </p:nvSpPr>
        <p:spPr>
          <a:xfrm>
            <a:off x="603504" y="3236976"/>
            <a:ext cx="5157216" cy="1033272"/>
          </a:xfrm>
          <a:prstGeom prst="roundRect">
            <a:avLst/>
          </a:prstGeom>
          <a:solidFill>
            <a:srgbClr val="1F2426"/>
          </a:solidFill>
          <a:ln w="11430">
            <a:solidFill>
              <a:srgbClr val="147D74"/>
            </a:solidFill>
            <a:prstDash val="solid"/>
          </a:ln>
        </p:spPr>
      </p:sp>
      <p:sp>
        <p:nvSpPr>
          <p:cNvPr id="18" name="Shape 15"/>
          <p:cNvSpPr/>
          <p:nvPr/>
        </p:nvSpPr>
        <p:spPr>
          <a:xfrm>
            <a:off x="603504" y="3236976"/>
            <a:ext cx="77724" cy="1033272"/>
          </a:xfrm>
          <a:prstGeom prst="rect">
            <a:avLst/>
          </a:prstGeom>
          <a:solidFill>
            <a:srgbClr val="147D74"/>
          </a:solidFill>
          <a:ln w="6350">
            <a:solidFill>
              <a:srgbClr val="147D74"/>
            </a:solidFill>
            <a:prstDash val="solid"/>
          </a:ln>
        </p:spPr>
      </p:sp>
      <p:sp>
        <p:nvSpPr>
          <p:cNvPr id="19" name="Text 16"/>
          <p:cNvSpPr/>
          <p:nvPr/>
        </p:nvSpPr>
        <p:spPr>
          <a:xfrm>
            <a:off x="859536" y="3483864"/>
            <a:ext cx="1920240" cy="118872"/>
          </a:xfrm>
          <a:prstGeom prst="rect">
            <a:avLst/>
          </a:prstGeom>
          <a:noFill/>
          <a:ln/>
        </p:spPr>
        <p:txBody>
          <a:bodyPr wrap="square" lIns="0" tIns="0" rIns="0" bIns="0" rtlCol="0" anchor="ctr">
            <a:normAutofit/>
          </a:bodyPr>
          <a:lstStyle/>
          <a:p>
            <a:pPr algn="l" indent="0" marL="0">
              <a:buNone/>
            </a:pPr>
            <a:r>
              <a:rPr lang="en-US" sz="810" b="1" spc="80" kern="0" dirty="0">
                <a:solidFill>
                  <a:srgbClr val="147D74"/>
                </a:solidFill>
                <a:latin typeface="Aptos" pitchFamily="34" charset="0"/>
                <a:ea typeface="Aptos" pitchFamily="34" charset="-122"/>
                <a:cs typeface="Aptos" pitchFamily="34" charset="-120"/>
              </a:rPr>
              <a:t>CONTRIBUTOR SCOPE</a:t>
            </a:r>
            <a:endParaRPr lang="en-US" sz="810" dirty="0"/>
          </a:p>
        </p:txBody>
      </p:sp>
      <p:sp>
        <p:nvSpPr>
          <p:cNvPr id="20" name="Text 17"/>
          <p:cNvSpPr/>
          <p:nvPr/>
        </p:nvSpPr>
        <p:spPr>
          <a:xfrm>
            <a:off x="859536" y="3831336"/>
            <a:ext cx="4389120" cy="164592"/>
          </a:xfrm>
          <a:prstGeom prst="rect">
            <a:avLst/>
          </a:prstGeom>
          <a:noFill/>
          <a:ln/>
        </p:spPr>
        <p:txBody>
          <a:bodyPr wrap="square" lIns="0" tIns="0" rIns="0" bIns="0" rtlCol="0" anchor="ctr">
            <a:normAutofit/>
          </a:bodyPr>
          <a:lstStyle/>
          <a:p>
            <a:pPr algn="l" indent="0" marL="0">
              <a:buNone/>
            </a:pPr>
            <a:r>
              <a:rPr lang="en-US" sz="830" b="1" dirty="0">
                <a:solidFill>
                  <a:srgbClr val="AEB9BA"/>
                </a:solidFill>
                <a:latin typeface="Aptos" pitchFamily="34" charset="0"/>
                <a:ea typeface="Aptos" pitchFamily="34" charset="-122"/>
                <a:cs typeface="Aptos" pitchFamily="34" charset="-120"/>
              </a:rPr>
              <a:t>Custom Endpoint publisher role is isolated, not eliminated.</a:t>
            </a:r>
            <a:endParaRPr lang="en-US" sz="830" dirty="0"/>
          </a:p>
        </p:txBody>
      </p:sp>
      <p:sp>
        <p:nvSpPr>
          <p:cNvPr id="21" name="Shape 18"/>
          <p:cNvSpPr/>
          <p:nvPr/>
        </p:nvSpPr>
        <p:spPr>
          <a:xfrm>
            <a:off x="6272784" y="3236976"/>
            <a:ext cx="5157216" cy="1033272"/>
          </a:xfrm>
          <a:prstGeom prst="roundRect">
            <a:avLst/>
          </a:prstGeom>
          <a:solidFill>
            <a:srgbClr val="1F2426"/>
          </a:solidFill>
          <a:ln w="11430">
            <a:solidFill>
              <a:srgbClr val="6D9A6F"/>
            </a:solidFill>
            <a:prstDash val="solid"/>
          </a:ln>
        </p:spPr>
      </p:sp>
      <p:sp>
        <p:nvSpPr>
          <p:cNvPr id="22" name="Shape 19"/>
          <p:cNvSpPr/>
          <p:nvPr/>
        </p:nvSpPr>
        <p:spPr>
          <a:xfrm>
            <a:off x="6272784" y="3236976"/>
            <a:ext cx="77724" cy="1033272"/>
          </a:xfrm>
          <a:prstGeom prst="rect">
            <a:avLst/>
          </a:prstGeom>
          <a:solidFill>
            <a:srgbClr val="6D9A6F"/>
          </a:solidFill>
          <a:ln w="6350">
            <a:solidFill>
              <a:srgbClr val="6D9A6F"/>
            </a:solidFill>
            <a:prstDash val="solid"/>
          </a:ln>
        </p:spPr>
      </p:sp>
      <p:sp>
        <p:nvSpPr>
          <p:cNvPr id="23" name="Text 20"/>
          <p:cNvSpPr/>
          <p:nvPr/>
        </p:nvSpPr>
        <p:spPr>
          <a:xfrm>
            <a:off x="6528816" y="3483864"/>
            <a:ext cx="1920240" cy="118872"/>
          </a:xfrm>
          <a:prstGeom prst="rect">
            <a:avLst/>
          </a:prstGeom>
          <a:noFill/>
          <a:ln/>
        </p:spPr>
        <p:txBody>
          <a:bodyPr wrap="square" lIns="0" tIns="0" rIns="0" bIns="0" rtlCol="0" anchor="ctr">
            <a:normAutofit/>
          </a:bodyPr>
          <a:lstStyle/>
          <a:p>
            <a:pPr algn="l" indent="0" marL="0">
              <a:buNone/>
            </a:pPr>
            <a:r>
              <a:rPr lang="en-US" sz="810" b="1" spc="80" kern="0" dirty="0">
                <a:solidFill>
                  <a:srgbClr val="6D9A6F"/>
                </a:solidFill>
                <a:latin typeface="Aptos" pitchFamily="34" charset="0"/>
                <a:ea typeface="Aptos" pitchFamily="34" charset="-122"/>
                <a:cs typeface="Aptos" pitchFamily="34" charset="-120"/>
              </a:rPr>
              <a:t>NO AUTO BCDR</a:t>
            </a:r>
            <a:endParaRPr lang="en-US" sz="810" dirty="0"/>
          </a:p>
        </p:txBody>
      </p:sp>
      <p:sp>
        <p:nvSpPr>
          <p:cNvPr id="24" name="Text 21"/>
          <p:cNvSpPr/>
          <p:nvPr/>
        </p:nvSpPr>
        <p:spPr>
          <a:xfrm>
            <a:off x="6528816" y="3831336"/>
            <a:ext cx="4389120" cy="164592"/>
          </a:xfrm>
          <a:prstGeom prst="rect">
            <a:avLst/>
          </a:prstGeom>
          <a:noFill/>
          <a:ln/>
        </p:spPr>
        <p:txBody>
          <a:bodyPr wrap="square" lIns="0" tIns="0" rIns="0" bIns="0" rtlCol="0" anchor="ctr">
            <a:normAutofit/>
          </a:bodyPr>
          <a:lstStyle/>
          <a:p>
            <a:pPr algn="l" indent="0" marL="0">
              <a:buNone/>
            </a:pPr>
            <a:r>
              <a:rPr lang="en-US" sz="830" b="1" dirty="0">
                <a:solidFill>
                  <a:srgbClr val="AEB9BA"/>
                </a:solidFill>
                <a:latin typeface="Aptos" pitchFamily="34" charset="0"/>
                <a:ea typeface="Aptos" pitchFamily="34" charset="-122"/>
                <a:cs typeface="Aptos" pitchFamily="34" charset="-120"/>
              </a:rPr>
              <a:t>Sweden Central recovery needs a tested EU restore design.</a:t>
            </a:r>
            <a:endParaRPr lang="en-US" sz="830" dirty="0"/>
          </a:p>
        </p:txBody>
      </p:sp>
      <p:sp>
        <p:nvSpPr>
          <p:cNvPr id="25" name="Text 22"/>
          <p:cNvSpPr/>
          <p:nvPr/>
        </p:nvSpPr>
        <p:spPr>
          <a:xfrm>
            <a:off x="621792" y="5074920"/>
            <a:ext cx="2194560" cy="137160"/>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Bahnschrift SemiBold" pitchFamily="34" charset="0"/>
                <a:ea typeface="Bahnschrift SemiBold" pitchFamily="34" charset="-122"/>
                <a:cs typeface="Bahnschrift SemiBold" pitchFamily="34" charset="-120"/>
              </a:rPr>
              <a:t>PRODUCTION GATES</a:t>
            </a:r>
            <a:endParaRPr lang="en-US" sz="1100" dirty="0"/>
          </a:p>
        </p:txBody>
      </p:sp>
      <p:sp>
        <p:nvSpPr>
          <p:cNvPr id="26" name="Shape 23"/>
          <p:cNvSpPr/>
          <p:nvPr/>
        </p:nvSpPr>
        <p:spPr>
          <a:xfrm>
            <a:off x="621792" y="5440680"/>
            <a:ext cx="146304" cy="146304"/>
          </a:xfrm>
          <a:prstGeom prst="ellipse">
            <a:avLst/>
          </a:prstGeom>
          <a:solidFill>
            <a:srgbClr val="B64A2D"/>
          </a:solidFill>
          <a:ln w="6350">
            <a:solidFill>
              <a:srgbClr val="B64A2D"/>
            </a:solidFill>
            <a:prstDash val="solid"/>
          </a:ln>
        </p:spPr>
      </p:sp>
      <p:sp>
        <p:nvSpPr>
          <p:cNvPr id="27" name="Text 24"/>
          <p:cNvSpPr/>
          <p:nvPr/>
        </p:nvSpPr>
        <p:spPr>
          <a:xfrm>
            <a:off x="859536" y="5458968"/>
            <a:ext cx="3108960" cy="73152"/>
          </a:xfrm>
          <a:prstGeom prst="rect">
            <a:avLst/>
          </a:prstGeom>
          <a:noFill/>
          <a:ln/>
        </p:spPr>
        <p:txBody>
          <a:bodyPr wrap="square" lIns="0" tIns="0" rIns="0" bIns="0" rtlCol="0" anchor="ctr">
            <a:normAutofit/>
          </a:bodyPr>
          <a:lstStyle/>
          <a:p>
            <a:pPr algn="l" indent="0" marL="0">
              <a:buNone/>
            </a:pPr>
            <a:r>
              <a:rPr lang="en-US" sz="685" b="1" dirty="0">
                <a:solidFill>
                  <a:srgbClr val="AEB9BA"/>
                </a:solidFill>
                <a:latin typeface="Aptos" pitchFamily="34" charset="0"/>
                <a:ea typeface="Aptos" pitchFamily="34" charset="-122"/>
                <a:cs typeface="Aptos" pitchFamily="34" charset="-120"/>
              </a:rPr>
              <a:t>Tenant quota / feature proof</a:t>
            </a:r>
            <a:endParaRPr lang="en-US" sz="685" dirty="0"/>
          </a:p>
        </p:txBody>
      </p:sp>
      <p:sp>
        <p:nvSpPr>
          <p:cNvPr id="28" name="Shape 25"/>
          <p:cNvSpPr/>
          <p:nvPr/>
        </p:nvSpPr>
        <p:spPr>
          <a:xfrm>
            <a:off x="4352544" y="5440680"/>
            <a:ext cx="146304" cy="146304"/>
          </a:xfrm>
          <a:prstGeom prst="ellipse">
            <a:avLst/>
          </a:prstGeom>
          <a:solidFill>
            <a:srgbClr val="B64A2D"/>
          </a:solidFill>
          <a:ln w="6350">
            <a:solidFill>
              <a:srgbClr val="B64A2D"/>
            </a:solidFill>
            <a:prstDash val="solid"/>
          </a:ln>
        </p:spPr>
      </p:sp>
      <p:sp>
        <p:nvSpPr>
          <p:cNvPr id="29" name="Text 26"/>
          <p:cNvSpPr/>
          <p:nvPr/>
        </p:nvSpPr>
        <p:spPr>
          <a:xfrm>
            <a:off x="4590288" y="5458968"/>
            <a:ext cx="3108960" cy="73152"/>
          </a:xfrm>
          <a:prstGeom prst="rect">
            <a:avLst/>
          </a:prstGeom>
          <a:noFill/>
          <a:ln/>
        </p:spPr>
        <p:txBody>
          <a:bodyPr wrap="square" lIns="0" tIns="0" rIns="0" bIns="0" rtlCol="0" anchor="ctr">
            <a:normAutofit/>
          </a:bodyPr>
          <a:lstStyle/>
          <a:p>
            <a:pPr algn="l" indent="0" marL="0">
              <a:buNone/>
            </a:pPr>
            <a:r>
              <a:rPr lang="en-US" sz="685" b="1" dirty="0">
                <a:solidFill>
                  <a:srgbClr val="AEB9BA"/>
                </a:solidFill>
                <a:latin typeface="Aptos" pitchFamily="34" charset="0"/>
                <a:ea typeface="Aptos" pitchFamily="34" charset="-122"/>
                <a:cs typeface="Aptos" pitchFamily="34" charset="-120"/>
              </a:rPr>
              <a:t>Custom Endpoint identity</a:t>
            </a:r>
            <a:endParaRPr lang="en-US" sz="685" dirty="0"/>
          </a:p>
        </p:txBody>
      </p:sp>
      <p:sp>
        <p:nvSpPr>
          <p:cNvPr id="30" name="Shape 27"/>
          <p:cNvSpPr/>
          <p:nvPr/>
        </p:nvSpPr>
        <p:spPr>
          <a:xfrm>
            <a:off x="8083296" y="5440680"/>
            <a:ext cx="146304" cy="146304"/>
          </a:xfrm>
          <a:prstGeom prst="ellipse">
            <a:avLst/>
          </a:prstGeom>
          <a:solidFill>
            <a:srgbClr val="B64A2D"/>
          </a:solidFill>
          <a:ln w="6350">
            <a:solidFill>
              <a:srgbClr val="B64A2D"/>
            </a:solidFill>
            <a:prstDash val="solid"/>
          </a:ln>
        </p:spPr>
      </p:sp>
      <p:sp>
        <p:nvSpPr>
          <p:cNvPr id="31" name="Text 28"/>
          <p:cNvSpPr/>
          <p:nvPr/>
        </p:nvSpPr>
        <p:spPr>
          <a:xfrm>
            <a:off x="8321040" y="5458968"/>
            <a:ext cx="3108960" cy="73152"/>
          </a:xfrm>
          <a:prstGeom prst="rect">
            <a:avLst/>
          </a:prstGeom>
          <a:noFill/>
          <a:ln/>
        </p:spPr>
        <p:txBody>
          <a:bodyPr wrap="square" lIns="0" tIns="0" rIns="0" bIns="0" rtlCol="0" anchor="ctr">
            <a:normAutofit/>
          </a:bodyPr>
          <a:lstStyle/>
          <a:p>
            <a:pPr algn="l" indent="0" marL="0">
              <a:buNone/>
            </a:pPr>
            <a:r>
              <a:rPr lang="en-US" sz="685" b="1" dirty="0">
                <a:solidFill>
                  <a:srgbClr val="AEB9BA"/>
                </a:solidFill>
                <a:latin typeface="Aptos" pitchFamily="34" charset="0"/>
                <a:ea typeface="Aptos" pitchFamily="34" charset="-122"/>
                <a:cs typeface="Aptos" pitchFamily="34" charset="-120"/>
              </a:rPr>
              <a:t>DPO / legal / AI Act</a:t>
            </a:r>
            <a:endParaRPr lang="en-US" sz="685" dirty="0"/>
          </a:p>
        </p:txBody>
      </p:sp>
      <p:sp>
        <p:nvSpPr>
          <p:cNvPr id="32" name="Shape 29"/>
          <p:cNvSpPr/>
          <p:nvPr/>
        </p:nvSpPr>
        <p:spPr>
          <a:xfrm>
            <a:off x="621792" y="5760720"/>
            <a:ext cx="146304" cy="146304"/>
          </a:xfrm>
          <a:prstGeom prst="ellipse">
            <a:avLst/>
          </a:prstGeom>
          <a:solidFill>
            <a:srgbClr val="B64A2D"/>
          </a:solidFill>
          <a:ln w="6350">
            <a:solidFill>
              <a:srgbClr val="B64A2D"/>
            </a:solidFill>
            <a:prstDash val="solid"/>
          </a:ln>
        </p:spPr>
      </p:sp>
      <p:sp>
        <p:nvSpPr>
          <p:cNvPr id="33" name="Text 30"/>
          <p:cNvSpPr/>
          <p:nvPr/>
        </p:nvSpPr>
        <p:spPr>
          <a:xfrm>
            <a:off x="859536" y="5779008"/>
            <a:ext cx="3108960" cy="73152"/>
          </a:xfrm>
          <a:prstGeom prst="rect">
            <a:avLst/>
          </a:prstGeom>
          <a:noFill/>
          <a:ln/>
        </p:spPr>
        <p:txBody>
          <a:bodyPr wrap="square" lIns="0" tIns="0" rIns="0" bIns="0" rtlCol="0" anchor="ctr">
            <a:normAutofit/>
          </a:bodyPr>
          <a:lstStyle/>
          <a:p>
            <a:pPr algn="l" indent="0" marL="0">
              <a:buNone/>
            </a:pPr>
            <a:r>
              <a:rPr lang="en-US" sz="685" b="1" dirty="0">
                <a:solidFill>
                  <a:srgbClr val="AEB9BA"/>
                </a:solidFill>
                <a:latin typeface="Aptos" pitchFamily="34" charset="0"/>
                <a:ea typeface="Aptos" pitchFamily="34" charset="-122"/>
                <a:cs typeface="Aptos" pitchFamily="34" charset="-120"/>
              </a:rPr>
              <a:t>OT vendor + DMZ sign-off</a:t>
            </a:r>
            <a:endParaRPr lang="en-US" sz="685" dirty="0"/>
          </a:p>
        </p:txBody>
      </p:sp>
      <p:sp>
        <p:nvSpPr>
          <p:cNvPr id="34" name="Shape 31"/>
          <p:cNvSpPr/>
          <p:nvPr/>
        </p:nvSpPr>
        <p:spPr>
          <a:xfrm>
            <a:off x="4352544" y="5760720"/>
            <a:ext cx="146304" cy="146304"/>
          </a:xfrm>
          <a:prstGeom prst="ellipse">
            <a:avLst/>
          </a:prstGeom>
          <a:solidFill>
            <a:srgbClr val="B64A2D"/>
          </a:solidFill>
          <a:ln w="6350">
            <a:solidFill>
              <a:srgbClr val="B64A2D"/>
            </a:solidFill>
            <a:prstDash val="solid"/>
          </a:ln>
        </p:spPr>
      </p:sp>
      <p:sp>
        <p:nvSpPr>
          <p:cNvPr id="35" name="Text 32"/>
          <p:cNvSpPr/>
          <p:nvPr/>
        </p:nvSpPr>
        <p:spPr>
          <a:xfrm>
            <a:off x="4590288" y="5779008"/>
            <a:ext cx="3108960" cy="73152"/>
          </a:xfrm>
          <a:prstGeom prst="rect">
            <a:avLst/>
          </a:prstGeom>
          <a:noFill/>
          <a:ln/>
        </p:spPr>
        <p:txBody>
          <a:bodyPr wrap="square" lIns="0" tIns="0" rIns="0" bIns="0" rtlCol="0" anchor="ctr">
            <a:normAutofit/>
          </a:bodyPr>
          <a:lstStyle/>
          <a:p>
            <a:pPr algn="l" indent="0" marL="0">
              <a:buNone/>
            </a:pPr>
            <a:r>
              <a:rPr lang="en-US" sz="685" b="1" dirty="0">
                <a:solidFill>
                  <a:srgbClr val="AEB9BA"/>
                </a:solidFill>
                <a:latin typeface="Aptos" pitchFamily="34" charset="0"/>
                <a:ea typeface="Aptos" pitchFamily="34" charset="-122"/>
                <a:cs typeface="Aptos" pitchFamily="34" charset="-120"/>
              </a:rPr>
              <a:t>Market licence + freshness</a:t>
            </a:r>
            <a:endParaRPr lang="en-US" sz="685" dirty="0"/>
          </a:p>
        </p:txBody>
      </p:sp>
      <p:sp>
        <p:nvSpPr>
          <p:cNvPr id="36" name="Shape 33"/>
          <p:cNvSpPr/>
          <p:nvPr/>
        </p:nvSpPr>
        <p:spPr>
          <a:xfrm>
            <a:off x="8083296" y="5760720"/>
            <a:ext cx="146304" cy="146304"/>
          </a:xfrm>
          <a:prstGeom prst="ellipse">
            <a:avLst/>
          </a:prstGeom>
          <a:solidFill>
            <a:srgbClr val="B64A2D"/>
          </a:solidFill>
          <a:ln w="6350">
            <a:solidFill>
              <a:srgbClr val="B64A2D"/>
            </a:solidFill>
            <a:prstDash val="solid"/>
          </a:ln>
        </p:spPr>
      </p:sp>
      <p:sp>
        <p:nvSpPr>
          <p:cNvPr id="37" name="Text 34"/>
          <p:cNvSpPr/>
          <p:nvPr/>
        </p:nvSpPr>
        <p:spPr>
          <a:xfrm>
            <a:off x="8321040" y="5779008"/>
            <a:ext cx="3108960" cy="73152"/>
          </a:xfrm>
          <a:prstGeom prst="rect">
            <a:avLst/>
          </a:prstGeom>
          <a:noFill/>
          <a:ln/>
        </p:spPr>
        <p:txBody>
          <a:bodyPr wrap="square" lIns="0" tIns="0" rIns="0" bIns="0" rtlCol="0" anchor="ctr">
            <a:normAutofit/>
          </a:bodyPr>
          <a:lstStyle/>
          <a:p>
            <a:pPr algn="l" indent="0" marL="0">
              <a:buNone/>
            </a:pPr>
            <a:r>
              <a:rPr lang="en-US" sz="685" b="1" dirty="0">
                <a:solidFill>
                  <a:srgbClr val="AEB9BA"/>
                </a:solidFill>
                <a:latin typeface="Aptos" pitchFamily="34" charset="0"/>
                <a:ea typeface="Aptos" pitchFamily="34" charset="-122"/>
                <a:cs typeface="Aptos" pitchFamily="34" charset="-120"/>
              </a:rPr>
              <a:t>Capacity / DR / security acceptance</a:t>
            </a:r>
            <a:endParaRPr lang="en-US" sz="685" dirty="0"/>
          </a:p>
        </p:txBody>
      </p:sp>
      <p:sp>
        <p:nvSpPr>
          <p:cNvPr id="38" name="Text 35"/>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AEB9BA"/>
                </a:solidFill>
                <a:latin typeface="Aptos" pitchFamily="34" charset="0"/>
                <a:ea typeface="Aptos" pitchFamily="34" charset="-122"/>
                <a:cs typeface="Aptos" pitchFamily="34" charset="-120"/>
              </a:rPr>
              <a:t>FAQ M | faq.md Q54–Q57  •  validation-report.md §Remaining production gates</a:t>
            </a:r>
            <a:endParaRPr lang="en-US" sz="660" dirty="0"/>
          </a:p>
        </p:txBody>
      </p:sp>
      <p:sp>
        <p:nvSpPr>
          <p:cNvPr id="39" name="Shape 36"/>
          <p:cNvSpPr/>
          <p:nvPr/>
        </p:nvSpPr>
        <p:spPr>
          <a:xfrm>
            <a:off x="0" y="6483096"/>
            <a:ext cx="12191695" cy="374904"/>
          </a:xfrm>
          <a:prstGeom prst="rect">
            <a:avLst/>
          </a:prstGeom>
          <a:solidFill>
            <a:srgbClr val="1F2426"/>
          </a:solidFill>
          <a:ln w="6350">
            <a:solidFill>
              <a:srgbClr val="1F2426"/>
            </a:solidFill>
            <a:prstDash val="solid"/>
          </a:ln>
        </p:spPr>
      </p:sp>
      <p:sp>
        <p:nvSpPr>
          <p:cNvPr id="40" name="Shape 37"/>
          <p:cNvSpPr/>
          <p:nvPr/>
        </p:nvSpPr>
        <p:spPr>
          <a:xfrm>
            <a:off x="384048" y="6547104"/>
            <a:ext cx="3547872" cy="182880"/>
          </a:xfrm>
          <a:prstGeom prst="roundRect">
            <a:avLst/>
          </a:prstGeom>
          <a:solidFill>
            <a:srgbClr val="465057"/>
          </a:solidFill>
          <a:ln w="3175">
            <a:solidFill>
              <a:srgbClr val="465057"/>
            </a:solidFill>
            <a:prstDash val="solid"/>
          </a:ln>
        </p:spPr>
      </p:sp>
      <p:sp>
        <p:nvSpPr>
          <p:cNvPr id="41" name="Text 38"/>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DDE4E1"/>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42" name="Text 39"/>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DDE4E1"/>
                </a:solidFill>
                <a:latin typeface="Aptos" pitchFamily="34" charset="0"/>
                <a:ea typeface="Aptos" pitchFamily="34" charset="-122"/>
                <a:cs typeface="Aptos" pitchFamily="34" charset="-120"/>
              </a:rPr>
              <a:t>FAQ &amp; VALIDATION BACKUP  •  06 / 08</a:t>
            </a:r>
            <a:endParaRPr lang="en-US" sz="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0E9"/>
        </a:solidFill>
      </p:bgPr>
    </p:bg>
    <p:spTree>
      <p:nvGrpSpPr>
        <p:cNvPr id="1" name=""/>
        <p:cNvGrpSpPr/>
        <p:nvPr/>
      </p:nvGrpSpPr>
      <p:grpSpPr>
        <a:xfrm>
          <a:off x="0" y="0"/>
          <a:ext cx="0" cy="0"/>
          <a:chOff x="0" y="0"/>
          <a:chExt cx="0" cy="0"/>
        </a:xfrm>
      </p:grpSpPr>
      <p:sp>
        <p:nvSpPr>
          <p:cNvPr id="2" name="Shape 0"/>
          <p:cNvSpPr/>
          <p:nvPr/>
        </p:nvSpPr>
        <p:spPr>
          <a:xfrm>
            <a:off x="10195560" y="73152"/>
            <a:ext cx="1664208" cy="1664208"/>
          </a:xfrm>
          <a:prstGeom prst="ellipse">
            <a:avLst/>
          </a:prstGeom>
          <a:solidFill>
            <a:srgbClr val="F3E9CB">
              <a:alpha val="75000"/>
            </a:srgbClr>
          </a:solidFill>
          <a:ln w="6350">
            <a:solidFill>
              <a:srgbClr val="F3E9CB"/>
            </a:solidFill>
            <a:prstDash val="solid"/>
          </a:ln>
        </p:spPr>
      </p:sp>
      <p:sp>
        <p:nvSpPr>
          <p:cNvPr id="3" name="Shape 1"/>
          <p:cNvSpPr/>
          <p:nvPr/>
        </p:nvSpPr>
        <p:spPr>
          <a:xfrm>
            <a:off x="73152" y="4983480"/>
            <a:ext cx="1444752" cy="1444752"/>
          </a:xfrm>
          <a:prstGeom prst="ellipse">
            <a:avLst/>
          </a:prstGeom>
          <a:solidFill>
            <a:srgbClr val="D8ECE7">
              <a:alpha val="65000"/>
            </a:srgbClr>
          </a:solidFill>
          <a:ln w="6350">
            <a:solidFill>
              <a:srgbClr val="D8ECE7"/>
            </a:solidFill>
            <a:prstDash val="solid"/>
          </a:ln>
        </p:spPr>
      </p:sp>
      <p:sp>
        <p:nvSpPr>
          <p:cNvPr id="4" name="Shape 2"/>
          <p:cNvSpPr/>
          <p:nvPr/>
        </p:nvSpPr>
        <p:spPr>
          <a:xfrm>
            <a:off x="457200" y="274320"/>
            <a:ext cx="822960" cy="246888"/>
          </a:xfrm>
          <a:prstGeom prst="roundRect">
            <a:avLst/>
          </a:prstGeom>
          <a:solidFill>
            <a:srgbClr val="7A261C"/>
          </a:solidFill>
          <a:ln w="5080">
            <a:solidFill>
              <a:srgbClr val="7A261C"/>
            </a:solidFill>
            <a:prstDash val="solid"/>
          </a:ln>
        </p:spPr>
      </p:sp>
      <p:sp>
        <p:nvSpPr>
          <p:cNvPr id="5" name="Text 3"/>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BACKUP 7</a:t>
            </a:r>
            <a:endParaRPr lang="en-US" sz="720" dirty="0"/>
          </a:p>
        </p:txBody>
      </p:sp>
      <p:sp>
        <p:nvSpPr>
          <p:cNvPr id="6" name="Text 4"/>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687373"/>
                </a:solidFill>
                <a:latin typeface="Aptos" pitchFamily="34" charset="0"/>
                <a:ea typeface="Aptos" pitchFamily="34" charset="-122"/>
                <a:cs typeface="Aptos" pitchFamily="34" charset="-120"/>
              </a:rPr>
              <a:t>FAQ BACKUP</a:t>
            </a:r>
            <a:endParaRPr lang="en-US" sz="810" dirty="0"/>
          </a:p>
        </p:txBody>
      </p:sp>
      <p:sp>
        <p:nvSpPr>
          <p:cNvPr id="7" name="Text 5"/>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202729"/>
                </a:solidFill>
                <a:latin typeface="Bahnschrift SemiBold" pitchFamily="34" charset="0"/>
                <a:ea typeface="Bahnschrift SemiBold" pitchFamily="34" charset="-122"/>
                <a:cs typeface="Bahnschrift SemiBold" pitchFamily="34" charset="-120"/>
              </a:rPr>
              <a:t>Why we do not write to the furnace</a:t>
            </a:r>
            <a:endParaRPr lang="en-US" sz="2550" dirty="0"/>
          </a:p>
        </p:txBody>
      </p:sp>
      <p:sp>
        <p:nvSpPr>
          <p:cNvPr id="8" name="Shape 6"/>
          <p:cNvSpPr/>
          <p:nvPr/>
        </p:nvSpPr>
        <p:spPr>
          <a:xfrm>
            <a:off x="457200" y="1188720"/>
            <a:ext cx="1325880" cy="246888"/>
          </a:xfrm>
          <a:prstGeom prst="roundRect">
            <a:avLst/>
          </a:prstGeom>
          <a:solidFill>
            <a:srgbClr val="B64A2D"/>
          </a:solidFill>
          <a:ln w="5080">
            <a:solidFill>
              <a:srgbClr val="B64A2D"/>
            </a:solidFill>
            <a:prstDash val="solid"/>
          </a:ln>
        </p:spPr>
      </p:sp>
      <p:sp>
        <p:nvSpPr>
          <p:cNvPr id="9" name="Text 7"/>
          <p:cNvSpPr/>
          <p:nvPr/>
        </p:nvSpPr>
        <p:spPr>
          <a:xfrm>
            <a:off x="576072" y="1239012"/>
            <a:ext cx="108813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SCOPE DEFENSE</a:t>
            </a:r>
            <a:endParaRPr lang="en-US" sz="720" dirty="0"/>
          </a:p>
        </p:txBody>
      </p:sp>
      <p:sp>
        <p:nvSpPr>
          <p:cNvPr id="10" name="Text 8"/>
          <p:cNvSpPr/>
          <p:nvPr/>
        </p:nvSpPr>
        <p:spPr>
          <a:xfrm>
            <a:off x="1901952" y="1220724"/>
            <a:ext cx="6766560" cy="164592"/>
          </a:xfrm>
          <a:prstGeom prst="rect">
            <a:avLst/>
          </a:prstGeom>
          <a:noFill/>
          <a:ln/>
        </p:spPr>
        <p:txBody>
          <a:bodyPr wrap="square" lIns="0" tIns="0" rIns="0" bIns="0" rtlCol="0" anchor="ctr">
            <a:normAutofit/>
          </a:bodyPr>
          <a:lstStyle/>
          <a:p>
            <a:pPr algn="l" indent="0" marL="0">
              <a:buNone/>
            </a:pPr>
            <a:r>
              <a:rPr lang="en-US" sz="840" b="1" dirty="0">
                <a:solidFill>
                  <a:srgbClr val="687373"/>
                </a:solidFill>
                <a:latin typeface="Aptos" pitchFamily="34" charset="0"/>
                <a:ea typeface="Aptos" pitchFamily="34" charset="-122"/>
                <a:cs typeface="Aptos" pitchFamily="34" charset="-120"/>
              </a:rPr>
              <a:t>The advisory boundary is a designed acceptance criterion (O1, C-04, AI-05) — not a missing feature.</a:t>
            </a:r>
            <a:endParaRPr lang="en-US" sz="840" dirty="0"/>
          </a:p>
        </p:txBody>
      </p:sp>
      <p:sp>
        <p:nvSpPr>
          <p:cNvPr id="11" name="Text 9"/>
          <p:cNvSpPr/>
          <p:nvPr/>
        </p:nvSpPr>
        <p:spPr>
          <a:xfrm>
            <a:off x="457200" y="1627632"/>
            <a:ext cx="3108960"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687373"/>
                </a:solidFill>
                <a:latin typeface="Aptos" pitchFamily="34" charset="0"/>
                <a:ea typeface="Aptos" pitchFamily="34" charset="-122"/>
                <a:cs typeface="Aptos" pitchFamily="34" charset="-120"/>
              </a:rPr>
              <a:t>ISA-95 / PURDUE PLACEMENT</a:t>
            </a:r>
            <a:endParaRPr lang="en-US" sz="720" dirty="0"/>
          </a:p>
        </p:txBody>
      </p:sp>
      <p:sp>
        <p:nvSpPr>
          <p:cNvPr id="12" name="Shape 10"/>
          <p:cNvSpPr/>
          <p:nvPr/>
        </p:nvSpPr>
        <p:spPr>
          <a:xfrm>
            <a:off x="457200" y="1819656"/>
            <a:ext cx="5623560" cy="786384"/>
          </a:xfrm>
          <a:prstGeom prst="roundRect">
            <a:avLst/>
          </a:prstGeom>
          <a:solidFill>
            <a:srgbClr val="FFFFFF"/>
          </a:solidFill>
          <a:ln w="8890">
            <a:solidFill>
              <a:srgbClr val="147D74"/>
            </a:solidFill>
            <a:prstDash val="solid"/>
          </a:ln>
        </p:spPr>
      </p:sp>
      <p:sp>
        <p:nvSpPr>
          <p:cNvPr id="13" name="Shape 11"/>
          <p:cNvSpPr/>
          <p:nvPr/>
        </p:nvSpPr>
        <p:spPr>
          <a:xfrm>
            <a:off x="457200" y="1819656"/>
            <a:ext cx="77724" cy="786384"/>
          </a:xfrm>
          <a:prstGeom prst="rect">
            <a:avLst/>
          </a:prstGeom>
          <a:solidFill>
            <a:srgbClr val="147D74"/>
          </a:solidFill>
          <a:ln w="6350">
            <a:solidFill>
              <a:srgbClr val="147D74"/>
            </a:solidFill>
            <a:prstDash val="solid"/>
          </a:ln>
        </p:spPr>
      </p:sp>
      <p:sp>
        <p:nvSpPr>
          <p:cNvPr id="14" name="Text 12"/>
          <p:cNvSpPr/>
          <p:nvPr/>
        </p:nvSpPr>
        <p:spPr>
          <a:xfrm>
            <a:off x="658368" y="1956816"/>
            <a:ext cx="3931920" cy="109728"/>
          </a:xfrm>
          <a:prstGeom prst="rect">
            <a:avLst/>
          </a:prstGeom>
          <a:noFill/>
          <a:ln/>
        </p:spPr>
        <p:txBody>
          <a:bodyPr wrap="square" lIns="0" tIns="0" rIns="0" bIns="0" rtlCol="0" anchor="ctr">
            <a:normAutofit/>
          </a:bodyPr>
          <a:lstStyle/>
          <a:p>
            <a:pPr algn="l" indent="0" marL="0">
              <a:buNone/>
            </a:pPr>
            <a:r>
              <a:rPr lang="en-US" sz="740" b="1" spc="90" kern="0" dirty="0">
                <a:solidFill>
                  <a:srgbClr val="147D74"/>
                </a:solidFill>
                <a:latin typeface="Aptos" pitchFamily="34" charset="0"/>
                <a:ea typeface="Aptos" pitchFamily="34" charset="-122"/>
                <a:cs typeface="Aptos" pitchFamily="34" charset="-120"/>
              </a:rPr>
              <a:t>L4 / L3 — BUSINESS, MES, HISTORIAN</a:t>
            </a:r>
            <a:endParaRPr lang="en-US" sz="740" dirty="0"/>
          </a:p>
        </p:txBody>
      </p:sp>
      <p:sp>
        <p:nvSpPr>
          <p:cNvPr id="15" name="Shape 13"/>
          <p:cNvSpPr/>
          <p:nvPr/>
        </p:nvSpPr>
        <p:spPr>
          <a:xfrm>
            <a:off x="4956048" y="1911096"/>
            <a:ext cx="932688" cy="219456"/>
          </a:xfrm>
          <a:prstGeom prst="roundRect">
            <a:avLst/>
          </a:prstGeom>
          <a:solidFill>
            <a:srgbClr val="D8ECE7"/>
          </a:solidFill>
          <a:ln w="6350">
            <a:solidFill>
              <a:srgbClr val="147D74"/>
            </a:solidFill>
            <a:prstDash val="solid"/>
          </a:ln>
        </p:spPr>
      </p:sp>
      <p:sp>
        <p:nvSpPr>
          <p:cNvPr id="16" name="Text 14"/>
          <p:cNvSpPr/>
          <p:nvPr/>
        </p:nvSpPr>
        <p:spPr>
          <a:xfrm>
            <a:off x="5001768" y="1988820"/>
            <a:ext cx="841248" cy="82296"/>
          </a:xfrm>
          <a:prstGeom prst="rect">
            <a:avLst/>
          </a:prstGeom>
          <a:noFill/>
          <a:ln/>
        </p:spPr>
        <p:txBody>
          <a:bodyPr wrap="square" lIns="0" tIns="0" rIns="0" bIns="0" rtlCol="0" anchor="ctr">
            <a:normAutofit/>
          </a:bodyPr>
          <a:lstStyle/>
          <a:p>
            <a:pPr algn="ctr" indent="0" marL="0">
              <a:buNone/>
            </a:pPr>
            <a:r>
              <a:rPr lang="en-US" sz="620" b="1" dirty="0">
                <a:solidFill>
                  <a:srgbClr val="147D74"/>
                </a:solidFill>
                <a:latin typeface="Aptos" pitchFamily="34" charset="0"/>
                <a:ea typeface="Aptos" pitchFamily="34" charset="-122"/>
                <a:cs typeface="Aptos" pitchFamily="34" charset="-120"/>
              </a:rPr>
              <a:t>WE LIVE HERE</a:t>
            </a:r>
            <a:endParaRPr lang="en-US" sz="620" dirty="0"/>
          </a:p>
        </p:txBody>
      </p:sp>
      <p:sp>
        <p:nvSpPr>
          <p:cNvPr id="17" name="Text 15"/>
          <p:cNvSpPr/>
          <p:nvPr/>
        </p:nvSpPr>
        <p:spPr>
          <a:xfrm>
            <a:off x="658368" y="2249424"/>
            <a:ext cx="5074920" cy="256032"/>
          </a:xfrm>
          <a:prstGeom prst="rect">
            <a:avLst/>
          </a:prstGeom>
          <a:noFill/>
          <a:ln/>
        </p:spPr>
        <p:txBody>
          <a:bodyPr wrap="square" lIns="0" tIns="0" rIns="0" bIns="0" rtlCol="0" anchor="t">
            <a:normAutofit/>
          </a:bodyPr>
          <a:lstStyle/>
          <a:p>
            <a:pPr algn="l" indent="0" marL="0">
              <a:buNone/>
            </a:pPr>
            <a:r>
              <a:rPr lang="en-US" sz="940" b="1" dirty="0">
                <a:solidFill>
                  <a:srgbClr val="202729"/>
                </a:solidFill>
                <a:latin typeface="Aptos" pitchFamily="34" charset="0"/>
                <a:ea typeface="Aptos" pitchFamily="34" charset="-122"/>
                <a:cs typeface="Aptos" pitchFamily="34" charset="-120"/>
              </a:rPr>
              <a:t>NovaSteel: Fabric core, four AI capabilities, persona apps, human approval</a:t>
            </a:r>
            <a:endParaRPr lang="en-US" sz="940" dirty="0"/>
          </a:p>
        </p:txBody>
      </p:sp>
      <p:sp>
        <p:nvSpPr>
          <p:cNvPr id="18" name="Shape 16"/>
          <p:cNvSpPr/>
          <p:nvPr/>
        </p:nvSpPr>
        <p:spPr>
          <a:xfrm>
            <a:off x="457200" y="2724912"/>
            <a:ext cx="5623560" cy="658368"/>
          </a:xfrm>
          <a:prstGeom prst="roundRect">
            <a:avLst/>
          </a:prstGeom>
          <a:solidFill>
            <a:srgbClr val="1F2426"/>
          </a:solidFill>
          <a:ln w="16510">
            <a:solidFill>
              <a:srgbClr val="B64A2D"/>
            </a:solidFill>
            <a:prstDash val="solid"/>
          </a:ln>
        </p:spPr>
      </p:sp>
      <p:sp>
        <p:nvSpPr>
          <p:cNvPr id="19" name="Text 17"/>
          <p:cNvSpPr/>
          <p:nvPr/>
        </p:nvSpPr>
        <p:spPr>
          <a:xfrm>
            <a:off x="658368" y="2834640"/>
            <a:ext cx="5212080" cy="91440"/>
          </a:xfrm>
          <a:prstGeom prst="rect">
            <a:avLst/>
          </a:prstGeom>
          <a:noFill/>
          <a:ln/>
        </p:spPr>
        <p:txBody>
          <a:bodyPr wrap="square" lIns="0" tIns="0" rIns="0" bIns="0" rtlCol="0" anchor="ctr">
            <a:normAutofit/>
          </a:bodyPr>
          <a:lstStyle/>
          <a:p>
            <a:pPr algn="l" indent="0" marL="0">
              <a:buNone/>
            </a:pPr>
            <a:r>
              <a:rPr lang="en-US" sz="700" b="1" spc="110" kern="0" dirty="0">
                <a:solidFill>
                  <a:srgbClr val="E3A72F"/>
                </a:solidFill>
                <a:latin typeface="Aptos" pitchFamily="34" charset="0"/>
                <a:ea typeface="Aptos" pitchFamily="34" charset="-122"/>
                <a:cs typeface="Aptos" pitchFamily="34" charset="-120"/>
              </a:rPr>
              <a:t>OT / IT BOUNDARY  —  IEC 62443 ZONE CONDUIT</a:t>
            </a:r>
            <a:endParaRPr lang="en-US" sz="700" dirty="0"/>
          </a:p>
        </p:txBody>
      </p:sp>
      <p:sp>
        <p:nvSpPr>
          <p:cNvPr id="20" name="Shape 18"/>
          <p:cNvSpPr/>
          <p:nvPr/>
        </p:nvSpPr>
        <p:spPr>
          <a:xfrm>
            <a:off x="676656" y="3035808"/>
            <a:ext cx="173736" cy="256032"/>
          </a:xfrm>
          <a:prstGeom prst="upArrow">
            <a:avLst/>
          </a:prstGeom>
          <a:solidFill>
            <a:srgbClr val="147D74"/>
          </a:solidFill>
          <a:ln w="6350">
            <a:solidFill>
              <a:srgbClr val="147D74"/>
            </a:solidFill>
            <a:prstDash val="solid"/>
          </a:ln>
        </p:spPr>
      </p:sp>
      <p:sp>
        <p:nvSpPr>
          <p:cNvPr id="21" name="Text 19"/>
          <p:cNvSpPr/>
          <p:nvPr/>
        </p:nvSpPr>
        <p:spPr>
          <a:xfrm>
            <a:off x="941832" y="3104388"/>
            <a:ext cx="2286000" cy="91440"/>
          </a:xfrm>
          <a:prstGeom prst="rect">
            <a:avLst/>
          </a:prstGeom>
          <a:noFill/>
          <a:ln/>
        </p:spPr>
        <p:txBody>
          <a:bodyPr wrap="square" lIns="0" tIns="0" rIns="0" bIns="0" rtlCol="0" anchor="ctr">
            <a:normAutofit/>
          </a:bodyPr>
          <a:lstStyle/>
          <a:p>
            <a:pPr algn="l" indent="0" marL="0">
              <a:buNone/>
            </a:pPr>
            <a:r>
              <a:rPr lang="en-US" sz="720" b="1" dirty="0">
                <a:solidFill>
                  <a:srgbClr val="DDE4E1"/>
                </a:solidFill>
                <a:latin typeface="Aptos" pitchFamily="34" charset="0"/>
                <a:ea typeface="Aptos" pitchFamily="34" charset="-122"/>
                <a:cs typeface="Aptos" pitchFamily="34" charset="-120"/>
              </a:rPr>
              <a:t>TELEMETRY UP  ·  read-only historian / OPC UA tags</a:t>
            </a:r>
            <a:endParaRPr lang="en-US" sz="720" dirty="0"/>
          </a:p>
        </p:txBody>
      </p:sp>
      <p:sp>
        <p:nvSpPr>
          <p:cNvPr id="22" name="Shape 20"/>
          <p:cNvSpPr/>
          <p:nvPr/>
        </p:nvSpPr>
        <p:spPr>
          <a:xfrm>
            <a:off x="3346704" y="3035808"/>
            <a:ext cx="173736" cy="256032"/>
          </a:xfrm>
          <a:prstGeom prst="downArrow">
            <a:avLst/>
          </a:prstGeom>
          <a:solidFill>
            <a:srgbClr val="B64A2D"/>
          </a:solidFill>
          <a:ln w="6350">
            <a:solidFill>
              <a:srgbClr val="B64A2D"/>
            </a:solidFill>
            <a:prstDash val="solid"/>
          </a:ln>
        </p:spPr>
      </p:sp>
      <p:sp>
        <p:nvSpPr>
          <p:cNvPr id="23" name="Text 21"/>
          <p:cNvSpPr/>
          <p:nvPr/>
        </p:nvSpPr>
        <p:spPr>
          <a:xfrm>
            <a:off x="3611880" y="3104388"/>
            <a:ext cx="2286000" cy="91440"/>
          </a:xfrm>
          <a:prstGeom prst="rect">
            <a:avLst/>
          </a:prstGeom>
          <a:noFill/>
          <a:ln/>
        </p:spPr>
        <p:txBody>
          <a:bodyPr wrap="square" lIns="0" tIns="0" rIns="0" bIns="0" rtlCol="0" anchor="ctr">
            <a:normAutofit/>
          </a:bodyPr>
          <a:lstStyle/>
          <a:p>
            <a:pPr algn="l" indent="0" marL="0">
              <a:buNone/>
            </a:pPr>
            <a:r>
              <a:rPr lang="en-US" sz="720" b="1" dirty="0">
                <a:solidFill>
                  <a:srgbClr val="F1DDD4"/>
                </a:solidFill>
                <a:latin typeface="Aptos" pitchFamily="34" charset="0"/>
                <a:ea typeface="Aptos" pitchFamily="34" charset="-122"/>
                <a:cs typeface="Aptos" pitchFamily="34" charset="-120"/>
              </a:rPr>
              <a:t>NO COMMAND DOWN  ·  no setpoint, no PLC write</a:t>
            </a:r>
            <a:endParaRPr lang="en-US" sz="720" dirty="0"/>
          </a:p>
        </p:txBody>
      </p:sp>
      <p:sp>
        <p:nvSpPr>
          <p:cNvPr id="24" name="Shape 22"/>
          <p:cNvSpPr/>
          <p:nvPr/>
        </p:nvSpPr>
        <p:spPr>
          <a:xfrm>
            <a:off x="457200" y="3474720"/>
            <a:ext cx="5623560" cy="1719072"/>
          </a:xfrm>
          <a:prstGeom prst="roundRect">
            <a:avLst/>
          </a:prstGeom>
          <a:solidFill>
            <a:srgbClr val="E5E9E6"/>
          </a:solidFill>
          <a:ln w="8890">
            <a:solidFill>
              <a:srgbClr val="AEB9BA"/>
            </a:solidFill>
            <a:prstDash val="solid"/>
          </a:ln>
        </p:spPr>
      </p:sp>
      <p:sp>
        <p:nvSpPr>
          <p:cNvPr id="25" name="Shape 23"/>
          <p:cNvSpPr/>
          <p:nvPr/>
        </p:nvSpPr>
        <p:spPr>
          <a:xfrm>
            <a:off x="457200" y="3474720"/>
            <a:ext cx="77724" cy="1719072"/>
          </a:xfrm>
          <a:prstGeom prst="rect">
            <a:avLst/>
          </a:prstGeom>
          <a:solidFill>
            <a:srgbClr val="465057"/>
          </a:solidFill>
          <a:ln w="6350">
            <a:solidFill>
              <a:srgbClr val="465057"/>
            </a:solidFill>
            <a:prstDash val="solid"/>
          </a:ln>
        </p:spPr>
      </p:sp>
      <p:sp>
        <p:nvSpPr>
          <p:cNvPr id="26" name="Shape 24"/>
          <p:cNvSpPr/>
          <p:nvPr/>
        </p:nvSpPr>
        <p:spPr>
          <a:xfrm>
            <a:off x="658368" y="3584448"/>
            <a:ext cx="5221224" cy="457200"/>
          </a:xfrm>
          <a:prstGeom prst="roundRect">
            <a:avLst/>
          </a:prstGeom>
          <a:solidFill>
            <a:srgbClr val="FFFFFF"/>
          </a:solidFill>
          <a:ln w="6350">
            <a:solidFill>
              <a:srgbClr val="DDE4E1"/>
            </a:solidFill>
            <a:prstDash val="solid"/>
          </a:ln>
        </p:spPr>
      </p:sp>
      <p:sp>
        <p:nvSpPr>
          <p:cNvPr id="27" name="Shape 25"/>
          <p:cNvSpPr/>
          <p:nvPr/>
        </p:nvSpPr>
        <p:spPr>
          <a:xfrm>
            <a:off x="777240" y="3703320"/>
            <a:ext cx="384048" cy="219456"/>
          </a:xfrm>
          <a:prstGeom prst="roundRect">
            <a:avLst/>
          </a:prstGeom>
          <a:solidFill>
            <a:srgbClr val="465057"/>
          </a:solidFill>
          <a:ln w="5080">
            <a:solidFill>
              <a:srgbClr val="465057"/>
            </a:solidFill>
            <a:prstDash val="solid"/>
          </a:ln>
        </p:spPr>
      </p:sp>
      <p:sp>
        <p:nvSpPr>
          <p:cNvPr id="28" name="Text 26"/>
          <p:cNvSpPr/>
          <p:nvPr/>
        </p:nvSpPr>
        <p:spPr>
          <a:xfrm>
            <a:off x="822960" y="3781044"/>
            <a:ext cx="292608" cy="82296"/>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Aptos" pitchFamily="34" charset="0"/>
                <a:ea typeface="Aptos" pitchFamily="34" charset="-122"/>
                <a:cs typeface="Aptos" pitchFamily="34" charset="-120"/>
              </a:rPr>
              <a:t>L2</a:t>
            </a:r>
            <a:endParaRPr lang="en-US" sz="700" dirty="0"/>
          </a:p>
        </p:txBody>
      </p:sp>
      <p:sp>
        <p:nvSpPr>
          <p:cNvPr id="29" name="Text 27"/>
          <p:cNvSpPr/>
          <p:nvPr/>
        </p:nvSpPr>
        <p:spPr>
          <a:xfrm>
            <a:off x="1280160" y="3689604"/>
            <a:ext cx="3337560" cy="109728"/>
          </a:xfrm>
          <a:prstGeom prst="rect">
            <a:avLst/>
          </a:prstGeom>
          <a:noFill/>
          <a:ln/>
        </p:spPr>
        <p:txBody>
          <a:bodyPr wrap="square" lIns="0" tIns="0" rIns="0" bIns="0" rtlCol="0" anchor="ctr">
            <a:normAutofit/>
          </a:bodyPr>
          <a:lstStyle/>
          <a:p>
            <a:pPr algn="l" indent="0" marL="0">
              <a:buNone/>
            </a:pPr>
            <a:r>
              <a:rPr lang="en-US" sz="870" b="1" dirty="0">
                <a:solidFill>
                  <a:srgbClr val="202729"/>
                </a:solidFill>
                <a:latin typeface="Aptos" pitchFamily="34" charset="0"/>
                <a:ea typeface="Aptos" pitchFamily="34" charset="-122"/>
                <a:cs typeface="Aptos" pitchFamily="34" charset="-120"/>
              </a:rPr>
              <a:t>Supervisory control — SCADA / HMI</a:t>
            </a:r>
            <a:endParaRPr lang="en-US" sz="870" dirty="0"/>
          </a:p>
        </p:txBody>
      </p:sp>
      <p:sp>
        <p:nvSpPr>
          <p:cNvPr id="30" name="Text 28"/>
          <p:cNvSpPr/>
          <p:nvPr/>
        </p:nvSpPr>
        <p:spPr>
          <a:xfrm>
            <a:off x="1280160" y="3867912"/>
            <a:ext cx="3337560" cy="91440"/>
          </a:xfrm>
          <a:prstGeom prst="rect">
            <a:avLst/>
          </a:prstGeom>
          <a:noFill/>
          <a:ln/>
        </p:spPr>
        <p:txBody>
          <a:bodyPr wrap="square" lIns="0" tIns="0" rIns="0" bIns="0" rtlCol="0" anchor="ctr">
            <a:normAutofit/>
          </a:bodyPr>
          <a:lstStyle/>
          <a:p>
            <a:pPr algn="l" indent="0" marL="0">
              <a:buNone/>
            </a:pPr>
            <a:r>
              <a:rPr lang="en-US" sz="680" dirty="0">
                <a:solidFill>
                  <a:srgbClr val="687373"/>
                </a:solidFill>
                <a:latin typeface="Aptos" pitchFamily="34" charset="0"/>
                <a:ea typeface="Aptos" pitchFamily="34" charset="-122"/>
                <a:cs typeface="Aptos" pitchFamily="34" charset="-120"/>
              </a:rPr>
              <a:t>operator authority stays on the floor</a:t>
            </a:r>
            <a:endParaRPr lang="en-US" sz="680" dirty="0"/>
          </a:p>
        </p:txBody>
      </p:sp>
      <p:sp>
        <p:nvSpPr>
          <p:cNvPr id="31" name="Shape 29"/>
          <p:cNvSpPr/>
          <p:nvPr/>
        </p:nvSpPr>
        <p:spPr>
          <a:xfrm>
            <a:off x="4773168" y="3712464"/>
            <a:ext cx="969264" cy="201168"/>
          </a:xfrm>
          <a:prstGeom prst="roundRect">
            <a:avLst/>
          </a:prstGeom>
          <a:solidFill>
            <a:srgbClr val="F1DDD4"/>
          </a:solidFill>
          <a:ln w="6350">
            <a:solidFill>
              <a:srgbClr val="B64A2D"/>
            </a:solidFill>
            <a:prstDash val="solid"/>
          </a:ln>
        </p:spPr>
      </p:sp>
      <p:sp>
        <p:nvSpPr>
          <p:cNvPr id="32" name="Text 30"/>
          <p:cNvSpPr/>
          <p:nvPr/>
        </p:nvSpPr>
        <p:spPr>
          <a:xfrm>
            <a:off x="4818888" y="3787445"/>
            <a:ext cx="877824" cy="73152"/>
          </a:xfrm>
          <a:prstGeom prst="rect">
            <a:avLst/>
          </a:prstGeom>
          <a:noFill/>
          <a:ln/>
        </p:spPr>
        <p:txBody>
          <a:bodyPr wrap="square" lIns="0" tIns="0" rIns="0" bIns="0" rtlCol="0" anchor="ctr">
            <a:normAutofit/>
          </a:bodyPr>
          <a:lstStyle/>
          <a:p>
            <a:pPr algn="ctr" indent="0" marL="0">
              <a:buNone/>
            </a:pPr>
            <a:r>
              <a:rPr lang="en-US" sz="630" b="1" dirty="0">
                <a:solidFill>
                  <a:srgbClr val="7A261C"/>
                </a:solidFill>
                <a:latin typeface="Aptos" pitchFamily="34" charset="0"/>
                <a:ea typeface="Aptos" pitchFamily="34" charset="-122"/>
                <a:cs typeface="Aptos" pitchFamily="34" charset="-120"/>
              </a:rPr>
              <a:t>NO WRITE</a:t>
            </a:r>
            <a:endParaRPr lang="en-US" sz="630" dirty="0"/>
          </a:p>
        </p:txBody>
      </p:sp>
      <p:sp>
        <p:nvSpPr>
          <p:cNvPr id="33" name="Shape 31"/>
          <p:cNvSpPr/>
          <p:nvPr/>
        </p:nvSpPr>
        <p:spPr>
          <a:xfrm>
            <a:off x="658368" y="4096512"/>
            <a:ext cx="5221224" cy="457200"/>
          </a:xfrm>
          <a:prstGeom prst="roundRect">
            <a:avLst/>
          </a:prstGeom>
          <a:solidFill>
            <a:srgbClr val="FFFFFF"/>
          </a:solidFill>
          <a:ln w="6350">
            <a:solidFill>
              <a:srgbClr val="DDE4E1"/>
            </a:solidFill>
            <a:prstDash val="solid"/>
          </a:ln>
        </p:spPr>
      </p:sp>
      <p:sp>
        <p:nvSpPr>
          <p:cNvPr id="34" name="Shape 32"/>
          <p:cNvSpPr/>
          <p:nvPr/>
        </p:nvSpPr>
        <p:spPr>
          <a:xfrm>
            <a:off x="777240" y="4215384"/>
            <a:ext cx="384048" cy="219456"/>
          </a:xfrm>
          <a:prstGeom prst="roundRect">
            <a:avLst/>
          </a:prstGeom>
          <a:solidFill>
            <a:srgbClr val="465057"/>
          </a:solidFill>
          <a:ln w="5080">
            <a:solidFill>
              <a:srgbClr val="465057"/>
            </a:solidFill>
            <a:prstDash val="solid"/>
          </a:ln>
        </p:spPr>
      </p:sp>
      <p:sp>
        <p:nvSpPr>
          <p:cNvPr id="35" name="Text 33"/>
          <p:cNvSpPr/>
          <p:nvPr/>
        </p:nvSpPr>
        <p:spPr>
          <a:xfrm>
            <a:off x="822960" y="4293108"/>
            <a:ext cx="292608" cy="82296"/>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Aptos" pitchFamily="34" charset="0"/>
                <a:ea typeface="Aptos" pitchFamily="34" charset="-122"/>
                <a:cs typeface="Aptos" pitchFamily="34" charset="-120"/>
              </a:rPr>
              <a:t>L1</a:t>
            </a:r>
            <a:endParaRPr lang="en-US" sz="700" dirty="0"/>
          </a:p>
        </p:txBody>
      </p:sp>
      <p:sp>
        <p:nvSpPr>
          <p:cNvPr id="36" name="Text 34"/>
          <p:cNvSpPr/>
          <p:nvPr/>
        </p:nvSpPr>
        <p:spPr>
          <a:xfrm>
            <a:off x="1280160" y="4201668"/>
            <a:ext cx="3337560" cy="109728"/>
          </a:xfrm>
          <a:prstGeom prst="rect">
            <a:avLst/>
          </a:prstGeom>
          <a:noFill/>
          <a:ln/>
        </p:spPr>
        <p:txBody>
          <a:bodyPr wrap="square" lIns="0" tIns="0" rIns="0" bIns="0" rtlCol="0" anchor="ctr">
            <a:normAutofit/>
          </a:bodyPr>
          <a:lstStyle/>
          <a:p>
            <a:pPr algn="l" indent="0" marL="0">
              <a:buNone/>
            </a:pPr>
            <a:r>
              <a:rPr lang="en-US" sz="870" b="1" dirty="0">
                <a:solidFill>
                  <a:srgbClr val="202729"/>
                </a:solidFill>
                <a:latin typeface="Aptos" pitchFamily="34" charset="0"/>
                <a:ea typeface="Aptos" pitchFamily="34" charset="-122"/>
                <a:cs typeface="Aptos" pitchFamily="34" charset="-120"/>
              </a:rPr>
              <a:t>Regulatory control — PLC / DCS setpoints</a:t>
            </a:r>
            <a:endParaRPr lang="en-US" sz="870" dirty="0"/>
          </a:p>
        </p:txBody>
      </p:sp>
      <p:sp>
        <p:nvSpPr>
          <p:cNvPr id="37" name="Text 35"/>
          <p:cNvSpPr/>
          <p:nvPr/>
        </p:nvSpPr>
        <p:spPr>
          <a:xfrm>
            <a:off x="1280160" y="4379976"/>
            <a:ext cx="3337560" cy="91440"/>
          </a:xfrm>
          <a:prstGeom prst="rect">
            <a:avLst/>
          </a:prstGeom>
          <a:noFill/>
          <a:ln/>
        </p:spPr>
        <p:txBody>
          <a:bodyPr wrap="square" lIns="0" tIns="0" rIns="0" bIns="0" rtlCol="0" anchor="ctr">
            <a:normAutofit/>
          </a:bodyPr>
          <a:lstStyle/>
          <a:p>
            <a:pPr algn="l" indent="0" marL="0">
              <a:buNone/>
            </a:pPr>
            <a:r>
              <a:rPr lang="en-US" sz="680" dirty="0">
                <a:solidFill>
                  <a:srgbClr val="687373"/>
                </a:solidFill>
                <a:latin typeface="Aptos" pitchFamily="34" charset="0"/>
                <a:ea typeface="Aptos" pitchFamily="34" charset="-122"/>
                <a:cs typeface="Aptos" pitchFamily="34" charset="-120"/>
              </a:rPr>
              <a:t>vendor-certified control logic</a:t>
            </a:r>
            <a:endParaRPr lang="en-US" sz="680" dirty="0"/>
          </a:p>
        </p:txBody>
      </p:sp>
      <p:sp>
        <p:nvSpPr>
          <p:cNvPr id="38" name="Shape 36"/>
          <p:cNvSpPr/>
          <p:nvPr/>
        </p:nvSpPr>
        <p:spPr>
          <a:xfrm>
            <a:off x="4773168" y="4224528"/>
            <a:ext cx="969264" cy="201168"/>
          </a:xfrm>
          <a:prstGeom prst="roundRect">
            <a:avLst/>
          </a:prstGeom>
          <a:solidFill>
            <a:srgbClr val="F1DDD4"/>
          </a:solidFill>
          <a:ln w="6350">
            <a:solidFill>
              <a:srgbClr val="B64A2D"/>
            </a:solidFill>
            <a:prstDash val="solid"/>
          </a:ln>
        </p:spPr>
      </p:sp>
      <p:sp>
        <p:nvSpPr>
          <p:cNvPr id="39" name="Text 37"/>
          <p:cNvSpPr/>
          <p:nvPr/>
        </p:nvSpPr>
        <p:spPr>
          <a:xfrm>
            <a:off x="4818888" y="4299509"/>
            <a:ext cx="877824" cy="73152"/>
          </a:xfrm>
          <a:prstGeom prst="rect">
            <a:avLst/>
          </a:prstGeom>
          <a:noFill/>
          <a:ln/>
        </p:spPr>
        <p:txBody>
          <a:bodyPr wrap="square" lIns="0" tIns="0" rIns="0" bIns="0" rtlCol="0" anchor="ctr">
            <a:normAutofit/>
          </a:bodyPr>
          <a:lstStyle/>
          <a:p>
            <a:pPr algn="ctr" indent="0" marL="0">
              <a:buNone/>
            </a:pPr>
            <a:r>
              <a:rPr lang="en-US" sz="630" b="1" dirty="0">
                <a:solidFill>
                  <a:srgbClr val="7A261C"/>
                </a:solidFill>
                <a:latin typeface="Aptos" pitchFamily="34" charset="0"/>
                <a:ea typeface="Aptos" pitchFamily="34" charset="-122"/>
                <a:cs typeface="Aptos" pitchFamily="34" charset="-120"/>
              </a:rPr>
              <a:t>NO WRITE</a:t>
            </a:r>
            <a:endParaRPr lang="en-US" sz="630" dirty="0"/>
          </a:p>
        </p:txBody>
      </p:sp>
      <p:sp>
        <p:nvSpPr>
          <p:cNvPr id="40" name="Shape 38"/>
          <p:cNvSpPr/>
          <p:nvPr/>
        </p:nvSpPr>
        <p:spPr>
          <a:xfrm>
            <a:off x="658368" y="4608576"/>
            <a:ext cx="5221224" cy="457200"/>
          </a:xfrm>
          <a:prstGeom prst="roundRect">
            <a:avLst/>
          </a:prstGeom>
          <a:solidFill>
            <a:srgbClr val="FFFFFF"/>
          </a:solidFill>
          <a:ln w="6350">
            <a:solidFill>
              <a:srgbClr val="DDE4E1"/>
            </a:solidFill>
            <a:prstDash val="solid"/>
          </a:ln>
        </p:spPr>
      </p:sp>
      <p:sp>
        <p:nvSpPr>
          <p:cNvPr id="41" name="Shape 39"/>
          <p:cNvSpPr/>
          <p:nvPr/>
        </p:nvSpPr>
        <p:spPr>
          <a:xfrm>
            <a:off x="777240" y="4727448"/>
            <a:ext cx="384048" cy="219456"/>
          </a:xfrm>
          <a:prstGeom prst="roundRect">
            <a:avLst/>
          </a:prstGeom>
          <a:solidFill>
            <a:srgbClr val="465057"/>
          </a:solidFill>
          <a:ln w="5080">
            <a:solidFill>
              <a:srgbClr val="465057"/>
            </a:solidFill>
            <a:prstDash val="solid"/>
          </a:ln>
        </p:spPr>
      </p:sp>
      <p:sp>
        <p:nvSpPr>
          <p:cNvPr id="42" name="Text 40"/>
          <p:cNvSpPr/>
          <p:nvPr/>
        </p:nvSpPr>
        <p:spPr>
          <a:xfrm>
            <a:off x="822960" y="4805172"/>
            <a:ext cx="292608" cy="82296"/>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Aptos" pitchFamily="34" charset="0"/>
                <a:ea typeface="Aptos" pitchFamily="34" charset="-122"/>
                <a:cs typeface="Aptos" pitchFamily="34" charset="-120"/>
              </a:rPr>
              <a:t>L0</a:t>
            </a:r>
            <a:endParaRPr lang="en-US" sz="700" dirty="0"/>
          </a:p>
        </p:txBody>
      </p:sp>
      <p:sp>
        <p:nvSpPr>
          <p:cNvPr id="43" name="Text 41"/>
          <p:cNvSpPr/>
          <p:nvPr/>
        </p:nvSpPr>
        <p:spPr>
          <a:xfrm>
            <a:off x="1280160" y="4713732"/>
            <a:ext cx="3337560" cy="109728"/>
          </a:xfrm>
          <a:prstGeom prst="rect">
            <a:avLst/>
          </a:prstGeom>
          <a:noFill/>
          <a:ln/>
        </p:spPr>
        <p:txBody>
          <a:bodyPr wrap="square" lIns="0" tIns="0" rIns="0" bIns="0" rtlCol="0" anchor="ctr">
            <a:normAutofit/>
          </a:bodyPr>
          <a:lstStyle/>
          <a:p>
            <a:pPr algn="l" indent="0" marL="0">
              <a:buNone/>
            </a:pPr>
            <a:r>
              <a:rPr lang="en-US" sz="870" b="1" dirty="0">
                <a:solidFill>
                  <a:srgbClr val="202729"/>
                </a:solidFill>
                <a:latin typeface="Aptos" pitchFamily="34" charset="0"/>
                <a:ea typeface="Aptos" pitchFamily="34" charset="-122"/>
                <a:cs typeface="Aptos" pitchFamily="34" charset="-120"/>
              </a:rPr>
              <a:t>Sensors, actuators, SIS interlocks</a:t>
            </a:r>
            <a:endParaRPr lang="en-US" sz="870" dirty="0"/>
          </a:p>
        </p:txBody>
      </p:sp>
      <p:sp>
        <p:nvSpPr>
          <p:cNvPr id="44" name="Text 42"/>
          <p:cNvSpPr/>
          <p:nvPr/>
        </p:nvSpPr>
        <p:spPr>
          <a:xfrm>
            <a:off x="1280160" y="4892040"/>
            <a:ext cx="3337560" cy="91440"/>
          </a:xfrm>
          <a:prstGeom prst="rect">
            <a:avLst/>
          </a:prstGeom>
          <a:noFill/>
          <a:ln/>
        </p:spPr>
        <p:txBody>
          <a:bodyPr wrap="square" lIns="0" tIns="0" rIns="0" bIns="0" rtlCol="0" anchor="ctr">
            <a:normAutofit/>
          </a:bodyPr>
          <a:lstStyle/>
          <a:p>
            <a:pPr algn="l" indent="0" marL="0">
              <a:buNone/>
            </a:pPr>
            <a:r>
              <a:rPr lang="en-US" sz="680" dirty="0">
                <a:solidFill>
                  <a:srgbClr val="687373"/>
                </a:solidFill>
                <a:latin typeface="Aptos" pitchFamily="34" charset="0"/>
                <a:ea typeface="Aptos" pitchFamily="34" charset="-122"/>
                <a:cs typeface="Aptos" pitchFamily="34" charset="-120"/>
              </a:rPr>
              <a:t>IEC 61511 safety-instrumented functions</a:t>
            </a:r>
            <a:endParaRPr lang="en-US" sz="680" dirty="0"/>
          </a:p>
        </p:txBody>
      </p:sp>
      <p:sp>
        <p:nvSpPr>
          <p:cNvPr id="45" name="Shape 43"/>
          <p:cNvSpPr/>
          <p:nvPr/>
        </p:nvSpPr>
        <p:spPr>
          <a:xfrm>
            <a:off x="4773168" y="4736592"/>
            <a:ext cx="969264" cy="201168"/>
          </a:xfrm>
          <a:prstGeom prst="roundRect">
            <a:avLst/>
          </a:prstGeom>
          <a:solidFill>
            <a:srgbClr val="F1DDD4"/>
          </a:solidFill>
          <a:ln w="6350">
            <a:solidFill>
              <a:srgbClr val="B64A2D"/>
            </a:solidFill>
            <a:prstDash val="solid"/>
          </a:ln>
        </p:spPr>
      </p:sp>
      <p:sp>
        <p:nvSpPr>
          <p:cNvPr id="46" name="Text 44"/>
          <p:cNvSpPr/>
          <p:nvPr/>
        </p:nvSpPr>
        <p:spPr>
          <a:xfrm>
            <a:off x="4818888" y="4811573"/>
            <a:ext cx="877824" cy="73152"/>
          </a:xfrm>
          <a:prstGeom prst="rect">
            <a:avLst/>
          </a:prstGeom>
          <a:noFill/>
          <a:ln/>
        </p:spPr>
        <p:txBody>
          <a:bodyPr wrap="square" lIns="0" tIns="0" rIns="0" bIns="0" rtlCol="0" anchor="ctr">
            <a:normAutofit/>
          </a:bodyPr>
          <a:lstStyle/>
          <a:p>
            <a:pPr algn="ctr" indent="0" marL="0">
              <a:buNone/>
            </a:pPr>
            <a:r>
              <a:rPr lang="en-US" sz="630" b="1" dirty="0">
                <a:solidFill>
                  <a:srgbClr val="7A261C"/>
                </a:solidFill>
                <a:latin typeface="Aptos" pitchFamily="34" charset="0"/>
                <a:ea typeface="Aptos" pitchFamily="34" charset="-122"/>
                <a:cs typeface="Aptos" pitchFamily="34" charset="-120"/>
              </a:rPr>
              <a:t>NO WRITE</a:t>
            </a:r>
            <a:endParaRPr lang="en-US" sz="630" dirty="0"/>
          </a:p>
        </p:txBody>
      </p:sp>
      <p:sp>
        <p:nvSpPr>
          <p:cNvPr id="47" name="Text 45"/>
          <p:cNvSpPr/>
          <p:nvPr/>
        </p:nvSpPr>
        <p:spPr>
          <a:xfrm>
            <a:off x="6446520" y="1627632"/>
            <a:ext cx="4937760"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687373"/>
                </a:solidFill>
                <a:latin typeface="Aptos" pitchFamily="34" charset="0"/>
                <a:ea typeface="Aptos" pitchFamily="34" charset="-122"/>
                <a:cs typeface="Aptos" pitchFamily="34" charset="-120"/>
              </a:rPr>
              <a:t>NOT READ-ONLY — THE PLATFORM WRITES DECISIONS</a:t>
            </a:r>
            <a:endParaRPr lang="en-US" sz="720" dirty="0"/>
          </a:p>
        </p:txBody>
      </p:sp>
      <p:sp>
        <p:nvSpPr>
          <p:cNvPr id="48" name="Shape 46"/>
          <p:cNvSpPr/>
          <p:nvPr/>
        </p:nvSpPr>
        <p:spPr>
          <a:xfrm>
            <a:off x="6446520" y="1819656"/>
            <a:ext cx="5285232" cy="621792"/>
          </a:xfrm>
          <a:prstGeom prst="roundRect">
            <a:avLst/>
          </a:prstGeom>
          <a:solidFill>
            <a:srgbClr val="FFFFFF"/>
          </a:solidFill>
          <a:ln w="8890">
            <a:solidFill>
              <a:srgbClr val="DDE4E1"/>
            </a:solidFill>
            <a:prstDash val="solid"/>
          </a:ln>
        </p:spPr>
      </p:sp>
      <p:sp>
        <p:nvSpPr>
          <p:cNvPr id="49" name="Shape 47"/>
          <p:cNvSpPr/>
          <p:nvPr/>
        </p:nvSpPr>
        <p:spPr>
          <a:xfrm>
            <a:off x="6446520" y="1819656"/>
            <a:ext cx="77724" cy="621792"/>
          </a:xfrm>
          <a:prstGeom prst="rect">
            <a:avLst/>
          </a:prstGeom>
          <a:solidFill>
            <a:srgbClr val="147D74"/>
          </a:solidFill>
          <a:ln w="6350">
            <a:solidFill>
              <a:srgbClr val="147D74"/>
            </a:solidFill>
            <a:prstDash val="solid"/>
          </a:ln>
        </p:spPr>
      </p:sp>
      <p:sp>
        <p:nvSpPr>
          <p:cNvPr id="50" name="Shape 48"/>
          <p:cNvSpPr/>
          <p:nvPr/>
        </p:nvSpPr>
        <p:spPr>
          <a:xfrm>
            <a:off x="6656832" y="2011680"/>
            <a:ext cx="237744" cy="237744"/>
          </a:xfrm>
          <a:prstGeom prst="ellipse">
            <a:avLst/>
          </a:prstGeom>
          <a:solidFill>
            <a:srgbClr val="147D74"/>
          </a:solidFill>
          <a:ln w="6350">
            <a:solidFill>
              <a:srgbClr val="147D74"/>
            </a:solidFill>
            <a:prstDash val="solid"/>
          </a:ln>
        </p:spPr>
      </p:sp>
      <p:sp>
        <p:nvSpPr>
          <p:cNvPr id="51" name="Text 49"/>
          <p:cNvSpPr/>
          <p:nvPr/>
        </p:nvSpPr>
        <p:spPr>
          <a:xfrm>
            <a:off x="6656832" y="2098548"/>
            <a:ext cx="237744" cy="7315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Aptos" pitchFamily="34" charset="0"/>
                <a:ea typeface="Aptos" pitchFamily="34" charset="-122"/>
                <a:cs typeface="Aptos" pitchFamily="34" charset="-120"/>
              </a:rPr>
              <a:t>✓</a:t>
            </a:r>
            <a:endParaRPr lang="en-US" sz="740" dirty="0"/>
          </a:p>
        </p:txBody>
      </p:sp>
      <p:sp>
        <p:nvSpPr>
          <p:cNvPr id="52" name="Text 50"/>
          <p:cNvSpPr/>
          <p:nvPr/>
        </p:nvSpPr>
        <p:spPr>
          <a:xfrm>
            <a:off x="7022592" y="1938528"/>
            <a:ext cx="4480560" cy="118872"/>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Energy dispatch decision</a:t>
            </a:r>
            <a:endParaRPr lang="en-US" sz="920" dirty="0"/>
          </a:p>
        </p:txBody>
      </p:sp>
      <p:sp>
        <p:nvSpPr>
          <p:cNvPr id="53" name="Text 51"/>
          <p:cNvSpPr/>
          <p:nvPr/>
        </p:nvSpPr>
        <p:spPr>
          <a:xfrm>
            <a:off x="7022592" y="2185416"/>
            <a:ext cx="4480560" cy="100584"/>
          </a:xfrm>
          <a:prstGeom prst="rect">
            <a:avLst/>
          </a:prstGeom>
          <a:noFill/>
          <a:ln/>
        </p:spPr>
        <p:txBody>
          <a:bodyPr wrap="square" lIns="0" tIns="0" rIns="0" bIns="0" rtlCol="0" anchor="ctr">
            <a:normAutofit/>
          </a:bodyPr>
          <a:lstStyle/>
          <a:p>
            <a:pPr algn="l" indent="0" marL="0">
              <a:buNone/>
            </a:pPr>
            <a:r>
              <a:rPr lang="en-US" sz="710" dirty="0">
                <a:solidFill>
                  <a:srgbClr val="687373"/>
                </a:solidFill>
                <a:latin typeface="Consolas" pitchFamily="34" charset="0"/>
                <a:ea typeface="Consolas" pitchFamily="34" charset="-122"/>
                <a:cs typeface="Consolas" pitchFamily="34" charset="-120"/>
              </a:rPr>
              <a:t>POST /v1/energy/recommendations/{id}:approve</a:t>
            </a:r>
            <a:endParaRPr lang="en-US" sz="710" dirty="0"/>
          </a:p>
        </p:txBody>
      </p:sp>
      <p:sp>
        <p:nvSpPr>
          <p:cNvPr id="54" name="Shape 52"/>
          <p:cNvSpPr/>
          <p:nvPr/>
        </p:nvSpPr>
        <p:spPr>
          <a:xfrm>
            <a:off x="6446520" y="2542032"/>
            <a:ext cx="5285232" cy="621792"/>
          </a:xfrm>
          <a:prstGeom prst="roundRect">
            <a:avLst/>
          </a:prstGeom>
          <a:solidFill>
            <a:srgbClr val="FFFFFF"/>
          </a:solidFill>
          <a:ln w="8890">
            <a:solidFill>
              <a:srgbClr val="DDE4E1"/>
            </a:solidFill>
            <a:prstDash val="solid"/>
          </a:ln>
        </p:spPr>
      </p:sp>
      <p:sp>
        <p:nvSpPr>
          <p:cNvPr id="55" name="Shape 53"/>
          <p:cNvSpPr/>
          <p:nvPr/>
        </p:nvSpPr>
        <p:spPr>
          <a:xfrm>
            <a:off x="6446520" y="2542032"/>
            <a:ext cx="77724" cy="621792"/>
          </a:xfrm>
          <a:prstGeom prst="rect">
            <a:avLst/>
          </a:prstGeom>
          <a:solidFill>
            <a:srgbClr val="E3A72F"/>
          </a:solidFill>
          <a:ln w="6350">
            <a:solidFill>
              <a:srgbClr val="E3A72F"/>
            </a:solidFill>
            <a:prstDash val="solid"/>
          </a:ln>
        </p:spPr>
      </p:sp>
      <p:sp>
        <p:nvSpPr>
          <p:cNvPr id="56" name="Shape 54"/>
          <p:cNvSpPr/>
          <p:nvPr/>
        </p:nvSpPr>
        <p:spPr>
          <a:xfrm>
            <a:off x="6656832" y="2734056"/>
            <a:ext cx="237744" cy="237744"/>
          </a:xfrm>
          <a:prstGeom prst="ellipse">
            <a:avLst/>
          </a:prstGeom>
          <a:solidFill>
            <a:srgbClr val="E3A72F"/>
          </a:solidFill>
          <a:ln w="6350">
            <a:solidFill>
              <a:srgbClr val="E3A72F"/>
            </a:solidFill>
            <a:prstDash val="solid"/>
          </a:ln>
        </p:spPr>
      </p:sp>
      <p:sp>
        <p:nvSpPr>
          <p:cNvPr id="57" name="Text 55"/>
          <p:cNvSpPr/>
          <p:nvPr/>
        </p:nvSpPr>
        <p:spPr>
          <a:xfrm>
            <a:off x="6656832" y="2820924"/>
            <a:ext cx="237744" cy="7315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Aptos" pitchFamily="34" charset="0"/>
                <a:ea typeface="Aptos" pitchFamily="34" charset="-122"/>
                <a:cs typeface="Aptos" pitchFamily="34" charset="-120"/>
              </a:rPr>
              <a:t>✓</a:t>
            </a:r>
            <a:endParaRPr lang="en-US" sz="740" dirty="0"/>
          </a:p>
        </p:txBody>
      </p:sp>
      <p:sp>
        <p:nvSpPr>
          <p:cNvPr id="58" name="Text 56"/>
          <p:cNvSpPr/>
          <p:nvPr/>
        </p:nvSpPr>
        <p:spPr>
          <a:xfrm>
            <a:off x="7022592" y="2660904"/>
            <a:ext cx="4480560" cy="118872"/>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Maintenance work order</a:t>
            </a:r>
            <a:endParaRPr lang="en-US" sz="920" dirty="0"/>
          </a:p>
        </p:txBody>
      </p:sp>
      <p:sp>
        <p:nvSpPr>
          <p:cNvPr id="59" name="Text 57"/>
          <p:cNvSpPr/>
          <p:nvPr/>
        </p:nvSpPr>
        <p:spPr>
          <a:xfrm>
            <a:off x="7022592" y="2907792"/>
            <a:ext cx="4480560" cy="100584"/>
          </a:xfrm>
          <a:prstGeom prst="rect">
            <a:avLst/>
          </a:prstGeom>
          <a:noFill/>
          <a:ln/>
        </p:spPr>
        <p:txBody>
          <a:bodyPr wrap="square" lIns="0" tIns="0" rIns="0" bIns="0" rtlCol="0" anchor="ctr">
            <a:normAutofit/>
          </a:bodyPr>
          <a:lstStyle/>
          <a:p>
            <a:pPr algn="l" indent="0" marL="0">
              <a:buNone/>
            </a:pPr>
            <a:r>
              <a:rPr lang="en-US" sz="710" dirty="0">
                <a:solidFill>
                  <a:srgbClr val="687373"/>
                </a:solidFill>
                <a:latin typeface="Consolas" pitchFamily="34" charset="0"/>
                <a:ea typeface="Consolas" pitchFamily="34" charset="-122"/>
                <a:cs typeface="Consolas" pitchFamily="34" charset="-120"/>
              </a:rPr>
              <a:t>POST /v1/workorders  —  from a lining-wear alert</a:t>
            </a:r>
            <a:endParaRPr lang="en-US" sz="710" dirty="0"/>
          </a:p>
        </p:txBody>
      </p:sp>
      <p:sp>
        <p:nvSpPr>
          <p:cNvPr id="60" name="Shape 58"/>
          <p:cNvSpPr/>
          <p:nvPr/>
        </p:nvSpPr>
        <p:spPr>
          <a:xfrm>
            <a:off x="6446520" y="3264408"/>
            <a:ext cx="5285232" cy="621792"/>
          </a:xfrm>
          <a:prstGeom prst="roundRect">
            <a:avLst/>
          </a:prstGeom>
          <a:solidFill>
            <a:srgbClr val="FFFFFF"/>
          </a:solidFill>
          <a:ln w="8890">
            <a:solidFill>
              <a:srgbClr val="DDE4E1"/>
            </a:solidFill>
            <a:prstDash val="solid"/>
          </a:ln>
        </p:spPr>
      </p:sp>
      <p:sp>
        <p:nvSpPr>
          <p:cNvPr id="61" name="Shape 59"/>
          <p:cNvSpPr/>
          <p:nvPr/>
        </p:nvSpPr>
        <p:spPr>
          <a:xfrm>
            <a:off x="6446520" y="3264408"/>
            <a:ext cx="77724" cy="621792"/>
          </a:xfrm>
          <a:prstGeom prst="rect">
            <a:avLst/>
          </a:prstGeom>
          <a:solidFill>
            <a:srgbClr val="6D9A6F"/>
          </a:solidFill>
          <a:ln w="6350">
            <a:solidFill>
              <a:srgbClr val="6D9A6F"/>
            </a:solidFill>
            <a:prstDash val="solid"/>
          </a:ln>
        </p:spPr>
      </p:sp>
      <p:sp>
        <p:nvSpPr>
          <p:cNvPr id="62" name="Shape 60"/>
          <p:cNvSpPr/>
          <p:nvPr/>
        </p:nvSpPr>
        <p:spPr>
          <a:xfrm>
            <a:off x="6656832" y="3456432"/>
            <a:ext cx="237744" cy="237744"/>
          </a:xfrm>
          <a:prstGeom prst="ellipse">
            <a:avLst/>
          </a:prstGeom>
          <a:solidFill>
            <a:srgbClr val="6D9A6F"/>
          </a:solidFill>
          <a:ln w="6350">
            <a:solidFill>
              <a:srgbClr val="6D9A6F"/>
            </a:solidFill>
            <a:prstDash val="solid"/>
          </a:ln>
        </p:spPr>
      </p:sp>
      <p:sp>
        <p:nvSpPr>
          <p:cNvPr id="63" name="Text 61"/>
          <p:cNvSpPr/>
          <p:nvPr/>
        </p:nvSpPr>
        <p:spPr>
          <a:xfrm>
            <a:off x="6656832" y="3543300"/>
            <a:ext cx="237744" cy="7315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Aptos" pitchFamily="34" charset="0"/>
                <a:ea typeface="Aptos" pitchFamily="34" charset="-122"/>
                <a:cs typeface="Aptos" pitchFamily="34" charset="-120"/>
              </a:rPr>
              <a:t>✓</a:t>
            </a:r>
            <a:endParaRPr lang="en-US" sz="740" dirty="0"/>
          </a:p>
        </p:txBody>
      </p:sp>
      <p:sp>
        <p:nvSpPr>
          <p:cNvPr id="64" name="Text 62"/>
          <p:cNvSpPr/>
          <p:nvPr/>
        </p:nvSpPr>
        <p:spPr>
          <a:xfrm>
            <a:off x="7022592" y="3383280"/>
            <a:ext cx="4480560" cy="118872"/>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Procedure publication</a:t>
            </a:r>
            <a:endParaRPr lang="en-US" sz="920" dirty="0"/>
          </a:p>
        </p:txBody>
      </p:sp>
      <p:sp>
        <p:nvSpPr>
          <p:cNvPr id="65" name="Text 63"/>
          <p:cNvSpPr/>
          <p:nvPr/>
        </p:nvSpPr>
        <p:spPr>
          <a:xfrm>
            <a:off x="7022592" y="3630168"/>
            <a:ext cx="4480560" cy="100584"/>
          </a:xfrm>
          <a:prstGeom prst="rect">
            <a:avLst/>
          </a:prstGeom>
          <a:noFill/>
          <a:ln/>
        </p:spPr>
        <p:txBody>
          <a:bodyPr wrap="square" lIns="0" tIns="0" rIns="0" bIns="0" rtlCol="0" anchor="ctr">
            <a:normAutofit/>
          </a:bodyPr>
          <a:lstStyle/>
          <a:p>
            <a:pPr algn="l" indent="0" marL="0">
              <a:buNone/>
            </a:pPr>
            <a:r>
              <a:rPr lang="en-US" sz="710" dirty="0">
                <a:solidFill>
                  <a:srgbClr val="687373"/>
                </a:solidFill>
                <a:latin typeface="Consolas" pitchFamily="34" charset="0"/>
                <a:ea typeface="Consolas" pitchFamily="34" charset="-122"/>
                <a:cs typeface="Consolas" pitchFamily="34" charset="-120"/>
              </a:rPr>
              <a:t>POST /v1/knowledge/procedures/{id}:approve</a:t>
            </a:r>
            <a:endParaRPr lang="en-US" sz="710" dirty="0"/>
          </a:p>
        </p:txBody>
      </p:sp>
      <p:sp>
        <p:nvSpPr>
          <p:cNvPr id="66" name="Shape 64"/>
          <p:cNvSpPr/>
          <p:nvPr/>
        </p:nvSpPr>
        <p:spPr>
          <a:xfrm>
            <a:off x="6446520" y="3986784"/>
            <a:ext cx="5285232" cy="621792"/>
          </a:xfrm>
          <a:prstGeom prst="roundRect">
            <a:avLst/>
          </a:prstGeom>
          <a:solidFill>
            <a:srgbClr val="FFFFFF"/>
          </a:solidFill>
          <a:ln w="8890">
            <a:solidFill>
              <a:srgbClr val="DDE4E1"/>
            </a:solidFill>
            <a:prstDash val="solid"/>
          </a:ln>
        </p:spPr>
      </p:sp>
      <p:sp>
        <p:nvSpPr>
          <p:cNvPr id="67" name="Shape 65"/>
          <p:cNvSpPr/>
          <p:nvPr/>
        </p:nvSpPr>
        <p:spPr>
          <a:xfrm>
            <a:off x="6446520" y="3986784"/>
            <a:ext cx="77724" cy="621792"/>
          </a:xfrm>
          <a:prstGeom prst="rect">
            <a:avLst/>
          </a:prstGeom>
          <a:solidFill>
            <a:srgbClr val="B64A2D"/>
          </a:solidFill>
          <a:ln w="6350">
            <a:solidFill>
              <a:srgbClr val="B64A2D"/>
            </a:solidFill>
            <a:prstDash val="solid"/>
          </a:ln>
        </p:spPr>
      </p:sp>
      <p:sp>
        <p:nvSpPr>
          <p:cNvPr id="68" name="Shape 66"/>
          <p:cNvSpPr/>
          <p:nvPr/>
        </p:nvSpPr>
        <p:spPr>
          <a:xfrm>
            <a:off x="6656832" y="4178808"/>
            <a:ext cx="237744" cy="237744"/>
          </a:xfrm>
          <a:prstGeom prst="ellipse">
            <a:avLst/>
          </a:prstGeom>
          <a:solidFill>
            <a:srgbClr val="B64A2D"/>
          </a:solidFill>
          <a:ln w="6350">
            <a:solidFill>
              <a:srgbClr val="B64A2D"/>
            </a:solidFill>
            <a:prstDash val="solid"/>
          </a:ln>
        </p:spPr>
      </p:sp>
      <p:sp>
        <p:nvSpPr>
          <p:cNvPr id="69" name="Text 67"/>
          <p:cNvSpPr/>
          <p:nvPr/>
        </p:nvSpPr>
        <p:spPr>
          <a:xfrm>
            <a:off x="6656832" y="4265676"/>
            <a:ext cx="237744" cy="7315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Aptos" pitchFamily="34" charset="0"/>
                <a:ea typeface="Aptos" pitchFamily="34" charset="-122"/>
                <a:cs typeface="Aptos" pitchFamily="34" charset="-120"/>
              </a:rPr>
              <a:t>✓</a:t>
            </a:r>
            <a:endParaRPr lang="en-US" sz="740" dirty="0"/>
          </a:p>
        </p:txBody>
      </p:sp>
      <p:sp>
        <p:nvSpPr>
          <p:cNvPr id="70" name="Text 68"/>
          <p:cNvSpPr/>
          <p:nvPr/>
        </p:nvSpPr>
        <p:spPr>
          <a:xfrm>
            <a:off x="7022592" y="4105656"/>
            <a:ext cx="4480560" cy="118872"/>
          </a:xfrm>
          <a:prstGeom prst="rect">
            <a:avLst/>
          </a:prstGeom>
          <a:noFill/>
          <a:ln/>
        </p:spPr>
        <p:txBody>
          <a:bodyPr wrap="square" lIns="0" tIns="0" rIns="0" bIns="0" rtlCol="0" anchor="ctr">
            <a:normAutofit/>
          </a:bodyPr>
          <a:lstStyle/>
          <a:p>
            <a:pPr algn="l" indent="0" marL="0">
              <a:buNone/>
            </a:pPr>
            <a:r>
              <a:rPr lang="en-US" sz="920" b="1" dirty="0">
                <a:solidFill>
                  <a:srgbClr val="202729"/>
                </a:solidFill>
                <a:latin typeface="Aptos" pitchFamily="34" charset="0"/>
                <a:ea typeface="Aptos" pitchFamily="34" charset="-122"/>
                <a:cs typeface="Aptos" pitchFamily="34" charset="-120"/>
              </a:rPr>
              <a:t>Immutable decision record</a:t>
            </a:r>
            <a:endParaRPr lang="en-US" sz="920" dirty="0"/>
          </a:p>
        </p:txBody>
      </p:sp>
      <p:sp>
        <p:nvSpPr>
          <p:cNvPr id="71" name="Text 69"/>
          <p:cNvSpPr/>
          <p:nvPr/>
        </p:nvSpPr>
        <p:spPr>
          <a:xfrm>
            <a:off x="7022592" y="4352544"/>
            <a:ext cx="4480560" cy="100584"/>
          </a:xfrm>
          <a:prstGeom prst="rect">
            <a:avLst/>
          </a:prstGeom>
          <a:noFill/>
          <a:ln/>
        </p:spPr>
        <p:txBody>
          <a:bodyPr wrap="square" lIns="0" tIns="0" rIns="0" bIns="0" rtlCol="0" anchor="ctr">
            <a:normAutofit/>
          </a:bodyPr>
          <a:lstStyle/>
          <a:p>
            <a:pPr algn="l" indent="0" marL="0">
              <a:buNone/>
            </a:pPr>
            <a:r>
              <a:rPr lang="en-US" sz="710" dirty="0">
                <a:solidFill>
                  <a:srgbClr val="687373"/>
                </a:solidFill>
                <a:latin typeface="Consolas" pitchFamily="34" charset="0"/>
                <a:ea typeface="Consolas" pitchFamily="34" charset="-122"/>
                <a:cs typeface="Consolas" pitchFamily="34" charset="-120"/>
              </a:rPr>
              <a:t>GET /v1/audit/decisions  —  hash-chained trail</a:t>
            </a:r>
            <a:endParaRPr lang="en-US" sz="710" dirty="0"/>
          </a:p>
        </p:txBody>
      </p:sp>
      <p:sp>
        <p:nvSpPr>
          <p:cNvPr id="72" name="Shape 70"/>
          <p:cNvSpPr/>
          <p:nvPr/>
        </p:nvSpPr>
        <p:spPr>
          <a:xfrm>
            <a:off x="6446520" y="4718304"/>
            <a:ext cx="5285232" cy="566928"/>
          </a:xfrm>
          <a:prstGeom prst="roundRect">
            <a:avLst/>
          </a:prstGeom>
          <a:solidFill>
            <a:srgbClr val="F3E9CB"/>
          </a:solidFill>
          <a:ln w="8890">
            <a:solidFill>
              <a:srgbClr val="E3A72F"/>
            </a:solidFill>
            <a:prstDash val="solid"/>
          </a:ln>
        </p:spPr>
      </p:sp>
      <p:sp>
        <p:nvSpPr>
          <p:cNvPr id="73" name="Shape 71"/>
          <p:cNvSpPr/>
          <p:nvPr/>
        </p:nvSpPr>
        <p:spPr>
          <a:xfrm>
            <a:off x="6446520" y="4718304"/>
            <a:ext cx="77724" cy="566928"/>
          </a:xfrm>
          <a:prstGeom prst="rect">
            <a:avLst/>
          </a:prstGeom>
          <a:solidFill>
            <a:srgbClr val="E3A72F"/>
          </a:solidFill>
          <a:ln w="6350">
            <a:solidFill>
              <a:srgbClr val="E3A72F"/>
            </a:solidFill>
            <a:prstDash val="solid"/>
          </a:ln>
        </p:spPr>
      </p:sp>
      <p:sp>
        <p:nvSpPr>
          <p:cNvPr id="74" name="Text 72"/>
          <p:cNvSpPr/>
          <p:nvPr/>
        </p:nvSpPr>
        <p:spPr>
          <a:xfrm>
            <a:off x="6693408" y="4828032"/>
            <a:ext cx="4864608" cy="347472"/>
          </a:xfrm>
          <a:prstGeom prst="rect">
            <a:avLst/>
          </a:prstGeom>
          <a:noFill/>
          <a:ln/>
        </p:spPr>
        <p:txBody>
          <a:bodyPr wrap="square" lIns="0" tIns="0" rIns="0" bIns="0" rtlCol="0" anchor="t">
            <a:normAutofit/>
          </a:bodyPr>
          <a:lstStyle/>
          <a:p>
            <a:pPr algn="l" indent="0" marL="0">
              <a:buNone/>
            </a:pPr>
            <a:r>
              <a:rPr lang="en-US" sz="780" b="1" dirty="0">
                <a:solidFill>
                  <a:srgbClr val="202729"/>
                </a:solidFill>
                <a:latin typeface="Aptos" pitchFamily="34" charset="0"/>
                <a:ea typeface="Aptos" pitchFamily="34" charset="-122"/>
                <a:cs typeface="Aptos" pitchFamily="34" charset="-120"/>
              </a:rPr>
              <a:t>PHASE 2 — guarded write-back to CMMS / MES only: human-approved, threshold-bounded, reversible. Never a direct control action.</a:t>
            </a:r>
            <a:endParaRPr lang="en-US" sz="780" dirty="0"/>
          </a:p>
        </p:txBody>
      </p:sp>
      <p:sp>
        <p:nvSpPr>
          <p:cNvPr id="75" name="Shape 73"/>
          <p:cNvSpPr/>
          <p:nvPr/>
        </p:nvSpPr>
        <p:spPr>
          <a:xfrm>
            <a:off x="457200" y="5413248"/>
            <a:ext cx="2708910" cy="676656"/>
          </a:xfrm>
          <a:prstGeom prst="roundRect">
            <a:avLst/>
          </a:prstGeom>
          <a:solidFill>
            <a:srgbClr val="FFFFFF"/>
          </a:solidFill>
          <a:ln w="8890">
            <a:solidFill>
              <a:srgbClr val="DDE4E1"/>
            </a:solidFill>
            <a:prstDash val="solid"/>
          </a:ln>
        </p:spPr>
      </p:sp>
      <p:sp>
        <p:nvSpPr>
          <p:cNvPr id="76" name="Shape 74"/>
          <p:cNvSpPr/>
          <p:nvPr/>
        </p:nvSpPr>
        <p:spPr>
          <a:xfrm>
            <a:off x="457200" y="5413248"/>
            <a:ext cx="77724" cy="676656"/>
          </a:xfrm>
          <a:prstGeom prst="rect">
            <a:avLst/>
          </a:prstGeom>
          <a:solidFill>
            <a:srgbClr val="B64A2D"/>
          </a:solidFill>
          <a:ln w="6350">
            <a:solidFill>
              <a:srgbClr val="B64A2D"/>
            </a:solidFill>
            <a:prstDash val="solid"/>
          </a:ln>
        </p:spPr>
      </p:sp>
      <p:sp>
        <p:nvSpPr>
          <p:cNvPr id="77" name="Text 75"/>
          <p:cNvSpPr/>
          <p:nvPr/>
        </p:nvSpPr>
        <p:spPr>
          <a:xfrm>
            <a:off x="640080" y="5527548"/>
            <a:ext cx="2377440" cy="100584"/>
          </a:xfrm>
          <a:prstGeom prst="rect">
            <a:avLst/>
          </a:prstGeom>
          <a:noFill/>
          <a:ln/>
        </p:spPr>
        <p:txBody>
          <a:bodyPr wrap="square" lIns="0" tIns="0" rIns="0" bIns="0" rtlCol="0" anchor="ctr">
            <a:normAutofit/>
          </a:bodyPr>
          <a:lstStyle/>
          <a:p>
            <a:pPr algn="l" indent="0" marL="0">
              <a:buNone/>
            </a:pPr>
            <a:r>
              <a:rPr lang="en-US" sz="800" b="1" spc="70" kern="0" dirty="0">
                <a:solidFill>
                  <a:srgbClr val="B64A2D"/>
                </a:solidFill>
                <a:latin typeface="Aptos" pitchFamily="34" charset="0"/>
                <a:ea typeface="Aptos" pitchFamily="34" charset="-122"/>
                <a:cs typeface="Aptos" pitchFamily="34" charset="-120"/>
              </a:rPr>
              <a:t>IEC 61511 / SIS</a:t>
            </a:r>
            <a:endParaRPr lang="en-US" sz="800" dirty="0"/>
          </a:p>
        </p:txBody>
      </p:sp>
      <p:sp>
        <p:nvSpPr>
          <p:cNvPr id="78" name="Text 76"/>
          <p:cNvSpPr/>
          <p:nvPr/>
        </p:nvSpPr>
        <p:spPr>
          <a:xfrm>
            <a:off x="640080" y="5733288"/>
            <a:ext cx="2340864" cy="256032"/>
          </a:xfrm>
          <a:prstGeom prst="rect">
            <a:avLst/>
          </a:prstGeom>
          <a:noFill/>
          <a:ln/>
        </p:spPr>
        <p:txBody>
          <a:bodyPr wrap="square" lIns="0" tIns="0" rIns="0" bIns="0" rtlCol="0" anchor="t">
            <a:normAutofit/>
          </a:bodyPr>
          <a:lstStyle/>
          <a:p>
            <a:pPr algn="l" indent="0" marL="0">
              <a:buNone/>
            </a:pPr>
            <a:r>
              <a:rPr lang="en-US" sz="700" dirty="0">
                <a:solidFill>
                  <a:srgbClr val="687373"/>
                </a:solidFill>
                <a:latin typeface="Aptos" pitchFamily="34" charset="0"/>
                <a:ea typeface="Aptos" pitchFamily="34" charset="-122"/>
                <a:cs typeface="Aptos" pitchFamily="34" charset="-120"/>
              </a:rPr>
              <a:t>Safety-instrumented functions are not arbitrated by a cloud model.</a:t>
            </a:r>
            <a:endParaRPr lang="en-US" sz="700" dirty="0"/>
          </a:p>
        </p:txBody>
      </p:sp>
      <p:sp>
        <p:nvSpPr>
          <p:cNvPr id="79" name="Shape 77"/>
          <p:cNvSpPr/>
          <p:nvPr/>
        </p:nvSpPr>
        <p:spPr>
          <a:xfrm>
            <a:off x="3312414" y="5413248"/>
            <a:ext cx="2708910" cy="676656"/>
          </a:xfrm>
          <a:prstGeom prst="roundRect">
            <a:avLst/>
          </a:prstGeom>
          <a:solidFill>
            <a:srgbClr val="FFFFFF"/>
          </a:solidFill>
          <a:ln w="8890">
            <a:solidFill>
              <a:srgbClr val="DDE4E1"/>
            </a:solidFill>
            <a:prstDash val="solid"/>
          </a:ln>
        </p:spPr>
      </p:sp>
      <p:sp>
        <p:nvSpPr>
          <p:cNvPr id="80" name="Shape 78"/>
          <p:cNvSpPr/>
          <p:nvPr/>
        </p:nvSpPr>
        <p:spPr>
          <a:xfrm>
            <a:off x="3312414" y="5413248"/>
            <a:ext cx="77724" cy="676656"/>
          </a:xfrm>
          <a:prstGeom prst="rect">
            <a:avLst/>
          </a:prstGeom>
          <a:solidFill>
            <a:srgbClr val="E3A72F"/>
          </a:solidFill>
          <a:ln w="6350">
            <a:solidFill>
              <a:srgbClr val="E3A72F"/>
            </a:solidFill>
            <a:prstDash val="solid"/>
          </a:ln>
        </p:spPr>
      </p:sp>
      <p:sp>
        <p:nvSpPr>
          <p:cNvPr id="81" name="Text 79"/>
          <p:cNvSpPr/>
          <p:nvPr/>
        </p:nvSpPr>
        <p:spPr>
          <a:xfrm>
            <a:off x="3495294" y="5527548"/>
            <a:ext cx="2377440" cy="100584"/>
          </a:xfrm>
          <a:prstGeom prst="rect">
            <a:avLst/>
          </a:prstGeom>
          <a:noFill/>
          <a:ln/>
        </p:spPr>
        <p:txBody>
          <a:bodyPr wrap="square" lIns="0" tIns="0" rIns="0" bIns="0" rtlCol="0" anchor="ctr">
            <a:normAutofit/>
          </a:bodyPr>
          <a:lstStyle/>
          <a:p>
            <a:pPr algn="l" indent="0" marL="0">
              <a:buNone/>
            </a:pPr>
            <a:r>
              <a:rPr lang="en-US" sz="800" b="1" spc="70" kern="0" dirty="0">
                <a:solidFill>
                  <a:srgbClr val="E3A72F"/>
                </a:solidFill>
                <a:latin typeface="Aptos" pitchFamily="34" charset="0"/>
                <a:ea typeface="Aptos" pitchFamily="34" charset="-122"/>
                <a:cs typeface="Aptos" pitchFamily="34" charset="-120"/>
              </a:rPr>
              <a:t>IEC 62443 ZONES</a:t>
            </a:r>
            <a:endParaRPr lang="en-US" sz="800" dirty="0"/>
          </a:p>
        </p:txBody>
      </p:sp>
      <p:sp>
        <p:nvSpPr>
          <p:cNvPr id="82" name="Text 80"/>
          <p:cNvSpPr/>
          <p:nvPr/>
        </p:nvSpPr>
        <p:spPr>
          <a:xfrm>
            <a:off x="3495294" y="5733288"/>
            <a:ext cx="2340864" cy="256032"/>
          </a:xfrm>
          <a:prstGeom prst="rect">
            <a:avLst/>
          </a:prstGeom>
          <a:noFill/>
          <a:ln/>
        </p:spPr>
        <p:txBody>
          <a:bodyPr wrap="square" lIns="0" tIns="0" rIns="0" bIns="0" rtlCol="0" anchor="t">
            <a:normAutofit/>
          </a:bodyPr>
          <a:lstStyle/>
          <a:p>
            <a:pPr algn="l" indent="0" marL="0">
              <a:buNone/>
            </a:pPr>
            <a:r>
              <a:rPr lang="en-US" sz="700" dirty="0">
                <a:solidFill>
                  <a:srgbClr val="687373"/>
                </a:solidFill>
                <a:latin typeface="Aptos" pitchFamily="34" charset="0"/>
                <a:ea typeface="Aptos" pitchFamily="34" charset="-122"/>
                <a:cs typeface="Aptos" pitchFamily="34" charset="-120"/>
              </a:rPr>
              <a:t>The conduit is outbound-only; no inbound session reaches the cell.</a:t>
            </a:r>
            <a:endParaRPr lang="en-US" sz="700" dirty="0"/>
          </a:p>
        </p:txBody>
      </p:sp>
      <p:sp>
        <p:nvSpPr>
          <p:cNvPr id="83" name="Shape 81"/>
          <p:cNvSpPr/>
          <p:nvPr/>
        </p:nvSpPr>
        <p:spPr>
          <a:xfrm>
            <a:off x="6167628" y="5413248"/>
            <a:ext cx="2708910" cy="676656"/>
          </a:xfrm>
          <a:prstGeom prst="roundRect">
            <a:avLst/>
          </a:prstGeom>
          <a:solidFill>
            <a:srgbClr val="FFFFFF"/>
          </a:solidFill>
          <a:ln w="8890">
            <a:solidFill>
              <a:srgbClr val="DDE4E1"/>
            </a:solidFill>
            <a:prstDash val="solid"/>
          </a:ln>
        </p:spPr>
      </p:sp>
      <p:sp>
        <p:nvSpPr>
          <p:cNvPr id="84" name="Shape 82"/>
          <p:cNvSpPr/>
          <p:nvPr/>
        </p:nvSpPr>
        <p:spPr>
          <a:xfrm>
            <a:off x="6167628" y="5413248"/>
            <a:ext cx="77724" cy="676656"/>
          </a:xfrm>
          <a:prstGeom prst="rect">
            <a:avLst/>
          </a:prstGeom>
          <a:solidFill>
            <a:srgbClr val="147D74"/>
          </a:solidFill>
          <a:ln w="6350">
            <a:solidFill>
              <a:srgbClr val="147D74"/>
            </a:solidFill>
            <a:prstDash val="solid"/>
          </a:ln>
        </p:spPr>
      </p:sp>
      <p:sp>
        <p:nvSpPr>
          <p:cNvPr id="85" name="Text 83"/>
          <p:cNvSpPr/>
          <p:nvPr/>
        </p:nvSpPr>
        <p:spPr>
          <a:xfrm>
            <a:off x="6350508" y="5527548"/>
            <a:ext cx="2377440" cy="100584"/>
          </a:xfrm>
          <a:prstGeom prst="rect">
            <a:avLst/>
          </a:prstGeom>
          <a:noFill/>
          <a:ln/>
        </p:spPr>
        <p:txBody>
          <a:bodyPr wrap="square" lIns="0" tIns="0" rIns="0" bIns="0" rtlCol="0" anchor="ctr">
            <a:normAutofit/>
          </a:bodyPr>
          <a:lstStyle/>
          <a:p>
            <a:pPr algn="l" indent="0" marL="0">
              <a:buNone/>
            </a:pPr>
            <a:r>
              <a:rPr lang="en-US" sz="800" b="1" spc="70" kern="0" dirty="0">
                <a:solidFill>
                  <a:srgbClr val="147D74"/>
                </a:solidFill>
                <a:latin typeface="Aptos" pitchFamily="34" charset="0"/>
                <a:ea typeface="Aptos" pitchFamily="34" charset="-122"/>
                <a:cs typeface="Aptos" pitchFamily="34" charset="-120"/>
              </a:rPr>
              <a:t>EU AI ACT</a:t>
            </a:r>
            <a:endParaRPr lang="en-US" sz="800" dirty="0"/>
          </a:p>
        </p:txBody>
      </p:sp>
      <p:sp>
        <p:nvSpPr>
          <p:cNvPr id="86" name="Text 84"/>
          <p:cNvSpPr/>
          <p:nvPr/>
        </p:nvSpPr>
        <p:spPr>
          <a:xfrm>
            <a:off x="6350508" y="5733288"/>
            <a:ext cx="2340864" cy="256032"/>
          </a:xfrm>
          <a:prstGeom prst="rect">
            <a:avLst/>
          </a:prstGeom>
          <a:noFill/>
          <a:ln/>
        </p:spPr>
        <p:txBody>
          <a:bodyPr wrap="square" lIns="0" tIns="0" rIns="0" bIns="0" rtlCol="0" anchor="t">
            <a:normAutofit/>
          </a:bodyPr>
          <a:lstStyle/>
          <a:p>
            <a:pPr algn="l" indent="0" marL="0">
              <a:buNone/>
            </a:pPr>
            <a:r>
              <a:rPr lang="en-US" sz="700" dirty="0">
                <a:solidFill>
                  <a:srgbClr val="687373"/>
                </a:solidFill>
                <a:latin typeface="Aptos" pitchFamily="34" charset="0"/>
                <a:ea typeface="Aptos" pitchFamily="34" charset="-122"/>
                <a:cs typeface="Aptos" pitchFamily="34" charset="-120"/>
              </a:rPr>
              <a:t>Actuation would assume high-risk duties we cannot yet evidence.</a:t>
            </a:r>
            <a:endParaRPr lang="en-US" sz="700" dirty="0"/>
          </a:p>
        </p:txBody>
      </p:sp>
      <p:sp>
        <p:nvSpPr>
          <p:cNvPr id="87" name="Shape 85"/>
          <p:cNvSpPr/>
          <p:nvPr/>
        </p:nvSpPr>
        <p:spPr>
          <a:xfrm>
            <a:off x="9022842" y="5413248"/>
            <a:ext cx="2708910" cy="676656"/>
          </a:xfrm>
          <a:prstGeom prst="roundRect">
            <a:avLst/>
          </a:prstGeom>
          <a:solidFill>
            <a:srgbClr val="FFFFFF"/>
          </a:solidFill>
          <a:ln w="8890">
            <a:solidFill>
              <a:srgbClr val="DDE4E1"/>
            </a:solidFill>
            <a:prstDash val="solid"/>
          </a:ln>
        </p:spPr>
      </p:sp>
      <p:sp>
        <p:nvSpPr>
          <p:cNvPr id="88" name="Shape 86"/>
          <p:cNvSpPr/>
          <p:nvPr/>
        </p:nvSpPr>
        <p:spPr>
          <a:xfrm>
            <a:off x="9022842" y="5413248"/>
            <a:ext cx="77724" cy="676656"/>
          </a:xfrm>
          <a:prstGeom prst="rect">
            <a:avLst/>
          </a:prstGeom>
          <a:solidFill>
            <a:srgbClr val="465057"/>
          </a:solidFill>
          <a:ln w="6350">
            <a:solidFill>
              <a:srgbClr val="465057"/>
            </a:solidFill>
            <a:prstDash val="solid"/>
          </a:ln>
        </p:spPr>
      </p:sp>
      <p:sp>
        <p:nvSpPr>
          <p:cNvPr id="89" name="Text 87"/>
          <p:cNvSpPr/>
          <p:nvPr/>
        </p:nvSpPr>
        <p:spPr>
          <a:xfrm>
            <a:off x="9205722" y="5527548"/>
            <a:ext cx="2377440" cy="100584"/>
          </a:xfrm>
          <a:prstGeom prst="rect">
            <a:avLst/>
          </a:prstGeom>
          <a:noFill/>
          <a:ln/>
        </p:spPr>
        <p:txBody>
          <a:bodyPr wrap="square" lIns="0" tIns="0" rIns="0" bIns="0" rtlCol="0" anchor="ctr">
            <a:normAutofit/>
          </a:bodyPr>
          <a:lstStyle/>
          <a:p>
            <a:pPr algn="l" indent="0" marL="0">
              <a:buNone/>
            </a:pPr>
            <a:r>
              <a:rPr lang="en-US" sz="800" b="1" spc="70" kern="0" dirty="0">
                <a:solidFill>
                  <a:srgbClr val="465057"/>
                </a:solidFill>
                <a:latin typeface="Aptos" pitchFamily="34" charset="0"/>
                <a:ea typeface="Aptos" pitchFamily="34" charset="-122"/>
                <a:cs typeface="Aptos" pitchFamily="34" charset="-120"/>
              </a:rPr>
              <a:t>REVERSIBILITY</a:t>
            </a:r>
            <a:endParaRPr lang="en-US" sz="800" dirty="0"/>
          </a:p>
        </p:txBody>
      </p:sp>
      <p:sp>
        <p:nvSpPr>
          <p:cNvPr id="90" name="Text 88"/>
          <p:cNvSpPr/>
          <p:nvPr/>
        </p:nvSpPr>
        <p:spPr>
          <a:xfrm>
            <a:off x="9205722" y="5733288"/>
            <a:ext cx="2340864" cy="256032"/>
          </a:xfrm>
          <a:prstGeom prst="rect">
            <a:avLst/>
          </a:prstGeom>
          <a:noFill/>
          <a:ln/>
        </p:spPr>
        <p:txBody>
          <a:bodyPr wrap="square" lIns="0" tIns="0" rIns="0" bIns="0" rtlCol="0" anchor="t">
            <a:normAutofit/>
          </a:bodyPr>
          <a:lstStyle/>
          <a:p>
            <a:pPr algn="l" indent="0" marL="0">
              <a:buNone/>
            </a:pPr>
            <a:r>
              <a:rPr lang="en-US" sz="700" dirty="0">
                <a:solidFill>
                  <a:srgbClr val="687373"/>
                </a:solidFill>
                <a:latin typeface="Aptos" pitchFamily="34" charset="0"/>
                <a:ea typeface="Aptos" pitchFamily="34" charset="-122"/>
                <a:cs typeface="Aptos" pitchFamily="34" charset="-120"/>
              </a:rPr>
              <a:t>Rejected advice costs a click; a wrong setpoint can cost €8M.</a:t>
            </a:r>
            <a:endParaRPr lang="en-US" sz="700" dirty="0"/>
          </a:p>
        </p:txBody>
      </p:sp>
      <p:sp>
        <p:nvSpPr>
          <p:cNvPr id="91" name="Text 89"/>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687373"/>
                </a:solidFill>
                <a:latin typeface="Aptos" pitchFamily="34" charset="0"/>
                <a:ea typeface="Aptos" pitchFamily="34" charset="-122"/>
                <a:cs typeface="Aptos" pitchFamily="34" charset="-120"/>
              </a:rPr>
              <a:t>Source cue | FAQ H — faq.md Q39b  •  solution-requirements.md O1, C-04, AI-05, §18 phasing  •  solution-architecture.md §1.1, ADR-007/008</a:t>
            </a:r>
            <a:endParaRPr lang="en-US" sz="660" dirty="0"/>
          </a:p>
        </p:txBody>
      </p:sp>
      <p:sp>
        <p:nvSpPr>
          <p:cNvPr id="92" name="Shape 90"/>
          <p:cNvSpPr/>
          <p:nvPr/>
        </p:nvSpPr>
        <p:spPr>
          <a:xfrm>
            <a:off x="0" y="6483096"/>
            <a:ext cx="12191695" cy="374904"/>
          </a:xfrm>
          <a:prstGeom prst="rect">
            <a:avLst/>
          </a:prstGeom>
          <a:solidFill>
            <a:srgbClr val="E9E7E1"/>
          </a:solidFill>
          <a:ln w="6350">
            <a:solidFill>
              <a:srgbClr val="E9E7E1"/>
            </a:solidFill>
            <a:prstDash val="solid"/>
          </a:ln>
        </p:spPr>
      </p:sp>
      <p:sp>
        <p:nvSpPr>
          <p:cNvPr id="93" name="Shape 91"/>
          <p:cNvSpPr/>
          <p:nvPr/>
        </p:nvSpPr>
        <p:spPr>
          <a:xfrm>
            <a:off x="384048" y="6547104"/>
            <a:ext cx="3547872" cy="182880"/>
          </a:xfrm>
          <a:prstGeom prst="roundRect">
            <a:avLst/>
          </a:prstGeom>
          <a:solidFill>
            <a:srgbClr val="FFFFFF"/>
          </a:solidFill>
          <a:ln w="3175">
            <a:solidFill>
              <a:srgbClr val="DDE4E1"/>
            </a:solidFill>
            <a:prstDash val="solid"/>
          </a:ln>
        </p:spPr>
      </p:sp>
      <p:sp>
        <p:nvSpPr>
          <p:cNvPr id="94" name="Text 92"/>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465057"/>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95" name="Text 93"/>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465057"/>
                </a:solidFill>
                <a:latin typeface="Aptos" pitchFamily="34" charset="0"/>
                <a:ea typeface="Aptos" pitchFamily="34" charset="-122"/>
                <a:cs typeface="Aptos" pitchFamily="34" charset="-120"/>
              </a:rPr>
              <a:t>FAQ &amp; VALIDATION BACKUP  •  07 / 08</a:t>
            </a:r>
            <a:endParaRPr lang="en-US" sz="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719"/>
        </a:solidFill>
      </p:bgPr>
    </p:bg>
    <p:spTree>
      <p:nvGrpSpPr>
        <p:cNvPr id="1" name=""/>
        <p:cNvGrpSpPr/>
        <p:nvPr/>
      </p:nvGrpSpPr>
      <p:grpSpPr>
        <a:xfrm>
          <a:off x="0" y="0"/>
          <a:ext cx="0" cy="0"/>
          <a:chOff x="0" y="0"/>
          <a:chExt cx="0" cy="0"/>
        </a:xfrm>
      </p:grpSpPr>
      <p:pic>
        <p:nvPicPr>
          <p:cNvPr id="2" name="Image 0" descr="D:\work\20260724 - Novasteel 3\tools\presentation\assets\steel-texture.png">    </p:cNvPr>
          <p:cNvPicPr>
            <a:picLocks noChangeAspect="1"/>
          </p:cNvPicPr>
          <p:nvPr/>
        </p:nvPicPr>
        <p:blipFill>
          <a:blip r:embed="rId1">
            <a:alphaModFix amt="34000"/>
          </a:blip>
          <a:stretch>
            <a:fillRect/>
          </a:stretch>
        </p:blipFill>
        <p:spPr>
          <a:xfrm>
            <a:off x="0" y="0"/>
            <a:ext cx="12191695" cy="6858000"/>
          </a:xfrm>
          <a:prstGeom prst="rect">
            <a:avLst/>
          </a:prstGeom>
        </p:spPr>
      </p:pic>
      <p:sp>
        <p:nvSpPr>
          <p:cNvPr id="3" name="Shape 0"/>
          <p:cNvSpPr/>
          <p:nvPr/>
        </p:nvSpPr>
        <p:spPr>
          <a:xfrm>
            <a:off x="457200" y="274320"/>
            <a:ext cx="822960" cy="246888"/>
          </a:xfrm>
          <a:prstGeom prst="roundRect">
            <a:avLst/>
          </a:prstGeom>
          <a:solidFill>
            <a:srgbClr val="7A261C"/>
          </a:solidFill>
          <a:ln w="5080">
            <a:solidFill>
              <a:srgbClr val="7A261C"/>
            </a:solidFill>
            <a:prstDash val="solid"/>
          </a:ln>
        </p:spPr>
      </p:sp>
      <p:sp>
        <p:nvSpPr>
          <p:cNvPr id="4" name="Text 1"/>
          <p:cNvSpPr/>
          <p:nvPr/>
        </p:nvSpPr>
        <p:spPr>
          <a:xfrm>
            <a:off x="576072" y="324612"/>
            <a:ext cx="58521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BACKUP 8</a:t>
            </a:r>
            <a:endParaRPr lang="en-US" sz="720" dirty="0"/>
          </a:p>
        </p:txBody>
      </p:sp>
      <p:sp>
        <p:nvSpPr>
          <p:cNvPr id="5" name="Text 2"/>
          <p:cNvSpPr/>
          <p:nvPr/>
        </p:nvSpPr>
        <p:spPr>
          <a:xfrm>
            <a:off x="1508760" y="310896"/>
            <a:ext cx="6309360" cy="164592"/>
          </a:xfrm>
          <a:prstGeom prst="rect">
            <a:avLst/>
          </a:prstGeom>
          <a:noFill/>
          <a:ln/>
        </p:spPr>
        <p:txBody>
          <a:bodyPr wrap="square" lIns="0" tIns="0" rIns="0" bIns="0" rtlCol="0" anchor="ctr">
            <a:normAutofit/>
          </a:bodyPr>
          <a:lstStyle/>
          <a:p>
            <a:pPr algn="l" indent="0" marL="0">
              <a:buNone/>
            </a:pPr>
            <a:r>
              <a:rPr lang="en-US" sz="810" b="1" spc="130" kern="0" dirty="0">
                <a:solidFill>
                  <a:srgbClr val="AEB9BA"/>
                </a:solidFill>
                <a:latin typeface="Aptos" pitchFamily="34" charset="0"/>
                <a:ea typeface="Aptos" pitchFamily="34" charset="-122"/>
                <a:cs typeface="Aptos" pitchFamily="34" charset="-120"/>
              </a:rPr>
              <a:t>ARCHITECTURE DECISION ADR-016</a:t>
            </a:r>
            <a:endParaRPr lang="en-US" sz="810" dirty="0"/>
          </a:p>
        </p:txBody>
      </p:sp>
      <p:sp>
        <p:nvSpPr>
          <p:cNvPr id="6" name="Text 3"/>
          <p:cNvSpPr/>
          <p:nvPr/>
        </p:nvSpPr>
        <p:spPr>
          <a:xfrm>
            <a:off x="457200" y="630936"/>
            <a:ext cx="11109960" cy="429768"/>
          </a:xfrm>
          <a:prstGeom prst="rect">
            <a:avLst/>
          </a:prstGeom>
          <a:noFill/>
          <a:ln/>
        </p:spPr>
        <p:txBody>
          <a:bodyPr wrap="square" lIns="0" tIns="0" rIns="0" bIns="0" rtlCol="0" anchor="ctr">
            <a:normAutofit/>
          </a:bodyPr>
          <a:lstStyle/>
          <a:p>
            <a:pPr algn="l" indent="0" marL="0">
              <a:buNone/>
            </a:pPr>
            <a:r>
              <a:rPr lang="en-US" sz="2550" b="1" dirty="0">
                <a:solidFill>
                  <a:srgbClr val="FFFFFF"/>
                </a:solidFill>
                <a:latin typeface="Bahnschrift SemiBold" pitchFamily="34" charset="0"/>
                <a:ea typeface="Bahnschrift SemiBold" pitchFamily="34" charset="-122"/>
                <a:cs typeface="Bahnschrift SemiBold" pitchFamily="34" charset="-120"/>
              </a:rPr>
              <a:t>Why not Azure IoT Hub — or IoT Operations?</a:t>
            </a:r>
            <a:endParaRPr lang="en-US" sz="2550" dirty="0"/>
          </a:p>
        </p:txBody>
      </p:sp>
      <p:sp>
        <p:nvSpPr>
          <p:cNvPr id="7" name="Shape 4"/>
          <p:cNvSpPr/>
          <p:nvPr/>
        </p:nvSpPr>
        <p:spPr>
          <a:xfrm>
            <a:off x="457200" y="1188720"/>
            <a:ext cx="1371600" cy="246888"/>
          </a:xfrm>
          <a:prstGeom prst="roundRect">
            <a:avLst/>
          </a:prstGeom>
          <a:solidFill>
            <a:srgbClr val="B64A2D"/>
          </a:solidFill>
          <a:ln w="5080">
            <a:solidFill>
              <a:srgbClr val="B64A2D"/>
            </a:solidFill>
            <a:prstDash val="solid"/>
          </a:ln>
        </p:spPr>
      </p:sp>
      <p:sp>
        <p:nvSpPr>
          <p:cNvPr id="8" name="Text 5"/>
          <p:cNvSpPr/>
          <p:nvPr/>
        </p:nvSpPr>
        <p:spPr>
          <a:xfrm>
            <a:off x="576072" y="1239012"/>
            <a:ext cx="1133856" cy="118872"/>
          </a:xfrm>
          <a:prstGeom prst="rect">
            <a:avLst/>
          </a:prstGeom>
          <a:noFill/>
          <a:ln/>
        </p:spPr>
        <p:txBody>
          <a:bodyPr wrap="square" lIns="0" tIns="0" rIns="0" bIns="0" rtlCol="0" anchor="ctr">
            <a:normAutofit/>
          </a:bodyPr>
          <a:lstStyle/>
          <a:p>
            <a:pPr algn="l" indent="0" marL="0">
              <a:buNone/>
            </a:pPr>
            <a:r>
              <a:rPr lang="en-US" sz="720" b="1" spc="110" kern="0" dirty="0">
                <a:solidFill>
                  <a:srgbClr val="FFFFFF"/>
                </a:solidFill>
                <a:latin typeface="Aptos" pitchFamily="34" charset="0"/>
                <a:ea typeface="Aptos" pitchFamily="34" charset="-122"/>
                <a:cs typeface="Aptos" pitchFamily="34" charset="-120"/>
              </a:rPr>
              <a:t>INGRESS DEFENSE</a:t>
            </a:r>
            <a:endParaRPr lang="en-US" sz="720" dirty="0"/>
          </a:p>
        </p:txBody>
      </p:sp>
      <p:sp>
        <p:nvSpPr>
          <p:cNvPr id="9" name="Text 6"/>
          <p:cNvSpPr/>
          <p:nvPr/>
        </p:nvSpPr>
        <p:spPr>
          <a:xfrm>
            <a:off x="1947672" y="1220724"/>
            <a:ext cx="7863840" cy="164592"/>
          </a:xfrm>
          <a:prstGeom prst="rect">
            <a:avLst/>
          </a:prstGeom>
          <a:noFill/>
          <a:ln/>
        </p:spPr>
        <p:txBody>
          <a:bodyPr wrap="square" lIns="0" tIns="0" rIns="0" bIns="0" rtlCol="0" anchor="ctr">
            <a:normAutofit/>
          </a:bodyPr>
          <a:lstStyle/>
          <a:p>
            <a:pPr algn="l" indent="0" marL="0">
              <a:buNone/>
            </a:pPr>
            <a:r>
              <a:rPr lang="en-US" sz="840" b="1" dirty="0">
                <a:solidFill>
                  <a:srgbClr val="AEB9BA"/>
                </a:solidFill>
                <a:latin typeface="Aptos" pitchFamily="34" charset="0"/>
                <a:ea typeface="Aptos" pitchFamily="34" charset="-122"/>
                <a:cs typeface="Aptos" pitchFamily="34" charset="-120"/>
              </a:rPr>
              <a:t>The ingress can only receive. Choosing a device-management service would buy us the inbound control plane we promised not to build.</a:t>
            </a:r>
            <a:endParaRPr lang="en-US" sz="840" dirty="0"/>
          </a:p>
        </p:txBody>
      </p:sp>
      <p:sp>
        <p:nvSpPr>
          <p:cNvPr id="10" name="Text 7"/>
          <p:cNvSpPr/>
          <p:nvPr/>
        </p:nvSpPr>
        <p:spPr>
          <a:xfrm>
            <a:off x="457200" y="1627632"/>
            <a:ext cx="3840480"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AEB9BA"/>
                </a:solidFill>
                <a:latin typeface="Aptos" pitchFamily="34" charset="0"/>
                <a:ea typeface="Aptos" pitchFamily="34" charset="-122"/>
                <a:cs typeface="Aptos" pitchFamily="34" charset="-120"/>
              </a:rPr>
              <a:t>THREE CANDIDATES, ONE VERDICT EACH</a:t>
            </a:r>
            <a:endParaRPr lang="en-US" sz="720" dirty="0"/>
          </a:p>
        </p:txBody>
      </p:sp>
      <p:sp>
        <p:nvSpPr>
          <p:cNvPr id="11" name="Shape 8"/>
          <p:cNvSpPr/>
          <p:nvPr/>
        </p:nvSpPr>
        <p:spPr>
          <a:xfrm>
            <a:off x="457200" y="1819656"/>
            <a:ext cx="5623560" cy="1078992"/>
          </a:xfrm>
          <a:prstGeom prst="roundRect">
            <a:avLst/>
          </a:prstGeom>
          <a:solidFill>
            <a:srgbClr val="1F2426"/>
          </a:solidFill>
          <a:ln w="11430">
            <a:solidFill>
              <a:srgbClr val="147D74"/>
            </a:solidFill>
            <a:prstDash val="solid"/>
          </a:ln>
        </p:spPr>
      </p:sp>
      <p:sp>
        <p:nvSpPr>
          <p:cNvPr id="12" name="Shape 9"/>
          <p:cNvSpPr/>
          <p:nvPr/>
        </p:nvSpPr>
        <p:spPr>
          <a:xfrm>
            <a:off x="457200" y="1819656"/>
            <a:ext cx="77724" cy="1078992"/>
          </a:xfrm>
          <a:prstGeom prst="rect">
            <a:avLst/>
          </a:prstGeom>
          <a:solidFill>
            <a:srgbClr val="147D74"/>
          </a:solidFill>
          <a:ln w="6350">
            <a:solidFill>
              <a:srgbClr val="147D74"/>
            </a:solidFill>
            <a:prstDash val="solid"/>
          </a:ln>
        </p:spPr>
      </p:sp>
      <p:sp>
        <p:nvSpPr>
          <p:cNvPr id="13" name="Text 10"/>
          <p:cNvSpPr/>
          <p:nvPr/>
        </p:nvSpPr>
        <p:spPr>
          <a:xfrm>
            <a:off x="713232" y="1975104"/>
            <a:ext cx="3200400" cy="128016"/>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AZURE EVENT HUBS</a:t>
            </a:r>
            <a:endParaRPr lang="en-US" sz="940" dirty="0"/>
          </a:p>
        </p:txBody>
      </p:sp>
      <p:sp>
        <p:nvSpPr>
          <p:cNvPr id="14" name="Shape 11"/>
          <p:cNvSpPr/>
          <p:nvPr/>
        </p:nvSpPr>
        <p:spPr>
          <a:xfrm>
            <a:off x="4864608" y="1947672"/>
            <a:ext cx="1014984" cy="219456"/>
          </a:xfrm>
          <a:prstGeom prst="roundRect">
            <a:avLst/>
          </a:prstGeom>
          <a:solidFill>
            <a:srgbClr val="147D74"/>
          </a:solidFill>
          <a:ln w="5080">
            <a:solidFill>
              <a:srgbClr val="147D74"/>
            </a:solidFill>
            <a:prstDash val="solid"/>
          </a:ln>
        </p:spPr>
      </p:sp>
      <p:sp>
        <p:nvSpPr>
          <p:cNvPr id="15" name="Text 12"/>
          <p:cNvSpPr/>
          <p:nvPr/>
        </p:nvSpPr>
        <p:spPr>
          <a:xfrm>
            <a:off x="4910328" y="2025396"/>
            <a:ext cx="923544" cy="82296"/>
          </a:xfrm>
          <a:prstGeom prst="rect">
            <a:avLst/>
          </a:prstGeom>
          <a:noFill/>
          <a:ln/>
        </p:spPr>
        <p:txBody>
          <a:bodyPr wrap="square" lIns="0" tIns="0" rIns="0" bIns="0" rtlCol="0" anchor="ctr">
            <a:normAutofit/>
          </a:bodyPr>
          <a:lstStyle/>
          <a:p>
            <a:pPr algn="ctr" indent="0" marL="0">
              <a:buNone/>
            </a:pPr>
            <a:r>
              <a:rPr lang="en-US" sz="640" b="1" dirty="0">
                <a:solidFill>
                  <a:srgbClr val="121719"/>
                </a:solidFill>
                <a:latin typeface="Aptos" pitchFamily="34" charset="0"/>
                <a:ea typeface="Aptos" pitchFamily="34" charset="-122"/>
                <a:cs typeface="Aptos" pitchFamily="34" charset="-120"/>
              </a:rPr>
              <a:t>CHOSEN</a:t>
            </a:r>
            <a:endParaRPr lang="en-US" sz="640" dirty="0"/>
          </a:p>
        </p:txBody>
      </p:sp>
      <p:sp>
        <p:nvSpPr>
          <p:cNvPr id="16" name="Text 13"/>
          <p:cNvSpPr/>
          <p:nvPr/>
        </p:nvSpPr>
        <p:spPr>
          <a:xfrm>
            <a:off x="713232" y="2240280"/>
            <a:ext cx="5120640" cy="457200"/>
          </a:xfrm>
          <a:prstGeom prst="rect">
            <a:avLst/>
          </a:prstGeom>
          <a:noFill/>
          <a:ln/>
        </p:spPr>
        <p:txBody>
          <a:bodyPr wrap="square" lIns="0" tIns="0" rIns="0" bIns="0" rtlCol="0" anchor="t">
            <a:normAutofit/>
          </a:bodyPr>
          <a:lstStyle/>
          <a:p>
            <a:pPr algn="l" indent="0" marL="0">
              <a:buNone/>
            </a:pPr>
            <a:r>
              <a:rPr lang="en-US" sz="760" dirty="0">
                <a:solidFill>
                  <a:srgbClr val="AEB9BA"/>
                </a:solidFill>
                <a:latin typeface="Aptos" pitchFamily="34" charset="0"/>
                <a:ea typeface="Aptos" pitchFamily="34" charset="-122"/>
                <a:cs typeface="Aptos" pitchFamily="34" charset="-120"/>
              </a:rPr>
              <a:t>Outbound-only buffer, one hub per plant. Local auth disabled, private endpoint, and each mi-ns-otgw-&lt;plant&gt; identity scoped to its own hub — not the namespace. The relay then publishes to the Fabric Eventstream Custom Endpoint with a workload identity.</a:t>
            </a:r>
            <a:endParaRPr lang="en-US" sz="760" dirty="0"/>
          </a:p>
        </p:txBody>
      </p:sp>
      <p:sp>
        <p:nvSpPr>
          <p:cNvPr id="17" name="Shape 14"/>
          <p:cNvSpPr/>
          <p:nvPr/>
        </p:nvSpPr>
        <p:spPr>
          <a:xfrm>
            <a:off x="713232" y="2679192"/>
            <a:ext cx="5120640" cy="0"/>
          </a:xfrm>
          <a:prstGeom prst="line">
            <a:avLst/>
          </a:prstGeom>
          <a:noFill/>
          <a:ln w="7620">
            <a:solidFill>
              <a:srgbClr val="465057"/>
            </a:solidFill>
            <a:prstDash val="solid"/>
          </a:ln>
        </p:spPr>
      </p:sp>
      <p:sp>
        <p:nvSpPr>
          <p:cNvPr id="18" name="Text 15"/>
          <p:cNvSpPr/>
          <p:nvPr/>
        </p:nvSpPr>
        <p:spPr>
          <a:xfrm>
            <a:off x="713232" y="2720340"/>
            <a:ext cx="5120640" cy="91440"/>
          </a:xfrm>
          <a:prstGeom prst="rect">
            <a:avLst/>
          </a:prstGeom>
          <a:noFill/>
          <a:ln/>
        </p:spPr>
        <p:txBody>
          <a:bodyPr wrap="square" lIns="0" tIns="0" rIns="0" bIns="0" rtlCol="0" anchor="ctr">
            <a:normAutofit/>
          </a:bodyPr>
          <a:lstStyle/>
          <a:p>
            <a:pPr algn="l" indent="0" marL="0">
              <a:buNone/>
            </a:pPr>
            <a:r>
              <a:rPr lang="en-US" sz="660" dirty="0">
                <a:solidFill>
                  <a:srgbClr val="DDE4E1"/>
                </a:solidFill>
                <a:latin typeface="Consolas" pitchFamily="34" charset="0"/>
                <a:ea typeface="Consolas" pitchFamily="34" charset="-122"/>
                <a:cs typeface="Consolas" pitchFamily="34" charset="-120"/>
              </a:rPr>
              <a:t>1 TU  ·  disableLocalAuth: true  ·  private endpoint  ·  per-hub Data Sender</a:t>
            </a:r>
            <a:endParaRPr lang="en-US" sz="660" dirty="0"/>
          </a:p>
        </p:txBody>
      </p:sp>
      <p:sp>
        <p:nvSpPr>
          <p:cNvPr id="19" name="Shape 16"/>
          <p:cNvSpPr/>
          <p:nvPr/>
        </p:nvSpPr>
        <p:spPr>
          <a:xfrm>
            <a:off x="457200" y="3008376"/>
            <a:ext cx="5623560" cy="1078992"/>
          </a:xfrm>
          <a:prstGeom prst="roundRect">
            <a:avLst/>
          </a:prstGeom>
          <a:solidFill>
            <a:srgbClr val="1F2426"/>
          </a:solidFill>
          <a:ln w="11430">
            <a:solidFill>
              <a:srgbClr val="B64A2D"/>
            </a:solidFill>
            <a:prstDash val="solid"/>
          </a:ln>
        </p:spPr>
      </p:sp>
      <p:sp>
        <p:nvSpPr>
          <p:cNvPr id="20" name="Shape 17"/>
          <p:cNvSpPr/>
          <p:nvPr/>
        </p:nvSpPr>
        <p:spPr>
          <a:xfrm>
            <a:off x="457200" y="3008376"/>
            <a:ext cx="77724" cy="1078992"/>
          </a:xfrm>
          <a:prstGeom prst="rect">
            <a:avLst/>
          </a:prstGeom>
          <a:solidFill>
            <a:srgbClr val="B64A2D"/>
          </a:solidFill>
          <a:ln w="6350">
            <a:solidFill>
              <a:srgbClr val="B64A2D"/>
            </a:solidFill>
            <a:prstDash val="solid"/>
          </a:ln>
        </p:spPr>
      </p:sp>
      <p:sp>
        <p:nvSpPr>
          <p:cNvPr id="21" name="Text 18"/>
          <p:cNvSpPr/>
          <p:nvPr/>
        </p:nvSpPr>
        <p:spPr>
          <a:xfrm>
            <a:off x="713232" y="3163824"/>
            <a:ext cx="3200400" cy="128016"/>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AZURE IOT HUB</a:t>
            </a:r>
            <a:endParaRPr lang="en-US" sz="940" dirty="0"/>
          </a:p>
        </p:txBody>
      </p:sp>
      <p:sp>
        <p:nvSpPr>
          <p:cNvPr id="22" name="Shape 19"/>
          <p:cNvSpPr/>
          <p:nvPr/>
        </p:nvSpPr>
        <p:spPr>
          <a:xfrm>
            <a:off x="4864608" y="3136392"/>
            <a:ext cx="1014984" cy="219456"/>
          </a:xfrm>
          <a:prstGeom prst="roundRect">
            <a:avLst/>
          </a:prstGeom>
          <a:solidFill>
            <a:srgbClr val="B64A2D"/>
          </a:solidFill>
          <a:ln w="5080">
            <a:solidFill>
              <a:srgbClr val="B64A2D"/>
            </a:solidFill>
            <a:prstDash val="solid"/>
          </a:ln>
        </p:spPr>
      </p:sp>
      <p:sp>
        <p:nvSpPr>
          <p:cNvPr id="23" name="Text 20"/>
          <p:cNvSpPr/>
          <p:nvPr/>
        </p:nvSpPr>
        <p:spPr>
          <a:xfrm>
            <a:off x="4910328" y="3214116"/>
            <a:ext cx="923544" cy="82296"/>
          </a:xfrm>
          <a:prstGeom prst="rect">
            <a:avLst/>
          </a:prstGeom>
          <a:noFill/>
          <a:ln/>
        </p:spPr>
        <p:txBody>
          <a:bodyPr wrap="square" lIns="0" tIns="0" rIns="0" bIns="0" rtlCol="0" anchor="ctr">
            <a:normAutofit/>
          </a:bodyPr>
          <a:lstStyle/>
          <a:p>
            <a:pPr algn="ctr" indent="0" marL="0">
              <a:buNone/>
            </a:pPr>
            <a:r>
              <a:rPr lang="en-US" sz="640" b="1" dirty="0">
                <a:solidFill>
                  <a:srgbClr val="121719"/>
                </a:solidFill>
                <a:latin typeface="Aptos" pitchFamily="34" charset="0"/>
                <a:ea typeface="Aptos" pitchFamily="34" charset="-122"/>
                <a:cs typeface="Aptos" pitchFamily="34" charset="-120"/>
              </a:rPr>
              <a:t>REJECTED</a:t>
            </a:r>
            <a:endParaRPr lang="en-US" sz="640" dirty="0"/>
          </a:p>
        </p:txBody>
      </p:sp>
      <p:sp>
        <p:nvSpPr>
          <p:cNvPr id="24" name="Text 21"/>
          <p:cNvSpPr/>
          <p:nvPr/>
        </p:nvSpPr>
        <p:spPr>
          <a:xfrm>
            <a:off x="713232" y="3429000"/>
            <a:ext cx="5120640" cy="457200"/>
          </a:xfrm>
          <a:prstGeom prst="rect">
            <a:avLst/>
          </a:prstGeom>
          <a:noFill/>
          <a:ln/>
        </p:spPr>
        <p:txBody>
          <a:bodyPr wrap="square" lIns="0" tIns="0" rIns="0" bIns="0" rtlCol="0" anchor="t">
            <a:normAutofit/>
          </a:bodyPr>
          <a:lstStyle/>
          <a:p>
            <a:pPr algn="l" indent="0" marL="0">
              <a:buNone/>
            </a:pPr>
            <a:r>
              <a:rPr lang="en-US" sz="760" dirty="0">
                <a:solidFill>
                  <a:srgbClr val="AEB9BA"/>
                </a:solidFill>
                <a:latin typeface="Aptos" pitchFamily="34" charset="0"/>
                <a:ea typeface="Aptos" pitchFamily="34" charset="-122"/>
                <a:cs typeface="Aptos" pitchFamily="34" charset="-120"/>
              </a:rPr>
              <a:t>Its differentiators over Event Hubs are all cloud-to-device: provisioning (DPS), twins, direct methods, jobs. Every one of them is an inbound path into the plant, and device authentication is per-device key or certificate.</a:t>
            </a:r>
            <a:endParaRPr lang="en-US" sz="760" dirty="0"/>
          </a:p>
        </p:txBody>
      </p:sp>
      <p:sp>
        <p:nvSpPr>
          <p:cNvPr id="25" name="Shape 22"/>
          <p:cNvSpPr/>
          <p:nvPr/>
        </p:nvSpPr>
        <p:spPr>
          <a:xfrm>
            <a:off x="713232" y="3867912"/>
            <a:ext cx="5120640" cy="0"/>
          </a:xfrm>
          <a:prstGeom prst="line">
            <a:avLst/>
          </a:prstGeom>
          <a:noFill/>
          <a:ln w="7620">
            <a:solidFill>
              <a:srgbClr val="465057"/>
            </a:solidFill>
            <a:prstDash val="solid"/>
          </a:ln>
        </p:spPr>
      </p:sp>
      <p:sp>
        <p:nvSpPr>
          <p:cNvPr id="26" name="Text 23"/>
          <p:cNvSpPr/>
          <p:nvPr/>
        </p:nvSpPr>
        <p:spPr>
          <a:xfrm>
            <a:off x="713232" y="3909060"/>
            <a:ext cx="5120640" cy="91440"/>
          </a:xfrm>
          <a:prstGeom prst="rect">
            <a:avLst/>
          </a:prstGeom>
          <a:noFill/>
          <a:ln/>
        </p:spPr>
        <p:txBody>
          <a:bodyPr wrap="square" lIns="0" tIns="0" rIns="0" bIns="0" rtlCol="0" anchor="ctr">
            <a:normAutofit/>
          </a:bodyPr>
          <a:lstStyle/>
          <a:p>
            <a:pPr algn="l" indent="0" marL="0">
              <a:buNone/>
            </a:pPr>
            <a:r>
              <a:rPr lang="en-US" sz="660" dirty="0">
                <a:solidFill>
                  <a:srgbClr val="DDE4E1"/>
                </a:solidFill>
                <a:latin typeface="Consolas" pitchFamily="34" charset="0"/>
                <a:ea typeface="Consolas" pitchFamily="34" charset="-122"/>
                <a:cs typeface="Consolas" pitchFamily="34" charset="-120"/>
              </a:rPr>
              <a:t>Would add: DPS  ·  device twins  ·  direct methods  ·  jobs  —  all cloud-to-device</a:t>
            </a:r>
            <a:endParaRPr lang="en-US" sz="660" dirty="0"/>
          </a:p>
        </p:txBody>
      </p:sp>
      <p:sp>
        <p:nvSpPr>
          <p:cNvPr id="27" name="Shape 24"/>
          <p:cNvSpPr/>
          <p:nvPr/>
        </p:nvSpPr>
        <p:spPr>
          <a:xfrm>
            <a:off x="457200" y="4197096"/>
            <a:ext cx="5623560" cy="1078992"/>
          </a:xfrm>
          <a:prstGeom prst="roundRect">
            <a:avLst/>
          </a:prstGeom>
          <a:solidFill>
            <a:srgbClr val="1F2426"/>
          </a:solidFill>
          <a:ln w="11430">
            <a:solidFill>
              <a:srgbClr val="E3A72F"/>
            </a:solidFill>
            <a:prstDash val="solid"/>
          </a:ln>
        </p:spPr>
      </p:sp>
      <p:sp>
        <p:nvSpPr>
          <p:cNvPr id="28" name="Shape 25"/>
          <p:cNvSpPr/>
          <p:nvPr/>
        </p:nvSpPr>
        <p:spPr>
          <a:xfrm>
            <a:off x="457200" y="4197096"/>
            <a:ext cx="77724" cy="1078992"/>
          </a:xfrm>
          <a:prstGeom prst="rect">
            <a:avLst/>
          </a:prstGeom>
          <a:solidFill>
            <a:srgbClr val="E3A72F"/>
          </a:solidFill>
          <a:ln w="6350">
            <a:solidFill>
              <a:srgbClr val="E3A72F"/>
            </a:solidFill>
            <a:prstDash val="solid"/>
          </a:ln>
        </p:spPr>
      </p:sp>
      <p:sp>
        <p:nvSpPr>
          <p:cNvPr id="29" name="Text 26"/>
          <p:cNvSpPr/>
          <p:nvPr/>
        </p:nvSpPr>
        <p:spPr>
          <a:xfrm>
            <a:off x="713232" y="4352544"/>
            <a:ext cx="3200400" cy="128016"/>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AZURE IOT OPERATIONS</a:t>
            </a:r>
            <a:endParaRPr lang="en-US" sz="940" dirty="0"/>
          </a:p>
        </p:txBody>
      </p:sp>
      <p:sp>
        <p:nvSpPr>
          <p:cNvPr id="30" name="Shape 27"/>
          <p:cNvSpPr/>
          <p:nvPr/>
        </p:nvSpPr>
        <p:spPr>
          <a:xfrm>
            <a:off x="4864608" y="4325112"/>
            <a:ext cx="1014984" cy="219456"/>
          </a:xfrm>
          <a:prstGeom prst="roundRect">
            <a:avLst/>
          </a:prstGeom>
          <a:solidFill>
            <a:srgbClr val="E3A72F"/>
          </a:solidFill>
          <a:ln w="5080">
            <a:solidFill>
              <a:srgbClr val="E3A72F"/>
            </a:solidFill>
            <a:prstDash val="solid"/>
          </a:ln>
        </p:spPr>
      </p:sp>
      <p:sp>
        <p:nvSpPr>
          <p:cNvPr id="31" name="Text 28"/>
          <p:cNvSpPr/>
          <p:nvPr/>
        </p:nvSpPr>
        <p:spPr>
          <a:xfrm>
            <a:off x="4910328" y="4402836"/>
            <a:ext cx="923544" cy="82296"/>
          </a:xfrm>
          <a:prstGeom prst="rect">
            <a:avLst/>
          </a:prstGeom>
          <a:noFill/>
          <a:ln/>
        </p:spPr>
        <p:txBody>
          <a:bodyPr wrap="square" lIns="0" tIns="0" rIns="0" bIns="0" rtlCol="0" anchor="ctr">
            <a:normAutofit/>
          </a:bodyPr>
          <a:lstStyle/>
          <a:p>
            <a:pPr algn="ctr" indent="0" marL="0">
              <a:buNone/>
            </a:pPr>
            <a:r>
              <a:rPr lang="en-US" sz="640" b="1" dirty="0">
                <a:solidFill>
                  <a:srgbClr val="121719"/>
                </a:solidFill>
                <a:latin typeface="Aptos" pitchFamily="34" charset="0"/>
                <a:ea typeface="Aptos" pitchFamily="34" charset="-122"/>
                <a:cs typeface="Aptos" pitchFamily="34" charset="-120"/>
              </a:rPr>
              <a:t>DEFERRED</a:t>
            </a:r>
            <a:endParaRPr lang="en-US" sz="640" dirty="0"/>
          </a:p>
        </p:txBody>
      </p:sp>
      <p:sp>
        <p:nvSpPr>
          <p:cNvPr id="32" name="Text 29"/>
          <p:cNvSpPr/>
          <p:nvPr/>
        </p:nvSpPr>
        <p:spPr>
          <a:xfrm>
            <a:off x="713232" y="4617720"/>
            <a:ext cx="5120640" cy="457200"/>
          </a:xfrm>
          <a:prstGeom prst="rect">
            <a:avLst/>
          </a:prstGeom>
          <a:noFill/>
          <a:ln/>
        </p:spPr>
        <p:txBody>
          <a:bodyPr wrap="square" lIns="0" tIns="0" rIns="0" bIns="0" rtlCol="0" anchor="t">
            <a:normAutofit/>
          </a:bodyPr>
          <a:lstStyle/>
          <a:p>
            <a:pPr algn="l" indent="0" marL="0">
              <a:buNone/>
            </a:pPr>
            <a:r>
              <a:rPr lang="en-US" sz="760" dirty="0">
                <a:solidFill>
                  <a:srgbClr val="AEB9BA"/>
                </a:solidFill>
                <a:latin typeface="Aptos" pitchFamily="34" charset="0"/>
                <a:ea typeface="Aptos" pitchFamily="34" charset="-122"/>
                <a:cs typeface="Aptos" pitchFamily="34" charset="-120"/>
              </a:rPr>
              <a:t>The 2026 strategic industrial stack: Arc-enabled MQTT broker, OPC UA connector, data flows native to Fabric. The right answer the day the OT edge, gateway lifecycle, or per-sensor cloud identity enters scope — not before.</a:t>
            </a:r>
            <a:endParaRPr lang="en-US" sz="760" dirty="0"/>
          </a:p>
        </p:txBody>
      </p:sp>
      <p:sp>
        <p:nvSpPr>
          <p:cNvPr id="33" name="Shape 30"/>
          <p:cNvSpPr/>
          <p:nvPr/>
        </p:nvSpPr>
        <p:spPr>
          <a:xfrm>
            <a:off x="713232" y="5056632"/>
            <a:ext cx="5120640" cy="0"/>
          </a:xfrm>
          <a:prstGeom prst="line">
            <a:avLst/>
          </a:prstGeom>
          <a:noFill/>
          <a:ln w="7620">
            <a:solidFill>
              <a:srgbClr val="465057"/>
            </a:solidFill>
            <a:prstDash val="solid"/>
          </a:ln>
        </p:spPr>
      </p:sp>
      <p:sp>
        <p:nvSpPr>
          <p:cNvPr id="34" name="Text 31"/>
          <p:cNvSpPr/>
          <p:nvPr/>
        </p:nvSpPr>
        <p:spPr>
          <a:xfrm>
            <a:off x="713232" y="5097780"/>
            <a:ext cx="5120640" cy="91440"/>
          </a:xfrm>
          <a:prstGeom prst="rect">
            <a:avLst/>
          </a:prstGeom>
          <a:noFill/>
          <a:ln/>
        </p:spPr>
        <p:txBody>
          <a:bodyPr wrap="square" lIns="0" tIns="0" rIns="0" bIns="0" rtlCol="0" anchor="ctr">
            <a:normAutofit/>
          </a:bodyPr>
          <a:lstStyle/>
          <a:p>
            <a:pPr algn="l" indent="0" marL="0">
              <a:buNone/>
            </a:pPr>
            <a:r>
              <a:rPr lang="en-US" sz="660" dirty="0">
                <a:solidFill>
                  <a:srgbClr val="DDE4E1"/>
                </a:solidFill>
                <a:latin typeface="Consolas" pitchFamily="34" charset="0"/>
                <a:ea typeface="Consolas" pitchFamily="34" charset="-122"/>
                <a:cs typeface="Consolas" pitchFamily="34" charset="-120"/>
              </a:rPr>
              <a:t>Cost of entry: an Arc-enabled Kubernetes footprint inside every plant</a:t>
            </a:r>
            <a:endParaRPr lang="en-US" sz="660" dirty="0"/>
          </a:p>
        </p:txBody>
      </p:sp>
      <p:sp>
        <p:nvSpPr>
          <p:cNvPr id="35" name="Text 32"/>
          <p:cNvSpPr/>
          <p:nvPr/>
        </p:nvSpPr>
        <p:spPr>
          <a:xfrm>
            <a:off x="6446520" y="1627632"/>
            <a:ext cx="4937760" cy="146304"/>
          </a:xfrm>
          <a:prstGeom prst="rect">
            <a:avLst/>
          </a:prstGeom>
          <a:noFill/>
          <a:ln/>
        </p:spPr>
        <p:txBody>
          <a:bodyPr wrap="square" lIns="0" tIns="0" rIns="0" bIns="0" rtlCol="0" anchor="ctr">
            <a:normAutofit/>
          </a:bodyPr>
          <a:lstStyle/>
          <a:p>
            <a:pPr algn="l" indent="0" marL="0">
              <a:buNone/>
            </a:pPr>
            <a:r>
              <a:rPr lang="en-US" sz="720" b="1" spc="120" kern="0" dirty="0">
                <a:solidFill>
                  <a:srgbClr val="AEB9BA"/>
                </a:solidFill>
                <a:latin typeface="Aptos" pitchFamily="34" charset="0"/>
                <a:ea typeface="Aptos" pitchFamily="34" charset="-122"/>
                <a:cs typeface="Aptos" pitchFamily="34" charset="-120"/>
              </a:rPr>
              <a:t>WHY IOT HUB LOSES ON OUR OWN GUARDRAILS</a:t>
            </a:r>
            <a:endParaRPr lang="en-US" sz="720" dirty="0"/>
          </a:p>
        </p:txBody>
      </p:sp>
      <p:sp>
        <p:nvSpPr>
          <p:cNvPr id="36" name="Shape 33"/>
          <p:cNvSpPr/>
          <p:nvPr/>
        </p:nvSpPr>
        <p:spPr>
          <a:xfrm>
            <a:off x="6446520" y="1819656"/>
            <a:ext cx="5285232" cy="795528"/>
          </a:xfrm>
          <a:prstGeom prst="roundRect">
            <a:avLst/>
          </a:prstGeom>
          <a:solidFill>
            <a:srgbClr val="1F2426"/>
          </a:solidFill>
          <a:ln w="8890">
            <a:solidFill>
              <a:srgbClr val="465057"/>
            </a:solidFill>
            <a:prstDash val="solid"/>
          </a:ln>
        </p:spPr>
      </p:sp>
      <p:sp>
        <p:nvSpPr>
          <p:cNvPr id="37" name="Shape 34"/>
          <p:cNvSpPr/>
          <p:nvPr/>
        </p:nvSpPr>
        <p:spPr>
          <a:xfrm>
            <a:off x="6446520" y="1819656"/>
            <a:ext cx="77724" cy="795528"/>
          </a:xfrm>
          <a:prstGeom prst="rect">
            <a:avLst/>
          </a:prstGeom>
          <a:solidFill>
            <a:srgbClr val="B64A2D"/>
          </a:solidFill>
          <a:ln w="6350">
            <a:solidFill>
              <a:srgbClr val="B64A2D"/>
            </a:solidFill>
            <a:prstDash val="solid"/>
          </a:ln>
        </p:spPr>
      </p:sp>
      <p:sp>
        <p:nvSpPr>
          <p:cNvPr id="38" name="Shape 35"/>
          <p:cNvSpPr/>
          <p:nvPr/>
        </p:nvSpPr>
        <p:spPr>
          <a:xfrm>
            <a:off x="6656832" y="1993392"/>
            <a:ext cx="256032" cy="256032"/>
          </a:xfrm>
          <a:prstGeom prst="ellipse">
            <a:avLst/>
          </a:prstGeom>
          <a:solidFill>
            <a:srgbClr val="B64A2D"/>
          </a:solidFill>
          <a:ln w="6350">
            <a:solidFill>
              <a:srgbClr val="B64A2D"/>
            </a:solidFill>
            <a:prstDash val="solid"/>
          </a:ln>
        </p:spPr>
      </p:sp>
      <p:sp>
        <p:nvSpPr>
          <p:cNvPr id="39" name="Text 36"/>
          <p:cNvSpPr/>
          <p:nvPr/>
        </p:nvSpPr>
        <p:spPr>
          <a:xfrm>
            <a:off x="6656832" y="2083003"/>
            <a:ext cx="256032" cy="82296"/>
          </a:xfrm>
          <a:prstGeom prst="rect">
            <a:avLst/>
          </a:prstGeom>
          <a:noFill/>
          <a:ln/>
        </p:spPr>
        <p:txBody>
          <a:bodyPr wrap="square" lIns="0" tIns="0" rIns="0" bIns="0" rtlCol="0" anchor="ctr">
            <a:normAutofit/>
          </a:bodyPr>
          <a:lstStyle/>
          <a:p>
            <a:pPr algn="ctr" indent="0" marL="0">
              <a:buNone/>
            </a:pPr>
            <a:r>
              <a:rPr lang="en-US" sz="700" b="1" dirty="0">
                <a:solidFill>
                  <a:srgbClr val="121719"/>
                </a:solidFill>
                <a:latin typeface="Aptos" pitchFamily="34" charset="0"/>
                <a:ea typeface="Aptos" pitchFamily="34" charset="-122"/>
                <a:cs typeface="Aptos" pitchFamily="34" charset="-120"/>
              </a:rPr>
              <a:t>01</a:t>
            </a:r>
            <a:endParaRPr lang="en-US" sz="700" dirty="0"/>
          </a:p>
        </p:txBody>
      </p:sp>
      <p:sp>
        <p:nvSpPr>
          <p:cNvPr id="40" name="Text 37"/>
          <p:cNvSpPr/>
          <p:nvPr/>
        </p:nvSpPr>
        <p:spPr>
          <a:xfrm>
            <a:off x="7059168" y="1965960"/>
            <a:ext cx="4480560" cy="118872"/>
          </a:xfrm>
          <a:prstGeom prst="rect">
            <a:avLst/>
          </a:prstGeom>
          <a:noFill/>
          <a:ln/>
        </p:spPr>
        <p:txBody>
          <a:bodyPr wrap="square" lIns="0" tIns="0" rIns="0" bIns="0" rtlCol="0" anchor="ctr">
            <a:normAutofit/>
          </a:bodyPr>
          <a:lstStyle/>
          <a:p>
            <a:pPr algn="l" indent="0" marL="0">
              <a:buNone/>
            </a:pPr>
            <a:r>
              <a:rPr lang="en-US" sz="820" b="1" spc="40" kern="0" dirty="0">
                <a:solidFill>
                  <a:srgbClr val="FFFFFF"/>
                </a:solidFill>
                <a:latin typeface="Aptos" pitchFamily="34" charset="0"/>
                <a:ea typeface="Aptos" pitchFamily="34" charset="-122"/>
                <a:cs typeface="Aptos" pitchFamily="34" charset="-120"/>
              </a:rPr>
              <a:t>IT SELLS THE CONTROL PLANE WE BANNED</a:t>
            </a:r>
            <a:endParaRPr lang="en-US" sz="820" dirty="0"/>
          </a:p>
        </p:txBody>
      </p:sp>
      <p:sp>
        <p:nvSpPr>
          <p:cNvPr id="41" name="Text 38"/>
          <p:cNvSpPr/>
          <p:nvPr/>
        </p:nvSpPr>
        <p:spPr>
          <a:xfrm>
            <a:off x="7059168" y="2221992"/>
            <a:ext cx="4480560" cy="329184"/>
          </a:xfrm>
          <a:prstGeom prst="rect">
            <a:avLst/>
          </a:prstGeom>
          <a:noFill/>
          <a:ln/>
        </p:spPr>
        <p:txBody>
          <a:bodyPr wrap="square" lIns="0" tIns="0" rIns="0" bIns="0" rtlCol="0" anchor="t">
            <a:normAutofit/>
          </a:bodyPr>
          <a:lstStyle/>
          <a:p>
            <a:pPr algn="l" indent="0" marL="0">
              <a:buNone/>
            </a:pPr>
            <a:r>
              <a:rPr lang="en-US" sz="710" dirty="0">
                <a:solidFill>
                  <a:srgbClr val="AEB9BA"/>
                </a:solidFill>
                <a:latin typeface="Aptos" pitchFamily="34" charset="0"/>
                <a:ea typeface="Aptos" pitchFamily="34" charset="-122"/>
                <a:cs typeface="Aptos" pitchFamily="34" charset="-120"/>
              </a:rPr>
              <a:t>O1 / C-04 / AI-05 forbid a write path to OT. We would acquire the capability, disable it, then keep proving it stays disabled.</a:t>
            </a:r>
            <a:endParaRPr lang="en-US" sz="710" dirty="0"/>
          </a:p>
        </p:txBody>
      </p:sp>
      <p:sp>
        <p:nvSpPr>
          <p:cNvPr id="42" name="Shape 39"/>
          <p:cNvSpPr/>
          <p:nvPr/>
        </p:nvSpPr>
        <p:spPr>
          <a:xfrm>
            <a:off x="6446520" y="2724912"/>
            <a:ext cx="5285232" cy="795528"/>
          </a:xfrm>
          <a:prstGeom prst="roundRect">
            <a:avLst/>
          </a:prstGeom>
          <a:solidFill>
            <a:srgbClr val="1F2426"/>
          </a:solidFill>
          <a:ln w="8890">
            <a:solidFill>
              <a:srgbClr val="465057"/>
            </a:solidFill>
            <a:prstDash val="solid"/>
          </a:ln>
        </p:spPr>
      </p:sp>
      <p:sp>
        <p:nvSpPr>
          <p:cNvPr id="43" name="Shape 40"/>
          <p:cNvSpPr/>
          <p:nvPr/>
        </p:nvSpPr>
        <p:spPr>
          <a:xfrm>
            <a:off x="6446520" y="2724912"/>
            <a:ext cx="77724" cy="795528"/>
          </a:xfrm>
          <a:prstGeom prst="rect">
            <a:avLst/>
          </a:prstGeom>
          <a:solidFill>
            <a:srgbClr val="E3A72F"/>
          </a:solidFill>
          <a:ln w="6350">
            <a:solidFill>
              <a:srgbClr val="E3A72F"/>
            </a:solidFill>
            <a:prstDash val="solid"/>
          </a:ln>
        </p:spPr>
      </p:sp>
      <p:sp>
        <p:nvSpPr>
          <p:cNvPr id="44" name="Shape 41"/>
          <p:cNvSpPr/>
          <p:nvPr/>
        </p:nvSpPr>
        <p:spPr>
          <a:xfrm>
            <a:off x="6656832" y="2898648"/>
            <a:ext cx="256032" cy="256032"/>
          </a:xfrm>
          <a:prstGeom prst="ellipse">
            <a:avLst/>
          </a:prstGeom>
          <a:solidFill>
            <a:srgbClr val="E3A72F"/>
          </a:solidFill>
          <a:ln w="6350">
            <a:solidFill>
              <a:srgbClr val="E3A72F"/>
            </a:solidFill>
            <a:prstDash val="solid"/>
          </a:ln>
        </p:spPr>
      </p:sp>
      <p:sp>
        <p:nvSpPr>
          <p:cNvPr id="45" name="Text 42"/>
          <p:cNvSpPr/>
          <p:nvPr/>
        </p:nvSpPr>
        <p:spPr>
          <a:xfrm>
            <a:off x="6656832" y="2988259"/>
            <a:ext cx="256032" cy="82296"/>
          </a:xfrm>
          <a:prstGeom prst="rect">
            <a:avLst/>
          </a:prstGeom>
          <a:noFill/>
          <a:ln/>
        </p:spPr>
        <p:txBody>
          <a:bodyPr wrap="square" lIns="0" tIns="0" rIns="0" bIns="0" rtlCol="0" anchor="ctr">
            <a:normAutofit/>
          </a:bodyPr>
          <a:lstStyle/>
          <a:p>
            <a:pPr algn="ctr" indent="0" marL="0">
              <a:buNone/>
            </a:pPr>
            <a:r>
              <a:rPr lang="en-US" sz="700" b="1" dirty="0">
                <a:solidFill>
                  <a:srgbClr val="121719"/>
                </a:solidFill>
                <a:latin typeface="Aptos" pitchFamily="34" charset="0"/>
                <a:ea typeface="Aptos" pitchFamily="34" charset="-122"/>
                <a:cs typeface="Aptos" pitchFamily="34" charset="-120"/>
              </a:rPr>
              <a:t>02</a:t>
            </a:r>
            <a:endParaRPr lang="en-US" sz="700" dirty="0"/>
          </a:p>
        </p:txBody>
      </p:sp>
      <p:sp>
        <p:nvSpPr>
          <p:cNvPr id="46" name="Text 43"/>
          <p:cNvSpPr/>
          <p:nvPr/>
        </p:nvSpPr>
        <p:spPr>
          <a:xfrm>
            <a:off x="7059168" y="2871216"/>
            <a:ext cx="4480560" cy="118872"/>
          </a:xfrm>
          <a:prstGeom prst="rect">
            <a:avLst/>
          </a:prstGeom>
          <a:noFill/>
          <a:ln/>
        </p:spPr>
        <p:txBody>
          <a:bodyPr wrap="square" lIns="0" tIns="0" rIns="0" bIns="0" rtlCol="0" anchor="ctr">
            <a:normAutofit/>
          </a:bodyPr>
          <a:lstStyle/>
          <a:p>
            <a:pPr algn="l" indent="0" marL="0">
              <a:buNone/>
            </a:pPr>
            <a:r>
              <a:rPr lang="en-US" sz="820" b="1" spc="40" kern="0" dirty="0">
                <a:solidFill>
                  <a:srgbClr val="FFFFFF"/>
                </a:solidFill>
                <a:latin typeface="Aptos" pitchFamily="34" charset="0"/>
                <a:ea typeface="Aptos" pitchFamily="34" charset="-122"/>
                <a:cs typeface="Aptos" pitchFamily="34" charset="-120"/>
              </a:rPr>
              <a:t>IT WEAKENS THE NO-KEY POSTURE</a:t>
            </a:r>
            <a:endParaRPr lang="en-US" sz="820" dirty="0"/>
          </a:p>
        </p:txBody>
      </p:sp>
      <p:sp>
        <p:nvSpPr>
          <p:cNvPr id="47" name="Text 44"/>
          <p:cNvSpPr/>
          <p:nvPr/>
        </p:nvSpPr>
        <p:spPr>
          <a:xfrm>
            <a:off x="7059168" y="3127248"/>
            <a:ext cx="4480560" cy="329184"/>
          </a:xfrm>
          <a:prstGeom prst="rect">
            <a:avLst/>
          </a:prstGeom>
          <a:noFill/>
          <a:ln/>
        </p:spPr>
        <p:txBody>
          <a:bodyPr wrap="square" lIns="0" tIns="0" rIns="0" bIns="0" rtlCol="0" anchor="t">
            <a:normAutofit/>
          </a:bodyPr>
          <a:lstStyle/>
          <a:p>
            <a:pPr algn="l" indent="0" marL="0">
              <a:buNone/>
            </a:pPr>
            <a:r>
              <a:rPr lang="en-US" sz="710" dirty="0">
                <a:solidFill>
                  <a:srgbClr val="AEB9BA"/>
                </a:solidFill>
                <a:latin typeface="Aptos" pitchFamily="34" charset="0"/>
                <a:ea typeface="Aptos" pitchFamily="34" charset="-122"/>
                <a:cs typeface="Aptos" pitchFamily="34" charset="-120"/>
              </a:rPr>
              <a:t>Event Hubs runs disableLocalAuth: true with Entra RBAC. IoT Hub device auth is SAS or X.509, and Fabric's IoT Hub source is key-based — the very thing ADR-005 avoids.</a:t>
            </a:r>
            <a:endParaRPr lang="en-US" sz="710" dirty="0"/>
          </a:p>
        </p:txBody>
      </p:sp>
      <p:sp>
        <p:nvSpPr>
          <p:cNvPr id="48" name="Shape 45"/>
          <p:cNvSpPr/>
          <p:nvPr/>
        </p:nvSpPr>
        <p:spPr>
          <a:xfrm>
            <a:off x="6446520" y="3630168"/>
            <a:ext cx="5285232" cy="795528"/>
          </a:xfrm>
          <a:prstGeom prst="roundRect">
            <a:avLst/>
          </a:prstGeom>
          <a:solidFill>
            <a:srgbClr val="1F2426"/>
          </a:solidFill>
          <a:ln w="8890">
            <a:solidFill>
              <a:srgbClr val="465057"/>
            </a:solidFill>
            <a:prstDash val="solid"/>
          </a:ln>
        </p:spPr>
      </p:sp>
      <p:sp>
        <p:nvSpPr>
          <p:cNvPr id="49" name="Shape 46"/>
          <p:cNvSpPr/>
          <p:nvPr/>
        </p:nvSpPr>
        <p:spPr>
          <a:xfrm>
            <a:off x="6446520" y="3630168"/>
            <a:ext cx="77724" cy="795528"/>
          </a:xfrm>
          <a:prstGeom prst="rect">
            <a:avLst/>
          </a:prstGeom>
          <a:solidFill>
            <a:srgbClr val="147D74"/>
          </a:solidFill>
          <a:ln w="6350">
            <a:solidFill>
              <a:srgbClr val="147D74"/>
            </a:solidFill>
            <a:prstDash val="solid"/>
          </a:ln>
        </p:spPr>
      </p:sp>
      <p:sp>
        <p:nvSpPr>
          <p:cNvPr id="50" name="Shape 47"/>
          <p:cNvSpPr/>
          <p:nvPr/>
        </p:nvSpPr>
        <p:spPr>
          <a:xfrm>
            <a:off x="6656832" y="3803904"/>
            <a:ext cx="256032" cy="256032"/>
          </a:xfrm>
          <a:prstGeom prst="ellipse">
            <a:avLst/>
          </a:prstGeom>
          <a:solidFill>
            <a:srgbClr val="147D74"/>
          </a:solidFill>
          <a:ln w="6350">
            <a:solidFill>
              <a:srgbClr val="147D74"/>
            </a:solidFill>
            <a:prstDash val="solid"/>
          </a:ln>
        </p:spPr>
      </p:sp>
      <p:sp>
        <p:nvSpPr>
          <p:cNvPr id="51" name="Text 48"/>
          <p:cNvSpPr/>
          <p:nvPr/>
        </p:nvSpPr>
        <p:spPr>
          <a:xfrm>
            <a:off x="6656832" y="3893515"/>
            <a:ext cx="256032" cy="82296"/>
          </a:xfrm>
          <a:prstGeom prst="rect">
            <a:avLst/>
          </a:prstGeom>
          <a:noFill/>
          <a:ln/>
        </p:spPr>
        <p:txBody>
          <a:bodyPr wrap="square" lIns="0" tIns="0" rIns="0" bIns="0" rtlCol="0" anchor="ctr">
            <a:normAutofit/>
          </a:bodyPr>
          <a:lstStyle/>
          <a:p>
            <a:pPr algn="ctr" indent="0" marL="0">
              <a:buNone/>
            </a:pPr>
            <a:r>
              <a:rPr lang="en-US" sz="700" b="1" dirty="0">
                <a:solidFill>
                  <a:srgbClr val="121719"/>
                </a:solidFill>
                <a:latin typeface="Aptos" pitchFamily="34" charset="0"/>
                <a:ea typeface="Aptos" pitchFamily="34" charset="-122"/>
                <a:cs typeface="Aptos" pitchFamily="34" charset="-120"/>
              </a:rPr>
              <a:t>03</a:t>
            </a:r>
            <a:endParaRPr lang="en-US" sz="700" dirty="0"/>
          </a:p>
        </p:txBody>
      </p:sp>
      <p:sp>
        <p:nvSpPr>
          <p:cNvPr id="52" name="Text 49"/>
          <p:cNvSpPr/>
          <p:nvPr/>
        </p:nvSpPr>
        <p:spPr>
          <a:xfrm>
            <a:off x="7059168" y="3776472"/>
            <a:ext cx="4480560" cy="118872"/>
          </a:xfrm>
          <a:prstGeom prst="rect">
            <a:avLst/>
          </a:prstGeom>
          <a:noFill/>
          <a:ln/>
        </p:spPr>
        <p:txBody>
          <a:bodyPr wrap="square" lIns="0" tIns="0" rIns="0" bIns="0" rtlCol="0" anchor="ctr">
            <a:normAutofit/>
          </a:bodyPr>
          <a:lstStyle/>
          <a:p>
            <a:pPr algn="l" indent="0" marL="0">
              <a:buNone/>
            </a:pPr>
            <a:r>
              <a:rPr lang="en-US" sz="820" b="1" spc="40" kern="0" dirty="0">
                <a:solidFill>
                  <a:srgbClr val="FFFFFF"/>
                </a:solidFill>
                <a:latin typeface="Aptos" pitchFamily="34" charset="0"/>
                <a:ea typeface="Aptos" pitchFamily="34" charset="-122"/>
                <a:cs typeface="Aptos" pitchFamily="34" charset="-120"/>
              </a:rPr>
              <a:t>THE SENDERS ARE FOUR GATEWAYS</a:t>
            </a:r>
            <a:endParaRPr lang="en-US" sz="820" dirty="0"/>
          </a:p>
        </p:txBody>
      </p:sp>
      <p:sp>
        <p:nvSpPr>
          <p:cNvPr id="53" name="Text 50"/>
          <p:cNvSpPr/>
          <p:nvPr/>
        </p:nvSpPr>
        <p:spPr>
          <a:xfrm>
            <a:off x="7059168" y="4032504"/>
            <a:ext cx="4480560" cy="329184"/>
          </a:xfrm>
          <a:prstGeom prst="rect">
            <a:avLst/>
          </a:prstGeom>
          <a:noFill/>
          <a:ln/>
        </p:spPr>
        <p:txBody>
          <a:bodyPr wrap="square" lIns="0" tIns="0" rIns="0" bIns="0" rtlCol="0" anchor="t">
            <a:normAutofit/>
          </a:bodyPr>
          <a:lstStyle/>
          <a:p>
            <a:pPr algn="l" indent="0" marL="0">
              <a:buNone/>
            </a:pPr>
            <a:r>
              <a:rPr lang="en-US" sz="710" dirty="0">
                <a:solidFill>
                  <a:srgbClr val="AEB9BA"/>
                </a:solidFill>
                <a:latin typeface="Aptos" pitchFamily="34" charset="0"/>
                <a:ea typeface="Aptos" pitchFamily="34" charset="-122"/>
                <a:cs typeface="Aptos" pitchFamily="34" charset="-120"/>
              </a:rPr>
              <a:t>Not a device fleet. Per-device identity already rides the envelope (source_id, asset_id) and the Device Operations registry — 17 devices, 91 sensors.</a:t>
            </a:r>
            <a:endParaRPr lang="en-US" sz="710" dirty="0"/>
          </a:p>
        </p:txBody>
      </p:sp>
      <p:sp>
        <p:nvSpPr>
          <p:cNvPr id="54" name="Shape 51"/>
          <p:cNvSpPr/>
          <p:nvPr/>
        </p:nvSpPr>
        <p:spPr>
          <a:xfrm>
            <a:off x="6446520" y="4535424"/>
            <a:ext cx="5285232" cy="795528"/>
          </a:xfrm>
          <a:prstGeom prst="roundRect">
            <a:avLst/>
          </a:prstGeom>
          <a:solidFill>
            <a:srgbClr val="1F2426"/>
          </a:solidFill>
          <a:ln w="8890">
            <a:solidFill>
              <a:srgbClr val="465057"/>
            </a:solidFill>
            <a:prstDash val="solid"/>
          </a:ln>
        </p:spPr>
      </p:sp>
      <p:sp>
        <p:nvSpPr>
          <p:cNvPr id="55" name="Shape 52"/>
          <p:cNvSpPr/>
          <p:nvPr/>
        </p:nvSpPr>
        <p:spPr>
          <a:xfrm>
            <a:off x="6446520" y="4535424"/>
            <a:ext cx="77724" cy="795528"/>
          </a:xfrm>
          <a:prstGeom prst="rect">
            <a:avLst/>
          </a:prstGeom>
          <a:solidFill>
            <a:srgbClr val="6D9A6F"/>
          </a:solidFill>
          <a:ln w="6350">
            <a:solidFill>
              <a:srgbClr val="6D9A6F"/>
            </a:solidFill>
            <a:prstDash val="solid"/>
          </a:ln>
        </p:spPr>
      </p:sp>
      <p:sp>
        <p:nvSpPr>
          <p:cNvPr id="56" name="Shape 53"/>
          <p:cNvSpPr/>
          <p:nvPr/>
        </p:nvSpPr>
        <p:spPr>
          <a:xfrm>
            <a:off x="6656832" y="4709160"/>
            <a:ext cx="256032" cy="256032"/>
          </a:xfrm>
          <a:prstGeom prst="ellipse">
            <a:avLst/>
          </a:prstGeom>
          <a:solidFill>
            <a:srgbClr val="6D9A6F"/>
          </a:solidFill>
          <a:ln w="6350">
            <a:solidFill>
              <a:srgbClr val="6D9A6F"/>
            </a:solidFill>
            <a:prstDash val="solid"/>
          </a:ln>
        </p:spPr>
      </p:sp>
      <p:sp>
        <p:nvSpPr>
          <p:cNvPr id="57" name="Text 54"/>
          <p:cNvSpPr/>
          <p:nvPr/>
        </p:nvSpPr>
        <p:spPr>
          <a:xfrm>
            <a:off x="6656832" y="4798771"/>
            <a:ext cx="256032" cy="82296"/>
          </a:xfrm>
          <a:prstGeom prst="rect">
            <a:avLst/>
          </a:prstGeom>
          <a:noFill/>
          <a:ln/>
        </p:spPr>
        <p:txBody>
          <a:bodyPr wrap="square" lIns="0" tIns="0" rIns="0" bIns="0" rtlCol="0" anchor="ctr">
            <a:normAutofit/>
          </a:bodyPr>
          <a:lstStyle/>
          <a:p>
            <a:pPr algn="ctr" indent="0" marL="0">
              <a:buNone/>
            </a:pPr>
            <a:r>
              <a:rPr lang="en-US" sz="700" b="1" dirty="0">
                <a:solidFill>
                  <a:srgbClr val="121719"/>
                </a:solidFill>
                <a:latin typeface="Aptos" pitchFamily="34" charset="0"/>
                <a:ea typeface="Aptos" pitchFamily="34" charset="-122"/>
                <a:cs typeface="Aptos" pitchFamily="34" charset="-120"/>
              </a:rPr>
              <a:t>04</a:t>
            </a:r>
            <a:endParaRPr lang="en-US" sz="700" dirty="0"/>
          </a:p>
        </p:txBody>
      </p:sp>
      <p:sp>
        <p:nvSpPr>
          <p:cNvPr id="58" name="Text 55"/>
          <p:cNvSpPr/>
          <p:nvPr/>
        </p:nvSpPr>
        <p:spPr>
          <a:xfrm>
            <a:off x="7059168" y="4681728"/>
            <a:ext cx="4480560" cy="118872"/>
          </a:xfrm>
          <a:prstGeom prst="rect">
            <a:avLst/>
          </a:prstGeom>
          <a:noFill/>
          <a:ln/>
        </p:spPr>
        <p:txBody>
          <a:bodyPr wrap="square" lIns="0" tIns="0" rIns="0" bIns="0" rtlCol="0" anchor="ctr">
            <a:normAutofit/>
          </a:bodyPr>
          <a:lstStyle/>
          <a:p>
            <a:pPr algn="l" indent="0" marL="0">
              <a:buNone/>
            </a:pPr>
            <a:r>
              <a:rPr lang="en-US" sz="820" b="1" spc="40" kern="0" dirty="0">
                <a:solidFill>
                  <a:srgbClr val="FFFFFF"/>
                </a:solidFill>
                <a:latin typeface="Aptos" pitchFamily="34" charset="0"/>
                <a:ea typeface="Aptos" pitchFamily="34" charset="-122"/>
                <a:cs typeface="Aptos" pitchFamily="34" charset="-120"/>
              </a:rPr>
              <a:t>NO NEW CAPABILITY, A NEW BILL</a:t>
            </a:r>
            <a:endParaRPr lang="en-US" sz="820" dirty="0"/>
          </a:p>
        </p:txBody>
      </p:sp>
      <p:sp>
        <p:nvSpPr>
          <p:cNvPr id="59" name="Text 56"/>
          <p:cNvSpPr/>
          <p:nvPr/>
        </p:nvSpPr>
        <p:spPr>
          <a:xfrm>
            <a:off x="7059168" y="4937760"/>
            <a:ext cx="4480560" cy="329184"/>
          </a:xfrm>
          <a:prstGeom prst="rect">
            <a:avLst/>
          </a:prstGeom>
          <a:noFill/>
          <a:ln/>
        </p:spPr>
        <p:txBody>
          <a:bodyPr wrap="square" lIns="0" tIns="0" rIns="0" bIns="0" rtlCol="0" anchor="t">
            <a:normAutofit/>
          </a:bodyPr>
          <a:lstStyle/>
          <a:p>
            <a:pPr algn="l" indent="0" marL="0">
              <a:buNone/>
            </a:pPr>
            <a:r>
              <a:rPr lang="en-US" sz="710" dirty="0">
                <a:solidFill>
                  <a:srgbClr val="AEB9BA"/>
                </a:solidFill>
                <a:latin typeface="Aptos" pitchFamily="34" charset="0"/>
                <a:ea typeface="Aptos" pitchFamily="34" charset="-122"/>
                <a:cs typeface="Aptos" pitchFamily="34" charset="-120"/>
              </a:rPr>
              <a:t>A second ingestion service on a deliberately minimal footprint: one throughput unit, small Fabric capacity, nightly pause.</a:t>
            </a:r>
            <a:endParaRPr lang="en-US" sz="710" dirty="0"/>
          </a:p>
        </p:txBody>
      </p:sp>
      <p:sp>
        <p:nvSpPr>
          <p:cNvPr id="60" name="Shape 57"/>
          <p:cNvSpPr/>
          <p:nvPr/>
        </p:nvSpPr>
        <p:spPr>
          <a:xfrm>
            <a:off x="457200" y="5440680"/>
            <a:ext cx="11274552" cy="640080"/>
          </a:xfrm>
          <a:prstGeom prst="roundRect">
            <a:avLst/>
          </a:prstGeom>
          <a:solidFill>
            <a:srgbClr val="7A261C"/>
          </a:solidFill>
          <a:ln w="11430">
            <a:solidFill>
              <a:srgbClr val="B64A2D"/>
            </a:solidFill>
            <a:prstDash val="solid"/>
          </a:ln>
        </p:spPr>
      </p:sp>
      <p:sp>
        <p:nvSpPr>
          <p:cNvPr id="61" name="Shape 58"/>
          <p:cNvSpPr/>
          <p:nvPr/>
        </p:nvSpPr>
        <p:spPr>
          <a:xfrm>
            <a:off x="457200" y="5440680"/>
            <a:ext cx="77724" cy="640080"/>
          </a:xfrm>
          <a:prstGeom prst="rect">
            <a:avLst/>
          </a:prstGeom>
          <a:solidFill>
            <a:srgbClr val="E3A72F"/>
          </a:solidFill>
          <a:ln w="6350">
            <a:solidFill>
              <a:srgbClr val="E3A72F"/>
            </a:solidFill>
            <a:prstDash val="solid"/>
          </a:ln>
        </p:spPr>
      </p:sp>
      <p:sp>
        <p:nvSpPr>
          <p:cNvPr id="62" name="Text 59"/>
          <p:cNvSpPr/>
          <p:nvPr/>
        </p:nvSpPr>
        <p:spPr>
          <a:xfrm>
            <a:off x="713232" y="5568696"/>
            <a:ext cx="1371600" cy="109728"/>
          </a:xfrm>
          <a:prstGeom prst="rect">
            <a:avLst/>
          </a:prstGeom>
          <a:noFill/>
          <a:ln/>
        </p:spPr>
        <p:txBody>
          <a:bodyPr wrap="square" lIns="0" tIns="0" rIns="0" bIns="0" rtlCol="0" anchor="ctr">
            <a:normAutofit/>
          </a:bodyPr>
          <a:lstStyle/>
          <a:p>
            <a:pPr algn="l" indent="0" marL="0">
              <a:buNone/>
            </a:pPr>
            <a:r>
              <a:rPr lang="en-US" sz="760" b="1" spc="90" kern="0" dirty="0">
                <a:solidFill>
                  <a:srgbClr val="E3A72F"/>
                </a:solidFill>
                <a:latin typeface="Aptos" pitchFamily="34" charset="0"/>
                <a:ea typeface="Aptos" pitchFamily="34" charset="-122"/>
                <a:cs typeface="Aptos" pitchFamily="34" charset="-120"/>
              </a:rPr>
              <a:t>REVISIT WHEN</a:t>
            </a:r>
            <a:endParaRPr lang="en-US" sz="760" dirty="0"/>
          </a:p>
        </p:txBody>
      </p:sp>
      <p:sp>
        <p:nvSpPr>
          <p:cNvPr id="63" name="Text 60"/>
          <p:cNvSpPr/>
          <p:nvPr/>
        </p:nvSpPr>
        <p:spPr>
          <a:xfrm>
            <a:off x="1956816" y="5541264"/>
            <a:ext cx="9555480" cy="402336"/>
          </a:xfrm>
          <a:prstGeom prst="rect">
            <a:avLst/>
          </a:prstGeom>
          <a:noFill/>
          <a:ln/>
        </p:spPr>
        <p:txBody>
          <a:bodyPr wrap="square" lIns="0" tIns="0" rIns="0" bIns="0" rtlCol="0" anchor="t">
            <a:normAutofit/>
          </a:bodyPr>
          <a:lstStyle/>
          <a:p>
            <a:pPr algn="l" indent="0" marL="0">
              <a:buNone/>
            </a:pPr>
            <a:r>
              <a:rPr lang="en-US" sz="770" b="1" dirty="0">
                <a:solidFill>
                  <a:srgbClr val="DDE4E1"/>
                </a:solidFill>
                <a:latin typeface="Aptos" pitchFamily="34" charset="0"/>
                <a:ea typeface="Aptos" pitchFamily="34" charset="-122"/>
                <a:cs typeface="Aptos" pitchFamily="34" charset="-120"/>
              </a:rPr>
              <a:t>a business requirement demands cloud-initiated action on plant equipment, or gateways can no longer aggregate upstream devices. The migration target is then IoT Operations, not IoT Hub — and closed-loop control of machinery changes the EU AI Act risk classification, so it reopens the conformity assessment.</a:t>
            </a:r>
            <a:endParaRPr lang="en-US" sz="770" dirty="0"/>
          </a:p>
        </p:txBody>
      </p:sp>
      <p:sp>
        <p:nvSpPr>
          <p:cNvPr id="64" name="Text 61"/>
          <p:cNvSpPr/>
          <p:nvPr/>
        </p:nvSpPr>
        <p:spPr>
          <a:xfrm>
            <a:off x="457200" y="6217920"/>
            <a:ext cx="11155680" cy="128016"/>
          </a:xfrm>
          <a:prstGeom prst="rect">
            <a:avLst/>
          </a:prstGeom>
          <a:noFill/>
          <a:ln/>
        </p:spPr>
        <p:txBody>
          <a:bodyPr wrap="square" lIns="0" tIns="0" rIns="0" bIns="0" rtlCol="0" anchor="ctr">
            <a:normAutofit/>
          </a:bodyPr>
          <a:lstStyle/>
          <a:p>
            <a:pPr algn="l" indent="0" marL="0">
              <a:buNone/>
            </a:pPr>
            <a:r>
              <a:rPr lang="en-US" sz="660" i="1" dirty="0">
                <a:solidFill>
                  <a:srgbClr val="AEB9BA"/>
                </a:solidFill>
                <a:latin typeface="Aptos" pitchFamily="34" charset="0"/>
                <a:ea typeface="Aptos" pitchFamily="34" charset="-122"/>
                <a:cs typeface="Aptos" pitchFamily="34" charset="-120"/>
              </a:rPr>
              <a:t>Source cue | FAQ C — faq.md Q14b  •  solution-architecture.md ADR-016, ADR-005, §4.1  •  infra/bicep/modules/eventhubs.bicep</a:t>
            </a:r>
            <a:endParaRPr lang="en-US" sz="660" dirty="0"/>
          </a:p>
        </p:txBody>
      </p:sp>
      <p:sp>
        <p:nvSpPr>
          <p:cNvPr id="65" name="Shape 62"/>
          <p:cNvSpPr/>
          <p:nvPr/>
        </p:nvSpPr>
        <p:spPr>
          <a:xfrm>
            <a:off x="0" y="6483096"/>
            <a:ext cx="12191695" cy="374904"/>
          </a:xfrm>
          <a:prstGeom prst="rect">
            <a:avLst/>
          </a:prstGeom>
          <a:solidFill>
            <a:srgbClr val="1F2426"/>
          </a:solidFill>
          <a:ln w="6350">
            <a:solidFill>
              <a:srgbClr val="1F2426"/>
            </a:solidFill>
            <a:prstDash val="solid"/>
          </a:ln>
        </p:spPr>
      </p:sp>
      <p:sp>
        <p:nvSpPr>
          <p:cNvPr id="66" name="Shape 63"/>
          <p:cNvSpPr/>
          <p:nvPr/>
        </p:nvSpPr>
        <p:spPr>
          <a:xfrm>
            <a:off x="384048" y="6547104"/>
            <a:ext cx="3547872" cy="182880"/>
          </a:xfrm>
          <a:prstGeom prst="roundRect">
            <a:avLst/>
          </a:prstGeom>
          <a:solidFill>
            <a:srgbClr val="465057"/>
          </a:solidFill>
          <a:ln w="3175">
            <a:solidFill>
              <a:srgbClr val="465057"/>
            </a:solidFill>
            <a:prstDash val="solid"/>
          </a:ln>
        </p:spPr>
      </p:sp>
      <p:sp>
        <p:nvSpPr>
          <p:cNvPr id="67" name="Text 64"/>
          <p:cNvSpPr/>
          <p:nvPr/>
        </p:nvSpPr>
        <p:spPr>
          <a:xfrm>
            <a:off x="512064" y="6588252"/>
            <a:ext cx="3291840" cy="73152"/>
          </a:xfrm>
          <a:prstGeom prst="rect">
            <a:avLst/>
          </a:prstGeom>
          <a:noFill/>
          <a:ln/>
        </p:spPr>
        <p:txBody>
          <a:bodyPr wrap="square" lIns="0" tIns="0" rIns="0" bIns="0" rtlCol="0" anchor="ctr">
            <a:normAutofit/>
          </a:bodyPr>
          <a:lstStyle/>
          <a:p>
            <a:pPr algn="l" indent="0" marL="0">
              <a:buNone/>
            </a:pPr>
            <a:r>
              <a:rPr lang="en-US" sz="625" b="1" spc="65" kern="0" dirty="0">
                <a:solidFill>
                  <a:srgbClr val="DDE4E1"/>
                </a:solidFill>
                <a:latin typeface="Aptos" pitchFamily="34" charset="0"/>
                <a:ea typeface="Aptos" pitchFamily="34" charset="-122"/>
                <a:cs typeface="Aptos" pitchFamily="34" charset="-120"/>
              </a:rPr>
              <a:t>PHASE 0  |  SYNTHETIC DEMONSTRATION  |  NOT FOR OPERATIONAL CONTROL</a:t>
            </a:r>
            <a:endParaRPr lang="en-US" sz="625" dirty="0"/>
          </a:p>
        </p:txBody>
      </p:sp>
      <p:sp>
        <p:nvSpPr>
          <p:cNvPr id="68" name="Text 65"/>
          <p:cNvSpPr/>
          <p:nvPr/>
        </p:nvSpPr>
        <p:spPr>
          <a:xfrm>
            <a:off x="8732520" y="6588252"/>
            <a:ext cx="3017520" cy="73152"/>
          </a:xfrm>
          <a:prstGeom prst="rect">
            <a:avLst/>
          </a:prstGeom>
          <a:noFill/>
          <a:ln/>
        </p:spPr>
        <p:txBody>
          <a:bodyPr wrap="square" lIns="0" tIns="0" rIns="0" bIns="0" rtlCol="0" anchor="ctr">
            <a:normAutofit/>
          </a:bodyPr>
          <a:lstStyle/>
          <a:p>
            <a:pPr algn="r" indent="0" marL="0">
              <a:buNone/>
            </a:pPr>
            <a:r>
              <a:rPr lang="en-US" sz="650" b="1" spc="50" kern="0" dirty="0">
                <a:solidFill>
                  <a:srgbClr val="DDE4E1"/>
                </a:solidFill>
                <a:latin typeface="Aptos" pitchFamily="34" charset="0"/>
                <a:ea typeface="Aptos" pitchFamily="34" charset="-122"/>
                <a:cs typeface="Aptos" pitchFamily="34" charset="-120"/>
              </a:rPr>
              <a:t>FAQ &amp; VALIDATION BACKUP  •  08 / 08</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hnschrift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NovaSteel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NovaSteel — AI-Powered Steel Production Optimization Platform</dc:title>
  <dc:subject>NovaSteel oral defense</dc:subject>
  <dc:creator>NovaSteel</dc:creator>
  <cp:lastModifiedBy>NovaSteel</cp:lastModifiedBy>
  <cp:revision>1</cp:revision>
  <dcterms:created xsi:type="dcterms:W3CDTF">2026-07-28T07:53:41Z</dcterms:created>
  <dcterms:modified xsi:type="dcterms:W3CDTF">2026-07-28T07:53:41Z</dcterms:modified>
</cp:coreProperties>
</file>